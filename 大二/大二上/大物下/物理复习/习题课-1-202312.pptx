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activeX/activeX1.xml" ContentType="application/vnd.ms-office.activeX+xml"/>
  <Override PartName="/ppt/activeX/activeX1.bin" ContentType="application/vnd.ms-office.activeX"/>
  <Override PartName="/ppt/activeX/activeX2.xml" ContentType="application/vnd.ms-office.activeX+xml"/>
  <Override PartName="/ppt/activeX/activeX2.bin" ContentType="application/vnd.ms-office.activeX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5"/>
  </p:notesMasterIdLst>
  <p:sldIdLst>
    <p:sldId id="323" r:id="rId2"/>
    <p:sldId id="350" r:id="rId3"/>
    <p:sldId id="302" r:id="rId4"/>
    <p:sldId id="485" r:id="rId5"/>
    <p:sldId id="484" r:id="rId6"/>
    <p:sldId id="333" r:id="rId7"/>
    <p:sldId id="487" r:id="rId8"/>
    <p:sldId id="486" r:id="rId9"/>
    <p:sldId id="405" r:id="rId10"/>
    <p:sldId id="385" r:id="rId11"/>
    <p:sldId id="415" r:id="rId12"/>
    <p:sldId id="488" r:id="rId13"/>
    <p:sldId id="305" r:id="rId14"/>
    <p:sldId id="262" r:id="rId15"/>
    <p:sldId id="533" r:id="rId16"/>
    <p:sldId id="376" r:id="rId17"/>
    <p:sldId id="489" r:id="rId18"/>
    <p:sldId id="584" r:id="rId19"/>
    <p:sldId id="365" r:id="rId20"/>
    <p:sldId id="294" r:id="rId21"/>
    <p:sldId id="296" r:id="rId22"/>
    <p:sldId id="297" r:id="rId23"/>
    <p:sldId id="325" r:id="rId24"/>
    <p:sldId id="339" r:id="rId25"/>
    <p:sldId id="492" r:id="rId26"/>
    <p:sldId id="494" r:id="rId27"/>
    <p:sldId id="341" r:id="rId28"/>
    <p:sldId id="343" r:id="rId29"/>
    <p:sldId id="287" r:id="rId30"/>
    <p:sldId id="497" r:id="rId31"/>
    <p:sldId id="416" r:id="rId32"/>
    <p:sldId id="491" r:id="rId33"/>
    <p:sldId id="582" r:id="rId34"/>
    <p:sldId id="283" r:id="rId35"/>
    <p:sldId id="279" r:id="rId36"/>
    <p:sldId id="284" r:id="rId37"/>
    <p:sldId id="281" r:id="rId38"/>
    <p:sldId id="282" r:id="rId39"/>
    <p:sldId id="440" r:id="rId40"/>
    <p:sldId id="473" r:id="rId41"/>
    <p:sldId id="359" r:id="rId42"/>
    <p:sldId id="401" r:id="rId43"/>
    <p:sldId id="534" r:id="rId44"/>
    <p:sldId id="274" r:id="rId45"/>
    <p:sldId id="278" r:id="rId46"/>
    <p:sldId id="522" r:id="rId47"/>
    <p:sldId id="523" r:id="rId48"/>
    <p:sldId id="524" r:id="rId49"/>
    <p:sldId id="585" r:id="rId50"/>
    <p:sldId id="587" r:id="rId51"/>
    <p:sldId id="646" r:id="rId52"/>
    <p:sldId id="647" r:id="rId53"/>
    <p:sldId id="648" r:id="rId54"/>
    <p:sldId id="649" r:id="rId55"/>
    <p:sldId id="650" r:id="rId56"/>
    <p:sldId id="586" r:id="rId57"/>
    <p:sldId id="300" r:id="rId58"/>
    <p:sldId id="525" r:id="rId59"/>
    <p:sldId id="526" r:id="rId60"/>
    <p:sldId id="527" r:id="rId61"/>
    <p:sldId id="528" r:id="rId62"/>
    <p:sldId id="285" r:id="rId63"/>
    <p:sldId id="286" r:id="rId64"/>
    <p:sldId id="529" r:id="rId65"/>
    <p:sldId id="289" r:id="rId66"/>
    <p:sldId id="530" r:id="rId67"/>
    <p:sldId id="293" r:id="rId68"/>
    <p:sldId id="290" r:id="rId69"/>
    <p:sldId id="589" r:id="rId70"/>
    <p:sldId id="590" r:id="rId71"/>
    <p:sldId id="591" r:id="rId72"/>
    <p:sldId id="592" r:id="rId73"/>
    <p:sldId id="593" r:id="rId74"/>
    <p:sldId id="594" r:id="rId75"/>
    <p:sldId id="595" r:id="rId76"/>
    <p:sldId id="651" r:id="rId77"/>
    <p:sldId id="596" r:id="rId78"/>
    <p:sldId id="543" r:id="rId79"/>
    <p:sldId id="537" r:id="rId80"/>
    <p:sldId id="639" r:id="rId81"/>
    <p:sldId id="640" r:id="rId82"/>
    <p:sldId id="641" r:id="rId83"/>
    <p:sldId id="645" r:id="rId84"/>
  </p:sldIdLst>
  <p:sldSz cx="9144000" cy="6858000" type="screen4x3"/>
  <p:notesSz cx="6858000" cy="9144000"/>
  <p:custShowLst>
    <p:custShow name="自定义放映 1" id="0">
      <p:sldLst>
        <p:sld r:id="rId15"/>
        <p:sld r:id="rId45"/>
        <p:sld r:id="rId46"/>
        <p:sld r:id="rId36"/>
        <p:sld r:id="rId38"/>
        <p:sld r:id="rId39"/>
        <p:sld r:id="rId35"/>
        <p:sld r:id="rId37"/>
        <p:sld r:id="rId63"/>
        <p:sld r:id="rId64"/>
        <p:sld r:id="rId30"/>
        <p:sld r:id="rId66"/>
        <p:sld r:id="rId69"/>
        <p:sld r:id="rId68"/>
      </p:sldLst>
    </p:custShow>
  </p:custShowLst>
  <p:custDataLst>
    <p:tags r:id="rId86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2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6699"/>
    <a:srgbClr val="003399"/>
    <a:srgbClr val="CCFFCC"/>
    <a:srgbClr val="FF0000"/>
    <a:srgbClr val="FFCCCC"/>
    <a:srgbClr val="CCCC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/>
    <p:restoredTop sz="92736"/>
  </p:normalViewPr>
  <p:slideViewPr>
    <p:cSldViewPr showGuides="1">
      <p:cViewPr varScale="1">
        <p:scale>
          <a:sx n="69" d="100"/>
          <a:sy n="69" d="100"/>
        </p:scale>
        <p:origin x="564" y="66"/>
      </p:cViewPr>
      <p:guideLst>
        <p:guide orient="horz" pos="2134"/>
        <p:guide pos="2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gs" Target="tags/tag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7.wmf"/><Relationship Id="rId18" Type="http://schemas.openxmlformats.org/officeDocument/2006/relationships/image" Target="../media/image22.emf"/><Relationship Id="rId3" Type="http://schemas.openxmlformats.org/officeDocument/2006/relationships/image" Target="../media/image7.wmf"/><Relationship Id="rId21" Type="http://schemas.openxmlformats.org/officeDocument/2006/relationships/image" Target="../media/image25.e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17" Type="http://schemas.openxmlformats.org/officeDocument/2006/relationships/image" Target="../media/image21.emf"/><Relationship Id="rId2" Type="http://schemas.openxmlformats.org/officeDocument/2006/relationships/image" Target="../media/image6.wmf"/><Relationship Id="rId16" Type="http://schemas.openxmlformats.org/officeDocument/2006/relationships/image" Target="../media/image20.emf"/><Relationship Id="rId20" Type="http://schemas.openxmlformats.org/officeDocument/2006/relationships/image" Target="../media/image24.e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24" Type="http://schemas.openxmlformats.org/officeDocument/2006/relationships/image" Target="../media/image28.emf"/><Relationship Id="rId5" Type="http://schemas.openxmlformats.org/officeDocument/2006/relationships/image" Target="../media/image9.wmf"/><Relationship Id="rId15" Type="http://schemas.openxmlformats.org/officeDocument/2006/relationships/image" Target="../media/image19.wmf"/><Relationship Id="rId23" Type="http://schemas.openxmlformats.org/officeDocument/2006/relationships/image" Target="../media/image27.emf"/><Relationship Id="rId10" Type="http://schemas.openxmlformats.org/officeDocument/2006/relationships/image" Target="../media/image14.wmf"/><Relationship Id="rId19" Type="http://schemas.openxmlformats.org/officeDocument/2006/relationships/image" Target="../media/image23.emf"/><Relationship Id="rId4" Type="http://schemas.openxmlformats.org/officeDocument/2006/relationships/image" Target="../media/image8.emf"/><Relationship Id="rId9" Type="http://schemas.openxmlformats.org/officeDocument/2006/relationships/image" Target="../media/image13.wmf"/><Relationship Id="rId14" Type="http://schemas.openxmlformats.org/officeDocument/2006/relationships/image" Target="../media/image18.wmf"/><Relationship Id="rId22" Type="http://schemas.openxmlformats.org/officeDocument/2006/relationships/image" Target="../media/image26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5" Type="http://schemas.openxmlformats.org/officeDocument/2006/relationships/image" Target="../media/image33.emf"/><Relationship Id="rId4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7" Type="http://schemas.openxmlformats.org/officeDocument/2006/relationships/image" Target="../media/image40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35.wmf"/><Relationship Id="rId1" Type="http://schemas.openxmlformats.org/officeDocument/2006/relationships/image" Target="../media/image40.wmf"/><Relationship Id="rId6" Type="http://schemas.openxmlformats.org/officeDocument/2006/relationships/image" Target="../media/image44.wmf"/><Relationship Id="rId5" Type="http://schemas.openxmlformats.org/officeDocument/2006/relationships/image" Target="../media/image43.emf"/><Relationship Id="rId4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13" Type="http://schemas.openxmlformats.org/officeDocument/2006/relationships/image" Target="../media/image61.wmf"/><Relationship Id="rId18" Type="http://schemas.openxmlformats.org/officeDocument/2006/relationships/image" Target="../media/image66.e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12" Type="http://schemas.openxmlformats.org/officeDocument/2006/relationships/image" Target="../media/image60.emf"/><Relationship Id="rId17" Type="http://schemas.openxmlformats.org/officeDocument/2006/relationships/image" Target="../media/image65.emf"/><Relationship Id="rId2" Type="http://schemas.openxmlformats.org/officeDocument/2006/relationships/image" Target="../media/image40.wmf"/><Relationship Id="rId16" Type="http://schemas.openxmlformats.org/officeDocument/2006/relationships/image" Target="../media/image64.wmf"/><Relationship Id="rId1" Type="http://schemas.openxmlformats.org/officeDocument/2006/relationships/image" Target="../media/image50.wmf"/><Relationship Id="rId6" Type="http://schemas.openxmlformats.org/officeDocument/2006/relationships/image" Target="../media/image54.wmf"/><Relationship Id="rId11" Type="http://schemas.openxmlformats.org/officeDocument/2006/relationships/image" Target="../media/image59.emf"/><Relationship Id="rId5" Type="http://schemas.openxmlformats.org/officeDocument/2006/relationships/image" Target="../media/image53.wmf"/><Relationship Id="rId15" Type="http://schemas.openxmlformats.org/officeDocument/2006/relationships/image" Target="../media/image63.wmf"/><Relationship Id="rId10" Type="http://schemas.openxmlformats.org/officeDocument/2006/relationships/image" Target="../media/image58.emf"/><Relationship Id="rId4" Type="http://schemas.openxmlformats.org/officeDocument/2006/relationships/image" Target="../media/image52.wmf"/><Relationship Id="rId9" Type="http://schemas.openxmlformats.org/officeDocument/2006/relationships/image" Target="../media/image57.emf"/><Relationship Id="rId14" Type="http://schemas.openxmlformats.org/officeDocument/2006/relationships/image" Target="../media/image62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image" Target="../media/image74.emf"/><Relationship Id="rId7" Type="http://schemas.openxmlformats.org/officeDocument/2006/relationships/image" Target="../media/image78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6" Type="http://schemas.openxmlformats.org/officeDocument/2006/relationships/image" Target="../media/image77.emf"/><Relationship Id="rId11" Type="http://schemas.openxmlformats.org/officeDocument/2006/relationships/image" Target="../media/image82.emf"/><Relationship Id="rId5" Type="http://schemas.openxmlformats.org/officeDocument/2006/relationships/image" Target="../media/image76.wmf"/><Relationship Id="rId10" Type="http://schemas.openxmlformats.org/officeDocument/2006/relationships/image" Target="../media/image81.emf"/><Relationship Id="rId4" Type="http://schemas.openxmlformats.org/officeDocument/2006/relationships/image" Target="../media/image75.wmf"/><Relationship Id="rId9" Type="http://schemas.openxmlformats.org/officeDocument/2006/relationships/image" Target="../media/image80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13" Type="http://schemas.openxmlformats.org/officeDocument/2006/relationships/image" Target="../media/image94.emf"/><Relationship Id="rId3" Type="http://schemas.openxmlformats.org/officeDocument/2006/relationships/image" Target="../media/image85.emf"/><Relationship Id="rId7" Type="http://schemas.openxmlformats.org/officeDocument/2006/relationships/image" Target="../media/image76.wmf"/><Relationship Id="rId12" Type="http://schemas.openxmlformats.org/officeDocument/2006/relationships/image" Target="../media/image93.emf"/><Relationship Id="rId2" Type="http://schemas.openxmlformats.org/officeDocument/2006/relationships/image" Target="../media/image84.emf"/><Relationship Id="rId16" Type="http://schemas.openxmlformats.org/officeDocument/2006/relationships/image" Target="../media/image97.emf"/><Relationship Id="rId1" Type="http://schemas.openxmlformats.org/officeDocument/2006/relationships/image" Target="../media/image83.emf"/><Relationship Id="rId6" Type="http://schemas.openxmlformats.org/officeDocument/2006/relationships/image" Target="../media/image88.emf"/><Relationship Id="rId11" Type="http://schemas.openxmlformats.org/officeDocument/2006/relationships/image" Target="../media/image92.emf"/><Relationship Id="rId5" Type="http://schemas.openxmlformats.org/officeDocument/2006/relationships/image" Target="../media/image87.emf"/><Relationship Id="rId15" Type="http://schemas.openxmlformats.org/officeDocument/2006/relationships/image" Target="../media/image96.emf"/><Relationship Id="rId10" Type="http://schemas.openxmlformats.org/officeDocument/2006/relationships/image" Target="../media/image91.emf"/><Relationship Id="rId4" Type="http://schemas.openxmlformats.org/officeDocument/2006/relationships/image" Target="../media/image86.emf"/><Relationship Id="rId9" Type="http://schemas.openxmlformats.org/officeDocument/2006/relationships/image" Target="../media/image90.emf"/><Relationship Id="rId14" Type="http://schemas.openxmlformats.org/officeDocument/2006/relationships/image" Target="../media/image95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7" Type="http://schemas.openxmlformats.org/officeDocument/2006/relationships/image" Target="../media/image104.emf"/><Relationship Id="rId2" Type="http://schemas.openxmlformats.org/officeDocument/2006/relationships/image" Target="../media/image99.emf"/><Relationship Id="rId1" Type="http://schemas.openxmlformats.org/officeDocument/2006/relationships/image" Target="../media/image98.emf"/><Relationship Id="rId6" Type="http://schemas.openxmlformats.org/officeDocument/2006/relationships/image" Target="../media/image103.emf"/><Relationship Id="rId5" Type="http://schemas.openxmlformats.org/officeDocument/2006/relationships/image" Target="../media/image102.emf"/><Relationship Id="rId4" Type="http://schemas.openxmlformats.org/officeDocument/2006/relationships/image" Target="../media/image10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image" Target="../media/image119.emf"/><Relationship Id="rId18" Type="http://schemas.openxmlformats.org/officeDocument/2006/relationships/image" Target="../media/image124.emf"/><Relationship Id="rId3" Type="http://schemas.openxmlformats.org/officeDocument/2006/relationships/image" Target="../media/image109.emf"/><Relationship Id="rId7" Type="http://schemas.openxmlformats.org/officeDocument/2006/relationships/image" Target="../media/image113.emf"/><Relationship Id="rId12" Type="http://schemas.openxmlformats.org/officeDocument/2006/relationships/image" Target="../media/image118.emf"/><Relationship Id="rId17" Type="http://schemas.openxmlformats.org/officeDocument/2006/relationships/image" Target="../media/image123.emf"/><Relationship Id="rId2" Type="http://schemas.openxmlformats.org/officeDocument/2006/relationships/image" Target="../media/image108.emf"/><Relationship Id="rId16" Type="http://schemas.openxmlformats.org/officeDocument/2006/relationships/image" Target="../media/image122.emf"/><Relationship Id="rId20" Type="http://schemas.openxmlformats.org/officeDocument/2006/relationships/image" Target="../media/image126.emf"/><Relationship Id="rId1" Type="http://schemas.openxmlformats.org/officeDocument/2006/relationships/image" Target="../media/image107.emf"/><Relationship Id="rId6" Type="http://schemas.openxmlformats.org/officeDocument/2006/relationships/image" Target="../media/image112.emf"/><Relationship Id="rId11" Type="http://schemas.openxmlformats.org/officeDocument/2006/relationships/image" Target="../media/image117.emf"/><Relationship Id="rId5" Type="http://schemas.openxmlformats.org/officeDocument/2006/relationships/image" Target="../media/image111.emf"/><Relationship Id="rId15" Type="http://schemas.openxmlformats.org/officeDocument/2006/relationships/image" Target="../media/image121.emf"/><Relationship Id="rId10" Type="http://schemas.openxmlformats.org/officeDocument/2006/relationships/image" Target="../media/image116.emf"/><Relationship Id="rId19" Type="http://schemas.openxmlformats.org/officeDocument/2006/relationships/image" Target="../media/image125.emf"/><Relationship Id="rId4" Type="http://schemas.openxmlformats.org/officeDocument/2006/relationships/image" Target="../media/image110.emf"/><Relationship Id="rId9" Type="http://schemas.openxmlformats.org/officeDocument/2006/relationships/image" Target="../media/image115.emf"/><Relationship Id="rId14" Type="http://schemas.openxmlformats.org/officeDocument/2006/relationships/image" Target="../media/image120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emf"/><Relationship Id="rId1" Type="http://schemas.openxmlformats.org/officeDocument/2006/relationships/image" Target="../media/image131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emf"/><Relationship Id="rId2" Type="http://schemas.openxmlformats.org/officeDocument/2006/relationships/image" Target="../media/image134.emf"/><Relationship Id="rId1" Type="http://schemas.openxmlformats.org/officeDocument/2006/relationships/image" Target="../media/image133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image" Target="../media/image136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7" Type="http://schemas.openxmlformats.org/officeDocument/2006/relationships/image" Target="../media/image145.emf"/><Relationship Id="rId2" Type="http://schemas.openxmlformats.org/officeDocument/2006/relationships/image" Target="../media/image140.emf"/><Relationship Id="rId1" Type="http://schemas.openxmlformats.org/officeDocument/2006/relationships/image" Target="../media/image139.emf"/><Relationship Id="rId6" Type="http://schemas.openxmlformats.org/officeDocument/2006/relationships/image" Target="../media/image144.emf"/><Relationship Id="rId5" Type="http://schemas.openxmlformats.org/officeDocument/2006/relationships/image" Target="../media/image143.emf"/><Relationship Id="rId4" Type="http://schemas.openxmlformats.org/officeDocument/2006/relationships/image" Target="../media/image142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3" Type="http://schemas.openxmlformats.org/officeDocument/2006/relationships/image" Target="../media/image148.emf"/><Relationship Id="rId7" Type="http://schemas.openxmlformats.org/officeDocument/2006/relationships/image" Target="../media/image152.emf"/><Relationship Id="rId2" Type="http://schemas.openxmlformats.org/officeDocument/2006/relationships/image" Target="../media/image147.emf"/><Relationship Id="rId1" Type="http://schemas.openxmlformats.org/officeDocument/2006/relationships/image" Target="../media/image146.emf"/><Relationship Id="rId6" Type="http://schemas.openxmlformats.org/officeDocument/2006/relationships/image" Target="../media/image151.emf"/><Relationship Id="rId5" Type="http://schemas.openxmlformats.org/officeDocument/2006/relationships/image" Target="../media/image150.emf"/><Relationship Id="rId4" Type="http://schemas.openxmlformats.org/officeDocument/2006/relationships/image" Target="../media/image149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emf"/><Relationship Id="rId1" Type="http://schemas.openxmlformats.org/officeDocument/2006/relationships/image" Target="../media/image155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2" Type="http://schemas.openxmlformats.org/officeDocument/2006/relationships/image" Target="../media/image161.emf"/><Relationship Id="rId1" Type="http://schemas.openxmlformats.org/officeDocument/2006/relationships/image" Target="../media/image160.emf"/><Relationship Id="rId5" Type="http://schemas.openxmlformats.org/officeDocument/2006/relationships/image" Target="../media/image164.emf"/><Relationship Id="rId4" Type="http://schemas.openxmlformats.org/officeDocument/2006/relationships/image" Target="../media/image163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emf"/><Relationship Id="rId3" Type="http://schemas.openxmlformats.org/officeDocument/2006/relationships/image" Target="../media/image168.emf"/><Relationship Id="rId7" Type="http://schemas.openxmlformats.org/officeDocument/2006/relationships/image" Target="../media/image172.emf"/><Relationship Id="rId2" Type="http://schemas.openxmlformats.org/officeDocument/2006/relationships/image" Target="../media/image167.emf"/><Relationship Id="rId1" Type="http://schemas.openxmlformats.org/officeDocument/2006/relationships/image" Target="../media/image166.emf"/><Relationship Id="rId6" Type="http://schemas.openxmlformats.org/officeDocument/2006/relationships/image" Target="../media/image171.emf"/><Relationship Id="rId5" Type="http://schemas.openxmlformats.org/officeDocument/2006/relationships/image" Target="../media/image170.emf"/><Relationship Id="rId4" Type="http://schemas.openxmlformats.org/officeDocument/2006/relationships/image" Target="../media/image169.emf"/><Relationship Id="rId9" Type="http://schemas.openxmlformats.org/officeDocument/2006/relationships/image" Target="../media/image174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emf"/><Relationship Id="rId3" Type="http://schemas.openxmlformats.org/officeDocument/2006/relationships/image" Target="../media/image177.emf"/><Relationship Id="rId7" Type="http://schemas.openxmlformats.org/officeDocument/2006/relationships/image" Target="../media/image181.emf"/><Relationship Id="rId12" Type="http://schemas.openxmlformats.org/officeDocument/2006/relationships/image" Target="../media/image186.emf"/><Relationship Id="rId2" Type="http://schemas.openxmlformats.org/officeDocument/2006/relationships/image" Target="../media/image176.emf"/><Relationship Id="rId1" Type="http://schemas.openxmlformats.org/officeDocument/2006/relationships/image" Target="../media/image175.emf"/><Relationship Id="rId6" Type="http://schemas.openxmlformats.org/officeDocument/2006/relationships/image" Target="../media/image180.emf"/><Relationship Id="rId11" Type="http://schemas.openxmlformats.org/officeDocument/2006/relationships/image" Target="../media/image185.emf"/><Relationship Id="rId5" Type="http://schemas.openxmlformats.org/officeDocument/2006/relationships/image" Target="../media/image179.emf"/><Relationship Id="rId10" Type="http://schemas.openxmlformats.org/officeDocument/2006/relationships/image" Target="../media/image184.emf"/><Relationship Id="rId4" Type="http://schemas.openxmlformats.org/officeDocument/2006/relationships/image" Target="../media/image178.emf"/><Relationship Id="rId9" Type="http://schemas.openxmlformats.org/officeDocument/2006/relationships/image" Target="../media/image183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0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emf"/><Relationship Id="rId2" Type="http://schemas.openxmlformats.org/officeDocument/2006/relationships/image" Target="../media/image192.emf"/><Relationship Id="rId1" Type="http://schemas.openxmlformats.org/officeDocument/2006/relationships/image" Target="../media/image191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8.e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4" Type="http://schemas.openxmlformats.org/officeDocument/2006/relationships/image" Target="../media/image20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image" Target="../media/image210.wmf"/><Relationship Id="rId7" Type="http://schemas.openxmlformats.org/officeDocument/2006/relationships/image" Target="../media/image214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6" Type="http://schemas.openxmlformats.org/officeDocument/2006/relationships/image" Target="../media/image213.wmf"/><Relationship Id="rId5" Type="http://schemas.openxmlformats.org/officeDocument/2006/relationships/image" Target="../media/image212.emf"/><Relationship Id="rId4" Type="http://schemas.openxmlformats.org/officeDocument/2006/relationships/image" Target="../media/image211.emf"/><Relationship Id="rId9" Type="http://schemas.openxmlformats.org/officeDocument/2006/relationships/image" Target="../media/image216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emf"/><Relationship Id="rId3" Type="http://schemas.openxmlformats.org/officeDocument/2006/relationships/image" Target="../media/image208.wmf"/><Relationship Id="rId7" Type="http://schemas.openxmlformats.org/officeDocument/2006/relationships/image" Target="../media/image220.wmf"/><Relationship Id="rId2" Type="http://schemas.openxmlformats.org/officeDocument/2006/relationships/image" Target="../media/image218.emf"/><Relationship Id="rId1" Type="http://schemas.openxmlformats.org/officeDocument/2006/relationships/image" Target="../media/image217.emf"/><Relationship Id="rId6" Type="http://schemas.openxmlformats.org/officeDocument/2006/relationships/image" Target="../media/image219.emf"/><Relationship Id="rId5" Type="http://schemas.openxmlformats.org/officeDocument/2006/relationships/image" Target="../media/image215.wmf"/><Relationship Id="rId10" Type="http://schemas.openxmlformats.org/officeDocument/2006/relationships/image" Target="../media/image223.emf"/><Relationship Id="rId4" Type="http://schemas.openxmlformats.org/officeDocument/2006/relationships/image" Target="../media/image209.wmf"/><Relationship Id="rId9" Type="http://schemas.openxmlformats.org/officeDocument/2006/relationships/image" Target="../media/image222.e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image" Target="../media/image225.wmf"/><Relationship Id="rId7" Type="http://schemas.openxmlformats.org/officeDocument/2006/relationships/image" Target="../media/image229.emf"/><Relationship Id="rId2" Type="http://schemas.openxmlformats.org/officeDocument/2006/relationships/image" Target="../media/image213.wmf"/><Relationship Id="rId1" Type="http://schemas.openxmlformats.org/officeDocument/2006/relationships/image" Target="../media/image224.emf"/><Relationship Id="rId6" Type="http://schemas.openxmlformats.org/officeDocument/2006/relationships/image" Target="../media/image228.wmf"/><Relationship Id="rId11" Type="http://schemas.openxmlformats.org/officeDocument/2006/relationships/image" Target="../media/image233.emf"/><Relationship Id="rId5" Type="http://schemas.openxmlformats.org/officeDocument/2006/relationships/image" Target="../media/image227.wmf"/><Relationship Id="rId10" Type="http://schemas.openxmlformats.org/officeDocument/2006/relationships/image" Target="../media/image232.emf"/><Relationship Id="rId4" Type="http://schemas.openxmlformats.org/officeDocument/2006/relationships/image" Target="../media/image226.wmf"/><Relationship Id="rId9" Type="http://schemas.openxmlformats.org/officeDocument/2006/relationships/image" Target="../media/image231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4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emf"/><Relationship Id="rId3" Type="http://schemas.openxmlformats.org/officeDocument/2006/relationships/image" Target="../media/image237.wmf"/><Relationship Id="rId7" Type="http://schemas.openxmlformats.org/officeDocument/2006/relationships/image" Target="../media/image241.emf"/><Relationship Id="rId2" Type="http://schemas.openxmlformats.org/officeDocument/2006/relationships/image" Target="../media/image236.wmf"/><Relationship Id="rId1" Type="http://schemas.openxmlformats.org/officeDocument/2006/relationships/image" Target="../media/image235.emf"/><Relationship Id="rId6" Type="http://schemas.openxmlformats.org/officeDocument/2006/relationships/image" Target="../media/image240.emf"/><Relationship Id="rId5" Type="http://schemas.openxmlformats.org/officeDocument/2006/relationships/image" Target="../media/image239.emf"/><Relationship Id="rId4" Type="http://schemas.openxmlformats.org/officeDocument/2006/relationships/image" Target="../media/image238.e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emf"/><Relationship Id="rId3" Type="http://schemas.openxmlformats.org/officeDocument/2006/relationships/image" Target="../media/image245.emf"/><Relationship Id="rId7" Type="http://schemas.openxmlformats.org/officeDocument/2006/relationships/image" Target="../media/image249.emf"/><Relationship Id="rId12" Type="http://schemas.openxmlformats.org/officeDocument/2006/relationships/image" Target="../media/image254.wmf"/><Relationship Id="rId2" Type="http://schemas.openxmlformats.org/officeDocument/2006/relationships/image" Target="../media/image244.emf"/><Relationship Id="rId1" Type="http://schemas.openxmlformats.org/officeDocument/2006/relationships/image" Target="../media/image243.emf"/><Relationship Id="rId6" Type="http://schemas.openxmlformats.org/officeDocument/2006/relationships/image" Target="../media/image248.emf"/><Relationship Id="rId11" Type="http://schemas.openxmlformats.org/officeDocument/2006/relationships/image" Target="../media/image253.emf"/><Relationship Id="rId5" Type="http://schemas.openxmlformats.org/officeDocument/2006/relationships/image" Target="../media/image247.emf"/><Relationship Id="rId10" Type="http://schemas.openxmlformats.org/officeDocument/2006/relationships/image" Target="../media/image252.emf"/><Relationship Id="rId4" Type="http://schemas.openxmlformats.org/officeDocument/2006/relationships/image" Target="../media/image246.emf"/><Relationship Id="rId9" Type="http://schemas.openxmlformats.org/officeDocument/2006/relationships/image" Target="../media/image251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emf"/><Relationship Id="rId1" Type="http://schemas.openxmlformats.org/officeDocument/2006/relationships/image" Target="../media/image255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emf"/><Relationship Id="rId2" Type="http://schemas.openxmlformats.org/officeDocument/2006/relationships/image" Target="../media/image258.emf"/><Relationship Id="rId1" Type="http://schemas.openxmlformats.org/officeDocument/2006/relationships/image" Target="../media/image257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emf"/><Relationship Id="rId2" Type="http://schemas.openxmlformats.org/officeDocument/2006/relationships/image" Target="../media/image261.emf"/><Relationship Id="rId1" Type="http://schemas.openxmlformats.org/officeDocument/2006/relationships/image" Target="../media/image260.emf"/><Relationship Id="rId4" Type="http://schemas.openxmlformats.org/officeDocument/2006/relationships/image" Target="../media/image263.e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emf"/><Relationship Id="rId2" Type="http://schemas.openxmlformats.org/officeDocument/2006/relationships/image" Target="../media/image265.emf"/><Relationship Id="rId1" Type="http://schemas.openxmlformats.org/officeDocument/2006/relationships/image" Target="../media/image264.emf"/><Relationship Id="rId5" Type="http://schemas.openxmlformats.org/officeDocument/2006/relationships/image" Target="../media/image268.emf"/><Relationship Id="rId4" Type="http://schemas.openxmlformats.org/officeDocument/2006/relationships/image" Target="../media/image267.e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emf"/><Relationship Id="rId2" Type="http://schemas.openxmlformats.org/officeDocument/2006/relationships/image" Target="../media/image270.emf"/><Relationship Id="rId1" Type="http://schemas.openxmlformats.org/officeDocument/2006/relationships/image" Target="../media/image269.wmf"/><Relationship Id="rId4" Type="http://schemas.openxmlformats.org/officeDocument/2006/relationships/image" Target="../media/image272.e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emf"/><Relationship Id="rId2" Type="http://schemas.openxmlformats.org/officeDocument/2006/relationships/image" Target="../media/image274.emf"/><Relationship Id="rId1" Type="http://schemas.openxmlformats.org/officeDocument/2006/relationships/image" Target="../media/image273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6.e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emf"/><Relationship Id="rId2" Type="http://schemas.openxmlformats.org/officeDocument/2006/relationships/image" Target="../media/image278.emf"/><Relationship Id="rId1" Type="http://schemas.openxmlformats.org/officeDocument/2006/relationships/image" Target="../media/image277.emf"/><Relationship Id="rId6" Type="http://schemas.openxmlformats.org/officeDocument/2006/relationships/image" Target="../media/image282.emf"/><Relationship Id="rId5" Type="http://schemas.openxmlformats.org/officeDocument/2006/relationships/image" Target="../media/image281.emf"/><Relationship Id="rId4" Type="http://schemas.openxmlformats.org/officeDocument/2006/relationships/image" Target="../media/image280.e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emf"/><Relationship Id="rId13" Type="http://schemas.openxmlformats.org/officeDocument/2006/relationships/image" Target="../media/image296.emf"/><Relationship Id="rId3" Type="http://schemas.openxmlformats.org/officeDocument/2006/relationships/image" Target="../media/image286.emf"/><Relationship Id="rId7" Type="http://schemas.openxmlformats.org/officeDocument/2006/relationships/image" Target="../media/image290.emf"/><Relationship Id="rId12" Type="http://schemas.openxmlformats.org/officeDocument/2006/relationships/image" Target="../media/image295.wmf"/><Relationship Id="rId2" Type="http://schemas.openxmlformats.org/officeDocument/2006/relationships/image" Target="../media/image285.emf"/><Relationship Id="rId1" Type="http://schemas.openxmlformats.org/officeDocument/2006/relationships/image" Target="../media/image284.emf"/><Relationship Id="rId6" Type="http://schemas.openxmlformats.org/officeDocument/2006/relationships/image" Target="../media/image289.emf"/><Relationship Id="rId11" Type="http://schemas.openxmlformats.org/officeDocument/2006/relationships/image" Target="../media/image294.emf"/><Relationship Id="rId5" Type="http://schemas.openxmlformats.org/officeDocument/2006/relationships/image" Target="../media/image288.emf"/><Relationship Id="rId15" Type="http://schemas.openxmlformats.org/officeDocument/2006/relationships/image" Target="../media/image298.emf"/><Relationship Id="rId10" Type="http://schemas.openxmlformats.org/officeDocument/2006/relationships/image" Target="../media/image293.emf"/><Relationship Id="rId4" Type="http://schemas.openxmlformats.org/officeDocument/2006/relationships/image" Target="../media/image287.emf"/><Relationship Id="rId9" Type="http://schemas.openxmlformats.org/officeDocument/2006/relationships/image" Target="../media/image292.emf"/><Relationship Id="rId14" Type="http://schemas.openxmlformats.org/officeDocument/2006/relationships/image" Target="../media/image297.e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emf"/><Relationship Id="rId13" Type="http://schemas.openxmlformats.org/officeDocument/2006/relationships/image" Target="../media/image312.emf"/><Relationship Id="rId18" Type="http://schemas.openxmlformats.org/officeDocument/2006/relationships/image" Target="../media/image317.emf"/><Relationship Id="rId26" Type="http://schemas.openxmlformats.org/officeDocument/2006/relationships/image" Target="../media/image325.emf"/><Relationship Id="rId3" Type="http://schemas.openxmlformats.org/officeDocument/2006/relationships/image" Target="../media/image302.emf"/><Relationship Id="rId21" Type="http://schemas.openxmlformats.org/officeDocument/2006/relationships/image" Target="../media/image320.emf"/><Relationship Id="rId7" Type="http://schemas.openxmlformats.org/officeDocument/2006/relationships/image" Target="../media/image306.emf"/><Relationship Id="rId12" Type="http://schemas.openxmlformats.org/officeDocument/2006/relationships/image" Target="../media/image311.emf"/><Relationship Id="rId17" Type="http://schemas.openxmlformats.org/officeDocument/2006/relationships/image" Target="../media/image316.emf"/><Relationship Id="rId25" Type="http://schemas.openxmlformats.org/officeDocument/2006/relationships/image" Target="../media/image324.emf"/><Relationship Id="rId2" Type="http://schemas.openxmlformats.org/officeDocument/2006/relationships/image" Target="../media/image301.emf"/><Relationship Id="rId16" Type="http://schemas.openxmlformats.org/officeDocument/2006/relationships/image" Target="../media/image315.emf"/><Relationship Id="rId20" Type="http://schemas.openxmlformats.org/officeDocument/2006/relationships/image" Target="../media/image319.emf"/><Relationship Id="rId29" Type="http://schemas.openxmlformats.org/officeDocument/2006/relationships/image" Target="../media/image328.emf"/><Relationship Id="rId1" Type="http://schemas.openxmlformats.org/officeDocument/2006/relationships/image" Target="../media/image300.emf"/><Relationship Id="rId6" Type="http://schemas.openxmlformats.org/officeDocument/2006/relationships/image" Target="../media/image305.emf"/><Relationship Id="rId11" Type="http://schemas.openxmlformats.org/officeDocument/2006/relationships/image" Target="../media/image310.emf"/><Relationship Id="rId24" Type="http://schemas.openxmlformats.org/officeDocument/2006/relationships/image" Target="../media/image323.emf"/><Relationship Id="rId32" Type="http://schemas.openxmlformats.org/officeDocument/2006/relationships/image" Target="../media/image331.emf"/><Relationship Id="rId5" Type="http://schemas.openxmlformats.org/officeDocument/2006/relationships/image" Target="../media/image304.emf"/><Relationship Id="rId15" Type="http://schemas.openxmlformats.org/officeDocument/2006/relationships/image" Target="../media/image314.emf"/><Relationship Id="rId23" Type="http://schemas.openxmlformats.org/officeDocument/2006/relationships/image" Target="../media/image322.emf"/><Relationship Id="rId28" Type="http://schemas.openxmlformats.org/officeDocument/2006/relationships/image" Target="../media/image327.emf"/><Relationship Id="rId10" Type="http://schemas.openxmlformats.org/officeDocument/2006/relationships/image" Target="../media/image309.emf"/><Relationship Id="rId19" Type="http://schemas.openxmlformats.org/officeDocument/2006/relationships/image" Target="../media/image318.emf"/><Relationship Id="rId31" Type="http://schemas.openxmlformats.org/officeDocument/2006/relationships/image" Target="../media/image330.emf"/><Relationship Id="rId4" Type="http://schemas.openxmlformats.org/officeDocument/2006/relationships/image" Target="../media/image303.emf"/><Relationship Id="rId9" Type="http://schemas.openxmlformats.org/officeDocument/2006/relationships/image" Target="../media/image308.emf"/><Relationship Id="rId14" Type="http://schemas.openxmlformats.org/officeDocument/2006/relationships/image" Target="../media/image313.emf"/><Relationship Id="rId22" Type="http://schemas.openxmlformats.org/officeDocument/2006/relationships/image" Target="../media/image321.emf"/><Relationship Id="rId27" Type="http://schemas.openxmlformats.org/officeDocument/2006/relationships/image" Target="../media/image326.emf"/><Relationship Id="rId30" Type="http://schemas.openxmlformats.org/officeDocument/2006/relationships/image" Target="../media/image329.e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emf"/><Relationship Id="rId13" Type="http://schemas.openxmlformats.org/officeDocument/2006/relationships/image" Target="../media/image352.emf"/><Relationship Id="rId18" Type="http://schemas.openxmlformats.org/officeDocument/2006/relationships/image" Target="../media/image357.emf"/><Relationship Id="rId3" Type="http://schemas.openxmlformats.org/officeDocument/2006/relationships/image" Target="../media/image342.emf"/><Relationship Id="rId21" Type="http://schemas.openxmlformats.org/officeDocument/2006/relationships/image" Target="../media/image360.emf"/><Relationship Id="rId7" Type="http://schemas.openxmlformats.org/officeDocument/2006/relationships/image" Target="../media/image346.emf"/><Relationship Id="rId12" Type="http://schemas.openxmlformats.org/officeDocument/2006/relationships/image" Target="../media/image351.emf"/><Relationship Id="rId17" Type="http://schemas.openxmlformats.org/officeDocument/2006/relationships/image" Target="../media/image356.emf"/><Relationship Id="rId2" Type="http://schemas.openxmlformats.org/officeDocument/2006/relationships/image" Target="../media/image341.emf"/><Relationship Id="rId16" Type="http://schemas.openxmlformats.org/officeDocument/2006/relationships/image" Target="../media/image355.emf"/><Relationship Id="rId20" Type="http://schemas.openxmlformats.org/officeDocument/2006/relationships/image" Target="../media/image359.emf"/><Relationship Id="rId1" Type="http://schemas.openxmlformats.org/officeDocument/2006/relationships/image" Target="../media/image340.emf"/><Relationship Id="rId6" Type="http://schemas.openxmlformats.org/officeDocument/2006/relationships/image" Target="../media/image345.emf"/><Relationship Id="rId11" Type="http://schemas.openxmlformats.org/officeDocument/2006/relationships/image" Target="../media/image350.emf"/><Relationship Id="rId5" Type="http://schemas.openxmlformats.org/officeDocument/2006/relationships/image" Target="../media/image344.emf"/><Relationship Id="rId15" Type="http://schemas.openxmlformats.org/officeDocument/2006/relationships/image" Target="../media/image354.emf"/><Relationship Id="rId10" Type="http://schemas.openxmlformats.org/officeDocument/2006/relationships/image" Target="../media/image349.emf"/><Relationship Id="rId19" Type="http://schemas.openxmlformats.org/officeDocument/2006/relationships/image" Target="../media/image358.emf"/><Relationship Id="rId4" Type="http://schemas.openxmlformats.org/officeDocument/2006/relationships/image" Target="../media/image343.emf"/><Relationship Id="rId9" Type="http://schemas.openxmlformats.org/officeDocument/2006/relationships/image" Target="../media/image348.emf"/><Relationship Id="rId14" Type="http://schemas.openxmlformats.org/officeDocument/2006/relationships/image" Target="../media/image353.emf"/><Relationship Id="rId22" Type="http://schemas.openxmlformats.org/officeDocument/2006/relationships/image" Target="../media/image361.e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9.emf"/><Relationship Id="rId3" Type="http://schemas.openxmlformats.org/officeDocument/2006/relationships/image" Target="../media/image364.emf"/><Relationship Id="rId7" Type="http://schemas.openxmlformats.org/officeDocument/2006/relationships/image" Target="../media/image368.emf"/><Relationship Id="rId2" Type="http://schemas.openxmlformats.org/officeDocument/2006/relationships/image" Target="../media/image363.wmf"/><Relationship Id="rId1" Type="http://schemas.openxmlformats.org/officeDocument/2006/relationships/image" Target="../media/image362.emf"/><Relationship Id="rId6" Type="http://schemas.openxmlformats.org/officeDocument/2006/relationships/image" Target="../media/image367.emf"/><Relationship Id="rId11" Type="http://schemas.openxmlformats.org/officeDocument/2006/relationships/image" Target="../media/image372.emf"/><Relationship Id="rId5" Type="http://schemas.openxmlformats.org/officeDocument/2006/relationships/image" Target="../media/image366.emf"/><Relationship Id="rId10" Type="http://schemas.openxmlformats.org/officeDocument/2006/relationships/image" Target="../media/image371.emf"/><Relationship Id="rId4" Type="http://schemas.openxmlformats.org/officeDocument/2006/relationships/image" Target="../media/image365.emf"/><Relationship Id="rId9" Type="http://schemas.openxmlformats.org/officeDocument/2006/relationships/image" Target="../media/image370.e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8.emf"/><Relationship Id="rId3" Type="http://schemas.openxmlformats.org/officeDocument/2006/relationships/image" Target="../media/image213.wmf"/><Relationship Id="rId7" Type="http://schemas.openxmlformats.org/officeDocument/2006/relationships/image" Target="../media/image35.wmf"/><Relationship Id="rId2" Type="http://schemas.openxmlformats.org/officeDocument/2006/relationships/image" Target="../media/image374.emf"/><Relationship Id="rId1" Type="http://schemas.openxmlformats.org/officeDocument/2006/relationships/image" Target="../media/image373.emf"/><Relationship Id="rId6" Type="http://schemas.openxmlformats.org/officeDocument/2006/relationships/image" Target="../media/image377.emf"/><Relationship Id="rId5" Type="http://schemas.openxmlformats.org/officeDocument/2006/relationships/image" Target="../media/image376.emf"/><Relationship Id="rId10" Type="http://schemas.openxmlformats.org/officeDocument/2006/relationships/image" Target="../media/image380.emf"/><Relationship Id="rId4" Type="http://schemas.openxmlformats.org/officeDocument/2006/relationships/image" Target="../media/image375.emf"/><Relationship Id="rId9" Type="http://schemas.openxmlformats.org/officeDocument/2006/relationships/image" Target="../media/image379.e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emf"/><Relationship Id="rId3" Type="http://schemas.openxmlformats.org/officeDocument/2006/relationships/image" Target="../media/image383.emf"/><Relationship Id="rId7" Type="http://schemas.openxmlformats.org/officeDocument/2006/relationships/image" Target="../media/image387.emf"/><Relationship Id="rId2" Type="http://schemas.openxmlformats.org/officeDocument/2006/relationships/image" Target="../media/image382.emf"/><Relationship Id="rId1" Type="http://schemas.openxmlformats.org/officeDocument/2006/relationships/image" Target="../media/image381.emf"/><Relationship Id="rId6" Type="http://schemas.openxmlformats.org/officeDocument/2006/relationships/image" Target="../media/image386.emf"/><Relationship Id="rId11" Type="http://schemas.openxmlformats.org/officeDocument/2006/relationships/image" Target="../media/image391.emf"/><Relationship Id="rId5" Type="http://schemas.openxmlformats.org/officeDocument/2006/relationships/image" Target="../media/image385.emf"/><Relationship Id="rId10" Type="http://schemas.openxmlformats.org/officeDocument/2006/relationships/image" Target="../media/image390.emf"/><Relationship Id="rId4" Type="http://schemas.openxmlformats.org/officeDocument/2006/relationships/image" Target="../media/image384.emf"/><Relationship Id="rId9" Type="http://schemas.openxmlformats.org/officeDocument/2006/relationships/image" Target="../media/image389.e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5.emf"/><Relationship Id="rId2" Type="http://schemas.openxmlformats.org/officeDocument/2006/relationships/image" Target="../media/image394.emf"/><Relationship Id="rId1" Type="http://schemas.openxmlformats.org/officeDocument/2006/relationships/image" Target="../media/image393.emf"/><Relationship Id="rId5" Type="http://schemas.openxmlformats.org/officeDocument/2006/relationships/image" Target="../media/image397.emf"/><Relationship Id="rId4" Type="http://schemas.openxmlformats.org/officeDocument/2006/relationships/image" Target="../media/image396.e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5.emf"/><Relationship Id="rId3" Type="http://schemas.openxmlformats.org/officeDocument/2006/relationships/image" Target="../media/image400.emf"/><Relationship Id="rId7" Type="http://schemas.openxmlformats.org/officeDocument/2006/relationships/image" Target="../media/image404.emf"/><Relationship Id="rId2" Type="http://schemas.openxmlformats.org/officeDocument/2006/relationships/image" Target="../media/image399.emf"/><Relationship Id="rId1" Type="http://schemas.openxmlformats.org/officeDocument/2006/relationships/image" Target="../media/image398.emf"/><Relationship Id="rId6" Type="http://schemas.openxmlformats.org/officeDocument/2006/relationships/image" Target="../media/image403.emf"/><Relationship Id="rId5" Type="http://schemas.openxmlformats.org/officeDocument/2006/relationships/image" Target="../media/image402.emf"/><Relationship Id="rId4" Type="http://schemas.openxmlformats.org/officeDocument/2006/relationships/image" Target="../media/image401.e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3.emf"/><Relationship Id="rId3" Type="http://schemas.openxmlformats.org/officeDocument/2006/relationships/image" Target="../media/image408.emf"/><Relationship Id="rId7" Type="http://schemas.openxmlformats.org/officeDocument/2006/relationships/image" Target="../media/image412.emf"/><Relationship Id="rId2" Type="http://schemas.openxmlformats.org/officeDocument/2006/relationships/image" Target="../media/image407.emf"/><Relationship Id="rId1" Type="http://schemas.openxmlformats.org/officeDocument/2006/relationships/image" Target="../media/image406.emf"/><Relationship Id="rId6" Type="http://schemas.openxmlformats.org/officeDocument/2006/relationships/image" Target="../media/image411.emf"/><Relationship Id="rId5" Type="http://schemas.openxmlformats.org/officeDocument/2006/relationships/image" Target="../media/image410.emf"/><Relationship Id="rId10" Type="http://schemas.openxmlformats.org/officeDocument/2006/relationships/image" Target="../media/image415.emf"/><Relationship Id="rId4" Type="http://schemas.openxmlformats.org/officeDocument/2006/relationships/image" Target="../media/image409.emf"/><Relationship Id="rId9" Type="http://schemas.openxmlformats.org/officeDocument/2006/relationships/image" Target="../media/image414.e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9.emf"/><Relationship Id="rId2" Type="http://schemas.openxmlformats.org/officeDocument/2006/relationships/image" Target="../media/image418.emf"/><Relationship Id="rId1" Type="http://schemas.openxmlformats.org/officeDocument/2006/relationships/image" Target="../media/image417.emf"/><Relationship Id="rId6" Type="http://schemas.openxmlformats.org/officeDocument/2006/relationships/image" Target="../media/image422.emf"/><Relationship Id="rId5" Type="http://schemas.openxmlformats.org/officeDocument/2006/relationships/image" Target="../media/image421.emf"/><Relationship Id="rId4" Type="http://schemas.openxmlformats.org/officeDocument/2006/relationships/image" Target="../media/image420.e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5.emf"/><Relationship Id="rId2" Type="http://schemas.openxmlformats.org/officeDocument/2006/relationships/image" Target="../media/image424.emf"/><Relationship Id="rId1" Type="http://schemas.openxmlformats.org/officeDocument/2006/relationships/image" Target="../media/image423.emf"/><Relationship Id="rId6" Type="http://schemas.openxmlformats.org/officeDocument/2006/relationships/image" Target="../media/image428.emf"/><Relationship Id="rId5" Type="http://schemas.openxmlformats.org/officeDocument/2006/relationships/image" Target="../media/image427.emf"/><Relationship Id="rId4" Type="http://schemas.openxmlformats.org/officeDocument/2006/relationships/image" Target="../media/image426.e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1.emf"/><Relationship Id="rId3" Type="http://schemas.openxmlformats.org/officeDocument/2006/relationships/image" Target="../media/image436.emf"/><Relationship Id="rId7" Type="http://schemas.openxmlformats.org/officeDocument/2006/relationships/image" Target="../media/image440.emf"/><Relationship Id="rId2" Type="http://schemas.openxmlformats.org/officeDocument/2006/relationships/image" Target="../media/image435.emf"/><Relationship Id="rId1" Type="http://schemas.openxmlformats.org/officeDocument/2006/relationships/image" Target="../media/image434.emf"/><Relationship Id="rId6" Type="http://schemas.openxmlformats.org/officeDocument/2006/relationships/image" Target="../media/image439.emf"/><Relationship Id="rId5" Type="http://schemas.openxmlformats.org/officeDocument/2006/relationships/image" Target="../media/image438.emf"/><Relationship Id="rId4" Type="http://schemas.openxmlformats.org/officeDocument/2006/relationships/image" Target="../media/image437.e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4.wmf"/><Relationship Id="rId2" Type="http://schemas.openxmlformats.org/officeDocument/2006/relationships/image" Target="../media/image443.emf"/><Relationship Id="rId1" Type="http://schemas.openxmlformats.org/officeDocument/2006/relationships/image" Target="../media/image442.emf"/><Relationship Id="rId4" Type="http://schemas.openxmlformats.org/officeDocument/2006/relationships/image" Target="../media/image445.e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4.emf"/><Relationship Id="rId3" Type="http://schemas.openxmlformats.org/officeDocument/2006/relationships/image" Target="../media/image449.emf"/><Relationship Id="rId7" Type="http://schemas.openxmlformats.org/officeDocument/2006/relationships/image" Target="../media/image453.wmf"/><Relationship Id="rId2" Type="http://schemas.openxmlformats.org/officeDocument/2006/relationships/image" Target="../media/image448.emf"/><Relationship Id="rId1" Type="http://schemas.openxmlformats.org/officeDocument/2006/relationships/image" Target="../media/image447.emf"/><Relationship Id="rId6" Type="http://schemas.openxmlformats.org/officeDocument/2006/relationships/image" Target="../media/image452.emf"/><Relationship Id="rId5" Type="http://schemas.openxmlformats.org/officeDocument/2006/relationships/image" Target="../media/image451.emf"/><Relationship Id="rId10" Type="http://schemas.openxmlformats.org/officeDocument/2006/relationships/image" Target="../media/image456.emf"/><Relationship Id="rId4" Type="http://schemas.openxmlformats.org/officeDocument/2006/relationships/image" Target="../media/image450.emf"/><Relationship Id="rId9" Type="http://schemas.openxmlformats.org/officeDocument/2006/relationships/image" Target="../media/image455.e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4.wmf"/><Relationship Id="rId13" Type="http://schemas.openxmlformats.org/officeDocument/2006/relationships/image" Target="../media/image469.emf"/><Relationship Id="rId3" Type="http://schemas.openxmlformats.org/officeDocument/2006/relationships/image" Target="../media/image459.wmf"/><Relationship Id="rId7" Type="http://schemas.openxmlformats.org/officeDocument/2006/relationships/image" Target="../media/image463.wmf"/><Relationship Id="rId12" Type="http://schemas.openxmlformats.org/officeDocument/2006/relationships/image" Target="../media/image468.emf"/><Relationship Id="rId17" Type="http://schemas.openxmlformats.org/officeDocument/2006/relationships/image" Target="../media/image473.emf"/><Relationship Id="rId2" Type="http://schemas.openxmlformats.org/officeDocument/2006/relationships/image" Target="../media/image458.emf"/><Relationship Id="rId16" Type="http://schemas.openxmlformats.org/officeDocument/2006/relationships/image" Target="../media/image472.emf"/><Relationship Id="rId1" Type="http://schemas.openxmlformats.org/officeDocument/2006/relationships/image" Target="../media/image457.emf"/><Relationship Id="rId6" Type="http://schemas.openxmlformats.org/officeDocument/2006/relationships/image" Target="../media/image462.emf"/><Relationship Id="rId11" Type="http://schemas.openxmlformats.org/officeDocument/2006/relationships/image" Target="../media/image467.emf"/><Relationship Id="rId5" Type="http://schemas.openxmlformats.org/officeDocument/2006/relationships/image" Target="../media/image461.emf"/><Relationship Id="rId15" Type="http://schemas.openxmlformats.org/officeDocument/2006/relationships/image" Target="../media/image471.emf"/><Relationship Id="rId10" Type="http://schemas.openxmlformats.org/officeDocument/2006/relationships/image" Target="../media/image466.emf"/><Relationship Id="rId4" Type="http://schemas.openxmlformats.org/officeDocument/2006/relationships/image" Target="../media/image460.emf"/><Relationship Id="rId9" Type="http://schemas.openxmlformats.org/officeDocument/2006/relationships/image" Target="../media/image465.emf"/><Relationship Id="rId14" Type="http://schemas.openxmlformats.org/officeDocument/2006/relationships/image" Target="../media/image470.e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emf"/><Relationship Id="rId2" Type="http://schemas.openxmlformats.org/officeDocument/2006/relationships/image" Target="../media/image475.emf"/><Relationship Id="rId1" Type="http://schemas.openxmlformats.org/officeDocument/2006/relationships/image" Target="../media/image474.emf"/><Relationship Id="rId5" Type="http://schemas.openxmlformats.org/officeDocument/2006/relationships/image" Target="../media/image478.emf"/><Relationship Id="rId4" Type="http://schemas.openxmlformats.org/officeDocument/2006/relationships/image" Target="../media/image477.e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6.emf"/><Relationship Id="rId3" Type="http://schemas.openxmlformats.org/officeDocument/2006/relationships/image" Target="../media/image481.emf"/><Relationship Id="rId7" Type="http://schemas.openxmlformats.org/officeDocument/2006/relationships/image" Target="../media/image485.emf"/><Relationship Id="rId2" Type="http://schemas.openxmlformats.org/officeDocument/2006/relationships/image" Target="../media/image480.emf"/><Relationship Id="rId1" Type="http://schemas.openxmlformats.org/officeDocument/2006/relationships/image" Target="../media/image479.emf"/><Relationship Id="rId6" Type="http://schemas.openxmlformats.org/officeDocument/2006/relationships/image" Target="../media/image484.emf"/><Relationship Id="rId5" Type="http://schemas.openxmlformats.org/officeDocument/2006/relationships/image" Target="../media/image483.emf"/><Relationship Id="rId10" Type="http://schemas.openxmlformats.org/officeDocument/2006/relationships/image" Target="../media/image488.wmf"/><Relationship Id="rId4" Type="http://schemas.openxmlformats.org/officeDocument/2006/relationships/image" Target="../media/image482.emf"/><Relationship Id="rId9" Type="http://schemas.openxmlformats.org/officeDocument/2006/relationships/image" Target="../media/image48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4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50000"/>
              </a:spcBef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spcBef>
                <a:spcPct val="50000"/>
              </a:spcBef>
              <a:buNone/>
            </a:pPr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03202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2054" name="Group 3"/>
            <p:cNvGrpSpPr/>
            <p:nvPr userDrawn="1"/>
          </p:nvGrpSpPr>
          <p:grpSpPr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2088" name="Freeform 4"/>
              <p:cNvSpPr/>
              <p:nvPr userDrawn="1"/>
            </p:nvSpPr>
            <p:spPr>
              <a:xfrm rot="-9414770" flipV="1">
                <a:off x="3534" y="778"/>
                <a:ext cx="1333" cy="1485"/>
              </a:xfrm>
              <a:custGeom>
                <a:avLst/>
                <a:gdLst/>
                <a:ahLst/>
                <a:cxnLst>
                  <a:cxn ang="0">
                    <a:pos x="2026" y="45486"/>
                  </a:cxn>
                  <a:cxn ang="0">
                    <a:pos x="725" y="41892"/>
                  </a:cxn>
                  <a:cxn ang="0">
                    <a:pos x="0" y="35497"/>
                  </a:cxn>
                  <a:cxn ang="0">
                    <a:pos x="505" y="27294"/>
                  </a:cxn>
                  <a:cxn ang="0">
                    <a:pos x="3131" y="18569"/>
                  </a:cxn>
                  <a:cxn ang="0">
                    <a:pos x="8604" y="10310"/>
                  </a:cxn>
                  <a:cxn ang="0">
                    <a:pos x="17787" y="3804"/>
                  </a:cxn>
                  <a:cxn ang="0">
                    <a:pos x="30898" y="223"/>
                  </a:cxn>
                  <a:cxn ang="0">
                    <a:pos x="47572" y="1108"/>
                  </a:cxn>
                  <a:cxn ang="0">
                    <a:pos x="60607" y="8382"/>
                  </a:cxn>
                  <a:cxn ang="0">
                    <a:pos x="69341" y="20299"/>
                  </a:cxn>
                  <a:cxn ang="0">
                    <a:pos x="73999" y="34877"/>
                  </a:cxn>
                  <a:cxn ang="0">
                    <a:pos x="74489" y="50274"/>
                  </a:cxn>
                  <a:cxn ang="0">
                    <a:pos x="70861" y="64537"/>
                  </a:cxn>
                  <a:cxn ang="0">
                    <a:pos x="63458" y="75559"/>
                  </a:cxn>
                  <a:cxn ang="0">
                    <a:pos x="52224" y="81465"/>
                  </a:cxn>
                  <a:cxn ang="0">
                    <a:pos x="48693" y="80944"/>
                  </a:cxn>
                  <a:cxn ang="0">
                    <a:pos x="55181" y="75838"/>
                  </a:cxn>
                  <a:cxn ang="0">
                    <a:pos x="60327" y="66858"/>
                  </a:cxn>
                  <a:cxn ang="0">
                    <a:pos x="63684" y="55763"/>
                  </a:cxn>
                  <a:cxn ang="0">
                    <a:pos x="65080" y="43656"/>
                  </a:cxn>
                  <a:cxn ang="0">
                    <a:pos x="64355" y="31696"/>
                  </a:cxn>
                  <a:cxn ang="0">
                    <a:pos x="60728" y="21383"/>
                  </a:cxn>
                  <a:cxn ang="0">
                    <a:pos x="54174" y="13766"/>
                  </a:cxn>
                  <a:cxn ang="0">
                    <a:pos x="42714" y="9189"/>
                  </a:cxn>
                  <a:cxn ang="0">
                    <a:pos x="30780" y="7492"/>
                  </a:cxn>
                  <a:cxn ang="0">
                    <a:pos x="21771" y="8700"/>
                  </a:cxn>
                  <a:cxn ang="0">
                    <a:pos x="15162" y="12404"/>
                  </a:cxn>
                  <a:cxn ang="0">
                    <a:pos x="10505" y="18290"/>
                  </a:cxn>
                  <a:cxn ang="0">
                    <a:pos x="7103" y="25285"/>
                  </a:cxn>
                  <a:cxn ang="0">
                    <a:pos x="4976" y="33390"/>
                  </a:cxn>
                  <a:cxn ang="0">
                    <a:pos x="3527" y="41674"/>
                  </a:cxn>
                </a:cxnLst>
                <a:rect l="0" t="0" r="0" b="0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" name="Freeform 5"/>
              <p:cNvSpPr/>
              <p:nvPr userDrawn="1"/>
            </p:nvSpPr>
            <p:spPr>
              <a:xfrm rot="-9414770" flipV="1">
                <a:off x="4029" y="1802"/>
                <a:ext cx="571" cy="53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148"/>
                  </a:cxn>
                  <a:cxn ang="0">
                    <a:pos x="395" y="6320"/>
                  </a:cxn>
                  <a:cxn ang="0">
                    <a:pos x="700" y="9473"/>
                  </a:cxn>
                  <a:cxn ang="0">
                    <a:pos x="1293" y="12428"/>
                  </a:cxn>
                  <a:cxn ang="0">
                    <a:pos x="2173" y="15070"/>
                  </a:cxn>
                  <a:cxn ang="0">
                    <a:pos x="3233" y="17837"/>
                  </a:cxn>
                  <a:cxn ang="0">
                    <a:pos x="4550" y="20391"/>
                  </a:cxn>
                  <a:cxn ang="0">
                    <a:pos x="6121" y="22528"/>
                  </a:cxn>
                  <a:cxn ang="0">
                    <a:pos x="8061" y="24563"/>
                  </a:cxn>
                  <a:cxn ang="0">
                    <a:pos x="10331" y="26308"/>
                  </a:cxn>
                  <a:cxn ang="0">
                    <a:pos x="12766" y="27724"/>
                  </a:cxn>
                  <a:cxn ang="0">
                    <a:pos x="15761" y="28849"/>
                  </a:cxn>
                  <a:cxn ang="0">
                    <a:pos x="19005" y="29581"/>
                  </a:cxn>
                  <a:cxn ang="0">
                    <a:pos x="22638" y="29985"/>
                  </a:cxn>
                  <a:cxn ang="0">
                    <a:pos x="26464" y="29864"/>
                  </a:cxn>
                  <a:cxn ang="0">
                    <a:pos x="30916" y="29355"/>
                  </a:cxn>
                  <a:cxn ang="0">
                    <a:pos x="26948" y="28723"/>
                  </a:cxn>
                  <a:cxn ang="0">
                    <a:pos x="23438" y="27845"/>
                  </a:cxn>
                  <a:cxn ang="0">
                    <a:pos x="20467" y="26812"/>
                  </a:cxn>
                  <a:cxn ang="0">
                    <a:pos x="17810" y="25802"/>
                  </a:cxn>
                  <a:cxn ang="0">
                    <a:pos x="15377" y="24397"/>
                  </a:cxn>
                  <a:cxn ang="0">
                    <a:pos x="13482" y="23037"/>
                  </a:cxn>
                  <a:cxn ang="0">
                    <a:pos x="11689" y="21390"/>
                  </a:cxn>
                  <a:cxn ang="0">
                    <a:pos x="10109" y="19582"/>
                  </a:cxn>
                  <a:cxn ang="0">
                    <a:pos x="8654" y="17837"/>
                  </a:cxn>
                  <a:cxn ang="0">
                    <a:pos x="7361" y="15802"/>
                  </a:cxn>
                  <a:cxn ang="0">
                    <a:pos x="6283" y="13553"/>
                  </a:cxn>
                  <a:cxn ang="0">
                    <a:pos x="5188" y="11113"/>
                  </a:cxn>
                  <a:cxn ang="0">
                    <a:pos x="3948" y="8740"/>
                  </a:cxn>
                  <a:cxn ang="0">
                    <a:pos x="2755" y="5928"/>
                  </a:cxn>
                  <a:cxn ang="0">
                    <a:pos x="1455" y="3047"/>
                  </a:cxn>
                  <a:cxn ang="0">
                    <a:pos x="0" y="0"/>
                  </a:cxn>
                </a:cxnLst>
                <a:rect l="0" t="0" r="0" b="0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90" name="Freeform 6"/>
              <p:cNvSpPr/>
              <p:nvPr userDrawn="1"/>
            </p:nvSpPr>
            <p:spPr>
              <a:xfrm rot="-9414770" flipV="1">
                <a:off x="3639" y="2167"/>
                <a:ext cx="277" cy="249"/>
              </a:xfrm>
              <a:custGeom>
                <a:avLst/>
                <a:gdLst/>
                <a:ahLst/>
                <a:cxnLst>
                  <a:cxn ang="0">
                    <a:pos x="9565" y="0"/>
                  </a:cxn>
                  <a:cxn ang="0">
                    <a:pos x="15414" y="14501"/>
                  </a:cxn>
                  <a:cxn ang="0">
                    <a:pos x="14916" y="14383"/>
                  </a:cxn>
                  <a:cxn ang="0">
                    <a:pos x="13298" y="14152"/>
                  </a:cxn>
                  <a:cxn ang="0">
                    <a:pos x="11078" y="13604"/>
                  </a:cxn>
                  <a:cxn ang="0">
                    <a:pos x="8473" y="13317"/>
                  </a:cxn>
                  <a:cxn ang="0">
                    <a:pos x="5629" y="13073"/>
                  </a:cxn>
                  <a:cxn ang="0">
                    <a:pos x="3110" y="13211"/>
                  </a:cxn>
                  <a:cxn ang="0">
                    <a:pos x="1128" y="13733"/>
                  </a:cxn>
                  <a:cxn ang="0">
                    <a:pos x="0" y="14813"/>
                  </a:cxn>
                  <a:cxn ang="0">
                    <a:pos x="505" y="13211"/>
                  </a:cxn>
                  <a:cxn ang="0">
                    <a:pos x="994" y="11950"/>
                  </a:cxn>
                  <a:cxn ang="0">
                    <a:pos x="1997" y="11053"/>
                  </a:cxn>
                  <a:cxn ang="0">
                    <a:pos x="3110" y="10218"/>
                  </a:cxn>
                  <a:cxn ang="0">
                    <a:pos x="4461" y="9684"/>
                  </a:cxn>
                  <a:cxn ang="0">
                    <a:pos x="5853" y="9557"/>
                  </a:cxn>
                  <a:cxn ang="0">
                    <a:pos x="7345" y="9557"/>
                  </a:cxn>
                  <a:cxn ang="0">
                    <a:pos x="8962" y="9976"/>
                  </a:cxn>
                  <a:cxn ang="0">
                    <a:pos x="9063" y="9557"/>
                  </a:cxn>
                  <a:cxn ang="0">
                    <a:pos x="8663" y="7538"/>
                  </a:cxn>
                  <a:cxn ang="0">
                    <a:pos x="8339" y="5114"/>
                  </a:cxn>
                  <a:cxn ang="0">
                    <a:pos x="8069" y="4047"/>
                  </a:cxn>
                  <a:cxn ang="0">
                    <a:pos x="7850" y="4047"/>
                  </a:cxn>
                  <a:cxn ang="0">
                    <a:pos x="7571" y="3909"/>
                  </a:cxn>
                  <a:cxn ang="0">
                    <a:pos x="7345" y="3515"/>
                  </a:cxn>
                  <a:cxn ang="0">
                    <a:pos x="7066" y="3094"/>
                  </a:cxn>
                  <a:cxn ang="0">
                    <a:pos x="7066" y="2551"/>
                  </a:cxn>
                  <a:cxn ang="0">
                    <a:pos x="7345" y="1890"/>
                  </a:cxn>
                  <a:cxn ang="0">
                    <a:pos x="8169" y="1082"/>
                  </a:cxn>
                  <a:cxn ang="0">
                    <a:pos x="9565" y="0"/>
                  </a:cxn>
                </a:cxnLst>
                <a:rect l="0" t="0" r="0" b="0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91" name="Freeform 7"/>
              <p:cNvSpPr/>
              <p:nvPr userDrawn="1"/>
            </p:nvSpPr>
            <p:spPr>
              <a:xfrm rot="-9414770" flipV="1">
                <a:off x="3979" y="977"/>
                <a:ext cx="245" cy="34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36" y="98"/>
                  </a:cxn>
                  <a:cxn ang="0">
                    <a:pos x="2293" y="583"/>
                  </a:cxn>
                  <a:cxn ang="0">
                    <a:pos x="4770" y="1464"/>
                  </a:cxn>
                  <a:cxn ang="0">
                    <a:pos x="7447" y="2885"/>
                  </a:cxn>
                  <a:cxn ang="0">
                    <a:pos x="10029" y="5338"/>
                  </a:cxn>
                  <a:cxn ang="0">
                    <a:pos x="12398" y="8595"/>
                  </a:cxn>
                  <a:cxn ang="0">
                    <a:pos x="13832" y="13077"/>
                  </a:cxn>
                  <a:cxn ang="0">
                    <a:pos x="14059" y="18896"/>
                  </a:cxn>
                  <a:cxn ang="0">
                    <a:pos x="13524" y="18896"/>
                  </a:cxn>
                  <a:cxn ang="0">
                    <a:pos x="12787" y="18896"/>
                  </a:cxn>
                  <a:cxn ang="0">
                    <a:pos x="11994" y="18896"/>
                  </a:cxn>
                  <a:cxn ang="0">
                    <a:pos x="11252" y="18678"/>
                  </a:cxn>
                  <a:cxn ang="0">
                    <a:pos x="10438" y="18509"/>
                  </a:cxn>
                  <a:cxn ang="0">
                    <a:pos x="9519" y="18193"/>
                  </a:cxn>
                  <a:cxn ang="0">
                    <a:pos x="8492" y="17575"/>
                  </a:cxn>
                  <a:cxn ang="0">
                    <a:pos x="7447" y="16818"/>
                  </a:cxn>
                  <a:cxn ang="0">
                    <a:pos x="6815" y="15255"/>
                  </a:cxn>
                  <a:cxn ang="0">
                    <a:pos x="6815" y="13437"/>
                  </a:cxn>
                  <a:cxn ang="0">
                    <a:pos x="7224" y="11658"/>
                  </a:cxn>
                  <a:cxn ang="0">
                    <a:pos x="7629" y="9698"/>
                  </a:cxn>
                  <a:cxn ang="0">
                    <a:pos x="7224" y="7516"/>
                  </a:cxn>
                  <a:cxn ang="0">
                    <a:pos x="6199" y="5241"/>
                  </a:cxn>
                  <a:cxn ang="0">
                    <a:pos x="4005" y="2760"/>
                  </a:cxn>
                  <a:cxn ang="0">
                    <a:pos x="0" y="0"/>
                  </a:cxn>
                </a:cxnLst>
                <a:rect l="0" t="0" r="0" b="0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92" name="Freeform 8"/>
              <p:cNvSpPr/>
              <p:nvPr userDrawn="1"/>
            </p:nvSpPr>
            <p:spPr>
              <a:xfrm rot="-9414770" flipV="1">
                <a:off x="3845" y="2207"/>
                <a:ext cx="103" cy="209"/>
              </a:xfrm>
              <a:custGeom>
                <a:avLst/>
                <a:gdLst/>
                <a:ahLst/>
                <a:cxnLst>
                  <a:cxn ang="0">
                    <a:pos x="3896" y="0"/>
                  </a:cxn>
                  <a:cxn ang="0">
                    <a:pos x="2537" y="4574"/>
                  </a:cxn>
                  <a:cxn ang="0">
                    <a:pos x="1910" y="7508"/>
                  </a:cxn>
                  <a:cxn ang="0">
                    <a:pos x="1404" y="9552"/>
                  </a:cxn>
                  <a:cxn ang="0">
                    <a:pos x="0" y="11366"/>
                  </a:cxn>
                  <a:cxn ang="0">
                    <a:pos x="1505" y="10648"/>
                  </a:cxn>
                  <a:cxn ang="0">
                    <a:pos x="2918" y="9674"/>
                  </a:cxn>
                  <a:cxn ang="0">
                    <a:pos x="4051" y="8311"/>
                  </a:cxn>
                  <a:cxn ang="0">
                    <a:pos x="5074" y="6890"/>
                  </a:cxn>
                  <a:cxn ang="0">
                    <a:pos x="5681" y="5330"/>
                  </a:cxn>
                  <a:cxn ang="0">
                    <a:pos x="5806" y="3637"/>
                  </a:cxn>
                  <a:cxn ang="0">
                    <a:pos x="5275" y="1779"/>
                  </a:cxn>
                  <a:cxn ang="0">
                    <a:pos x="3896" y="0"/>
                  </a:cxn>
                </a:cxnLst>
                <a:rect l="0" t="0" r="0" b="0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93" name="Freeform 9"/>
              <p:cNvSpPr/>
              <p:nvPr userDrawn="1"/>
            </p:nvSpPr>
            <p:spPr>
              <a:xfrm rot="-9414770" flipV="1">
                <a:off x="3895" y="1325"/>
                <a:ext cx="120" cy="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98" y="126"/>
                  </a:cxn>
                  <a:cxn ang="0">
                    <a:pos x="702" y="410"/>
                  </a:cxn>
                  <a:cxn ang="0">
                    <a:pos x="1560" y="1049"/>
                  </a:cxn>
                  <a:cxn ang="0">
                    <a:pos x="2533" y="1559"/>
                  </a:cxn>
                  <a:cxn ang="0">
                    <a:pos x="3467" y="1969"/>
                  </a:cxn>
                  <a:cxn ang="0">
                    <a:pos x="4562" y="2212"/>
                  </a:cxn>
                  <a:cxn ang="0">
                    <a:pos x="5531" y="2360"/>
                  </a:cxn>
                  <a:cxn ang="0">
                    <a:pos x="6509" y="2077"/>
                  </a:cxn>
                  <a:cxn ang="0">
                    <a:pos x="6384" y="3236"/>
                  </a:cxn>
                  <a:cxn ang="0">
                    <a:pos x="6024" y="4284"/>
                  </a:cxn>
                  <a:cxn ang="0">
                    <a:pos x="5313" y="4977"/>
                  </a:cxn>
                  <a:cxn ang="0">
                    <a:pos x="4436" y="5204"/>
                  </a:cxn>
                  <a:cxn ang="0">
                    <a:pos x="3369" y="5083"/>
                  </a:cxn>
                  <a:cxn ang="0">
                    <a:pos x="2271" y="4156"/>
                  </a:cxn>
                  <a:cxn ang="0">
                    <a:pos x="1196" y="2588"/>
                  </a:cxn>
                  <a:cxn ang="0">
                    <a:pos x="0" y="0"/>
                  </a:cxn>
                </a:cxnLst>
                <a:rect l="0" t="0" r="0" b="0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94" name="Freeform 10"/>
              <p:cNvSpPr/>
              <p:nvPr userDrawn="1"/>
            </p:nvSpPr>
            <p:spPr>
              <a:xfrm rot="-9414770" flipV="1">
                <a:off x="3010" y="2344"/>
                <a:ext cx="330" cy="20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95" y="3875"/>
                  </a:cxn>
                  <a:cxn ang="0">
                    <a:pos x="1878" y="8786"/>
                  </a:cxn>
                  <a:cxn ang="0">
                    <a:pos x="3291" y="15013"/>
                  </a:cxn>
                  <a:cxn ang="0">
                    <a:pos x="4857" y="23114"/>
                  </a:cxn>
                  <a:cxn ang="0">
                    <a:pos x="6813" y="33146"/>
                  </a:cxn>
                  <a:cxn ang="0">
                    <a:pos x="8638" y="43909"/>
                  </a:cxn>
                  <a:cxn ang="0">
                    <a:pos x="10398" y="56269"/>
                  </a:cxn>
                  <a:cxn ang="0">
                    <a:pos x="11767" y="70606"/>
                  </a:cxn>
                  <a:cxn ang="0">
                    <a:pos x="13209" y="85840"/>
                  </a:cxn>
                  <a:cxn ang="0">
                    <a:pos x="14166" y="103400"/>
                  </a:cxn>
                  <a:cxn ang="0">
                    <a:pos x="14657" y="122639"/>
                  </a:cxn>
                  <a:cxn ang="0">
                    <a:pos x="14872" y="142750"/>
                  </a:cxn>
                  <a:cxn ang="0">
                    <a:pos x="14166" y="165220"/>
                  </a:cxn>
                  <a:cxn ang="0">
                    <a:pos x="12852" y="189010"/>
                  </a:cxn>
                  <a:cxn ang="0">
                    <a:pos x="10874" y="214028"/>
                  </a:cxn>
                  <a:cxn ang="0">
                    <a:pos x="7887" y="241599"/>
                  </a:cxn>
                  <a:cxn ang="0">
                    <a:pos x="4571" y="272847"/>
                  </a:cxn>
                  <a:cxn ang="0">
                    <a:pos x="2496" y="301766"/>
                  </a:cxn>
                  <a:cxn ang="0">
                    <a:pos x="1183" y="328463"/>
                  </a:cxn>
                  <a:cxn ang="0">
                    <a:pos x="695" y="354151"/>
                  </a:cxn>
                  <a:cxn ang="0">
                    <a:pos x="695" y="378572"/>
                  </a:cxn>
                  <a:cxn ang="0">
                    <a:pos x="966" y="401265"/>
                  </a:cxn>
                  <a:cxn ang="0">
                    <a:pos x="1446" y="421180"/>
                  </a:cxn>
                  <a:cxn ang="0">
                    <a:pos x="1663" y="440641"/>
                  </a:cxn>
                  <a:cxn ang="0">
                    <a:pos x="4857" y="430606"/>
                  </a:cxn>
                  <a:cxn ang="0">
                    <a:pos x="4571" y="425628"/>
                  </a:cxn>
                  <a:cxn ang="0">
                    <a:pos x="4257" y="411291"/>
                  </a:cxn>
                  <a:cxn ang="0">
                    <a:pos x="3900" y="389256"/>
                  </a:cxn>
                  <a:cxn ang="0">
                    <a:pos x="4159" y="359933"/>
                  </a:cxn>
                  <a:cxn ang="0">
                    <a:pos x="4857" y="324880"/>
                  </a:cxn>
                  <a:cxn ang="0">
                    <a:pos x="6813" y="284856"/>
                  </a:cxn>
                  <a:cxn ang="0">
                    <a:pos x="10124" y="241599"/>
                  </a:cxn>
                  <a:cxn ang="0">
                    <a:pos x="15231" y="195819"/>
                  </a:cxn>
                  <a:cxn ang="0">
                    <a:pos x="16894" y="174646"/>
                  </a:cxn>
                  <a:cxn ang="0">
                    <a:pos x="17590" y="147008"/>
                  </a:cxn>
                  <a:cxn ang="0">
                    <a:pos x="17012" y="115111"/>
                  </a:cxn>
                  <a:cxn ang="0">
                    <a:pos x="15446" y="83863"/>
                  </a:cxn>
                  <a:cxn ang="0">
                    <a:pos x="12852" y="53265"/>
                  </a:cxn>
                  <a:cxn ang="0">
                    <a:pos x="9526" y="27595"/>
                  </a:cxn>
                  <a:cxn ang="0">
                    <a:pos x="5169" y="8786"/>
                  </a:cxn>
                  <a:cxn ang="0">
                    <a:pos x="0" y="0"/>
                  </a:cxn>
                </a:cxnLst>
                <a:rect l="0" t="0" r="0" b="0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5" name="Freeform 11"/>
            <p:cNvSpPr/>
            <p:nvPr userDrawn="1"/>
          </p:nvSpPr>
          <p:spPr>
            <a:xfrm rot="373331" flipH="1">
              <a:off x="22" y="1957"/>
              <a:ext cx="323" cy="649"/>
            </a:xfrm>
            <a:custGeom>
              <a:avLst/>
              <a:gdLst/>
              <a:ahLst/>
              <a:cxnLst>
                <a:cxn ang="0">
                  <a:pos x="24248" y="0"/>
                </a:cxn>
                <a:cxn ang="0">
                  <a:pos x="27127" y="6475"/>
                </a:cxn>
                <a:cxn ang="0">
                  <a:pos x="29681" y="19365"/>
                </a:cxn>
                <a:cxn ang="0">
                  <a:pos x="31704" y="35931"/>
                </a:cxn>
                <a:cxn ang="0">
                  <a:pos x="33055" y="55781"/>
                </a:cxn>
                <a:cxn ang="0">
                  <a:pos x="32762" y="79456"/>
                </a:cxn>
                <a:cxn ang="0">
                  <a:pos x="29966" y="103849"/>
                </a:cxn>
                <a:cxn ang="0">
                  <a:pos x="24248" y="129450"/>
                </a:cxn>
                <a:cxn ang="0">
                  <a:pos x="15441" y="155290"/>
                </a:cxn>
                <a:cxn ang="0">
                  <a:pos x="12698" y="152401"/>
                </a:cxn>
                <a:cxn ang="0">
                  <a:pos x="9819" y="150263"/>
                </a:cxn>
                <a:cxn ang="0">
                  <a:pos x="6763" y="146650"/>
                </a:cxn>
                <a:cxn ang="0">
                  <a:pos x="4096" y="143761"/>
                </a:cxn>
                <a:cxn ang="0">
                  <a:pos x="2024" y="140262"/>
                </a:cxn>
                <a:cxn ang="0">
                  <a:pos x="527" y="135925"/>
                </a:cxn>
                <a:cxn ang="0">
                  <a:pos x="0" y="130898"/>
                </a:cxn>
                <a:cxn ang="0">
                  <a:pos x="318" y="127285"/>
                </a:cxn>
                <a:cxn ang="0">
                  <a:pos x="3356" y="122257"/>
                </a:cxn>
                <a:cxn ang="0">
                  <a:pos x="7457" y="115378"/>
                </a:cxn>
                <a:cxn ang="0">
                  <a:pos x="11875" y="107462"/>
                </a:cxn>
                <a:cxn ang="0">
                  <a:pos x="16264" y="95932"/>
                </a:cxn>
                <a:cxn ang="0">
                  <a:pos x="20357" y="80171"/>
                </a:cxn>
                <a:cxn ang="0">
                  <a:pos x="23523" y="59367"/>
                </a:cxn>
                <a:cxn ang="0">
                  <a:pos x="25050" y="33042"/>
                </a:cxn>
                <a:cxn ang="0">
                  <a:pos x="24248" y="0"/>
                </a:cxn>
              </a:cxnLst>
              <a:rect l="0" t="0" r="0" b="0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Freeform 12"/>
            <p:cNvSpPr/>
            <p:nvPr userDrawn="1"/>
          </p:nvSpPr>
          <p:spPr>
            <a:xfrm>
              <a:off x="168" y="1260"/>
              <a:ext cx="1259" cy="1532"/>
            </a:xfrm>
            <a:custGeom>
              <a:avLst/>
              <a:gdLst/>
              <a:ahLst/>
              <a:cxnLst>
                <a:cxn ang="0">
                  <a:pos x="891" y="1532"/>
                </a:cxn>
                <a:cxn ang="0">
                  <a:pos x="954" y="1452"/>
                </a:cxn>
                <a:cxn ang="0">
                  <a:pos x="1032" y="1338"/>
                </a:cxn>
                <a:cxn ang="0">
                  <a:pos x="1115" y="1188"/>
                </a:cxn>
                <a:cxn ang="0">
                  <a:pos x="1194" y="1023"/>
                </a:cxn>
                <a:cxn ang="0">
                  <a:pos x="1244" y="841"/>
                </a:cxn>
                <a:cxn ang="0">
                  <a:pos x="1259" y="647"/>
                </a:cxn>
                <a:cxn ang="0">
                  <a:pos x="1230" y="463"/>
                </a:cxn>
                <a:cxn ang="0">
                  <a:pos x="1140" y="294"/>
                </a:cxn>
                <a:cxn ang="0">
                  <a:pos x="1043" y="190"/>
                </a:cxn>
                <a:cxn ang="0">
                  <a:pos x="961" y="109"/>
                </a:cxn>
                <a:cxn ang="0">
                  <a:pos x="894" y="65"/>
                </a:cxn>
                <a:cxn ang="0">
                  <a:pos x="786" y="18"/>
                </a:cxn>
                <a:cxn ang="0">
                  <a:pos x="642" y="0"/>
                </a:cxn>
                <a:cxn ang="0">
                  <a:pos x="440" y="23"/>
                </a:cxn>
                <a:cxn ang="0">
                  <a:pos x="366" y="44"/>
                </a:cxn>
                <a:cxn ang="0">
                  <a:pos x="292" y="58"/>
                </a:cxn>
                <a:cxn ang="0">
                  <a:pos x="229" y="79"/>
                </a:cxn>
                <a:cxn ang="0">
                  <a:pos x="178" y="103"/>
                </a:cxn>
                <a:cxn ang="0">
                  <a:pos x="127" y="127"/>
                </a:cxn>
                <a:cxn ang="0">
                  <a:pos x="82" y="158"/>
                </a:cxn>
                <a:cxn ang="0">
                  <a:pos x="41" y="197"/>
                </a:cxn>
                <a:cxn ang="0">
                  <a:pos x="0" y="243"/>
                </a:cxn>
                <a:cxn ang="0">
                  <a:pos x="76" y="215"/>
                </a:cxn>
                <a:cxn ang="0">
                  <a:pos x="144" y="194"/>
                </a:cxn>
                <a:cxn ang="0">
                  <a:pos x="212" y="179"/>
                </a:cxn>
                <a:cxn ang="0">
                  <a:pos x="280" y="164"/>
                </a:cxn>
                <a:cxn ang="0">
                  <a:pos x="336" y="149"/>
                </a:cxn>
                <a:cxn ang="0">
                  <a:pos x="397" y="149"/>
                </a:cxn>
                <a:cxn ang="0">
                  <a:pos x="458" y="141"/>
                </a:cxn>
                <a:cxn ang="0">
                  <a:pos x="511" y="146"/>
                </a:cxn>
                <a:cxn ang="0">
                  <a:pos x="565" y="152"/>
                </a:cxn>
                <a:cxn ang="0">
                  <a:pos x="618" y="166"/>
                </a:cxn>
                <a:cxn ang="0">
                  <a:pos x="669" y="186"/>
                </a:cxn>
                <a:cxn ang="0">
                  <a:pos x="715" y="205"/>
                </a:cxn>
                <a:cxn ang="0">
                  <a:pos x="760" y="239"/>
                </a:cxn>
                <a:cxn ang="0">
                  <a:pos x="811" y="267"/>
                </a:cxn>
                <a:cxn ang="0">
                  <a:pos x="855" y="307"/>
                </a:cxn>
                <a:cxn ang="0">
                  <a:pos x="899" y="348"/>
                </a:cxn>
                <a:cxn ang="0">
                  <a:pos x="971" y="464"/>
                </a:cxn>
                <a:cxn ang="0">
                  <a:pos x="1016" y="606"/>
                </a:cxn>
                <a:cxn ang="0">
                  <a:pos x="1027" y="774"/>
                </a:cxn>
                <a:cxn ang="0">
                  <a:pos x="1022" y="939"/>
                </a:cxn>
                <a:cxn ang="0">
                  <a:pos x="1002" y="1117"/>
                </a:cxn>
                <a:cxn ang="0">
                  <a:pos x="966" y="1279"/>
                </a:cxn>
                <a:cxn ang="0">
                  <a:pos x="933" y="1421"/>
                </a:cxn>
                <a:cxn ang="0">
                  <a:pos x="891" y="1532"/>
                </a:cxn>
              </a:cxnLst>
              <a:rect l="0" t="0" r="0" b="0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" name="Freeform 13"/>
            <p:cNvSpPr/>
            <p:nvPr userDrawn="1"/>
          </p:nvSpPr>
          <p:spPr>
            <a:xfrm>
              <a:off x="0" y="2610"/>
              <a:ext cx="801" cy="45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7" y="69"/>
                </a:cxn>
                <a:cxn ang="0">
                  <a:pos x="68" y="132"/>
                </a:cxn>
                <a:cxn ang="0">
                  <a:pos x="110" y="188"/>
                </a:cxn>
                <a:cxn ang="0">
                  <a:pos x="149" y="229"/>
                </a:cxn>
                <a:cxn ang="0">
                  <a:pos x="192" y="278"/>
                </a:cxn>
                <a:cxn ang="0">
                  <a:pos x="250" y="314"/>
                </a:cxn>
                <a:cxn ang="0">
                  <a:pos x="308" y="336"/>
                </a:cxn>
                <a:cxn ang="0">
                  <a:pos x="365" y="365"/>
                </a:cxn>
                <a:cxn ang="0">
                  <a:pos x="430" y="381"/>
                </a:cxn>
                <a:cxn ang="0">
                  <a:pos x="501" y="390"/>
                </a:cxn>
                <a:cxn ang="0">
                  <a:pos x="573" y="392"/>
                </a:cxn>
                <a:cxn ang="0">
                  <a:pos x="646" y="381"/>
                </a:cxn>
                <a:cxn ang="0">
                  <a:pos x="726" y="362"/>
                </a:cxn>
                <a:cxn ang="0">
                  <a:pos x="801" y="335"/>
                </a:cxn>
                <a:cxn ang="0">
                  <a:pos x="731" y="377"/>
                </a:cxn>
                <a:cxn ang="0">
                  <a:pos x="662" y="404"/>
                </a:cxn>
                <a:cxn ang="0">
                  <a:pos x="594" y="432"/>
                </a:cxn>
                <a:cxn ang="0">
                  <a:pos x="532" y="445"/>
                </a:cxn>
                <a:cxn ang="0">
                  <a:pos x="471" y="459"/>
                </a:cxn>
                <a:cxn ang="0">
                  <a:pos x="411" y="458"/>
                </a:cxn>
                <a:cxn ang="0">
                  <a:pos x="350" y="458"/>
                </a:cxn>
                <a:cxn ang="0">
                  <a:pos x="291" y="450"/>
                </a:cxn>
                <a:cxn ang="0">
                  <a:pos x="244" y="436"/>
                </a:cxn>
                <a:cxn ang="0">
                  <a:pos x="192" y="415"/>
                </a:cxn>
                <a:cxn ang="0">
                  <a:pos x="145" y="394"/>
                </a:cxn>
                <a:cxn ang="0">
                  <a:pos x="100" y="373"/>
                </a:cxn>
                <a:cxn ang="0">
                  <a:pos x="60" y="347"/>
                </a:cxn>
                <a:cxn ang="0">
                  <a:pos x="0" y="294"/>
                </a:cxn>
                <a:cxn ang="0">
                  <a:pos x="0" y="0"/>
                </a:cxn>
              </a:cxnLst>
              <a:rect l="0" t="0" r="0" b="0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Freeform 14"/>
            <p:cNvSpPr/>
            <p:nvPr userDrawn="1"/>
          </p:nvSpPr>
          <p:spPr>
            <a:xfrm rot="373331" flipH="1">
              <a:off x="898" y="2855"/>
              <a:ext cx="354" cy="464"/>
            </a:xfrm>
            <a:custGeom>
              <a:avLst/>
              <a:gdLst/>
              <a:ahLst/>
              <a:cxnLst>
                <a:cxn ang="0">
                  <a:pos x="57581" y="0"/>
                </a:cxn>
                <a:cxn ang="0">
                  <a:pos x="0" y="47163"/>
                </a:cxn>
                <a:cxn ang="0">
                  <a:pos x="2269" y="48868"/>
                </a:cxn>
                <a:cxn ang="0">
                  <a:pos x="10638" y="54812"/>
                </a:cxn>
                <a:cxn ang="0">
                  <a:pos x="22299" y="68110"/>
                </a:cxn>
                <a:cxn ang="0">
                  <a:pos x="35291" y="88557"/>
                </a:cxn>
                <a:cxn ang="0">
                  <a:pos x="50716" y="116963"/>
                </a:cxn>
                <a:cxn ang="0">
                  <a:pos x="64458" y="150846"/>
                </a:cxn>
                <a:cxn ang="0">
                  <a:pos x="78361" y="194191"/>
                </a:cxn>
                <a:cxn ang="0">
                  <a:pos x="88990" y="249003"/>
                </a:cxn>
                <a:cxn ang="0">
                  <a:pos x="89741" y="226418"/>
                </a:cxn>
                <a:cxn ang="0">
                  <a:pos x="88249" y="201840"/>
                </a:cxn>
                <a:cxn ang="0">
                  <a:pos x="82875" y="169613"/>
                </a:cxn>
                <a:cxn ang="0">
                  <a:pos x="76083" y="139552"/>
                </a:cxn>
                <a:cxn ang="0">
                  <a:pos x="68219" y="109451"/>
                </a:cxn>
                <a:cxn ang="0">
                  <a:pos x="59826" y="84740"/>
                </a:cxn>
                <a:cxn ang="0">
                  <a:pos x="51466" y="68110"/>
                </a:cxn>
                <a:cxn ang="0">
                  <a:pos x="44344" y="60151"/>
                </a:cxn>
                <a:cxn ang="0">
                  <a:pos x="52958" y="54812"/>
                </a:cxn>
                <a:cxn ang="0">
                  <a:pos x="60604" y="52513"/>
                </a:cxn>
                <a:cxn ang="0">
                  <a:pos x="68219" y="48868"/>
                </a:cxn>
                <a:cxn ang="0">
                  <a:pos x="75341" y="47163"/>
                </a:cxn>
                <a:cxn ang="0">
                  <a:pos x="80633" y="45040"/>
                </a:cxn>
                <a:cxn ang="0">
                  <a:pos x="83644" y="41394"/>
                </a:cxn>
                <a:cxn ang="0">
                  <a:pos x="86748" y="39700"/>
                </a:cxn>
                <a:cxn ang="0">
                  <a:pos x="87499" y="39700"/>
                </a:cxn>
                <a:cxn ang="0">
                  <a:pos x="57581" y="0"/>
                </a:cxn>
              </a:cxnLst>
              <a:rect l="0" t="0" r="0" b="0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Freeform 15"/>
            <p:cNvSpPr/>
            <p:nvPr userDrawn="1"/>
          </p:nvSpPr>
          <p:spPr>
            <a:xfrm rot="373331" flipH="1">
              <a:off x="799" y="2979"/>
              <a:ext cx="87" cy="274"/>
            </a:xfrm>
            <a:custGeom>
              <a:avLst/>
              <a:gdLst/>
              <a:ahLst/>
              <a:cxnLst>
                <a:cxn ang="0">
                  <a:pos x="21141" y="0"/>
                </a:cxn>
                <a:cxn ang="0">
                  <a:pos x="16767" y="0"/>
                </a:cxn>
                <a:cxn ang="0">
                  <a:pos x="11664" y="8014"/>
                </a:cxn>
                <a:cxn ang="0">
                  <a:pos x="6561" y="18298"/>
                </a:cxn>
                <a:cxn ang="0">
                  <a:pos x="2916" y="38798"/>
                </a:cxn>
                <a:cxn ang="0">
                  <a:pos x="729" y="61095"/>
                </a:cxn>
                <a:cxn ang="0">
                  <a:pos x="0" y="89626"/>
                </a:cxn>
                <a:cxn ang="0">
                  <a:pos x="2187" y="122193"/>
                </a:cxn>
                <a:cxn ang="0">
                  <a:pos x="8019" y="156305"/>
                </a:cxn>
                <a:cxn ang="0">
                  <a:pos x="10935" y="107910"/>
                </a:cxn>
                <a:cxn ang="0">
                  <a:pos x="13851" y="75343"/>
                </a:cxn>
                <a:cxn ang="0">
                  <a:pos x="16767" y="44559"/>
                </a:cxn>
                <a:cxn ang="0">
                  <a:pos x="21141" y="0"/>
                </a:cxn>
              </a:cxnLst>
              <a:rect l="0" t="0" r="0" b="0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Freeform 16"/>
            <p:cNvSpPr/>
            <p:nvPr userDrawn="1"/>
          </p:nvSpPr>
          <p:spPr>
            <a:xfrm>
              <a:off x="1190" y="3273"/>
              <a:ext cx="1108" cy="1047"/>
            </a:xfrm>
            <a:custGeom>
              <a:avLst/>
              <a:gdLst/>
              <a:ahLst/>
              <a:cxnLst>
                <a:cxn ang="0">
                  <a:pos x="784" y="1047"/>
                </a:cxn>
                <a:cxn ang="0">
                  <a:pos x="692" y="1011"/>
                </a:cxn>
                <a:cxn ang="0">
                  <a:pos x="607" y="945"/>
                </a:cxn>
                <a:cxn ang="0">
                  <a:pos x="517" y="861"/>
                </a:cxn>
                <a:cxn ang="0">
                  <a:pos x="432" y="776"/>
                </a:cxn>
                <a:cxn ang="0">
                  <a:pos x="350" y="677"/>
                </a:cxn>
                <a:cxn ang="0">
                  <a:pos x="266" y="563"/>
                </a:cxn>
                <a:cxn ang="0">
                  <a:pos x="188" y="447"/>
                </a:cxn>
                <a:cxn ang="0">
                  <a:pos x="122" y="325"/>
                </a:cxn>
                <a:cxn ang="0">
                  <a:pos x="65" y="211"/>
                </a:cxn>
                <a:cxn ang="0">
                  <a:pos x="21" y="101"/>
                </a:cxn>
                <a:cxn ang="0">
                  <a:pos x="0" y="0"/>
                </a:cxn>
                <a:cxn ang="0">
                  <a:pos x="109" y="217"/>
                </a:cxn>
                <a:cxn ang="0">
                  <a:pos x="209" y="378"/>
                </a:cxn>
                <a:cxn ang="0">
                  <a:pos x="294" y="500"/>
                </a:cxn>
                <a:cxn ang="0">
                  <a:pos x="373" y="590"/>
                </a:cxn>
                <a:cxn ang="0">
                  <a:pos x="441" y="661"/>
                </a:cxn>
                <a:cxn ang="0">
                  <a:pos x="506" y="713"/>
                </a:cxn>
                <a:cxn ang="0">
                  <a:pos x="564" y="754"/>
                </a:cxn>
                <a:cxn ang="0">
                  <a:pos x="620" y="801"/>
                </a:cxn>
                <a:cxn ang="0">
                  <a:pos x="754" y="899"/>
                </a:cxn>
                <a:cxn ang="0">
                  <a:pos x="925" y="977"/>
                </a:cxn>
                <a:cxn ang="0">
                  <a:pos x="1108" y="1047"/>
                </a:cxn>
                <a:cxn ang="0">
                  <a:pos x="784" y="1047"/>
                </a:cxn>
              </a:cxnLst>
              <a:rect l="0" t="0" r="0" b="0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61" name="Group 17"/>
            <p:cNvGrpSpPr/>
            <p:nvPr userDrawn="1"/>
          </p:nvGrpSpPr>
          <p:grpSpPr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2085" name="Freeform 18"/>
              <p:cNvSpPr/>
              <p:nvPr userDrawn="1"/>
            </p:nvSpPr>
            <p:spPr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1" y="1"/>
                  </a:cxn>
                </a:cxnLst>
                <a:rect l="0" t="0" r="0" b="0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6" name="Freeform 19"/>
              <p:cNvSpPr/>
              <p:nvPr userDrawn="1"/>
            </p:nvSpPr>
            <p:spPr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2" y="0"/>
                  </a:cxn>
                  <a:cxn ang="0">
                    <a:pos x="3" y="1"/>
                  </a:cxn>
                  <a:cxn ang="0">
                    <a:pos x="0" y="2"/>
                  </a:cxn>
                </a:cxnLst>
                <a:rect l="0" t="0" r="0" b="0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7" name="Freeform 20"/>
              <p:cNvSpPr/>
              <p:nvPr userDrawn="1"/>
            </p:nvSpPr>
            <p:spPr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0" y="1"/>
                  </a:cxn>
                </a:cxnLst>
                <a:rect l="0" t="0" r="0" b="0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62" name="Group 21"/>
            <p:cNvGrpSpPr/>
            <p:nvPr userDrawn="1"/>
          </p:nvGrpSpPr>
          <p:grpSpPr>
            <a:xfrm rot="-6691250">
              <a:off x="3636" y="132"/>
              <a:ext cx="356" cy="607"/>
              <a:chOff x="1727" y="866"/>
              <a:chExt cx="129" cy="157"/>
            </a:xfrm>
          </p:grpSpPr>
          <p:sp>
            <p:nvSpPr>
              <p:cNvPr id="2082" name="Freeform 22"/>
              <p:cNvSpPr/>
              <p:nvPr userDrawn="1"/>
            </p:nvSpPr>
            <p:spPr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1" y="1"/>
                  </a:cxn>
                </a:cxnLst>
                <a:rect l="0" t="0" r="0" b="0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3" name="Freeform 23"/>
              <p:cNvSpPr/>
              <p:nvPr userDrawn="1"/>
            </p:nvSpPr>
            <p:spPr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2" y="0"/>
                  </a:cxn>
                  <a:cxn ang="0">
                    <a:pos x="3" y="1"/>
                  </a:cxn>
                  <a:cxn ang="0">
                    <a:pos x="0" y="2"/>
                  </a:cxn>
                </a:cxnLst>
                <a:rect l="0" t="0" r="0" b="0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4" name="Freeform 24"/>
              <p:cNvSpPr/>
              <p:nvPr userDrawn="1"/>
            </p:nvSpPr>
            <p:spPr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0" y="1"/>
                  </a:cxn>
                </a:cxnLst>
                <a:rect l="0" t="0" r="0" b="0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63" name="Group 25"/>
            <p:cNvGrpSpPr/>
            <p:nvPr userDrawn="1"/>
          </p:nvGrpSpPr>
          <p:grpSpPr>
            <a:xfrm rot="852484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2079" name="Freeform 26"/>
              <p:cNvSpPr/>
              <p:nvPr userDrawn="1"/>
            </p:nvSpPr>
            <p:spPr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1" y="1"/>
                  </a:cxn>
                </a:cxnLst>
                <a:rect l="0" t="0" r="0" b="0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0" name="Freeform 27"/>
              <p:cNvSpPr/>
              <p:nvPr userDrawn="1"/>
            </p:nvSpPr>
            <p:spPr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2" y="0"/>
                  </a:cxn>
                  <a:cxn ang="0">
                    <a:pos x="3" y="1"/>
                  </a:cxn>
                  <a:cxn ang="0">
                    <a:pos x="0" y="2"/>
                  </a:cxn>
                </a:cxnLst>
                <a:rect l="0" t="0" r="0" b="0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1" name="Freeform 28"/>
              <p:cNvSpPr/>
              <p:nvPr userDrawn="1"/>
            </p:nvSpPr>
            <p:spPr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0" y="1"/>
                  </a:cxn>
                </a:cxnLst>
                <a:rect l="0" t="0" r="0" b="0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64" name="Group 29"/>
            <p:cNvGrpSpPr/>
            <p:nvPr userDrawn="1"/>
          </p:nvGrpSpPr>
          <p:grpSpPr>
            <a:xfrm rot="4106450" flipH="1">
              <a:off x="393" y="261"/>
              <a:ext cx="709" cy="892"/>
              <a:chOff x="1727" y="866"/>
              <a:chExt cx="129" cy="157"/>
            </a:xfrm>
          </p:grpSpPr>
          <p:sp>
            <p:nvSpPr>
              <p:cNvPr id="2076" name="Freeform 30"/>
              <p:cNvSpPr/>
              <p:nvPr userDrawn="1"/>
            </p:nvSpPr>
            <p:spPr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1" y="1"/>
                  </a:cxn>
                </a:cxnLst>
                <a:rect l="0" t="0" r="0" b="0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7" name="Freeform 31"/>
              <p:cNvSpPr/>
              <p:nvPr userDrawn="1"/>
            </p:nvSpPr>
            <p:spPr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2" y="0"/>
                  </a:cxn>
                  <a:cxn ang="0">
                    <a:pos x="3" y="1"/>
                  </a:cxn>
                  <a:cxn ang="0">
                    <a:pos x="0" y="2"/>
                  </a:cxn>
                </a:cxnLst>
                <a:rect l="0" t="0" r="0" b="0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8" name="Freeform 32"/>
              <p:cNvSpPr/>
              <p:nvPr userDrawn="1"/>
            </p:nvSpPr>
            <p:spPr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0" y="1"/>
                  </a:cxn>
                </a:cxnLst>
                <a:rect l="0" t="0" r="0" b="0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65" name="Group 33"/>
            <p:cNvGrpSpPr/>
            <p:nvPr userDrawn="1"/>
          </p:nvGrpSpPr>
          <p:grpSpPr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2073" name="Freeform 34"/>
              <p:cNvSpPr/>
              <p:nvPr userDrawn="1"/>
            </p:nvSpPr>
            <p:spPr>
              <a:xfrm>
                <a:off x="1727" y="866"/>
                <a:ext cx="41" cy="59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0" y="0"/>
                  </a:cxn>
                  <a:cxn ang="0">
                    <a:pos x="0" y="2"/>
                  </a:cxn>
                  <a:cxn ang="0">
                    <a:pos x="1" y="1"/>
                  </a:cxn>
                </a:cxnLst>
                <a:rect l="0" t="0" r="0" b="0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4" name="Freeform 35"/>
              <p:cNvSpPr/>
              <p:nvPr userDrawn="1"/>
            </p:nvSpPr>
            <p:spPr>
              <a:xfrm>
                <a:off x="1786" y="894"/>
                <a:ext cx="70" cy="49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2" y="0"/>
                  </a:cxn>
                  <a:cxn ang="0">
                    <a:pos x="3" y="1"/>
                  </a:cxn>
                  <a:cxn ang="0">
                    <a:pos x="0" y="2"/>
                  </a:cxn>
                </a:cxnLst>
                <a:rect l="0" t="0" r="0" b="0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5" name="Freeform 36"/>
              <p:cNvSpPr/>
              <p:nvPr userDrawn="1"/>
            </p:nvSpPr>
            <p:spPr>
              <a:xfrm>
                <a:off x="1772" y="998"/>
                <a:ext cx="73" cy="25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3" y="0"/>
                  </a:cxn>
                  <a:cxn ang="0">
                    <a:pos x="3" y="1"/>
                  </a:cxn>
                  <a:cxn ang="0">
                    <a:pos x="0" y="1"/>
                  </a:cxn>
                </a:cxnLst>
                <a:rect l="0" t="0" r="0" b="0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>
                  <a:alpha val="100000"/>
                </a:schemeClr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66" name="Freeform 37"/>
            <p:cNvSpPr/>
            <p:nvPr userDrawn="1"/>
          </p:nvSpPr>
          <p:spPr>
            <a:xfrm>
              <a:off x="1217" y="2"/>
              <a:ext cx="862" cy="8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07"/>
                </a:cxn>
                <a:cxn ang="0">
                  <a:pos x="37" y="262"/>
                </a:cxn>
                <a:cxn ang="0">
                  <a:pos x="83" y="410"/>
                </a:cxn>
                <a:cxn ang="0">
                  <a:pos x="149" y="546"/>
                </a:cxn>
                <a:cxn ang="0">
                  <a:pos x="237" y="666"/>
                </a:cxn>
                <a:cxn ang="0">
                  <a:pos x="338" y="764"/>
                </a:cxn>
                <a:cxn ang="0">
                  <a:pos x="450" y="838"/>
                </a:cxn>
                <a:cxn ang="0">
                  <a:pos x="579" y="879"/>
                </a:cxn>
                <a:cxn ang="0">
                  <a:pos x="714" y="886"/>
                </a:cxn>
                <a:cxn ang="0">
                  <a:pos x="862" y="851"/>
                </a:cxn>
                <a:cxn ang="0">
                  <a:pos x="784" y="856"/>
                </a:cxn>
                <a:cxn ang="0">
                  <a:pos x="700" y="835"/>
                </a:cxn>
                <a:cxn ang="0">
                  <a:pos x="621" y="794"/>
                </a:cxn>
                <a:cxn ang="0">
                  <a:pos x="542" y="728"/>
                </a:cxn>
                <a:cxn ang="0">
                  <a:pos x="466" y="649"/>
                </a:cxn>
                <a:cxn ang="0">
                  <a:pos x="397" y="557"/>
                </a:cxn>
                <a:cxn ang="0">
                  <a:pos x="334" y="454"/>
                </a:cxn>
                <a:cxn ang="0">
                  <a:pos x="279" y="339"/>
                </a:cxn>
                <a:cxn ang="0">
                  <a:pos x="238" y="225"/>
                </a:cxn>
                <a:cxn ang="0">
                  <a:pos x="205" y="105"/>
                </a:cxn>
                <a:cxn ang="0">
                  <a:pos x="184" y="3"/>
                </a:cxn>
              </a:cxnLst>
              <a:rect l="0" t="0" r="0" b="0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7" name="Freeform 38"/>
            <p:cNvSpPr/>
            <p:nvPr userDrawn="1"/>
          </p:nvSpPr>
          <p:spPr>
            <a:xfrm rot="9832527" flipV="1">
              <a:off x="2158" y="102"/>
              <a:ext cx="681" cy="59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6185"/>
                </a:cxn>
                <a:cxn ang="0">
                  <a:pos x="1039" y="12265"/>
                </a:cxn>
                <a:cxn ang="0">
                  <a:pos x="2064" y="18418"/>
                </a:cxn>
                <a:cxn ang="0">
                  <a:pos x="3800" y="24028"/>
                </a:cxn>
                <a:cxn ang="0">
                  <a:pos x="6269" y="29242"/>
                </a:cxn>
                <a:cxn ang="0">
                  <a:pos x="9415" y="34602"/>
                </a:cxn>
                <a:cxn ang="0">
                  <a:pos x="13207" y="39503"/>
                </a:cxn>
                <a:cxn ang="0">
                  <a:pos x="17658" y="43624"/>
                </a:cxn>
                <a:cxn ang="0">
                  <a:pos x="23276" y="47588"/>
                </a:cxn>
                <a:cxn ang="0">
                  <a:pos x="29771" y="50985"/>
                </a:cxn>
                <a:cxn ang="0">
                  <a:pos x="36729" y="53728"/>
                </a:cxn>
                <a:cxn ang="0">
                  <a:pos x="45304" y="55895"/>
                </a:cxn>
                <a:cxn ang="0">
                  <a:pos x="54718" y="57378"/>
                </a:cxn>
                <a:cxn ang="0">
                  <a:pos x="65082" y="58162"/>
                </a:cxn>
                <a:cxn ang="0">
                  <a:pos x="76169" y="57846"/>
                </a:cxn>
                <a:cxn ang="0">
                  <a:pos x="88991" y="56878"/>
                </a:cxn>
                <a:cxn ang="0">
                  <a:pos x="77602" y="55687"/>
                </a:cxn>
                <a:cxn ang="0">
                  <a:pos x="67538" y="53935"/>
                </a:cxn>
                <a:cxn ang="0">
                  <a:pos x="58778" y="51976"/>
                </a:cxn>
                <a:cxn ang="0">
                  <a:pos x="51221" y="50015"/>
                </a:cxn>
                <a:cxn ang="0">
                  <a:pos x="44284" y="47385"/>
                </a:cxn>
                <a:cxn ang="0">
                  <a:pos x="38793" y="44600"/>
                </a:cxn>
                <a:cxn ang="0">
                  <a:pos x="33584" y="41462"/>
                </a:cxn>
                <a:cxn ang="0">
                  <a:pos x="29140" y="38065"/>
                </a:cxn>
                <a:cxn ang="0">
                  <a:pos x="24948" y="34602"/>
                </a:cxn>
                <a:cxn ang="0">
                  <a:pos x="21156" y="30688"/>
                </a:cxn>
                <a:cxn ang="0">
                  <a:pos x="18045" y="26300"/>
                </a:cxn>
                <a:cxn ang="0">
                  <a:pos x="14887" y="21556"/>
                </a:cxn>
                <a:cxn ang="0">
                  <a:pos x="11389" y="16967"/>
                </a:cxn>
                <a:cxn ang="0">
                  <a:pos x="7984" y="11562"/>
                </a:cxn>
                <a:cxn ang="0">
                  <a:pos x="4184" y="5872"/>
                </a:cxn>
                <a:cxn ang="0">
                  <a:pos x="0" y="0"/>
                </a:cxn>
              </a:cxnLst>
              <a:rect l="0" t="0" r="0" b="0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" name="Freeform 39"/>
            <p:cNvSpPr/>
            <p:nvPr userDrawn="1"/>
          </p:nvSpPr>
          <p:spPr>
            <a:xfrm rot="9832527" flipV="1">
              <a:off x="1997" y="858"/>
              <a:ext cx="330" cy="278"/>
            </a:xfrm>
            <a:custGeom>
              <a:avLst/>
              <a:gdLst/>
              <a:ahLst/>
              <a:cxnLst>
                <a:cxn ang="0">
                  <a:pos x="27387" y="0"/>
                </a:cxn>
                <a:cxn ang="0">
                  <a:pos x="44047" y="28154"/>
                </a:cxn>
                <a:cxn ang="0">
                  <a:pos x="42581" y="27828"/>
                </a:cxn>
                <a:cxn ang="0">
                  <a:pos x="38019" y="27330"/>
                </a:cxn>
                <a:cxn ang="0">
                  <a:pos x="31645" y="26276"/>
                </a:cxn>
                <a:cxn ang="0">
                  <a:pos x="24180" y="25778"/>
                </a:cxn>
                <a:cxn ang="0">
                  <a:pos x="16000" y="25247"/>
                </a:cxn>
                <a:cxn ang="0">
                  <a:pos x="8931" y="25586"/>
                </a:cxn>
                <a:cxn ang="0">
                  <a:pos x="3202" y="26602"/>
                </a:cxn>
                <a:cxn ang="0">
                  <a:pos x="0" y="28685"/>
                </a:cxn>
                <a:cxn ang="0">
                  <a:pos x="1453" y="25586"/>
                </a:cxn>
                <a:cxn ang="0">
                  <a:pos x="2813" y="23210"/>
                </a:cxn>
                <a:cxn ang="0">
                  <a:pos x="5708" y="21340"/>
                </a:cxn>
                <a:cxn ang="0">
                  <a:pos x="8931" y="19786"/>
                </a:cxn>
                <a:cxn ang="0">
                  <a:pos x="12798" y="18773"/>
                </a:cxn>
                <a:cxn ang="0">
                  <a:pos x="16700" y="18434"/>
                </a:cxn>
                <a:cxn ang="0">
                  <a:pos x="20958" y="18434"/>
                </a:cxn>
                <a:cxn ang="0">
                  <a:pos x="25631" y="19288"/>
                </a:cxn>
                <a:cxn ang="0">
                  <a:pos x="25878" y="18434"/>
                </a:cxn>
                <a:cxn ang="0">
                  <a:pos x="24825" y="14640"/>
                </a:cxn>
                <a:cxn ang="0">
                  <a:pos x="23768" y="9912"/>
                </a:cxn>
                <a:cxn ang="0">
                  <a:pos x="23068" y="7829"/>
                </a:cxn>
                <a:cxn ang="0">
                  <a:pos x="22429" y="7829"/>
                </a:cxn>
                <a:cxn ang="0">
                  <a:pos x="21623" y="7506"/>
                </a:cxn>
                <a:cxn ang="0">
                  <a:pos x="20958" y="6816"/>
                </a:cxn>
                <a:cxn ang="0">
                  <a:pos x="20319" y="6005"/>
                </a:cxn>
                <a:cxn ang="0">
                  <a:pos x="20319" y="4938"/>
                </a:cxn>
                <a:cxn ang="0">
                  <a:pos x="20958" y="3584"/>
                </a:cxn>
                <a:cxn ang="0">
                  <a:pos x="23465" y="2082"/>
                </a:cxn>
                <a:cxn ang="0">
                  <a:pos x="27387" y="0"/>
                </a:cxn>
              </a:cxnLst>
              <a:rect l="0" t="0" r="0" b="0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" name="Freeform 40"/>
            <p:cNvSpPr/>
            <p:nvPr userDrawn="1"/>
          </p:nvSpPr>
          <p:spPr>
            <a:xfrm rot="9832527" flipV="1">
              <a:off x="2224" y="808"/>
              <a:ext cx="123" cy="233"/>
            </a:xfrm>
            <a:custGeom>
              <a:avLst/>
              <a:gdLst/>
              <a:ahLst/>
              <a:cxnLst>
                <a:cxn ang="0">
                  <a:pos x="11353" y="0"/>
                </a:cxn>
                <a:cxn ang="0">
                  <a:pos x="7265" y="8804"/>
                </a:cxn>
                <a:cxn ang="0">
                  <a:pos x="5471" y="14421"/>
                </a:cxn>
                <a:cxn ang="0">
                  <a:pos x="3998" y="18352"/>
                </a:cxn>
                <a:cxn ang="0">
                  <a:pos x="0" y="21823"/>
                </a:cxn>
                <a:cxn ang="0">
                  <a:pos x="4396" y="20392"/>
                </a:cxn>
                <a:cxn ang="0">
                  <a:pos x="8487" y="18536"/>
                </a:cxn>
                <a:cxn ang="0">
                  <a:pos x="11755" y="16005"/>
                </a:cxn>
                <a:cxn ang="0">
                  <a:pos x="14629" y="13222"/>
                </a:cxn>
                <a:cxn ang="0">
                  <a:pos x="16402" y="10188"/>
                </a:cxn>
                <a:cxn ang="0">
                  <a:pos x="16824" y="6913"/>
                </a:cxn>
                <a:cxn ang="0">
                  <a:pos x="15295" y="3470"/>
                </a:cxn>
                <a:cxn ang="0">
                  <a:pos x="11353" y="0"/>
                </a:cxn>
              </a:cxnLst>
              <a:rect l="0" t="0" r="0" b="0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0" name="Freeform 41"/>
            <p:cNvSpPr/>
            <p:nvPr userDrawn="1"/>
          </p:nvSpPr>
          <p:spPr>
            <a:xfrm>
              <a:off x="1603" y="0"/>
              <a:ext cx="124" cy="121"/>
            </a:xfrm>
            <a:custGeom>
              <a:avLst/>
              <a:gdLst/>
              <a:ahLst/>
              <a:cxnLst>
                <a:cxn ang="0">
                  <a:pos x="124" y="0"/>
                </a:cxn>
                <a:cxn ang="0">
                  <a:pos x="113" y="9"/>
                </a:cxn>
                <a:cxn ang="0">
                  <a:pos x="99" y="25"/>
                </a:cxn>
                <a:cxn ang="0">
                  <a:pos x="81" y="41"/>
                </a:cxn>
                <a:cxn ang="0">
                  <a:pos x="63" y="54"/>
                </a:cxn>
                <a:cxn ang="0">
                  <a:pos x="41" y="66"/>
                </a:cxn>
                <a:cxn ang="0">
                  <a:pos x="22" y="74"/>
                </a:cxn>
                <a:cxn ang="0">
                  <a:pos x="0" y="75"/>
                </a:cxn>
                <a:cxn ang="0">
                  <a:pos x="10" y="96"/>
                </a:cxn>
                <a:cxn ang="0">
                  <a:pos x="23" y="113"/>
                </a:cxn>
                <a:cxn ang="0">
                  <a:pos x="41" y="121"/>
                </a:cxn>
                <a:cxn ang="0">
                  <a:pos x="60" y="121"/>
                </a:cxn>
                <a:cxn ang="0">
                  <a:pos x="83" y="111"/>
                </a:cxn>
                <a:cxn ang="0">
                  <a:pos x="101" y="88"/>
                </a:cxn>
                <a:cxn ang="0">
                  <a:pos x="116" y="53"/>
                </a:cxn>
                <a:cxn ang="0">
                  <a:pos x="124" y="0"/>
                </a:cxn>
              </a:cxnLst>
              <a:rect l="0" t="0" r="0" b="0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1" name="Freeform 42"/>
            <p:cNvSpPr/>
            <p:nvPr userDrawn="1"/>
          </p:nvSpPr>
          <p:spPr>
            <a:xfrm rot="9832527" flipV="1">
              <a:off x="2173" y="1238"/>
              <a:ext cx="393" cy="23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39" y="7397"/>
                </a:cxn>
                <a:cxn ang="0">
                  <a:pos x="5378" y="17090"/>
                </a:cxn>
                <a:cxn ang="0">
                  <a:pos x="9435" y="29044"/>
                </a:cxn>
                <a:cxn ang="0">
                  <a:pos x="13795" y="44977"/>
                </a:cxn>
                <a:cxn ang="0">
                  <a:pos x="19563" y="64374"/>
                </a:cxn>
                <a:cxn ang="0">
                  <a:pos x="24640" y="85227"/>
                </a:cxn>
                <a:cxn ang="0">
                  <a:pos x="29615" y="109502"/>
                </a:cxn>
                <a:cxn ang="0">
                  <a:pos x="33692" y="137389"/>
                </a:cxn>
                <a:cxn ang="0">
                  <a:pos x="37652" y="166786"/>
                </a:cxn>
                <a:cxn ang="0">
                  <a:pos x="40461" y="200610"/>
                </a:cxn>
                <a:cxn ang="0">
                  <a:pos x="41727" y="238204"/>
                </a:cxn>
                <a:cxn ang="0">
                  <a:pos x="42402" y="277300"/>
                </a:cxn>
                <a:cxn ang="0">
                  <a:pos x="40461" y="321157"/>
                </a:cxn>
                <a:cxn ang="0">
                  <a:pos x="36641" y="367405"/>
                </a:cxn>
                <a:cxn ang="0">
                  <a:pos x="31029" y="415692"/>
                </a:cxn>
                <a:cxn ang="0">
                  <a:pos x="22609" y="469360"/>
                </a:cxn>
                <a:cxn ang="0">
                  <a:pos x="13156" y="529977"/>
                </a:cxn>
                <a:cxn ang="0">
                  <a:pos x="7013" y="586258"/>
                </a:cxn>
                <a:cxn ang="0">
                  <a:pos x="3339" y="638312"/>
                </a:cxn>
                <a:cxn ang="0">
                  <a:pos x="2039" y="688213"/>
                </a:cxn>
                <a:cxn ang="0">
                  <a:pos x="2039" y="735846"/>
                </a:cxn>
                <a:cxn ang="0">
                  <a:pos x="2659" y="779363"/>
                </a:cxn>
                <a:cxn ang="0">
                  <a:pos x="4078" y="818431"/>
                </a:cxn>
                <a:cxn ang="0">
                  <a:pos x="4732" y="856054"/>
                </a:cxn>
                <a:cxn ang="0">
                  <a:pos x="13795" y="836661"/>
                </a:cxn>
                <a:cxn ang="0">
                  <a:pos x="13156" y="826968"/>
                </a:cxn>
                <a:cxn ang="0">
                  <a:pos x="12146" y="798727"/>
                </a:cxn>
                <a:cxn ang="0">
                  <a:pos x="11083" y="756350"/>
                </a:cxn>
                <a:cxn ang="0">
                  <a:pos x="11764" y="699376"/>
                </a:cxn>
                <a:cxn ang="0">
                  <a:pos x="13795" y="631268"/>
                </a:cxn>
                <a:cxn ang="0">
                  <a:pos x="19563" y="553438"/>
                </a:cxn>
                <a:cxn ang="0">
                  <a:pos x="28990" y="469360"/>
                </a:cxn>
                <a:cxn ang="0">
                  <a:pos x="43417" y="380728"/>
                </a:cxn>
                <a:cxn ang="0">
                  <a:pos x="48115" y="339505"/>
                </a:cxn>
                <a:cxn ang="0">
                  <a:pos x="50188" y="285837"/>
                </a:cxn>
                <a:cxn ang="0">
                  <a:pos x="48497" y="223633"/>
                </a:cxn>
                <a:cxn ang="0">
                  <a:pos x="44182" y="163019"/>
                </a:cxn>
                <a:cxn ang="0">
                  <a:pos x="36641" y="103428"/>
                </a:cxn>
                <a:cxn ang="0">
                  <a:pos x="27307" y="53560"/>
                </a:cxn>
                <a:cxn ang="0">
                  <a:pos x="14810" y="17090"/>
                </a:cxn>
                <a:cxn ang="0">
                  <a:pos x="0" y="0"/>
                </a:cxn>
              </a:cxnLst>
              <a:rect l="0" t="0" r="0" b="0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2" name="Freeform 43"/>
            <p:cNvSpPr/>
            <p:nvPr userDrawn="1"/>
          </p:nvSpPr>
          <p:spPr>
            <a:xfrm>
              <a:off x="0" y="1848"/>
              <a:ext cx="36" cy="1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2"/>
                </a:cxn>
                <a:cxn ang="0">
                  <a:pos x="0" y="132"/>
                </a:cxn>
                <a:cxn ang="0">
                  <a:pos x="0" y="0"/>
                </a:cxn>
              </a:cxnLst>
              <a:rect l="0" t="0" r="0" b="0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1295" name="Rectangle 47"/>
          <p:cNvSpPr>
            <a:spLocks noGrp="1" noChangeArrowheads="1"/>
          </p:cNvSpPr>
          <p:nvPr>
            <p:ph type="ctrTitle"/>
          </p:nvPr>
        </p:nvSpPr>
        <p:spPr bwMode="auto">
          <a:xfrm>
            <a:off x="2455863" y="596900"/>
            <a:ext cx="6192837" cy="35814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b" anchorCtr="0" compatLnSpc="1"/>
          <a:lstStyle>
            <a:lvl1pPr>
              <a:defRPr sz="5200"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81296" name="Rectangle 48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489200" y="4279900"/>
            <a:ext cx="6146800" cy="14859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400" b="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spcBef>
                <a:spcPct val="0"/>
              </a:spcBef>
              <a:defRPr sz="1400" b="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400" b="0" dirty="0">
                <a:latin typeface="Verdana" panose="020B0604030504040204" pitchFamily="34" charset="0"/>
              </a:rPr>
              <a:t>‹#›</a:t>
            </a:fld>
            <a:endParaRPr lang="zh-CN" altLang="en-US" sz="1400" b="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"/>
          <p:cNvGrpSpPr/>
          <p:nvPr userDrawn="1"/>
        </p:nvGrpSpPr>
        <p:grpSpPr>
          <a:xfrm>
            <a:off x="0" y="0"/>
            <a:ext cx="9144000" cy="795338"/>
            <a:chOff x="0" y="0"/>
            <a:chExt cx="5760" cy="501"/>
          </a:xfrm>
        </p:grpSpPr>
        <p:sp>
          <p:nvSpPr>
            <p:cNvPr id="180317" name="Rectangle 5"/>
            <p:cNvSpPr>
              <a:spLocks noChangeArrowheads="1"/>
            </p:cNvSpPr>
            <p:nvPr/>
          </p:nvSpPr>
          <p:spPr bwMode="auto">
            <a:xfrm>
              <a:off x="0" y="453"/>
              <a:ext cx="5760" cy="48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</p:spPr>
          <p:txBody>
            <a:bodyPr wrap="none" anchor="ctr"/>
            <a:lstStyle>
              <a:lvl1pPr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2084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0318" name="Rectangle 6"/>
            <p:cNvSpPr>
              <a:spLocks noChangeArrowheads="1"/>
            </p:cNvSpPr>
            <p:nvPr/>
          </p:nvSpPr>
          <p:spPr bwMode="gray">
            <a:xfrm>
              <a:off x="0" y="0"/>
              <a:ext cx="5760" cy="480"/>
            </a:xfrm>
            <a:prstGeom prst="rect">
              <a:avLst/>
            </a:prstGeom>
            <a:solidFill>
              <a:srgbClr val="00467A"/>
            </a:solidFill>
            <a:ln>
              <a:noFill/>
            </a:ln>
          </p:spPr>
          <p:txBody>
            <a:bodyPr wrap="none" anchor="ctr"/>
            <a:lstStyle>
              <a:lvl1pPr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20844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9-2&#26059;&#36716;&#30690;&#37327;.ppt" TargetMode="External"/><Relationship Id="rId2" Type="http://schemas.openxmlformats.org/officeDocument/2006/relationships/hyperlink" Target="9-1&#31616;&#35856;&#36816;&#21160;%20&#25391;&#24133;%20&#21608;&#26399;&#21644;&#39057;&#29575;%20&#30456;&#20301;.ppt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9-5&#31616;&#35856;&#36816;&#21160;&#30340;&#21512;&#25104;.ppt" TargetMode="External"/><Relationship Id="rId4" Type="http://schemas.openxmlformats.org/officeDocument/2006/relationships/hyperlink" Target="9-4&#31616;&#35856;&#36816;&#21160;&#33021;&#37327;.ppt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Relationship Id="rId9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.bin"/><Relationship Id="rId18" Type="http://schemas.openxmlformats.org/officeDocument/2006/relationships/image" Target="../media/image12.wmf"/><Relationship Id="rId26" Type="http://schemas.openxmlformats.org/officeDocument/2006/relationships/image" Target="../media/image16.wmf"/><Relationship Id="rId39" Type="http://schemas.openxmlformats.org/officeDocument/2006/relationships/oleObject" Target="../embeddings/oleObject24.bin"/><Relationship Id="rId3" Type="http://schemas.openxmlformats.org/officeDocument/2006/relationships/oleObject" Target="../embeddings/oleObject4.bin"/><Relationship Id="rId21" Type="http://schemas.openxmlformats.org/officeDocument/2006/relationships/oleObject" Target="../embeddings/oleObject13.bin"/><Relationship Id="rId34" Type="http://schemas.openxmlformats.org/officeDocument/2006/relationships/image" Target="../media/image19.wmf"/><Relationship Id="rId42" Type="http://schemas.openxmlformats.org/officeDocument/2006/relationships/image" Target="../media/image22.emf"/><Relationship Id="rId47" Type="http://schemas.openxmlformats.org/officeDocument/2006/relationships/oleObject" Target="../embeddings/oleObject28.bin"/><Relationship Id="rId50" Type="http://schemas.openxmlformats.org/officeDocument/2006/relationships/image" Target="../media/image26.emf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5.bin"/><Relationship Id="rId33" Type="http://schemas.openxmlformats.org/officeDocument/2006/relationships/oleObject" Target="../embeddings/oleObject20.bin"/><Relationship Id="rId38" Type="http://schemas.openxmlformats.org/officeDocument/2006/relationships/image" Target="../media/image20.emf"/><Relationship Id="rId46" Type="http://schemas.openxmlformats.org/officeDocument/2006/relationships/image" Target="../media/image24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29" Type="http://schemas.openxmlformats.org/officeDocument/2006/relationships/oleObject" Target="../embeddings/oleObject18.bin"/><Relationship Id="rId41" Type="http://schemas.openxmlformats.org/officeDocument/2006/relationships/oleObject" Target="../embeddings/oleObject25.bin"/><Relationship Id="rId54" Type="http://schemas.openxmlformats.org/officeDocument/2006/relationships/image" Target="../media/image28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15.wmf"/><Relationship Id="rId32" Type="http://schemas.openxmlformats.org/officeDocument/2006/relationships/image" Target="../media/image18.wmf"/><Relationship Id="rId37" Type="http://schemas.openxmlformats.org/officeDocument/2006/relationships/oleObject" Target="../embeddings/oleObject23.bin"/><Relationship Id="rId40" Type="http://schemas.openxmlformats.org/officeDocument/2006/relationships/image" Target="../media/image21.emf"/><Relationship Id="rId45" Type="http://schemas.openxmlformats.org/officeDocument/2006/relationships/oleObject" Target="../embeddings/oleObject27.bin"/><Relationship Id="rId53" Type="http://schemas.openxmlformats.org/officeDocument/2006/relationships/oleObject" Target="../embeddings/oleObject31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28" Type="http://schemas.openxmlformats.org/officeDocument/2006/relationships/oleObject" Target="../embeddings/oleObject17.bin"/><Relationship Id="rId36" Type="http://schemas.openxmlformats.org/officeDocument/2006/relationships/oleObject" Target="../embeddings/oleObject22.bin"/><Relationship Id="rId49" Type="http://schemas.openxmlformats.org/officeDocument/2006/relationships/oleObject" Target="../embeddings/oleObject29.bin"/><Relationship Id="rId10" Type="http://schemas.openxmlformats.org/officeDocument/2006/relationships/image" Target="../media/image8.emf"/><Relationship Id="rId19" Type="http://schemas.openxmlformats.org/officeDocument/2006/relationships/oleObject" Target="../embeddings/oleObject12.bin"/><Relationship Id="rId31" Type="http://schemas.openxmlformats.org/officeDocument/2006/relationships/oleObject" Target="../embeddings/oleObject19.bin"/><Relationship Id="rId44" Type="http://schemas.openxmlformats.org/officeDocument/2006/relationships/image" Target="../media/image23.emf"/><Relationship Id="rId52" Type="http://schemas.openxmlformats.org/officeDocument/2006/relationships/image" Target="../media/image27.e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Relationship Id="rId27" Type="http://schemas.openxmlformats.org/officeDocument/2006/relationships/oleObject" Target="../embeddings/oleObject16.bin"/><Relationship Id="rId30" Type="http://schemas.openxmlformats.org/officeDocument/2006/relationships/image" Target="../media/image17.wmf"/><Relationship Id="rId35" Type="http://schemas.openxmlformats.org/officeDocument/2006/relationships/oleObject" Target="../embeddings/oleObject21.bin"/><Relationship Id="rId43" Type="http://schemas.openxmlformats.org/officeDocument/2006/relationships/oleObject" Target="../embeddings/oleObject26.bin"/><Relationship Id="rId48" Type="http://schemas.openxmlformats.org/officeDocument/2006/relationships/image" Target="../media/image25.emf"/><Relationship Id="rId8" Type="http://schemas.openxmlformats.org/officeDocument/2006/relationships/image" Target="../media/image7.wmf"/><Relationship Id="rId51" Type="http://schemas.openxmlformats.org/officeDocument/2006/relationships/oleObject" Target="../embeddings/oleObject30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9.wmf"/><Relationship Id="rId2" Type="http://schemas.openxmlformats.org/officeDocument/2006/relationships/tags" Target="../tags/tag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3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3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46.wmf"/><Relationship Id="rId3" Type="http://schemas.openxmlformats.org/officeDocument/2006/relationships/oleObject" Target="../embeddings/oleObject46.bin"/><Relationship Id="rId21" Type="http://schemas.openxmlformats.org/officeDocument/2006/relationships/image" Target="../media/image49.png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43.emf"/><Relationship Id="rId1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wmf"/><Relationship Id="rId20" Type="http://schemas.openxmlformats.org/officeDocument/2006/relationships/image" Target="../media/image48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42.wmf"/><Relationship Id="rId19" Type="http://schemas.openxmlformats.org/officeDocument/2006/relationships/image" Target="../media/image47.png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4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56.emf"/><Relationship Id="rId26" Type="http://schemas.openxmlformats.org/officeDocument/2006/relationships/image" Target="../media/image60.emf"/><Relationship Id="rId39" Type="http://schemas.openxmlformats.org/officeDocument/2006/relationships/oleObject" Target="../embeddings/oleObject73.bin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3.bin"/><Relationship Id="rId34" Type="http://schemas.openxmlformats.org/officeDocument/2006/relationships/image" Target="../media/image64.wmf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5.bin"/><Relationship Id="rId33" Type="http://schemas.openxmlformats.org/officeDocument/2006/relationships/oleObject" Target="../embeddings/oleObject69.bin"/><Relationship Id="rId38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5.wmf"/><Relationship Id="rId20" Type="http://schemas.openxmlformats.org/officeDocument/2006/relationships/image" Target="../media/image57.emf"/><Relationship Id="rId29" Type="http://schemas.openxmlformats.org/officeDocument/2006/relationships/oleObject" Target="../embeddings/oleObject67.bin"/><Relationship Id="rId41" Type="http://schemas.openxmlformats.org/officeDocument/2006/relationships/image" Target="../media/image67.png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59.emf"/><Relationship Id="rId32" Type="http://schemas.openxmlformats.org/officeDocument/2006/relationships/image" Target="../media/image63.wmf"/><Relationship Id="rId37" Type="http://schemas.openxmlformats.org/officeDocument/2006/relationships/image" Target="../media/image65.emf"/><Relationship Id="rId40" Type="http://schemas.openxmlformats.org/officeDocument/2006/relationships/image" Target="../media/image66.emf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61.wmf"/><Relationship Id="rId36" Type="http://schemas.openxmlformats.org/officeDocument/2006/relationships/oleObject" Target="../embeddings/oleObject71.bin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62.bin"/><Relationship Id="rId31" Type="http://schemas.openxmlformats.org/officeDocument/2006/relationships/oleObject" Target="../embeddings/oleObject68.bin"/><Relationship Id="rId4" Type="http://schemas.openxmlformats.org/officeDocument/2006/relationships/image" Target="../media/image50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54.wmf"/><Relationship Id="rId22" Type="http://schemas.openxmlformats.org/officeDocument/2006/relationships/image" Target="../media/image58.e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62.emf"/><Relationship Id="rId35" Type="http://schemas.openxmlformats.org/officeDocument/2006/relationships/oleObject" Target="../embeddings/oleObject7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3" Type="http://schemas.openxmlformats.org/officeDocument/2006/relationships/image" Target="../media/image71.png"/><Relationship Id="rId7" Type="http://schemas.openxmlformats.org/officeDocument/2006/relationships/image" Target="../media/image6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70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79.emf"/><Relationship Id="rId3" Type="http://schemas.openxmlformats.org/officeDocument/2006/relationships/oleObject" Target="../embeddings/oleObject77.bin"/><Relationship Id="rId21" Type="http://schemas.openxmlformats.org/officeDocument/2006/relationships/oleObject" Target="../embeddings/oleObject86.bin"/><Relationship Id="rId7" Type="http://schemas.openxmlformats.org/officeDocument/2006/relationships/oleObject" Target="../embeddings/oleObject79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8.emf"/><Relationship Id="rId20" Type="http://schemas.openxmlformats.org/officeDocument/2006/relationships/image" Target="../media/image80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81.bin"/><Relationship Id="rId24" Type="http://schemas.openxmlformats.org/officeDocument/2006/relationships/image" Target="../media/image82.emf"/><Relationship Id="rId5" Type="http://schemas.openxmlformats.org/officeDocument/2006/relationships/oleObject" Target="../embeddings/oleObject78.bin"/><Relationship Id="rId15" Type="http://schemas.openxmlformats.org/officeDocument/2006/relationships/oleObject" Target="../embeddings/oleObject83.bin"/><Relationship Id="rId23" Type="http://schemas.openxmlformats.org/officeDocument/2006/relationships/oleObject" Target="../embeddings/oleObject87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85.bin"/><Relationship Id="rId4" Type="http://schemas.openxmlformats.org/officeDocument/2006/relationships/image" Target="../media/image72.emf"/><Relationship Id="rId9" Type="http://schemas.openxmlformats.org/officeDocument/2006/relationships/oleObject" Target="../embeddings/oleObject80.bin"/><Relationship Id="rId14" Type="http://schemas.openxmlformats.org/officeDocument/2006/relationships/image" Target="../media/image77.emf"/><Relationship Id="rId22" Type="http://schemas.openxmlformats.org/officeDocument/2006/relationships/image" Target="../media/image8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13" Type="http://schemas.openxmlformats.org/officeDocument/2006/relationships/oleObject" Target="../embeddings/oleObject93.bin"/><Relationship Id="rId18" Type="http://schemas.openxmlformats.org/officeDocument/2006/relationships/image" Target="../media/image89.emf"/><Relationship Id="rId26" Type="http://schemas.openxmlformats.org/officeDocument/2006/relationships/image" Target="../media/image93.emf"/><Relationship Id="rId3" Type="http://schemas.openxmlformats.org/officeDocument/2006/relationships/oleObject" Target="../embeddings/oleObject88.bin"/><Relationship Id="rId21" Type="http://schemas.openxmlformats.org/officeDocument/2006/relationships/oleObject" Target="../embeddings/oleObject97.bin"/><Relationship Id="rId34" Type="http://schemas.openxmlformats.org/officeDocument/2006/relationships/image" Target="../media/image97.emf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87.emf"/><Relationship Id="rId17" Type="http://schemas.openxmlformats.org/officeDocument/2006/relationships/oleObject" Target="../embeddings/oleObject95.bin"/><Relationship Id="rId25" Type="http://schemas.openxmlformats.org/officeDocument/2006/relationships/oleObject" Target="../embeddings/oleObject99.bin"/><Relationship Id="rId33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6.wmf"/><Relationship Id="rId20" Type="http://schemas.openxmlformats.org/officeDocument/2006/relationships/image" Target="../media/image90.emf"/><Relationship Id="rId29" Type="http://schemas.openxmlformats.org/officeDocument/2006/relationships/oleObject" Target="../embeddings/oleObject101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4.emf"/><Relationship Id="rId11" Type="http://schemas.openxmlformats.org/officeDocument/2006/relationships/oleObject" Target="../embeddings/oleObject92.bin"/><Relationship Id="rId24" Type="http://schemas.openxmlformats.org/officeDocument/2006/relationships/image" Target="../media/image92.emf"/><Relationship Id="rId32" Type="http://schemas.openxmlformats.org/officeDocument/2006/relationships/image" Target="../media/image96.emf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23" Type="http://schemas.openxmlformats.org/officeDocument/2006/relationships/oleObject" Target="../embeddings/oleObject98.bin"/><Relationship Id="rId28" Type="http://schemas.openxmlformats.org/officeDocument/2006/relationships/image" Target="../media/image94.emf"/><Relationship Id="rId10" Type="http://schemas.openxmlformats.org/officeDocument/2006/relationships/image" Target="../media/image86.emf"/><Relationship Id="rId19" Type="http://schemas.openxmlformats.org/officeDocument/2006/relationships/oleObject" Target="../embeddings/oleObject96.bin"/><Relationship Id="rId31" Type="http://schemas.openxmlformats.org/officeDocument/2006/relationships/oleObject" Target="../embeddings/oleObject102.bin"/><Relationship Id="rId4" Type="http://schemas.openxmlformats.org/officeDocument/2006/relationships/image" Target="../media/image83.e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88.emf"/><Relationship Id="rId22" Type="http://schemas.openxmlformats.org/officeDocument/2006/relationships/image" Target="../media/image91.emf"/><Relationship Id="rId27" Type="http://schemas.openxmlformats.org/officeDocument/2006/relationships/oleObject" Target="../embeddings/oleObject100.bin"/><Relationship Id="rId30" Type="http://schemas.openxmlformats.org/officeDocument/2006/relationships/image" Target="../media/image9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13" Type="http://schemas.openxmlformats.org/officeDocument/2006/relationships/oleObject" Target="../embeddings/oleObject109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4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9.e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101.emf"/><Relationship Id="rId4" Type="http://schemas.openxmlformats.org/officeDocument/2006/relationships/image" Target="../media/image98.e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0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0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14.wmf"/><Relationship Id="rId26" Type="http://schemas.openxmlformats.org/officeDocument/2006/relationships/image" Target="../media/image118.emf"/><Relationship Id="rId39" Type="http://schemas.openxmlformats.org/officeDocument/2006/relationships/oleObject" Target="../embeddings/oleObject129.bin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0.bin"/><Relationship Id="rId34" Type="http://schemas.openxmlformats.org/officeDocument/2006/relationships/image" Target="../media/image122.emf"/><Relationship Id="rId42" Type="http://schemas.openxmlformats.org/officeDocument/2006/relationships/image" Target="../media/image126.emf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1.emf"/><Relationship Id="rId17" Type="http://schemas.openxmlformats.org/officeDocument/2006/relationships/oleObject" Target="../embeddings/oleObject118.bin"/><Relationship Id="rId25" Type="http://schemas.openxmlformats.org/officeDocument/2006/relationships/oleObject" Target="../embeddings/oleObject122.bin"/><Relationship Id="rId33" Type="http://schemas.openxmlformats.org/officeDocument/2006/relationships/oleObject" Target="../embeddings/oleObject126.bin"/><Relationship Id="rId38" Type="http://schemas.openxmlformats.org/officeDocument/2006/relationships/image" Target="../media/image124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.emf"/><Relationship Id="rId20" Type="http://schemas.openxmlformats.org/officeDocument/2006/relationships/image" Target="../media/image115.emf"/><Relationship Id="rId29" Type="http://schemas.openxmlformats.org/officeDocument/2006/relationships/oleObject" Target="../embeddings/oleObject124.bin"/><Relationship Id="rId41" Type="http://schemas.openxmlformats.org/officeDocument/2006/relationships/oleObject" Target="../embeddings/oleObject13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8.emf"/><Relationship Id="rId11" Type="http://schemas.openxmlformats.org/officeDocument/2006/relationships/oleObject" Target="../embeddings/oleObject115.bin"/><Relationship Id="rId24" Type="http://schemas.openxmlformats.org/officeDocument/2006/relationships/image" Target="../media/image117.emf"/><Relationship Id="rId32" Type="http://schemas.openxmlformats.org/officeDocument/2006/relationships/image" Target="../media/image121.emf"/><Relationship Id="rId37" Type="http://schemas.openxmlformats.org/officeDocument/2006/relationships/oleObject" Target="../embeddings/oleObject128.bin"/><Relationship Id="rId40" Type="http://schemas.openxmlformats.org/officeDocument/2006/relationships/image" Target="../media/image125.emf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23" Type="http://schemas.openxmlformats.org/officeDocument/2006/relationships/oleObject" Target="../embeddings/oleObject121.bin"/><Relationship Id="rId28" Type="http://schemas.openxmlformats.org/officeDocument/2006/relationships/image" Target="../media/image119.emf"/><Relationship Id="rId36" Type="http://schemas.openxmlformats.org/officeDocument/2006/relationships/image" Target="../media/image123.emf"/><Relationship Id="rId10" Type="http://schemas.openxmlformats.org/officeDocument/2006/relationships/image" Target="../media/image110.emf"/><Relationship Id="rId19" Type="http://schemas.openxmlformats.org/officeDocument/2006/relationships/oleObject" Target="../embeddings/oleObject119.bin"/><Relationship Id="rId31" Type="http://schemas.openxmlformats.org/officeDocument/2006/relationships/oleObject" Target="../embeddings/oleObject125.bin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2.emf"/><Relationship Id="rId22" Type="http://schemas.openxmlformats.org/officeDocument/2006/relationships/image" Target="../media/image116.emf"/><Relationship Id="rId27" Type="http://schemas.openxmlformats.org/officeDocument/2006/relationships/oleObject" Target="../embeddings/oleObject123.bin"/><Relationship Id="rId30" Type="http://schemas.openxmlformats.org/officeDocument/2006/relationships/image" Target="../media/image120.emf"/><Relationship Id="rId35" Type="http://schemas.openxmlformats.org/officeDocument/2006/relationships/oleObject" Target="../embeddings/oleObject127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9-2&#26059;&#36716;&#30690;&#37327;.ppt" TargetMode="External"/><Relationship Id="rId2" Type="http://schemas.openxmlformats.org/officeDocument/2006/relationships/hyperlink" Target="9-1&#31616;&#35856;&#36816;&#21160;%20&#25391;&#24133;%20&#21608;&#26399;&#21644;&#39057;&#29575;%20&#30456;&#20301;.ppt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9-5&#31616;&#35856;&#36816;&#21160;&#30340;&#21512;&#25104;.ppt" TargetMode="External"/><Relationship Id="rId5" Type="http://schemas.openxmlformats.org/officeDocument/2006/relationships/hyperlink" Target="9-4&#31616;&#35856;&#36816;&#21160;&#33021;&#37327;.ppt" TargetMode="External"/><Relationship Id="rId4" Type="http://schemas.openxmlformats.org/officeDocument/2006/relationships/hyperlink" Target="9-3&#21333;&#25670;&#21644;&#22797;&#25670;.ppt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9.e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2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2.e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1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4.e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33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7.e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3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13" Type="http://schemas.openxmlformats.org/officeDocument/2006/relationships/oleObject" Target="../embeddings/oleObject147.bin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4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5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0.e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10" Type="http://schemas.openxmlformats.org/officeDocument/2006/relationships/image" Target="../media/image142.emf"/><Relationship Id="rId4" Type="http://schemas.openxmlformats.org/officeDocument/2006/relationships/image" Target="../media/image139.e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4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13" Type="http://schemas.openxmlformats.org/officeDocument/2006/relationships/oleObject" Target="../embeddings/oleObject154.bin"/><Relationship Id="rId18" Type="http://schemas.openxmlformats.org/officeDocument/2006/relationships/image" Target="../media/image153.e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12" Type="http://schemas.openxmlformats.org/officeDocument/2006/relationships/image" Target="../media/image150.emf"/><Relationship Id="rId17" Type="http://schemas.openxmlformats.org/officeDocument/2006/relationships/oleObject" Target="../embeddings/oleObject1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2.e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47.e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5.bin"/><Relationship Id="rId10" Type="http://schemas.openxmlformats.org/officeDocument/2006/relationships/image" Target="../media/image149.emf"/><Relationship Id="rId19" Type="http://schemas.openxmlformats.org/officeDocument/2006/relationships/image" Target="../media/image154.png"/><Relationship Id="rId4" Type="http://schemas.openxmlformats.org/officeDocument/2006/relationships/image" Target="../media/image146.emf"/><Relationship Id="rId9" Type="http://schemas.openxmlformats.org/officeDocument/2006/relationships/oleObject" Target="../embeddings/oleObject152.bin"/><Relationship Id="rId14" Type="http://schemas.openxmlformats.org/officeDocument/2006/relationships/image" Target="../media/image151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7.bin"/><Relationship Id="rId7" Type="http://schemas.openxmlformats.org/officeDocument/2006/relationships/image" Target="../media/image157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6.e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55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emf"/><Relationship Id="rId13" Type="http://schemas.openxmlformats.org/officeDocument/2006/relationships/image" Target="../media/image165.png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64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1.e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63.emf"/><Relationship Id="rId4" Type="http://schemas.openxmlformats.org/officeDocument/2006/relationships/image" Target="../media/image160.emf"/><Relationship Id="rId9" Type="http://schemas.openxmlformats.org/officeDocument/2006/relationships/oleObject" Target="../embeddings/oleObject162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13" Type="http://schemas.openxmlformats.org/officeDocument/2006/relationships/oleObject" Target="../embeddings/oleObject169.bin"/><Relationship Id="rId18" Type="http://schemas.openxmlformats.org/officeDocument/2006/relationships/image" Target="../media/image173.e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70.emf"/><Relationship Id="rId17" Type="http://schemas.openxmlformats.org/officeDocument/2006/relationships/oleObject" Target="../embeddings/oleObject1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2.emf"/><Relationship Id="rId20" Type="http://schemas.openxmlformats.org/officeDocument/2006/relationships/image" Target="../media/image174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7.e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70.bin"/><Relationship Id="rId10" Type="http://schemas.openxmlformats.org/officeDocument/2006/relationships/image" Target="../media/image169.emf"/><Relationship Id="rId19" Type="http://schemas.openxmlformats.org/officeDocument/2006/relationships/oleObject" Target="../embeddings/oleObject172.bin"/><Relationship Id="rId4" Type="http://schemas.openxmlformats.org/officeDocument/2006/relationships/image" Target="../media/image166.e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171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emf"/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182.emf"/><Relationship Id="rId26" Type="http://schemas.openxmlformats.org/officeDocument/2006/relationships/image" Target="../media/image186.emf"/><Relationship Id="rId3" Type="http://schemas.openxmlformats.org/officeDocument/2006/relationships/oleObject" Target="../embeddings/oleObject173.bin"/><Relationship Id="rId21" Type="http://schemas.openxmlformats.org/officeDocument/2006/relationships/oleObject" Target="../embeddings/oleObject182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79.emf"/><Relationship Id="rId17" Type="http://schemas.openxmlformats.org/officeDocument/2006/relationships/oleObject" Target="../embeddings/oleObject180.bin"/><Relationship Id="rId25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1.emf"/><Relationship Id="rId20" Type="http://schemas.openxmlformats.org/officeDocument/2006/relationships/image" Target="../media/image183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6.emf"/><Relationship Id="rId11" Type="http://schemas.openxmlformats.org/officeDocument/2006/relationships/oleObject" Target="../embeddings/oleObject177.bin"/><Relationship Id="rId24" Type="http://schemas.openxmlformats.org/officeDocument/2006/relationships/image" Target="../media/image185.emf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23" Type="http://schemas.openxmlformats.org/officeDocument/2006/relationships/oleObject" Target="../embeddings/oleObject183.bin"/><Relationship Id="rId10" Type="http://schemas.openxmlformats.org/officeDocument/2006/relationships/image" Target="../media/image178.emf"/><Relationship Id="rId19" Type="http://schemas.openxmlformats.org/officeDocument/2006/relationships/oleObject" Target="../embeddings/oleObject181.bin"/><Relationship Id="rId4" Type="http://schemas.openxmlformats.org/officeDocument/2006/relationships/image" Target="../media/image175.e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180.emf"/><Relationship Id="rId22" Type="http://schemas.openxmlformats.org/officeDocument/2006/relationships/image" Target="../media/image184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188.emf"/><Relationship Id="rId4" Type="http://schemas.openxmlformats.org/officeDocument/2006/relationships/oleObject" Target="../embeddings/oleObject185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90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9.bin"/><Relationship Id="rId3" Type="http://schemas.openxmlformats.org/officeDocument/2006/relationships/image" Target="../media/image194.png"/><Relationship Id="rId7" Type="http://schemas.openxmlformats.org/officeDocument/2006/relationships/image" Target="../media/image19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88.bin"/><Relationship Id="rId5" Type="http://schemas.openxmlformats.org/officeDocument/2006/relationships/image" Target="../media/image191.emf"/><Relationship Id="rId4" Type="http://schemas.openxmlformats.org/officeDocument/2006/relationships/oleObject" Target="../embeddings/oleObject187.bin"/><Relationship Id="rId9" Type="http://schemas.openxmlformats.org/officeDocument/2006/relationships/image" Target="../media/image193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195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13" Type="http://schemas.openxmlformats.org/officeDocument/2006/relationships/oleObject" Target="../embeddings/oleObject196.bin"/><Relationship Id="rId18" Type="http://schemas.openxmlformats.org/officeDocument/2006/relationships/image" Target="../media/image203.w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200.wmf"/><Relationship Id="rId17" Type="http://schemas.openxmlformats.org/officeDocument/2006/relationships/oleObject" Target="../embeddings/oleObject1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2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05.png"/><Relationship Id="rId11" Type="http://schemas.openxmlformats.org/officeDocument/2006/relationships/oleObject" Target="../embeddings/oleObject195.bin"/><Relationship Id="rId5" Type="http://schemas.openxmlformats.org/officeDocument/2006/relationships/image" Target="../media/image204.png"/><Relationship Id="rId15" Type="http://schemas.openxmlformats.org/officeDocument/2006/relationships/oleObject" Target="../embeddings/oleObject197.bin"/><Relationship Id="rId10" Type="http://schemas.openxmlformats.org/officeDocument/2006/relationships/image" Target="../media/image207.png"/><Relationship Id="rId4" Type="http://schemas.openxmlformats.org/officeDocument/2006/relationships/image" Target="../media/image198.emf"/><Relationship Id="rId9" Type="http://schemas.openxmlformats.org/officeDocument/2006/relationships/image" Target="../media/image206.png"/><Relationship Id="rId14" Type="http://schemas.openxmlformats.org/officeDocument/2006/relationships/image" Target="../media/image201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212.emf"/><Relationship Id="rId18" Type="http://schemas.openxmlformats.org/officeDocument/2006/relationships/oleObject" Target="../embeddings/oleObject207.bin"/><Relationship Id="rId3" Type="http://schemas.openxmlformats.org/officeDocument/2006/relationships/oleObject" Target="../embeddings/oleObject199.bin"/><Relationship Id="rId21" Type="http://schemas.openxmlformats.org/officeDocument/2006/relationships/image" Target="../media/image216.emf"/><Relationship Id="rId7" Type="http://schemas.openxmlformats.org/officeDocument/2006/relationships/image" Target="../media/image209.w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2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6.bin"/><Relationship Id="rId20" Type="http://schemas.openxmlformats.org/officeDocument/2006/relationships/oleObject" Target="../embeddings/oleObject208.bin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211.emf"/><Relationship Id="rId5" Type="http://schemas.openxmlformats.org/officeDocument/2006/relationships/oleObject" Target="../embeddings/oleObject200.bin"/><Relationship Id="rId15" Type="http://schemas.openxmlformats.org/officeDocument/2006/relationships/image" Target="../media/image213.wmf"/><Relationship Id="rId10" Type="http://schemas.openxmlformats.org/officeDocument/2006/relationships/oleObject" Target="../embeddings/oleObject203.bin"/><Relationship Id="rId19" Type="http://schemas.openxmlformats.org/officeDocument/2006/relationships/image" Target="../media/image215.wmf"/><Relationship Id="rId4" Type="http://schemas.openxmlformats.org/officeDocument/2006/relationships/image" Target="../media/image208.wmf"/><Relationship Id="rId9" Type="http://schemas.openxmlformats.org/officeDocument/2006/relationships/image" Target="../media/image210.wmf"/><Relationship Id="rId14" Type="http://schemas.openxmlformats.org/officeDocument/2006/relationships/oleObject" Target="../embeddings/oleObject205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wmf"/><Relationship Id="rId13" Type="http://schemas.openxmlformats.org/officeDocument/2006/relationships/image" Target="../media/image215.wmf"/><Relationship Id="rId18" Type="http://schemas.openxmlformats.org/officeDocument/2006/relationships/oleObject" Target="../embeddings/oleObject217.bin"/><Relationship Id="rId3" Type="http://schemas.openxmlformats.org/officeDocument/2006/relationships/oleObject" Target="../embeddings/oleObject209.bin"/><Relationship Id="rId21" Type="http://schemas.openxmlformats.org/officeDocument/2006/relationships/image" Target="../media/image222.emf"/><Relationship Id="rId7" Type="http://schemas.openxmlformats.org/officeDocument/2006/relationships/oleObject" Target="../embeddings/oleObject211.bin"/><Relationship Id="rId12" Type="http://schemas.openxmlformats.org/officeDocument/2006/relationships/oleObject" Target="../embeddings/oleObject214.bin"/><Relationship Id="rId17" Type="http://schemas.openxmlformats.org/officeDocument/2006/relationships/image" Target="../media/image22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6.bin"/><Relationship Id="rId20" Type="http://schemas.openxmlformats.org/officeDocument/2006/relationships/oleObject" Target="../embeddings/oleObject218.bin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18.emf"/><Relationship Id="rId11" Type="http://schemas.openxmlformats.org/officeDocument/2006/relationships/image" Target="../media/image209.wmf"/><Relationship Id="rId5" Type="http://schemas.openxmlformats.org/officeDocument/2006/relationships/oleObject" Target="../embeddings/oleObject210.bin"/><Relationship Id="rId15" Type="http://schemas.openxmlformats.org/officeDocument/2006/relationships/image" Target="../media/image219.emf"/><Relationship Id="rId23" Type="http://schemas.openxmlformats.org/officeDocument/2006/relationships/image" Target="../media/image223.emf"/><Relationship Id="rId10" Type="http://schemas.openxmlformats.org/officeDocument/2006/relationships/oleObject" Target="../embeddings/oleObject213.bin"/><Relationship Id="rId19" Type="http://schemas.openxmlformats.org/officeDocument/2006/relationships/image" Target="../media/image221.emf"/><Relationship Id="rId4" Type="http://schemas.openxmlformats.org/officeDocument/2006/relationships/image" Target="../media/image217.emf"/><Relationship Id="rId9" Type="http://schemas.openxmlformats.org/officeDocument/2006/relationships/oleObject" Target="../embeddings/oleObject212.bin"/><Relationship Id="rId14" Type="http://schemas.openxmlformats.org/officeDocument/2006/relationships/oleObject" Target="../embeddings/oleObject215.bin"/><Relationship Id="rId22" Type="http://schemas.openxmlformats.org/officeDocument/2006/relationships/oleObject" Target="../embeddings/oleObject219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wmf"/><Relationship Id="rId13" Type="http://schemas.openxmlformats.org/officeDocument/2006/relationships/oleObject" Target="../embeddings/oleObject225.bin"/><Relationship Id="rId18" Type="http://schemas.openxmlformats.org/officeDocument/2006/relationships/image" Target="../media/image230.wmf"/><Relationship Id="rId3" Type="http://schemas.openxmlformats.org/officeDocument/2006/relationships/oleObject" Target="../embeddings/oleObject220.bin"/><Relationship Id="rId21" Type="http://schemas.openxmlformats.org/officeDocument/2006/relationships/image" Target="../media/image231.wmf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27.wmf"/><Relationship Id="rId17" Type="http://schemas.openxmlformats.org/officeDocument/2006/relationships/oleObject" Target="../embeddings/oleObject227.bin"/><Relationship Id="rId25" Type="http://schemas.openxmlformats.org/officeDocument/2006/relationships/image" Target="../media/image23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9.emf"/><Relationship Id="rId20" Type="http://schemas.openxmlformats.org/officeDocument/2006/relationships/oleObject" Target="../embeddings/oleObject229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13.wmf"/><Relationship Id="rId11" Type="http://schemas.openxmlformats.org/officeDocument/2006/relationships/oleObject" Target="../embeddings/oleObject224.bin"/><Relationship Id="rId24" Type="http://schemas.openxmlformats.org/officeDocument/2006/relationships/oleObject" Target="../embeddings/oleObject231.bin"/><Relationship Id="rId5" Type="http://schemas.openxmlformats.org/officeDocument/2006/relationships/oleObject" Target="../embeddings/oleObject221.bin"/><Relationship Id="rId15" Type="http://schemas.openxmlformats.org/officeDocument/2006/relationships/oleObject" Target="../embeddings/oleObject226.bin"/><Relationship Id="rId23" Type="http://schemas.openxmlformats.org/officeDocument/2006/relationships/image" Target="../media/image232.emf"/><Relationship Id="rId10" Type="http://schemas.openxmlformats.org/officeDocument/2006/relationships/image" Target="../media/image226.wmf"/><Relationship Id="rId19" Type="http://schemas.openxmlformats.org/officeDocument/2006/relationships/oleObject" Target="../embeddings/oleObject228.bin"/><Relationship Id="rId4" Type="http://schemas.openxmlformats.org/officeDocument/2006/relationships/image" Target="../media/image224.e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28.wmf"/><Relationship Id="rId22" Type="http://schemas.openxmlformats.org/officeDocument/2006/relationships/oleObject" Target="../embeddings/oleObject230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234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oleObject" Target="../embeddings/oleObject234.bin"/><Relationship Id="rId18" Type="http://schemas.openxmlformats.org/officeDocument/2006/relationships/image" Target="../media/image239.emf"/><Relationship Id="rId3" Type="http://schemas.openxmlformats.org/officeDocument/2006/relationships/tags" Target="../tags/tag4.xml"/><Relationship Id="rId21" Type="http://schemas.openxmlformats.org/officeDocument/2006/relationships/oleObject" Target="../embeddings/oleObject238.bin"/><Relationship Id="rId7" Type="http://schemas.openxmlformats.org/officeDocument/2006/relationships/tags" Target="../tags/tag8.xml"/><Relationship Id="rId12" Type="http://schemas.openxmlformats.org/officeDocument/2006/relationships/image" Target="../media/image236.wmf"/><Relationship Id="rId17" Type="http://schemas.openxmlformats.org/officeDocument/2006/relationships/oleObject" Target="../embeddings/oleObject236.bin"/><Relationship Id="rId2" Type="http://schemas.openxmlformats.org/officeDocument/2006/relationships/tags" Target="../tags/tag3.xml"/><Relationship Id="rId16" Type="http://schemas.openxmlformats.org/officeDocument/2006/relationships/image" Target="../media/image238.emf"/><Relationship Id="rId20" Type="http://schemas.openxmlformats.org/officeDocument/2006/relationships/image" Target="../media/image240.emf"/><Relationship Id="rId1" Type="http://schemas.openxmlformats.org/officeDocument/2006/relationships/vmlDrawing" Target="../drawings/vmlDrawing33.vml"/><Relationship Id="rId6" Type="http://schemas.openxmlformats.org/officeDocument/2006/relationships/tags" Target="../tags/tag7.xml"/><Relationship Id="rId11" Type="http://schemas.openxmlformats.org/officeDocument/2006/relationships/oleObject" Target="../embeddings/oleObject233.bin"/><Relationship Id="rId24" Type="http://schemas.openxmlformats.org/officeDocument/2006/relationships/image" Target="../media/image242.emf"/><Relationship Id="rId5" Type="http://schemas.openxmlformats.org/officeDocument/2006/relationships/tags" Target="../tags/tag6.xml"/><Relationship Id="rId15" Type="http://schemas.openxmlformats.org/officeDocument/2006/relationships/oleObject" Target="../embeddings/oleObject235.bin"/><Relationship Id="rId23" Type="http://schemas.openxmlformats.org/officeDocument/2006/relationships/oleObject" Target="../embeddings/oleObject239.bin"/><Relationship Id="rId10" Type="http://schemas.openxmlformats.org/officeDocument/2006/relationships/image" Target="../media/image235.emf"/><Relationship Id="rId19" Type="http://schemas.openxmlformats.org/officeDocument/2006/relationships/oleObject" Target="../embeddings/oleObject237.bin"/><Relationship Id="rId4" Type="http://schemas.openxmlformats.org/officeDocument/2006/relationships/tags" Target="../tags/tag5.xml"/><Relationship Id="rId9" Type="http://schemas.openxmlformats.org/officeDocument/2006/relationships/oleObject" Target="../embeddings/oleObject232.bin"/><Relationship Id="rId14" Type="http://schemas.openxmlformats.org/officeDocument/2006/relationships/image" Target="../media/image237.wmf"/><Relationship Id="rId22" Type="http://schemas.openxmlformats.org/officeDocument/2006/relationships/image" Target="../media/image241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emf"/><Relationship Id="rId13" Type="http://schemas.openxmlformats.org/officeDocument/2006/relationships/oleObject" Target="../embeddings/oleObject244.bin"/><Relationship Id="rId18" Type="http://schemas.openxmlformats.org/officeDocument/2006/relationships/image" Target="../media/image249.emf"/><Relationship Id="rId26" Type="http://schemas.openxmlformats.org/officeDocument/2006/relationships/image" Target="../media/image253.emf"/><Relationship Id="rId3" Type="http://schemas.openxmlformats.org/officeDocument/2006/relationships/tags" Target="../tags/tag10.xml"/><Relationship Id="rId21" Type="http://schemas.openxmlformats.org/officeDocument/2006/relationships/oleObject" Target="../embeddings/oleObject248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246.emf"/><Relationship Id="rId17" Type="http://schemas.openxmlformats.org/officeDocument/2006/relationships/oleObject" Target="../embeddings/oleObject246.bin"/><Relationship Id="rId25" Type="http://schemas.openxmlformats.org/officeDocument/2006/relationships/oleObject" Target="../embeddings/oleObject250.bin"/><Relationship Id="rId2" Type="http://schemas.openxmlformats.org/officeDocument/2006/relationships/tags" Target="../tags/tag9.xml"/><Relationship Id="rId16" Type="http://schemas.openxmlformats.org/officeDocument/2006/relationships/image" Target="../media/image248.emf"/><Relationship Id="rId20" Type="http://schemas.openxmlformats.org/officeDocument/2006/relationships/image" Target="../media/image250.emf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43.emf"/><Relationship Id="rId11" Type="http://schemas.openxmlformats.org/officeDocument/2006/relationships/oleObject" Target="../embeddings/oleObject243.bin"/><Relationship Id="rId24" Type="http://schemas.openxmlformats.org/officeDocument/2006/relationships/image" Target="../media/image252.emf"/><Relationship Id="rId5" Type="http://schemas.openxmlformats.org/officeDocument/2006/relationships/oleObject" Target="../embeddings/oleObject240.bin"/><Relationship Id="rId15" Type="http://schemas.openxmlformats.org/officeDocument/2006/relationships/oleObject" Target="../embeddings/oleObject245.bin"/><Relationship Id="rId23" Type="http://schemas.openxmlformats.org/officeDocument/2006/relationships/oleObject" Target="../embeddings/oleObject249.bin"/><Relationship Id="rId28" Type="http://schemas.openxmlformats.org/officeDocument/2006/relationships/image" Target="../media/image254.wmf"/><Relationship Id="rId10" Type="http://schemas.openxmlformats.org/officeDocument/2006/relationships/image" Target="../media/image245.emf"/><Relationship Id="rId19" Type="http://schemas.openxmlformats.org/officeDocument/2006/relationships/oleObject" Target="../embeddings/oleObject247.bin"/><Relationship Id="rId4" Type="http://schemas.openxmlformats.org/officeDocument/2006/relationships/slideLayout" Target="../slideLayouts/slideLayout7.xml"/><Relationship Id="rId9" Type="http://schemas.openxmlformats.org/officeDocument/2006/relationships/oleObject" Target="../embeddings/oleObject242.bin"/><Relationship Id="rId14" Type="http://schemas.openxmlformats.org/officeDocument/2006/relationships/image" Target="../media/image247.emf"/><Relationship Id="rId22" Type="http://schemas.openxmlformats.org/officeDocument/2006/relationships/image" Target="../media/image251.emf"/><Relationship Id="rId27" Type="http://schemas.openxmlformats.org/officeDocument/2006/relationships/oleObject" Target="../embeddings/oleObject25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56.emf"/><Relationship Id="rId5" Type="http://schemas.openxmlformats.org/officeDocument/2006/relationships/oleObject" Target="../embeddings/oleObject253.bin"/><Relationship Id="rId4" Type="http://schemas.openxmlformats.org/officeDocument/2006/relationships/image" Target="../media/image255.e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emf"/><Relationship Id="rId3" Type="http://schemas.openxmlformats.org/officeDocument/2006/relationships/oleObject" Target="../embeddings/oleObject254.bin"/><Relationship Id="rId7" Type="http://schemas.openxmlformats.org/officeDocument/2006/relationships/oleObject" Target="../embeddings/oleObject2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58.emf"/><Relationship Id="rId5" Type="http://schemas.openxmlformats.org/officeDocument/2006/relationships/oleObject" Target="../embeddings/oleObject255.bin"/><Relationship Id="rId4" Type="http://schemas.openxmlformats.org/officeDocument/2006/relationships/image" Target="../media/image257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emf"/><Relationship Id="rId3" Type="http://schemas.openxmlformats.org/officeDocument/2006/relationships/oleObject" Target="../embeddings/oleObject257.bin"/><Relationship Id="rId7" Type="http://schemas.openxmlformats.org/officeDocument/2006/relationships/oleObject" Target="../embeddings/oleObject2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61.emf"/><Relationship Id="rId5" Type="http://schemas.openxmlformats.org/officeDocument/2006/relationships/oleObject" Target="../embeddings/oleObject258.bin"/><Relationship Id="rId10" Type="http://schemas.openxmlformats.org/officeDocument/2006/relationships/image" Target="../media/image263.emf"/><Relationship Id="rId4" Type="http://schemas.openxmlformats.org/officeDocument/2006/relationships/image" Target="../media/image260.emf"/><Relationship Id="rId9" Type="http://schemas.openxmlformats.org/officeDocument/2006/relationships/oleObject" Target="../embeddings/oleObject26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emf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3.bin"/><Relationship Id="rId12" Type="http://schemas.openxmlformats.org/officeDocument/2006/relationships/image" Target="../media/image26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65.emf"/><Relationship Id="rId11" Type="http://schemas.openxmlformats.org/officeDocument/2006/relationships/oleObject" Target="../embeddings/oleObject265.bin"/><Relationship Id="rId5" Type="http://schemas.openxmlformats.org/officeDocument/2006/relationships/oleObject" Target="../embeddings/oleObject262.bin"/><Relationship Id="rId10" Type="http://schemas.openxmlformats.org/officeDocument/2006/relationships/image" Target="../media/image267.emf"/><Relationship Id="rId4" Type="http://schemas.openxmlformats.org/officeDocument/2006/relationships/image" Target="../media/image264.emf"/><Relationship Id="rId9" Type="http://schemas.openxmlformats.org/officeDocument/2006/relationships/oleObject" Target="../embeddings/oleObject264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emf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70.emf"/><Relationship Id="rId5" Type="http://schemas.openxmlformats.org/officeDocument/2006/relationships/oleObject" Target="../embeddings/oleObject267.bin"/><Relationship Id="rId10" Type="http://schemas.openxmlformats.org/officeDocument/2006/relationships/image" Target="../media/image272.emf"/><Relationship Id="rId4" Type="http://schemas.openxmlformats.org/officeDocument/2006/relationships/image" Target="../media/image269.wmf"/><Relationship Id="rId9" Type="http://schemas.openxmlformats.org/officeDocument/2006/relationships/oleObject" Target="../embeddings/oleObject269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emf"/><Relationship Id="rId3" Type="http://schemas.openxmlformats.org/officeDocument/2006/relationships/oleObject" Target="../embeddings/oleObject270.bin"/><Relationship Id="rId7" Type="http://schemas.openxmlformats.org/officeDocument/2006/relationships/oleObject" Target="../embeddings/oleObject2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74.emf"/><Relationship Id="rId5" Type="http://schemas.openxmlformats.org/officeDocument/2006/relationships/oleObject" Target="../embeddings/oleObject271.bin"/><Relationship Id="rId4" Type="http://schemas.openxmlformats.org/officeDocument/2006/relationships/image" Target="../media/image273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276.e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6.bin"/><Relationship Id="rId13" Type="http://schemas.openxmlformats.org/officeDocument/2006/relationships/image" Target="../media/image281.emf"/><Relationship Id="rId3" Type="http://schemas.openxmlformats.org/officeDocument/2006/relationships/image" Target="../media/image283.png"/><Relationship Id="rId7" Type="http://schemas.openxmlformats.org/officeDocument/2006/relationships/image" Target="../media/image278.emf"/><Relationship Id="rId12" Type="http://schemas.openxmlformats.org/officeDocument/2006/relationships/oleObject" Target="../embeddings/oleObject2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275.bin"/><Relationship Id="rId11" Type="http://schemas.openxmlformats.org/officeDocument/2006/relationships/image" Target="../media/image280.emf"/><Relationship Id="rId5" Type="http://schemas.openxmlformats.org/officeDocument/2006/relationships/image" Target="../media/image277.emf"/><Relationship Id="rId15" Type="http://schemas.openxmlformats.org/officeDocument/2006/relationships/image" Target="../media/image282.emf"/><Relationship Id="rId10" Type="http://schemas.openxmlformats.org/officeDocument/2006/relationships/oleObject" Target="../embeddings/oleObject277.bin"/><Relationship Id="rId4" Type="http://schemas.openxmlformats.org/officeDocument/2006/relationships/oleObject" Target="../embeddings/oleObject274.bin"/><Relationship Id="rId9" Type="http://schemas.openxmlformats.org/officeDocument/2006/relationships/image" Target="../media/image279.emf"/><Relationship Id="rId14" Type="http://schemas.openxmlformats.org/officeDocument/2006/relationships/oleObject" Target="../embeddings/oleObject279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emf"/><Relationship Id="rId13" Type="http://schemas.openxmlformats.org/officeDocument/2006/relationships/oleObject" Target="../embeddings/oleObject285.bin"/><Relationship Id="rId18" Type="http://schemas.openxmlformats.org/officeDocument/2006/relationships/oleObject" Target="../embeddings/oleObject287.bin"/><Relationship Id="rId26" Type="http://schemas.openxmlformats.org/officeDocument/2006/relationships/oleObject" Target="../embeddings/oleObject291.bin"/><Relationship Id="rId3" Type="http://schemas.openxmlformats.org/officeDocument/2006/relationships/oleObject" Target="../embeddings/oleObject280.bin"/><Relationship Id="rId21" Type="http://schemas.openxmlformats.org/officeDocument/2006/relationships/image" Target="../media/image292.emf"/><Relationship Id="rId7" Type="http://schemas.openxmlformats.org/officeDocument/2006/relationships/oleObject" Target="../embeddings/oleObject282.bin"/><Relationship Id="rId12" Type="http://schemas.openxmlformats.org/officeDocument/2006/relationships/image" Target="../media/image288.emf"/><Relationship Id="rId17" Type="http://schemas.openxmlformats.org/officeDocument/2006/relationships/image" Target="../media/image299.jpeg"/><Relationship Id="rId25" Type="http://schemas.openxmlformats.org/officeDocument/2006/relationships/image" Target="../media/image294.emf"/><Relationship Id="rId33" Type="http://schemas.openxmlformats.org/officeDocument/2006/relationships/image" Target="../media/image298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0.emf"/><Relationship Id="rId20" Type="http://schemas.openxmlformats.org/officeDocument/2006/relationships/oleObject" Target="../embeddings/oleObject288.bin"/><Relationship Id="rId29" Type="http://schemas.openxmlformats.org/officeDocument/2006/relationships/image" Target="../media/image296.emf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85.emf"/><Relationship Id="rId11" Type="http://schemas.openxmlformats.org/officeDocument/2006/relationships/oleObject" Target="../embeddings/oleObject284.bin"/><Relationship Id="rId24" Type="http://schemas.openxmlformats.org/officeDocument/2006/relationships/oleObject" Target="../embeddings/oleObject290.bin"/><Relationship Id="rId32" Type="http://schemas.openxmlformats.org/officeDocument/2006/relationships/oleObject" Target="../embeddings/oleObject294.bin"/><Relationship Id="rId5" Type="http://schemas.openxmlformats.org/officeDocument/2006/relationships/oleObject" Target="../embeddings/oleObject281.bin"/><Relationship Id="rId15" Type="http://schemas.openxmlformats.org/officeDocument/2006/relationships/oleObject" Target="../embeddings/oleObject286.bin"/><Relationship Id="rId23" Type="http://schemas.openxmlformats.org/officeDocument/2006/relationships/image" Target="../media/image293.emf"/><Relationship Id="rId28" Type="http://schemas.openxmlformats.org/officeDocument/2006/relationships/oleObject" Target="../embeddings/oleObject292.bin"/><Relationship Id="rId10" Type="http://schemas.openxmlformats.org/officeDocument/2006/relationships/image" Target="../media/image287.emf"/><Relationship Id="rId19" Type="http://schemas.openxmlformats.org/officeDocument/2006/relationships/image" Target="../media/image291.emf"/><Relationship Id="rId31" Type="http://schemas.openxmlformats.org/officeDocument/2006/relationships/image" Target="../media/image297.emf"/><Relationship Id="rId4" Type="http://schemas.openxmlformats.org/officeDocument/2006/relationships/image" Target="../media/image284.emf"/><Relationship Id="rId9" Type="http://schemas.openxmlformats.org/officeDocument/2006/relationships/oleObject" Target="../embeddings/oleObject283.bin"/><Relationship Id="rId14" Type="http://schemas.openxmlformats.org/officeDocument/2006/relationships/image" Target="../media/image289.emf"/><Relationship Id="rId22" Type="http://schemas.openxmlformats.org/officeDocument/2006/relationships/oleObject" Target="../embeddings/oleObject289.bin"/><Relationship Id="rId27" Type="http://schemas.openxmlformats.org/officeDocument/2006/relationships/image" Target="../media/image295.wmf"/><Relationship Id="rId30" Type="http://schemas.openxmlformats.org/officeDocument/2006/relationships/oleObject" Target="../embeddings/oleObject293.bin"/></Relationships>
</file>

<file path=ppt/slides/_rels/slide6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00.bin"/><Relationship Id="rId18" Type="http://schemas.openxmlformats.org/officeDocument/2006/relationships/image" Target="../media/image307.emf"/><Relationship Id="rId26" Type="http://schemas.openxmlformats.org/officeDocument/2006/relationships/image" Target="../media/image311.emf"/><Relationship Id="rId39" Type="http://schemas.openxmlformats.org/officeDocument/2006/relationships/oleObject" Target="../embeddings/oleObject311.bin"/><Relationship Id="rId21" Type="http://schemas.openxmlformats.org/officeDocument/2006/relationships/oleObject" Target="../embeddings/oleObject304.bin"/><Relationship Id="rId34" Type="http://schemas.openxmlformats.org/officeDocument/2006/relationships/image" Target="../media/image335.png"/><Relationship Id="rId42" Type="http://schemas.openxmlformats.org/officeDocument/2006/relationships/oleObject" Target="../embeddings/oleObject312.bin"/><Relationship Id="rId47" Type="http://schemas.openxmlformats.org/officeDocument/2006/relationships/image" Target="../media/image319.emf"/><Relationship Id="rId50" Type="http://schemas.openxmlformats.org/officeDocument/2006/relationships/image" Target="../media/image320.emf"/><Relationship Id="rId55" Type="http://schemas.openxmlformats.org/officeDocument/2006/relationships/image" Target="../media/image338.png"/><Relationship Id="rId63" Type="http://schemas.openxmlformats.org/officeDocument/2006/relationships/oleObject" Target="../embeddings/oleObject321.bin"/><Relationship Id="rId68" Type="http://schemas.openxmlformats.org/officeDocument/2006/relationships/image" Target="../media/image328.emf"/><Relationship Id="rId7" Type="http://schemas.openxmlformats.org/officeDocument/2006/relationships/oleObject" Target="../embeddings/oleObject297.bin"/><Relationship Id="rId71" Type="http://schemas.openxmlformats.org/officeDocument/2006/relationships/oleObject" Target="../embeddings/oleObject3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6.emf"/><Relationship Id="rId29" Type="http://schemas.openxmlformats.org/officeDocument/2006/relationships/image" Target="../media/image332.png"/><Relationship Id="rId11" Type="http://schemas.openxmlformats.org/officeDocument/2006/relationships/oleObject" Target="../embeddings/oleObject299.bin"/><Relationship Id="rId24" Type="http://schemas.openxmlformats.org/officeDocument/2006/relationships/image" Target="../media/image310.emf"/><Relationship Id="rId32" Type="http://schemas.openxmlformats.org/officeDocument/2006/relationships/oleObject" Target="../embeddings/oleObject308.bin"/><Relationship Id="rId37" Type="http://schemas.openxmlformats.org/officeDocument/2006/relationships/oleObject" Target="../embeddings/oleObject310.bin"/><Relationship Id="rId40" Type="http://schemas.openxmlformats.org/officeDocument/2006/relationships/image" Target="../media/image316.emf"/><Relationship Id="rId45" Type="http://schemas.openxmlformats.org/officeDocument/2006/relationships/image" Target="../media/image318.emf"/><Relationship Id="rId53" Type="http://schemas.openxmlformats.org/officeDocument/2006/relationships/oleObject" Target="../embeddings/oleObject317.bin"/><Relationship Id="rId58" Type="http://schemas.openxmlformats.org/officeDocument/2006/relationships/image" Target="../media/image323.emf"/><Relationship Id="rId66" Type="http://schemas.openxmlformats.org/officeDocument/2006/relationships/image" Target="../media/image327.emf"/><Relationship Id="rId74" Type="http://schemas.openxmlformats.org/officeDocument/2006/relationships/image" Target="../media/image331.emf"/><Relationship Id="rId5" Type="http://schemas.openxmlformats.org/officeDocument/2006/relationships/oleObject" Target="../embeddings/oleObject296.bin"/><Relationship Id="rId15" Type="http://schemas.openxmlformats.org/officeDocument/2006/relationships/oleObject" Target="../embeddings/oleObject301.bin"/><Relationship Id="rId23" Type="http://schemas.openxmlformats.org/officeDocument/2006/relationships/oleObject" Target="../embeddings/oleObject305.bin"/><Relationship Id="rId28" Type="http://schemas.openxmlformats.org/officeDocument/2006/relationships/image" Target="../media/image312.emf"/><Relationship Id="rId36" Type="http://schemas.openxmlformats.org/officeDocument/2006/relationships/image" Target="../media/image314.emf"/><Relationship Id="rId49" Type="http://schemas.openxmlformats.org/officeDocument/2006/relationships/oleObject" Target="../embeddings/oleObject315.bin"/><Relationship Id="rId57" Type="http://schemas.openxmlformats.org/officeDocument/2006/relationships/oleObject" Target="../embeddings/oleObject318.bin"/><Relationship Id="rId61" Type="http://schemas.openxmlformats.org/officeDocument/2006/relationships/oleObject" Target="../embeddings/oleObject320.bin"/><Relationship Id="rId10" Type="http://schemas.openxmlformats.org/officeDocument/2006/relationships/image" Target="../media/image303.emf"/><Relationship Id="rId19" Type="http://schemas.openxmlformats.org/officeDocument/2006/relationships/oleObject" Target="../embeddings/oleObject303.bin"/><Relationship Id="rId31" Type="http://schemas.openxmlformats.org/officeDocument/2006/relationships/image" Target="../media/image334.png"/><Relationship Id="rId44" Type="http://schemas.openxmlformats.org/officeDocument/2006/relationships/oleObject" Target="../embeddings/oleObject313.bin"/><Relationship Id="rId52" Type="http://schemas.openxmlformats.org/officeDocument/2006/relationships/image" Target="../media/image321.emf"/><Relationship Id="rId60" Type="http://schemas.openxmlformats.org/officeDocument/2006/relationships/image" Target="../media/image324.emf"/><Relationship Id="rId65" Type="http://schemas.openxmlformats.org/officeDocument/2006/relationships/oleObject" Target="../embeddings/oleObject322.bin"/><Relationship Id="rId73" Type="http://schemas.openxmlformats.org/officeDocument/2006/relationships/oleObject" Target="../embeddings/oleObject326.bin"/><Relationship Id="rId4" Type="http://schemas.openxmlformats.org/officeDocument/2006/relationships/image" Target="../media/image300.e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305.emf"/><Relationship Id="rId22" Type="http://schemas.openxmlformats.org/officeDocument/2006/relationships/image" Target="../media/image309.emf"/><Relationship Id="rId27" Type="http://schemas.openxmlformats.org/officeDocument/2006/relationships/oleObject" Target="../embeddings/oleObject307.bin"/><Relationship Id="rId30" Type="http://schemas.openxmlformats.org/officeDocument/2006/relationships/image" Target="../media/image333.png"/><Relationship Id="rId35" Type="http://schemas.openxmlformats.org/officeDocument/2006/relationships/oleObject" Target="../embeddings/oleObject309.bin"/><Relationship Id="rId43" Type="http://schemas.openxmlformats.org/officeDocument/2006/relationships/image" Target="../media/image317.emf"/><Relationship Id="rId48" Type="http://schemas.openxmlformats.org/officeDocument/2006/relationships/image" Target="../media/image337.png"/><Relationship Id="rId56" Type="http://schemas.openxmlformats.org/officeDocument/2006/relationships/image" Target="../media/image339.png"/><Relationship Id="rId64" Type="http://schemas.openxmlformats.org/officeDocument/2006/relationships/image" Target="../media/image326.emf"/><Relationship Id="rId69" Type="http://schemas.openxmlformats.org/officeDocument/2006/relationships/oleObject" Target="../embeddings/oleObject324.bin"/><Relationship Id="rId8" Type="http://schemas.openxmlformats.org/officeDocument/2006/relationships/image" Target="../media/image302.emf"/><Relationship Id="rId51" Type="http://schemas.openxmlformats.org/officeDocument/2006/relationships/oleObject" Target="../embeddings/oleObject316.bin"/><Relationship Id="rId72" Type="http://schemas.openxmlformats.org/officeDocument/2006/relationships/image" Target="../media/image330.emf"/><Relationship Id="rId3" Type="http://schemas.openxmlformats.org/officeDocument/2006/relationships/oleObject" Target="../embeddings/oleObject295.bin"/><Relationship Id="rId12" Type="http://schemas.openxmlformats.org/officeDocument/2006/relationships/image" Target="../media/image304.emf"/><Relationship Id="rId17" Type="http://schemas.openxmlformats.org/officeDocument/2006/relationships/oleObject" Target="../embeddings/oleObject302.bin"/><Relationship Id="rId25" Type="http://schemas.openxmlformats.org/officeDocument/2006/relationships/oleObject" Target="../embeddings/oleObject306.bin"/><Relationship Id="rId33" Type="http://schemas.openxmlformats.org/officeDocument/2006/relationships/image" Target="../media/image313.emf"/><Relationship Id="rId38" Type="http://schemas.openxmlformats.org/officeDocument/2006/relationships/image" Target="../media/image315.emf"/><Relationship Id="rId46" Type="http://schemas.openxmlformats.org/officeDocument/2006/relationships/oleObject" Target="../embeddings/oleObject314.bin"/><Relationship Id="rId59" Type="http://schemas.openxmlformats.org/officeDocument/2006/relationships/oleObject" Target="../embeddings/oleObject319.bin"/><Relationship Id="rId67" Type="http://schemas.openxmlformats.org/officeDocument/2006/relationships/oleObject" Target="../embeddings/oleObject323.bin"/><Relationship Id="rId20" Type="http://schemas.openxmlformats.org/officeDocument/2006/relationships/image" Target="../media/image308.emf"/><Relationship Id="rId41" Type="http://schemas.openxmlformats.org/officeDocument/2006/relationships/image" Target="../media/image336.png"/><Relationship Id="rId54" Type="http://schemas.openxmlformats.org/officeDocument/2006/relationships/image" Target="../media/image322.emf"/><Relationship Id="rId62" Type="http://schemas.openxmlformats.org/officeDocument/2006/relationships/image" Target="../media/image325.emf"/><Relationship Id="rId70" Type="http://schemas.openxmlformats.org/officeDocument/2006/relationships/image" Target="../media/image329.emf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01.emf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2.bin"/><Relationship Id="rId18" Type="http://schemas.openxmlformats.org/officeDocument/2006/relationships/image" Target="../media/image347.emf"/><Relationship Id="rId26" Type="http://schemas.openxmlformats.org/officeDocument/2006/relationships/image" Target="../media/image351.emf"/><Relationship Id="rId39" Type="http://schemas.openxmlformats.org/officeDocument/2006/relationships/image" Target="../media/image356.emf"/><Relationship Id="rId3" Type="http://schemas.openxmlformats.org/officeDocument/2006/relationships/oleObject" Target="../embeddings/oleObject327.bin"/><Relationship Id="rId21" Type="http://schemas.openxmlformats.org/officeDocument/2006/relationships/oleObject" Target="../embeddings/oleObject336.bin"/><Relationship Id="rId34" Type="http://schemas.openxmlformats.org/officeDocument/2006/relationships/oleObject" Target="../embeddings/oleObject341.bin"/><Relationship Id="rId42" Type="http://schemas.openxmlformats.org/officeDocument/2006/relationships/oleObject" Target="../embeddings/oleObject345.bin"/><Relationship Id="rId47" Type="http://schemas.openxmlformats.org/officeDocument/2006/relationships/image" Target="../media/image360.emf"/><Relationship Id="rId7" Type="http://schemas.openxmlformats.org/officeDocument/2006/relationships/oleObject" Target="../embeddings/oleObject329.bin"/><Relationship Id="rId12" Type="http://schemas.openxmlformats.org/officeDocument/2006/relationships/image" Target="../media/image344.emf"/><Relationship Id="rId17" Type="http://schemas.openxmlformats.org/officeDocument/2006/relationships/oleObject" Target="../embeddings/oleObject334.bin"/><Relationship Id="rId25" Type="http://schemas.openxmlformats.org/officeDocument/2006/relationships/oleObject" Target="../embeddings/oleObject338.bin"/><Relationship Id="rId33" Type="http://schemas.openxmlformats.org/officeDocument/2006/relationships/image" Target="../media/image353.emf"/><Relationship Id="rId38" Type="http://schemas.openxmlformats.org/officeDocument/2006/relationships/oleObject" Target="../embeddings/oleObject343.bin"/><Relationship Id="rId46" Type="http://schemas.openxmlformats.org/officeDocument/2006/relationships/oleObject" Target="../embeddings/oleObject3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6.emf"/><Relationship Id="rId20" Type="http://schemas.openxmlformats.org/officeDocument/2006/relationships/image" Target="../media/image348.emf"/><Relationship Id="rId29" Type="http://schemas.openxmlformats.org/officeDocument/2006/relationships/image" Target="../media/image332.png"/><Relationship Id="rId41" Type="http://schemas.openxmlformats.org/officeDocument/2006/relationships/image" Target="../media/image357.e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41.emf"/><Relationship Id="rId11" Type="http://schemas.openxmlformats.org/officeDocument/2006/relationships/oleObject" Target="../embeddings/oleObject331.bin"/><Relationship Id="rId24" Type="http://schemas.openxmlformats.org/officeDocument/2006/relationships/image" Target="../media/image350.emf"/><Relationship Id="rId32" Type="http://schemas.openxmlformats.org/officeDocument/2006/relationships/oleObject" Target="../embeddings/oleObject340.bin"/><Relationship Id="rId37" Type="http://schemas.openxmlformats.org/officeDocument/2006/relationships/image" Target="../media/image355.emf"/><Relationship Id="rId40" Type="http://schemas.openxmlformats.org/officeDocument/2006/relationships/oleObject" Target="../embeddings/oleObject344.bin"/><Relationship Id="rId45" Type="http://schemas.openxmlformats.org/officeDocument/2006/relationships/image" Target="../media/image359.emf"/><Relationship Id="rId5" Type="http://schemas.openxmlformats.org/officeDocument/2006/relationships/oleObject" Target="../embeddings/oleObject328.bin"/><Relationship Id="rId15" Type="http://schemas.openxmlformats.org/officeDocument/2006/relationships/oleObject" Target="../embeddings/oleObject333.bin"/><Relationship Id="rId23" Type="http://schemas.openxmlformats.org/officeDocument/2006/relationships/oleObject" Target="../embeddings/oleObject337.bin"/><Relationship Id="rId28" Type="http://schemas.openxmlformats.org/officeDocument/2006/relationships/image" Target="../media/image352.emf"/><Relationship Id="rId36" Type="http://schemas.openxmlformats.org/officeDocument/2006/relationships/oleObject" Target="../embeddings/oleObject342.bin"/><Relationship Id="rId49" Type="http://schemas.openxmlformats.org/officeDocument/2006/relationships/image" Target="../media/image361.emf"/><Relationship Id="rId10" Type="http://schemas.openxmlformats.org/officeDocument/2006/relationships/image" Target="../media/image343.emf"/><Relationship Id="rId19" Type="http://schemas.openxmlformats.org/officeDocument/2006/relationships/oleObject" Target="../embeddings/oleObject335.bin"/><Relationship Id="rId31" Type="http://schemas.openxmlformats.org/officeDocument/2006/relationships/image" Target="../media/image334.png"/><Relationship Id="rId44" Type="http://schemas.openxmlformats.org/officeDocument/2006/relationships/oleObject" Target="../embeddings/oleObject346.bin"/><Relationship Id="rId4" Type="http://schemas.openxmlformats.org/officeDocument/2006/relationships/image" Target="../media/image340.emf"/><Relationship Id="rId9" Type="http://schemas.openxmlformats.org/officeDocument/2006/relationships/oleObject" Target="../embeddings/oleObject330.bin"/><Relationship Id="rId14" Type="http://schemas.openxmlformats.org/officeDocument/2006/relationships/image" Target="../media/image345.emf"/><Relationship Id="rId22" Type="http://schemas.openxmlformats.org/officeDocument/2006/relationships/image" Target="../media/image349.emf"/><Relationship Id="rId27" Type="http://schemas.openxmlformats.org/officeDocument/2006/relationships/oleObject" Target="../embeddings/oleObject339.bin"/><Relationship Id="rId30" Type="http://schemas.openxmlformats.org/officeDocument/2006/relationships/image" Target="../media/image333.png"/><Relationship Id="rId35" Type="http://schemas.openxmlformats.org/officeDocument/2006/relationships/image" Target="../media/image354.emf"/><Relationship Id="rId43" Type="http://schemas.openxmlformats.org/officeDocument/2006/relationships/image" Target="../media/image358.emf"/><Relationship Id="rId48" Type="http://schemas.openxmlformats.org/officeDocument/2006/relationships/oleObject" Target="../embeddings/oleObject348.bin"/><Relationship Id="rId8" Type="http://schemas.openxmlformats.org/officeDocument/2006/relationships/image" Target="../media/image342.e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4.emf"/><Relationship Id="rId13" Type="http://schemas.openxmlformats.org/officeDocument/2006/relationships/oleObject" Target="../embeddings/oleObject354.bin"/><Relationship Id="rId18" Type="http://schemas.openxmlformats.org/officeDocument/2006/relationships/image" Target="../media/image369.emf"/><Relationship Id="rId3" Type="http://schemas.openxmlformats.org/officeDocument/2006/relationships/oleObject" Target="../embeddings/oleObject349.bin"/><Relationship Id="rId21" Type="http://schemas.openxmlformats.org/officeDocument/2006/relationships/oleObject" Target="../embeddings/oleObject358.bin"/><Relationship Id="rId7" Type="http://schemas.openxmlformats.org/officeDocument/2006/relationships/oleObject" Target="../embeddings/oleObject351.bin"/><Relationship Id="rId12" Type="http://schemas.openxmlformats.org/officeDocument/2006/relationships/image" Target="../media/image366.emf"/><Relationship Id="rId17" Type="http://schemas.openxmlformats.org/officeDocument/2006/relationships/oleObject" Target="../embeddings/oleObject3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8.emf"/><Relationship Id="rId20" Type="http://schemas.openxmlformats.org/officeDocument/2006/relationships/image" Target="../media/image370.e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63.wmf"/><Relationship Id="rId11" Type="http://schemas.openxmlformats.org/officeDocument/2006/relationships/oleObject" Target="../embeddings/oleObject353.bin"/><Relationship Id="rId24" Type="http://schemas.openxmlformats.org/officeDocument/2006/relationships/image" Target="../media/image372.emf"/><Relationship Id="rId5" Type="http://schemas.openxmlformats.org/officeDocument/2006/relationships/oleObject" Target="../embeddings/oleObject350.bin"/><Relationship Id="rId15" Type="http://schemas.openxmlformats.org/officeDocument/2006/relationships/oleObject" Target="../embeddings/oleObject355.bin"/><Relationship Id="rId23" Type="http://schemas.openxmlformats.org/officeDocument/2006/relationships/oleObject" Target="../embeddings/oleObject359.bin"/><Relationship Id="rId10" Type="http://schemas.openxmlformats.org/officeDocument/2006/relationships/image" Target="../media/image365.emf"/><Relationship Id="rId19" Type="http://schemas.openxmlformats.org/officeDocument/2006/relationships/oleObject" Target="../embeddings/oleObject357.bin"/><Relationship Id="rId4" Type="http://schemas.openxmlformats.org/officeDocument/2006/relationships/image" Target="../media/image362.emf"/><Relationship Id="rId9" Type="http://schemas.openxmlformats.org/officeDocument/2006/relationships/oleObject" Target="../embeddings/oleObject352.bin"/><Relationship Id="rId14" Type="http://schemas.openxmlformats.org/officeDocument/2006/relationships/image" Target="../media/image367.emf"/><Relationship Id="rId22" Type="http://schemas.openxmlformats.org/officeDocument/2006/relationships/image" Target="../media/image371.e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13" Type="http://schemas.openxmlformats.org/officeDocument/2006/relationships/oleObject" Target="../embeddings/oleObject365.bin"/><Relationship Id="rId18" Type="http://schemas.openxmlformats.org/officeDocument/2006/relationships/image" Target="../media/image378.emf"/><Relationship Id="rId3" Type="http://schemas.openxmlformats.org/officeDocument/2006/relationships/oleObject" Target="../embeddings/oleObject360.bin"/><Relationship Id="rId21" Type="http://schemas.openxmlformats.org/officeDocument/2006/relationships/oleObject" Target="../embeddings/oleObject369.bin"/><Relationship Id="rId7" Type="http://schemas.openxmlformats.org/officeDocument/2006/relationships/oleObject" Target="../embeddings/oleObject362.bin"/><Relationship Id="rId12" Type="http://schemas.openxmlformats.org/officeDocument/2006/relationships/image" Target="../media/image376.emf"/><Relationship Id="rId17" Type="http://schemas.openxmlformats.org/officeDocument/2006/relationships/oleObject" Target="../embeddings/oleObject3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5.wmf"/><Relationship Id="rId20" Type="http://schemas.openxmlformats.org/officeDocument/2006/relationships/image" Target="../media/image379.e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74.emf"/><Relationship Id="rId11" Type="http://schemas.openxmlformats.org/officeDocument/2006/relationships/oleObject" Target="../embeddings/oleObject364.bin"/><Relationship Id="rId5" Type="http://schemas.openxmlformats.org/officeDocument/2006/relationships/oleObject" Target="../embeddings/oleObject361.bin"/><Relationship Id="rId15" Type="http://schemas.openxmlformats.org/officeDocument/2006/relationships/oleObject" Target="../embeddings/oleObject366.bin"/><Relationship Id="rId23" Type="http://schemas.openxmlformats.org/officeDocument/2006/relationships/oleObject" Target="../embeddings/oleObject370.bin"/><Relationship Id="rId10" Type="http://schemas.openxmlformats.org/officeDocument/2006/relationships/image" Target="../media/image375.emf"/><Relationship Id="rId19" Type="http://schemas.openxmlformats.org/officeDocument/2006/relationships/oleObject" Target="../embeddings/oleObject368.bin"/><Relationship Id="rId4" Type="http://schemas.openxmlformats.org/officeDocument/2006/relationships/image" Target="../media/image373.emf"/><Relationship Id="rId9" Type="http://schemas.openxmlformats.org/officeDocument/2006/relationships/oleObject" Target="../embeddings/oleObject363.bin"/><Relationship Id="rId14" Type="http://schemas.openxmlformats.org/officeDocument/2006/relationships/image" Target="../media/image377.emf"/><Relationship Id="rId22" Type="http://schemas.openxmlformats.org/officeDocument/2006/relationships/image" Target="../media/image380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3.bin"/><Relationship Id="rId13" Type="http://schemas.openxmlformats.org/officeDocument/2006/relationships/image" Target="../media/image385.emf"/><Relationship Id="rId18" Type="http://schemas.openxmlformats.org/officeDocument/2006/relationships/oleObject" Target="../embeddings/oleObject378.bin"/><Relationship Id="rId3" Type="http://schemas.openxmlformats.org/officeDocument/2006/relationships/image" Target="../media/image392.png"/><Relationship Id="rId21" Type="http://schemas.openxmlformats.org/officeDocument/2006/relationships/image" Target="../media/image389.emf"/><Relationship Id="rId7" Type="http://schemas.openxmlformats.org/officeDocument/2006/relationships/image" Target="../media/image382.emf"/><Relationship Id="rId12" Type="http://schemas.openxmlformats.org/officeDocument/2006/relationships/oleObject" Target="../embeddings/oleObject375.bin"/><Relationship Id="rId17" Type="http://schemas.openxmlformats.org/officeDocument/2006/relationships/image" Target="../media/image387.emf"/><Relationship Id="rId25" Type="http://schemas.openxmlformats.org/officeDocument/2006/relationships/image" Target="../media/image391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7.bin"/><Relationship Id="rId20" Type="http://schemas.openxmlformats.org/officeDocument/2006/relationships/oleObject" Target="../embeddings/oleObject379.bin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372.bin"/><Relationship Id="rId11" Type="http://schemas.openxmlformats.org/officeDocument/2006/relationships/image" Target="../media/image384.emf"/><Relationship Id="rId24" Type="http://schemas.openxmlformats.org/officeDocument/2006/relationships/oleObject" Target="../embeddings/oleObject381.bin"/><Relationship Id="rId5" Type="http://schemas.openxmlformats.org/officeDocument/2006/relationships/image" Target="../media/image381.emf"/><Relationship Id="rId15" Type="http://schemas.openxmlformats.org/officeDocument/2006/relationships/image" Target="../media/image386.emf"/><Relationship Id="rId23" Type="http://schemas.openxmlformats.org/officeDocument/2006/relationships/image" Target="../media/image390.emf"/><Relationship Id="rId10" Type="http://schemas.openxmlformats.org/officeDocument/2006/relationships/oleObject" Target="../embeddings/oleObject374.bin"/><Relationship Id="rId19" Type="http://schemas.openxmlformats.org/officeDocument/2006/relationships/image" Target="../media/image388.emf"/><Relationship Id="rId4" Type="http://schemas.openxmlformats.org/officeDocument/2006/relationships/oleObject" Target="../embeddings/oleObject371.bin"/><Relationship Id="rId9" Type="http://schemas.openxmlformats.org/officeDocument/2006/relationships/image" Target="../media/image383.emf"/><Relationship Id="rId14" Type="http://schemas.openxmlformats.org/officeDocument/2006/relationships/oleObject" Target="../embeddings/oleObject376.bin"/><Relationship Id="rId22" Type="http://schemas.openxmlformats.org/officeDocument/2006/relationships/oleObject" Target="../embeddings/oleObject380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2.bin"/><Relationship Id="rId13" Type="http://schemas.openxmlformats.org/officeDocument/2006/relationships/image" Target="../media/image395.emf"/><Relationship Id="rId3" Type="http://schemas.openxmlformats.org/officeDocument/2006/relationships/tags" Target="../tags/tag12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384.bin"/><Relationship Id="rId17" Type="http://schemas.openxmlformats.org/officeDocument/2006/relationships/image" Target="../media/image397.emf"/><Relationship Id="rId2" Type="http://schemas.openxmlformats.org/officeDocument/2006/relationships/tags" Target="../tags/tag11.xml"/><Relationship Id="rId16" Type="http://schemas.openxmlformats.org/officeDocument/2006/relationships/oleObject" Target="../embeddings/oleObject386.bin"/><Relationship Id="rId1" Type="http://schemas.openxmlformats.org/officeDocument/2006/relationships/vmlDrawing" Target="../drawings/vmlDrawing49.vml"/><Relationship Id="rId6" Type="http://schemas.openxmlformats.org/officeDocument/2006/relationships/tags" Target="../tags/tag15.xml"/><Relationship Id="rId11" Type="http://schemas.openxmlformats.org/officeDocument/2006/relationships/image" Target="../media/image394.emf"/><Relationship Id="rId5" Type="http://schemas.openxmlformats.org/officeDocument/2006/relationships/tags" Target="../tags/tag14.xml"/><Relationship Id="rId15" Type="http://schemas.openxmlformats.org/officeDocument/2006/relationships/image" Target="../media/image396.emf"/><Relationship Id="rId10" Type="http://schemas.openxmlformats.org/officeDocument/2006/relationships/oleObject" Target="../embeddings/oleObject383.bin"/><Relationship Id="rId4" Type="http://schemas.openxmlformats.org/officeDocument/2006/relationships/tags" Target="../tags/tag13.xml"/><Relationship Id="rId9" Type="http://schemas.openxmlformats.org/officeDocument/2006/relationships/image" Target="../media/image393.emf"/><Relationship Id="rId14" Type="http://schemas.openxmlformats.org/officeDocument/2006/relationships/oleObject" Target="../embeddings/oleObject385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emf"/><Relationship Id="rId13" Type="http://schemas.openxmlformats.org/officeDocument/2006/relationships/image" Target="../media/image402.emf"/><Relationship Id="rId18" Type="http://schemas.openxmlformats.org/officeDocument/2006/relationships/oleObject" Target="../embeddings/oleObject394.bin"/><Relationship Id="rId3" Type="http://schemas.openxmlformats.org/officeDocument/2006/relationships/oleObject" Target="../embeddings/oleObject387.bin"/><Relationship Id="rId7" Type="http://schemas.openxmlformats.org/officeDocument/2006/relationships/oleObject" Target="../embeddings/oleObject389.bin"/><Relationship Id="rId12" Type="http://schemas.openxmlformats.org/officeDocument/2006/relationships/oleObject" Target="../embeddings/oleObject391.bin"/><Relationship Id="rId17" Type="http://schemas.openxmlformats.org/officeDocument/2006/relationships/image" Target="../media/image40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93.bin"/><Relationship Id="rId1" Type="http://schemas.openxmlformats.org/officeDocument/2006/relationships/vmlDrawing" Target="../drawings/vmlDrawing50.vml"/><Relationship Id="rId6" Type="http://schemas.openxmlformats.org/officeDocument/2006/relationships/image" Target="../media/image399.emf"/><Relationship Id="rId11" Type="http://schemas.openxmlformats.org/officeDocument/2006/relationships/image" Target="../media/image401.emf"/><Relationship Id="rId5" Type="http://schemas.openxmlformats.org/officeDocument/2006/relationships/oleObject" Target="../embeddings/oleObject388.bin"/><Relationship Id="rId15" Type="http://schemas.openxmlformats.org/officeDocument/2006/relationships/image" Target="../media/image403.emf"/><Relationship Id="rId10" Type="http://schemas.openxmlformats.org/officeDocument/2006/relationships/oleObject" Target="../embeddings/oleObject390.bin"/><Relationship Id="rId19" Type="http://schemas.openxmlformats.org/officeDocument/2006/relationships/image" Target="../media/image405.emf"/><Relationship Id="rId4" Type="http://schemas.openxmlformats.org/officeDocument/2006/relationships/image" Target="../media/image398.emf"/><Relationship Id="rId9" Type="http://schemas.openxmlformats.org/officeDocument/2006/relationships/image" Target="../media/image392.png"/><Relationship Id="rId14" Type="http://schemas.openxmlformats.org/officeDocument/2006/relationships/oleObject" Target="../embeddings/oleObject392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13" Type="http://schemas.openxmlformats.org/officeDocument/2006/relationships/oleObject" Target="../embeddings/oleObject396.bin"/><Relationship Id="rId18" Type="http://schemas.openxmlformats.org/officeDocument/2006/relationships/image" Target="../media/image409.emf"/><Relationship Id="rId26" Type="http://schemas.openxmlformats.org/officeDocument/2006/relationships/image" Target="../media/image413.emf"/><Relationship Id="rId3" Type="http://schemas.openxmlformats.org/officeDocument/2006/relationships/tags" Target="../tags/tag17.xml"/><Relationship Id="rId21" Type="http://schemas.openxmlformats.org/officeDocument/2006/relationships/oleObject" Target="../embeddings/oleObject400.bin"/><Relationship Id="rId7" Type="http://schemas.openxmlformats.org/officeDocument/2006/relationships/tags" Target="../tags/tag21.xml"/><Relationship Id="rId12" Type="http://schemas.openxmlformats.org/officeDocument/2006/relationships/image" Target="../media/image406.emf"/><Relationship Id="rId17" Type="http://schemas.openxmlformats.org/officeDocument/2006/relationships/oleObject" Target="../embeddings/oleObject398.bin"/><Relationship Id="rId25" Type="http://schemas.openxmlformats.org/officeDocument/2006/relationships/oleObject" Target="../embeddings/oleObject402.bin"/><Relationship Id="rId2" Type="http://schemas.openxmlformats.org/officeDocument/2006/relationships/tags" Target="../tags/tag16.xml"/><Relationship Id="rId16" Type="http://schemas.openxmlformats.org/officeDocument/2006/relationships/image" Target="../media/image408.emf"/><Relationship Id="rId20" Type="http://schemas.openxmlformats.org/officeDocument/2006/relationships/image" Target="../media/image410.emf"/><Relationship Id="rId29" Type="http://schemas.openxmlformats.org/officeDocument/2006/relationships/oleObject" Target="../embeddings/oleObject404.bin"/><Relationship Id="rId1" Type="http://schemas.openxmlformats.org/officeDocument/2006/relationships/vmlDrawing" Target="../drawings/vmlDrawing51.vml"/><Relationship Id="rId6" Type="http://schemas.openxmlformats.org/officeDocument/2006/relationships/tags" Target="../tags/tag20.xml"/><Relationship Id="rId11" Type="http://schemas.openxmlformats.org/officeDocument/2006/relationships/oleObject" Target="../embeddings/oleObject395.bin"/><Relationship Id="rId24" Type="http://schemas.openxmlformats.org/officeDocument/2006/relationships/image" Target="../media/image412.emf"/><Relationship Id="rId5" Type="http://schemas.openxmlformats.org/officeDocument/2006/relationships/tags" Target="../tags/tag19.xml"/><Relationship Id="rId15" Type="http://schemas.openxmlformats.org/officeDocument/2006/relationships/oleObject" Target="../embeddings/oleObject397.bin"/><Relationship Id="rId23" Type="http://schemas.openxmlformats.org/officeDocument/2006/relationships/oleObject" Target="../embeddings/oleObject401.bin"/><Relationship Id="rId28" Type="http://schemas.openxmlformats.org/officeDocument/2006/relationships/image" Target="../media/image414.emf"/><Relationship Id="rId10" Type="http://schemas.openxmlformats.org/officeDocument/2006/relationships/image" Target="../media/image416.png"/><Relationship Id="rId19" Type="http://schemas.openxmlformats.org/officeDocument/2006/relationships/oleObject" Target="../embeddings/oleObject399.bin"/><Relationship Id="rId4" Type="http://schemas.openxmlformats.org/officeDocument/2006/relationships/tags" Target="../tags/tag18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407.emf"/><Relationship Id="rId22" Type="http://schemas.openxmlformats.org/officeDocument/2006/relationships/image" Target="../media/image411.emf"/><Relationship Id="rId27" Type="http://schemas.openxmlformats.org/officeDocument/2006/relationships/oleObject" Target="../embeddings/oleObject403.bin"/><Relationship Id="rId30" Type="http://schemas.openxmlformats.org/officeDocument/2006/relationships/image" Target="../media/image415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7.bin"/><Relationship Id="rId13" Type="http://schemas.openxmlformats.org/officeDocument/2006/relationships/image" Target="../media/image421.emf"/><Relationship Id="rId3" Type="http://schemas.openxmlformats.org/officeDocument/2006/relationships/image" Target="../media/image299.jpeg"/><Relationship Id="rId7" Type="http://schemas.openxmlformats.org/officeDocument/2006/relationships/image" Target="../media/image418.emf"/><Relationship Id="rId12" Type="http://schemas.openxmlformats.org/officeDocument/2006/relationships/oleObject" Target="../embeddings/oleObject4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oleObject" Target="../embeddings/oleObject406.bin"/><Relationship Id="rId11" Type="http://schemas.openxmlformats.org/officeDocument/2006/relationships/image" Target="../media/image420.emf"/><Relationship Id="rId5" Type="http://schemas.openxmlformats.org/officeDocument/2006/relationships/image" Target="../media/image417.emf"/><Relationship Id="rId15" Type="http://schemas.openxmlformats.org/officeDocument/2006/relationships/image" Target="../media/image422.emf"/><Relationship Id="rId10" Type="http://schemas.openxmlformats.org/officeDocument/2006/relationships/oleObject" Target="../embeddings/oleObject408.bin"/><Relationship Id="rId4" Type="http://schemas.openxmlformats.org/officeDocument/2006/relationships/oleObject" Target="../embeddings/oleObject405.bin"/><Relationship Id="rId9" Type="http://schemas.openxmlformats.org/officeDocument/2006/relationships/image" Target="../media/image419.emf"/><Relationship Id="rId14" Type="http://schemas.openxmlformats.org/officeDocument/2006/relationships/oleObject" Target="../embeddings/oleObject410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3.bin"/><Relationship Id="rId13" Type="http://schemas.openxmlformats.org/officeDocument/2006/relationships/oleObject" Target="../embeddings/oleObject415.bin"/><Relationship Id="rId3" Type="http://schemas.openxmlformats.org/officeDocument/2006/relationships/image" Target="../media/image299.jpeg"/><Relationship Id="rId7" Type="http://schemas.openxmlformats.org/officeDocument/2006/relationships/image" Target="../media/image424.emf"/><Relationship Id="rId12" Type="http://schemas.openxmlformats.org/officeDocument/2006/relationships/image" Target="../media/image42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8.emf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412.bin"/><Relationship Id="rId11" Type="http://schemas.openxmlformats.org/officeDocument/2006/relationships/oleObject" Target="../embeddings/oleObject414.bin"/><Relationship Id="rId5" Type="http://schemas.openxmlformats.org/officeDocument/2006/relationships/image" Target="../media/image423.emf"/><Relationship Id="rId15" Type="http://schemas.openxmlformats.org/officeDocument/2006/relationships/oleObject" Target="../embeddings/oleObject416.bin"/><Relationship Id="rId10" Type="http://schemas.openxmlformats.org/officeDocument/2006/relationships/image" Target="../media/image429.png"/><Relationship Id="rId4" Type="http://schemas.openxmlformats.org/officeDocument/2006/relationships/oleObject" Target="../embeddings/oleObject411.bin"/><Relationship Id="rId9" Type="http://schemas.openxmlformats.org/officeDocument/2006/relationships/image" Target="../media/image425.emf"/><Relationship Id="rId14" Type="http://schemas.openxmlformats.org/officeDocument/2006/relationships/image" Target="../media/image427.e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2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6.emf"/><Relationship Id="rId13" Type="http://schemas.openxmlformats.org/officeDocument/2006/relationships/oleObject" Target="../embeddings/oleObject422.bin"/><Relationship Id="rId18" Type="http://schemas.openxmlformats.org/officeDocument/2006/relationships/oleObject" Target="../embeddings/oleObject424.bin"/><Relationship Id="rId3" Type="http://schemas.openxmlformats.org/officeDocument/2006/relationships/oleObject" Target="../embeddings/oleObject417.bin"/><Relationship Id="rId7" Type="http://schemas.openxmlformats.org/officeDocument/2006/relationships/oleObject" Target="../embeddings/oleObject419.bin"/><Relationship Id="rId12" Type="http://schemas.openxmlformats.org/officeDocument/2006/relationships/image" Target="../media/image438.emf"/><Relationship Id="rId17" Type="http://schemas.openxmlformats.org/officeDocument/2006/relationships/image" Target="../media/image39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40.emf"/><Relationship Id="rId1" Type="http://schemas.openxmlformats.org/officeDocument/2006/relationships/vmlDrawing" Target="../drawings/vmlDrawing54.vml"/><Relationship Id="rId6" Type="http://schemas.openxmlformats.org/officeDocument/2006/relationships/image" Target="../media/image435.emf"/><Relationship Id="rId11" Type="http://schemas.openxmlformats.org/officeDocument/2006/relationships/oleObject" Target="../embeddings/oleObject421.bin"/><Relationship Id="rId5" Type="http://schemas.openxmlformats.org/officeDocument/2006/relationships/oleObject" Target="../embeddings/oleObject418.bin"/><Relationship Id="rId15" Type="http://schemas.openxmlformats.org/officeDocument/2006/relationships/oleObject" Target="../embeddings/oleObject423.bin"/><Relationship Id="rId10" Type="http://schemas.openxmlformats.org/officeDocument/2006/relationships/image" Target="../media/image437.emf"/><Relationship Id="rId19" Type="http://schemas.openxmlformats.org/officeDocument/2006/relationships/image" Target="../media/image441.emf"/><Relationship Id="rId4" Type="http://schemas.openxmlformats.org/officeDocument/2006/relationships/image" Target="../media/image434.emf"/><Relationship Id="rId9" Type="http://schemas.openxmlformats.org/officeDocument/2006/relationships/oleObject" Target="../embeddings/oleObject420.bin"/><Relationship Id="rId14" Type="http://schemas.openxmlformats.org/officeDocument/2006/relationships/image" Target="../media/image439.e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4.wmf"/><Relationship Id="rId3" Type="http://schemas.openxmlformats.org/officeDocument/2006/relationships/oleObject" Target="../embeddings/oleObject425.bin"/><Relationship Id="rId7" Type="http://schemas.openxmlformats.org/officeDocument/2006/relationships/oleObject" Target="../embeddings/oleObject4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443.emf"/><Relationship Id="rId5" Type="http://schemas.openxmlformats.org/officeDocument/2006/relationships/oleObject" Target="../embeddings/oleObject426.bin"/><Relationship Id="rId10" Type="http://schemas.openxmlformats.org/officeDocument/2006/relationships/image" Target="../media/image445.emf"/><Relationship Id="rId4" Type="http://schemas.openxmlformats.org/officeDocument/2006/relationships/image" Target="../media/image442.emf"/><Relationship Id="rId9" Type="http://schemas.openxmlformats.org/officeDocument/2006/relationships/oleObject" Target="../embeddings/oleObject428.bin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6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9.emf"/><Relationship Id="rId13" Type="http://schemas.openxmlformats.org/officeDocument/2006/relationships/oleObject" Target="../embeddings/oleObject434.bin"/><Relationship Id="rId18" Type="http://schemas.openxmlformats.org/officeDocument/2006/relationships/image" Target="../media/image454.emf"/><Relationship Id="rId3" Type="http://schemas.openxmlformats.org/officeDocument/2006/relationships/oleObject" Target="../embeddings/oleObject429.bin"/><Relationship Id="rId21" Type="http://schemas.openxmlformats.org/officeDocument/2006/relationships/oleObject" Target="../embeddings/oleObject438.bin"/><Relationship Id="rId7" Type="http://schemas.openxmlformats.org/officeDocument/2006/relationships/oleObject" Target="../embeddings/oleObject431.bin"/><Relationship Id="rId12" Type="http://schemas.openxmlformats.org/officeDocument/2006/relationships/image" Target="../media/image451.emf"/><Relationship Id="rId17" Type="http://schemas.openxmlformats.org/officeDocument/2006/relationships/oleObject" Target="../embeddings/oleObject4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3.wmf"/><Relationship Id="rId20" Type="http://schemas.openxmlformats.org/officeDocument/2006/relationships/image" Target="../media/image455.e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448.emf"/><Relationship Id="rId11" Type="http://schemas.openxmlformats.org/officeDocument/2006/relationships/oleObject" Target="../embeddings/oleObject433.bin"/><Relationship Id="rId5" Type="http://schemas.openxmlformats.org/officeDocument/2006/relationships/oleObject" Target="../embeddings/oleObject430.bin"/><Relationship Id="rId15" Type="http://schemas.openxmlformats.org/officeDocument/2006/relationships/oleObject" Target="../embeddings/oleObject435.bin"/><Relationship Id="rId10" Type="http://schemas.openxmlformats.org/officeDocument/2006/relationships/image" Target="../media/image450.emf"/><Relationship Id="rId19" Type="http://schemas.openxmlformats.org/officeDocument/2006/relationships/oleObject" Target="../embeddings/oleObject437.bin"/><Relationship Id="rId4" Type="http://schemas.openxmlformats.org/officeDocument/2006/relationships/image" Target="../media/image447.emf"/><Relationship Id="rId9" Type="http://schemas.openxmlformats.org/officeDocument/2006/relationships/oleObject" Target="../embeddings/oleObject432.bin"/><Relationship Id="rId14" Type="http://schemas.openxmlformats.org/officeDocument/2006/relationships/image" Target="../media/image452.emf"/><Relationship Id="rId22" Type="http://schemas.openxmlformats.org/officeDocument/2006/relationships/image" Target="../media/image456.e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wmf"/><Relationship Id="rId13" Type="http://schemas.openxmlformats.org/officeDocument/2006/relationships/oleObject" Target="../embeddings/oleObject444.bin"/><Relationship Id="rId18" Type="http://schemas.openxmlformats.org/officeDocument/2006/relationships/image" Target="../media/image464.wmf"/><Relationship Id="rId26" Type="http://schemas.openxmlformats.org/officeDocument/2006/relationships/image" Target="../media/image468.emf"/><Relationship Id="rId3" Type="http://schemas.openxmlformats.org/officeDocument/2006/relationships/oleObject" Target="../embeddings/oleObject439.bin"/><Relationship Id="rId21" Type="http://schemas.openxmlformats.org/officeDocument/2006/relationships/oleObject" Target="../embeddings/oleObject448.bin"/><Relationship Id="rId34" Type="http://schemas.openxmlformats.org/officeDocument/2006/relationships/image" Target="../media/image472.emf"/><Relationship Id="rId7" Type="http://schemas.openxmlformats.org/officeDocument/2006/relationships/oleObject" Target="../embeddings/oleObject441.bin"/><Relationship Id="rId12" Type="http://schemas.openxmlformats.org/officeDocument/2006/relationships/image" Target="../media/image461.emf"/><Relationship Id="rId17" Type="http://schemas.openxmlformats.org/officeDocument/2006/relationships/oleObject" Target="../embeddings/oleObject446.bin"/><Relationship Id="rId25" Type="http://schemas.openxmlformats.org/officeDocument/2006/relationships/oleObject" Target="../embeddings/oleObject450.bin"/><Relationship Id="rId33" Type="http://schemas.openxmlformats.org/officeDocument/2006/relationships/oleObject" Target="../embeddings/oleObject4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3.wmf"/><Relationship Id="rId20" Type="http://schemas.openxmlformats.org/officeDocument/2006/relationships/image" Target="../media/image465.emf"/><Relationship Id="rId29" Type="http://schemas.openxmlformats.org/officeDocument/2006/relationships/oleObject" Target="../embeddings/oleObject452.bin"/><Relationship Id="rId1" Type="http://schemas.openxmlformats.org/officeDocument/2006/relationships/vmlDrawing" Target="../drawings/vmlDrawing57.vml"/><Relationship Id="rId6" Type="http://schemas.openxmlformats.org/officeDocument/2006/relationships/image" Target="../media/image458.emf"/><Relationship Id="rId11" Type="http://schemas.openxmlformats.org/officeDocument/2006/relationships/oleObject" Target="../embeddings/oleObject443.bin"/><Relationship Id="rId24" Type="http://schemas.openxmlformats.org/officeDocument/2006/relationships/image" Target="../media/image467.emf"/><Relationship Id="rId32" Type="http://schemas.openxmlformats.org/officeDocument/2006/relationships/image" Target="../media/image471.emf"/><Relationship Id="rId5" Type="http://schemas.openxmlformats.org/officeDocument/2006/relationships/oleObject" Target="../embeddings/oleObject440.bin"/><Relationship Id="rId15" Type="http://schemas.openxmlformats.org/officeDocument/2006/relationships/oleObject" Target="../embeddings/oleObject445.bin"/><Relationship Id="rId23" Type="http://schemas.openxmlformats.org/officeDocument/2006/relationships/oleObject" Target="../embeddings/oleObject449.bin"/><Relationship Id="rId28" Type="http://schemas.openxmlformats.org/officeDocument/2006/relationships/image" Target="../media/image469.emf"/><Relationship Id="rId36" Type="http://schemas.openxmlformats.org/officeDocument/2006/relationships/image" Target="../media/image473.emf"/><Relationship Id="rId10" Type="http://schemas.openxmlformats.org/officeDocument/2006/relationships/image" Target="../media/image460.emf"/><Relationship Id="rId19" Type="http://schemas.openxmlformats.org/officeDocument/2006/relationships/oleObject" Target="../embeddings/oleObject447.bin"/><Relationship Id="rId31" Type="http://schemas.openxmlformats.org/officeDocument/2006/relationships/oleObject" Target="../embeddings/oleObject453.bin"/><Relationship Id="rId4" Type="http://schemas.openxmlformats.org/officeDocument/2006/relationships/image" Target="../media/image457.emf"/><Relationship Id="rId9" Type="http://schemas.openxmlformats.org/officeDocument/2006/relationships/oleObject" Target="../embeddings/oleObject442.bin"/><Relationship Id="rId14" Type="http://schemas.openxmlformats.org/officeDocument/2006/relationships/image" Target="../media/image462.emf"/><Relationship Id="rId22" Type="http://schemas.openxmlformats.org/officeDocument/2006/relationships/image" Target="../media/image466.emf"/><Relationship Id="rId27" Type="http://schemas.openxmlformats.org/officeDocument/2006/relationships/oleObject" Target="../embeddings/oleObject451.bin"/><Relationship Id="rId30" Type="http://schemas.openxmlformats.org/officeDocument/2006/relationships/image" Target="../media/image470.emf"/><Relationship Id="rId35" Type="http://schemas.openxmlformats.org/officeDocument/2006/relationships/oleObject" Target="../embeddings/oleObject455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8.bin"/><Relationship Id="rId13" Type="http://schemas.openxmlformats.org/officeDocument/2006/relationships/image" Target="../media/image478.emf"/><Relationship Id="rId3" Type="http://schemas.openxmlformats.org/officeDocument/2006/relationships/image" Target="../media/image392.png"/><Relationship Id="rId7" Type="http://schemas.openxmlformats.org/officeDocument/2006/relationships/image" Target="../media/image475.emf"/><Relationship Id="rId12" Type="http://schemas.openxmlformats.org/officeDocument/2006/relationships/oleObject" Target="../embeddings/oleObject4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457.bin"/><Relationship Id="rId11" Type="http://schemas.openxmlformats.org/officeDocument/2006/relationships/image" Target="../media/image477.emf"/><Relationship Id="rId5" Type="http://schemas.openxmlformats.org/officeDocument/2006/relationships/image" Target="../media/image474.emf"/><Relationship Id="rId10" Type="http://schemas.openxmlformats.org/officeDocument/2006/relationships/oleObject" Target="../embeddings/oleObject459.bin"/><Relationship Id="rId4" Type="http://schemas.openxmlformats.org/officeDocument/2006/relationships/oleObject" Target="../embeddings/oleObject456.bin"/><Relationship Id="rId9" Type="http://schemas.openxmlformats.org/officeDocument/2006/relationships/image" Target="../media/image476.e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oleObject" Target="../embeddings/oleObject463.bin"/><Relationship Id="rId18" Type="http://schemas.openxmlformats.org/officeDocument/2006/relationships/image" Target="../media/image483.emf"/><Relationship Id="rId26" Type="http://schemas.openxmlformats.org/officeDocument/2006/relationships/image" Target="../media/image487.emf"/><Relationship Id="rId3" Type="http://schemas.openxmlformats.org/officeDocument/2006/relationships/tags" Target="../tags/tag24.xml"/><Relationship Id="rId21" Type="http://schemas.openxmlformats.org/officeDocument/2006/relationships/oleObject" Target="../embeddings/oleObject467.bin"/><Relationship Id="rId7" Type="http://schemas.openxmlformats.org/officeDocument/2006/relationships/tags" Target="../tags/tag28.xml"/><Relationship Id="rId12" Type="http://schemas.openxmlformats.org/officeDocument/2006/relationships/image" Target="../media/image480.emf"/><Relationship Id="rId17" Type="http://schemas.openxmlformats.org/officeDocument/2006/relationships/oleObject" Target="../embeddings/oleObject465.bin"/><Relationship Id="rId25" Type="http://schemas.openxmlformats.org/officeDocument/2006/relationships/oleObject" Target="../embeddings/oleObject469.bin"/><Relationship Id="rId2" Type="http://schemas.openxmlformats.org/officeDocument/2006/relationships/tags" Target="../tags/tag23.xml"/><Relationship Id="rId16" Type="http://schemas.openxmlformats.org/officeDocument/2006/relationships/image" Target="../media/image482.emf"/><Relationship Id="rId20" Type="http://schemas.openxmlformats.org/officeDocument/2006/relationships/image" Target="../media/image484.emf"/><Relationship Id="rId1" Type="http://schemas.openxmlformats.org/officeDocument/2006/relationships/vmlDrawing" Target="../drawings/vmlDrawing59.vml"/><Relationship Id="rId6" Type="http://schemas.openxmlformats.org/officeDocument/2006/relationships/tags" Target="../tags/tag27.xml"/><Relationship Id="rId11" Type="http://schemas.openxmlformats.org/officeDocument/2006/relationships/oleObject" Target="../embeddings/oleObject462.bin"/><Relationship Id="rId24" Type="http://schemas.openxmlformats.org/officeDocument/2006/relationships/image" Target="../media/image486.emf"/><Relationship Id="rId5" Type="http://schemas.openxmlformats.org/officeDocument/2006/relationships/tags" Target="../tags/tag26.xml"/><Relationship Id="rId15" Type="http://schemas.openxmlformats.org/officeDocument/2006/relationships/oleObject" Target="../embeddings/oleObject464.bin"/><Relationship Id="rId23" Type="http://schemas.openxmlformats.org/officeDocument/2006/relationships/oleObject" Target="../embeddings/oleObject468.bin"/><Relationship Id="rId28" Type="http://schemas.openxmlformats.org/officeDocument/2006/relationships/image" Target="../media/image488.wmf"/><Relationship Id="rId10" Type="http://schemas.openxmlformats.org/officeDocument/2006/relationships/image" Target="../media/image479.emf"/><Relationship Id="rId19" Type="http://schemas.openxmlformats.org/officeDocument/2006/relationships/oleObject" Target="../embeddings/oleObject466.bin"/><Relationship Id="rId4" Type="http://schemas.openxmlformats.org/officeDocument/2006/relationships/tags" Target="../tags/tag25.xml"/><Relationship Id="rId9" Type="http://schemas.openxmlformats.org/officeDocument/2006/relationships/oleObject" Target="../embeddings/oleObject461.bin"/><Relationship Id="rId14" Type="http://schemas.openxmlformats.org/officeDocument/2006/relationships/image" Target="../media/image481.emf"/><Relationship Id="rId22" Type="http://schemas.openxmlformats.org/officeDocument/2006/relationships/image" Target="../media/image485.emf"/><Relationship Id="rId27" Type="http://schemas.openxmlformats.org/officeDocument/2006/relationships/oleObject" Target="../embeddings/oleObject47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hlinkClick r:id="rId2"/>
          </p:cNvPr>
          <p:cNvSpPr/>
          <p:nvPr/>
        </p:nvSpPr>
        <p:spPr>
          <a:xfrm>
            <a:off x="754063" y="1625600"/>
            <a:ext cx="723106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336699"/>
                </a:solidFill>
                <a:latin typeface="楷体_GB2312" pitchFamily="49" charset="-122"/>
                <a:ea typeface="楷体_GB2312" pitchFamily="49" charset="-122"/>
              </a:rPr>
              <a:t>简谐运动 振幅 周期和频率 相位</a:t>
            </a:r>
          </a:p>
        </p:txBody>
      </p:sp>
      <p:sp>
        <p:nvSpPr>
          <p:cNvPr id="4099" name="Rectangle 6">
            <a:hlinkClick r:id="rId3"/>
          </p:cNvPr>
          <p:cNvSpPr/>
          <p:nvPr/>
        </p:nvSpPr>
        <p:spPr>
          <a:xfrm>
            <a:off x="754063" y="2633663"/>
            <a:ext cx="723106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rgbClr val="FF99FF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336699"/>
                </a:solidFill>
                <a:latin typeface="楷体_GB2312" pitchFamily="49" charset="-122"/>
                <a:ea typeface="楷体_GB2312" pitchFamily="49" charset="-122"/>
              </a:rPr>
              <a:t>旋转矢量</a:t>
            </a:r>
          </a:p>
        </p:txBody>
      </p:sp>
      <p:sp>
        <p:nvSpPr>
          <p:cNvPr id="4100" name="Rectangle 8">
            <a:hlinkClick r:id="rId4"/>
          </p:cNvPr>
          <p:cNvSpPr/>
          <p:nvPr/>
        </p:nvSpPr>
        <p:spPr>
          <a:xfrm>
            <a:off x="755650" y="3573463"/>
            <a:ext cx="7132638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rgbClr val="FF99FF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336699"/>
                </a:solidFill>
                <a:latin typeface="楷体_GB2312" pitchFamily="49" charset="-122"/>
                <a:ea typeface="楷体_GB2312" pitchFamily="49" charset="-122"/>
              </a:rPr>
              <a:t>简谐运动的能量</a:t>
            </a:r>
          </a:p>
        </p:txBody>
      </p:sp>
      <p:sp>
        <p:nvSpPr>
          <p:cNvPr id="4101" name="Rectangle 9">
            <a:hlinkClick r:id="rId5"/>
          </p:cNvPr>
          <p:cNvSpPr/>
          <p:nvPr/>
        </p:nvSpPr>
        <p:spPr>
          <a:xfrm>
            <a:off x="755650" y="4497388"/>
            <a:ext cx="7010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rgbClr val="FF99FF"/>
              </a:buClr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336699"/>
                </a:solidFill>
                <a:latin typeface="楷体_GB2312" pitchFamily="49" charset="-122"/>
                <a:ea typeface="楷体_GB2312" pitchFamily="49" charset="-122"/>
              </a:rPr>
              <a:t>简谐运动的合成</a:t>
            </a:r>
          </a:p>
        </p:txBody>
      </p:sp>
      <p:sp>
        <p:nvSpPr>
          <p:cNvPr id="4102" name="Rectangle 12">
            <a:hlinkClick r:id="rId3"/>
          </p:cNvPr>
          <p:cNvSpPr/>
          <p:nvPr/>
        </p:nvSpPr>
        <p:spPr>
          <a:xfrm>
            <a:off x="2670175" y="50800"/>
            <a:ext cx="391795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第九章主要内容</a:t>
            </a:r>
            <a:endParaRPr lang="zh-CN" altLang="en-US" sz="3600" dirty="0">
              <a:solidFill>
                <a:srgbClr val="336699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/>
          <p:cNvSpPr txBox="1"/>
          <p:nvPr/>
        </p:nvSpPr>
        <p:spPr>
          <a:xfrm>
            <a:off x="290513" y="1031875"/>
            <a:ext cx="46085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简谐振动的位移、</a:t>
            </a:r>
            <a:r>
              <a:rPr lang="zh-CN" altLang="en-US" sz="2400" dirty="0">
                <a:solidFill>
                  <a:schemeClr val="tx2"/>
                </a:solidFill>
                <a:latin typeface="宋体" panose="02010600030101010101" pitchFamily="2" charset="-122"/>
              </a:rPr>
              <a:t>速度和加速度   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2883" name="Object 3"/>
          <p:cNvGraphicFramePr/>
          <p:nvPr/>
        </p:nvGraphicFramePr>
        <p:xfrm>
          <a:off x="533400" y="1878013"/>
          <a:ext cx="4267200" cy="200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r:id="rId3" imgW="1778000" imgH="838200" progId="Equation.3">
                  <p:embed/>
                </p:oleObj>
              </mc:Choice>
              <mc:Fallback>
                <p:oleObj r:id="rId3" imgW="1778000" imgH="8382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400" y="1878013"/>
                        <a:ext cx="4267200" cy="20050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4" name="Object 4"/>
          <p:cNvGraphicFramePr/>
          <p:nvPr/>
        </p:nvGraphicFramePr>
        <p:xfrm>
          <a:off x="533400" y="4011613"/>
          <a:ext cx="4343400" cy="148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r:id="rId5" imgW="2322830" imgH="660400" progId="Equation.3">
                  <p:embed/>
                </p:oleObj>
              </mc:Choice>
              <mc:Fallback>
                <p:oleObj r:id="rId5" imgW="2322830" imgH="660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/>
                      <a:srcRect r="16048"/>
                      <a:stretch>
                        <a:fillRect/>
                      </a:stretch>
                    </p:blipFill>
                    <p:spPr>
                      <a:xfrm>
                        <a:off x="533400" y="4011613"/>
                        <a:ext cx="4343400" cy="1487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5" name="AutoShape 5"/>
          <p:cNvSpPr/>
          <p:nvPr/>
        </p:nvSpPr>
        <p:spPr>
          <a:xfrm>
            <a:off x="4953000" y="2411413"/>
            <a:ext cx="228600" cy="2819400"/>
          </a:xfrm>
          <a:prstGeom prst="rightBrace">
            <a:avLst>
              <a:gd name="adj1" fmla="val 102720"/>
              <a:gd name="adj2" fmla="val 50000"/>
            </a:avLst>
          </a:prstGeom>
          <a:noFill/>
          <a:ln w="31750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22886" name="Text Box 6"/>
          <p:cNvSpPr txBox="1"/>
          <p:nvPr/>
        </p:nvSpPr>
        <p:spPr>
          <a:xfrm>
            <a:off x="5435600" y="3141663"/>
            <a:ext cx="3352800" cy="1395412"/>
          </a:xfrm>
          <a:prstGeom prst="rect">
            <a:avLst/>
          </a:prstGeom>
          <a:noFill/>
          <a:ln w="2540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marL="292100" indent="-292100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1.简谐振动的各阶导数也都作简谐振动</a:t>
            </a:r>
          </a:p>
          <a:p>
            <a:pPr marL="292100" indent="-292100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2. 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4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相位依次相差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/2</a:t>
            </a:r>
            <a:endParaRPr lang="zh-CN" altLang="en-US" sz="24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887" name="AutoShape 7"/>
          <p:cNvSpPr/>
          <p:nvPr/>
        </p:nvSpPr>
        <p:spPr>
          <a:xfrm>
            <a:off x="4427538" y="492125"/>
            <a:ext cx="2752725" cy="647700"/>
          </a:xfrm>
          <a:prstGeom prst="wedgeEllipseCallout">
            <a:avLst>
              <a:gd name="adj1" fmla="val -126824"/>
              <a:gd name="adj2" fmla="val 369116"/>
            </a:avLst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速度振幅</a:t>
            </a:r>
          </a:p>
        </p:txBody>
      </p:sp>
      <p:sp>
        <p:nvSpPr>
          <p:cNvPr id="122888" name="AutoShape 8"/>
          <p:cNvSpPr/>
          <p:nvPr/>
        </p:nvSpPr>
        <p:spPr>
          <a:xfrm>
            <a:off x="3132138" y="5805488"/>
            <a:ext cx="2520950" cy="647700"/>
          </a:xfrm>
          <a:prstGeom prst="wedgeEllipseCallout">
            <a:avLst>
              <a:gd name="adj1" fmla="val -84889"/>
              <a:gd name="adj2" fmla="val -108333"/>
            </a:avLst>
          </a:prstGeom>
          <a:solidFill>
            <a:schemeClr val="bg1"/>
          </a:solidFill>
          <a:ln w="254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速度振幅</a:t>
            </a:r>
          </a:p>
        </p:txBody>
      </p:sp>
      <p:graphicFrame>
        <p:nvGraphicFramePr>
          <p:cNvPr id="122889" name="Object 9" descr="胡桃"/>
          <p:cNvGraphicFramePr/>
          <p:nvPr/>
        </p:nvGraphicFramePr>
        <p:xfrm>
          <a:off x="900113" y="241300"/>
          <a:ext cx="28606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r:id="rId7" imgW="2868930" imgH="393700" progId="Equation.3">
                  <p:embed/>
                </p:oleObj>
              </mc:Choice>
              <mc:Fallback>
                <p:oleObj r:id="rId7" imgW="2868930" imgH="3937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0113" y="241300"/>
                        <a:ext cx="2860675" cy="392113"/>
                      </a:xfrm>
                      <a:prstGeom prst="rect">
                        <a:avLst/>
                      </a:prstGeom>
                      <a:blipFill rotWithShape="0">
                        <a:blip r:embed="rId9"/>
                      </a:blip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2" grpId="0"/>
      <p:bldP spid="122885" grpId="0" animBg="1"/>
      <p:bldP spid="122886" grpId="0" animBg="1"/>
      <p:bldP spid="122887" grpId="0" animBg="1"/>
      <p:bldP spid="12288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93"/>
          <p:cNvSpPr/>
          <p:nvPr/>
        </p:nvSpPr>
        <p:spPr>
          <a:xfrm>
            <a:off x="4787900" y="990600"/>
            <a:ext cx="3962400" cy="4876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147" name="Line 2"/>
          <p:cNvSpPr/>
          <p:nvPr/>
        </p:nvSpPr>
        <p:spPr>
          <a:xfrm flipV="1">
            <a:off x="5740400" y="1914525"/>
            <a:ext cx="2859088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8" name="Line 4"/>
          <p:cNvSpPr/>
          <p:nvPr/>
        </p:nvSpPr>
        <p:spPr>
          <a:xfrm flipV="1">
            <a:off x="5740400" y="3414713"/>
            <a:ext cx="2816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49" name="Line 5"/>
          <p:cNvSpPr/>
          <p:nvPr/>
        </p:nvSpPr>
        <p:spPr>
          <a:xfrm>
            <a:off x="5740400" y="5102225"/>
            <a:ext cx="28162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0" name="Line 7"/>
          <p:cNvSpPr/>
          <p:nvPr/>
        </p:nvSpPr>
        <p:spPr>
          <a:xfrm>
            <a:off x="6151563" y="1476375"/>
            <a:ext cx="0" cy="42513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1" name="Line 8"/>
          <p:cNvSpPr/>
          <p:nvPr/>
        </p:nvSpPr>
        <p:spPr>
          <a:xfrm>
            <a:off x="6616700" y="1476375"/>
            <a:ext cx="0" cy="4251325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2" name="Line 9"/>
          <p:cNvSpPr/>
          <p:nvPr/>
        </p:nvSpPr>
        <p:spPr>
          <a:xfrm>
            <a:off x="7073900" y="1476375"/>
            <a:ext cx="0" cy="42513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3" name="Line 10"/>
          <p:cNvSpPr/>
          <p:nvPr/>
        </p:nvSpPr>
        <p:spPr>
          <a:xfrm>
            <a:off x="7531100" y="1476375"/>
            <a:ext cx="0" cy="4251325"/>
          </a:xfrm>
          <a:prstGeom prst="line">
            <a:avLst/>
          </a:prstGeom>
          <a:ln w="28575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4" name="Line 11"/>
          <p:cNvSpPr/>
          <p:nvPr/>
        </p:nvSpPr>
        <p:spPr>
          <a:xfrm>
            <a:off x="7912100" y="1476375"/>
            <a:ext cx="0" cy="4251325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5" name="Line 16"/>
          <p:cNvSpPr/>
          <p:nvPr/>
        </p:nvSpPr>
        <p:spPr>
          <a:xfrm>
            <a:off x="5740400" y="1476375"/>
            <a:ext cx="2663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6" name="Line 17"/>
          <p:cNvSpPr/>
          <p:nvPr/>
        </p:nvSpPr>
        <p:spPr>
          <a:xfrm>
            <a:off x="5740400" y="2351088"/>
            <a:ext cx="2663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7" name="Line 28"/>
          <p:cNvSpPr/>
          <p:nvPr/>
        </p:nvSpPr>
        <p:spPr>
          <a:xfrm flipV="1">
            <a:off x="5740400" y="1163638"/>
            <a:ext cx="0" cy="13128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8" name="Line 29"/>
          <p:cNvSpPr/>
          <p:nvPr/>
        </p:nvSpPr>
        <p:spPr>
          <a:xfrm flipV="1">
            <a:off x="5740400" y="2727325"/>
            <a:ext cx="0" cy="13747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9" name="Line 30"/>
          <p:cNvSpPr/>
          <p:nvPr/>
        </p:nvSpPr>
        <p:spPr>
          <a:xfrm flipV="1">
            <a:off x="5740400" y="4289425"/>
            <a:ext cx="0" cy="15636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0" name="Line 31"/>
          <p:cNvSpPr/>
          <p:nvPr/>
        </p:nvSpPr>
        <p:spPr>
          <a:xfrm flipH="1">
            <a:off x="5740400" y="2914650"/>
            <a:ext cx="26209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1" name="Line 32"/>
          <p:cNvSpPr/>
          <p:nvPr/>
        </p:nvSpPr>
        <p:spPr>
          <a:xfrm flipH="1">
            <a:off x="5740400" y="3914775"/>
            <a:ext cx="2620963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2" name="Line 33"/>
          <p:cNvSpPr/>
          <p:nvPr/>
        </p:nvSpPr>
        <p:spPr>
          <a:xfrm flipH="1">
            <a:off x="5740400" y="4540250"/>
            <a:ext cx="26860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163" name="Group 113"/>
          <p:cNvGrpSpPr/>
          <p:nvPr/>
        </p:nvGrpSpPr>
        <p:grpSpPr>
          <a:xfrm>
            <a:off x="6346825" y="1038225"/>
            <a:ext cx="1365250" cy="376238"/>
            <a:chOff x="3958" y="654"/>
            <a:chExt cx="860" cy="237"/>
          </a:xfrm>
        </p:grpSpPr>
        <p:sp>
          <p:nvSpPr>
            <p:cNvPr id="6203" name="Rectangle 80"/>
            <p:cNvSpPr/>
            <p:nvPr/>
          </p:nvSpPr>
          <p:spPr>
            <a:xfrm>
              <a:off x="3958" y="654"/>
              <a:ext cx="860" cy="237"/>
            </a:xfrm>
            <a:prstGeom prst="rect">
              <a:avLst/>
            </a:prstGeom>
            <a:gradFill rotWithShape="0">
              <a:gsLst>
                <a:gs pos="0">
                  <a:srgbClr val="CCECFF"/>
                </a:gs>
                <a:gs pos="50000">
                  <a:srgbClr val="FFFFFF"/>
                </a:gs>
                <a:gs pos="100000">
                  <a:srgbClr val="CCECFF"/>
                </a:gs>
              </a:gsLst>
              <a:lin ang="5400000" scaled="1"/>
              <a:tileRect/>
            </a:gradFill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6204" name="Object 35"/>
            <p:cNvGraphicFramePr>
              <a:graphicFrameLocks noChangeAspect="1"/>
            </p:cNvGraphicFramePr>
            <p:nvPr/>
          </p:nvGraphicFramePr>
          <p:xfrm>
            <a:off x="3999" y="654"/>
            <a:ext cx="54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0" r:id="rId3" imgW="481965" imgH="215900" progId="Equation.3">
                    <p:embed/>
                  </p:oleObj>
                </mc:Choice>
                <mc:Fallback>
                  <p:oleObj r:id="rId3" imgW="481965" imgH="2159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99" y="654"/>
                          <a:ext cx="546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64" name="Text Box 40"/>
          <p:cNvSpPr txBox="1"/>
          <p:nvPr/>
        </p:nvSpPr>
        <p:spPr>
          <a:xfrm>
            <a:off x="7150100" y="952500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图</a:t>
            </a:r>
          </a:p>
        </p:txBody>
      </p:sp>
      <p:sp>
        <p:nvSpPr>
          <p:cNvPr id="90194" name="Rectangle 82"/>
          <p:cNvSpPr>
            <a:spLocks noChangeArrowheads="1"/>
          </p:cNvSpPr>
          <p:nvPr/>
        </p:nvSpPr>
        <p:spPr bwMode="auto">
          <a:xfrm>
            <a:off x="6346825" y="2476500"/>
            <a:ext cx="1365250" cy="37465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19050">
            <a:solidFill>
              <a:srgbClr val="008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166" name="Object 36"/>
          <p:cNvGraphicFramePr>
            <a:graphicFrameLocks noChangeAspect="1"/>
          </p:cNvGraphicFramePr>
          <p:nvPr/>
        </p:nvGraphicFramePr>
        <p:xfrm>
          <a:off x="6411913" y="2476500"/>
          <a:ext cx="838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" r:id="rId5" imgW="304800" imgH="152400" progId="Equation.3">
                  <p:embed/>
                </p:oleObj>
              </mc:Choice>
              <mc:Fallback>
                <p:oleObj r:id="rId5" imgW="304800" imgH="1524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11913" y="2476500"/>
                        <a:ext cx="838200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7" name="Rectangle 41"/>
          <p:cNvSpPr/>
          <p:nvPr/>
        </p:nvSpPr>
        <p:spPr>
          <a:xfrm>
            <a:off x="7150100" y="2387600"/>
            <a:ext cx="5064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图</a:t>
            </a:r>
          </a:p>
        </p:txBody>
      </p:sp>
      <p:sp>
        <p:nvSpPr>
          <p:cNvPr id="90196" name="Rectangle 84"/>
          <p:cNvSpPr>
            <a:spLocks noChangeArrowheads="1"/>
          </p:cNvSpPr>
          <p:nvPr/>
        </p:nvSpPr>
        <p:spPr bwMode="auto">
          <a:xfrm>
            <a:off x="6346825" y="4029075"/>
            <a:ext cx="1365250" cy="374650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50000">
                <a:schemeClr val="folHlink">
                  <a:gamma/>
                  <a:tint val="0"/>
                  <a:invGamma/>
                </a:schemeClr>
              </a:gs>
              <a:gs pos="100000">
                <a:schemeClr val="folHlink"/>
              </a:gs>
            </a:gsLst>
            <a:lin ang="5400000" scaled="1"/>
          </a:gradFill>
          <a:ln w="19050">
            <a:solidFill>
              <a:srgbClr val="9900CC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169" name="Object 37"/>
          <p:cNvGraphicFramePr>
            <a:graphicFrameLocks noChangeAspect="1"/>
          </p:cNvGraphicFramePr>
          <p:nvPr/>
        </p:nvGraphicFramePr>
        <p:xfrm>
          <a:off x="6499225" y="4029075"/>
          <a:ext cx="822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" r:id="rId7" imgW="481965" imgH="215900" progId="Equation.3">
                  <p:embed/>
                </p:oleObj>
              </mc:Choice>
              <mc:Fallback>
                <p:oleObj r:id="rId7" imgW="481965" imgH="2159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99225" y="4029075"/>
                        <a:ext cx="822325" cy="352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0" name="Rectangle 42"/>
          <p:cNvSpPr/>
          <p:nvPr/>
        </p:nvSpPr>
        <p:spPr>
          <a:xfrm>
            <a:off x="7197725" y="3951288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图</a:t>
            </a:r>
          </a:p>
        </p:txBody>
      </p:sp>
      <p:graphicFrame>
        <p:nvGraphicFramePr>
          <p:cNvPr id="6171" name="Object 54"/>
          <p:cNvGraphicFramePr>
            <a:graphicFrameLocks noChangeAspect="1"/>
          </p:cNvGraphicFramePr>
          <p:nvPr/>
        </p:nvGraphicFramePr>
        <p:xfrm>
          <a:off x="7524750" y="1914525"/>
          <a:ext cx="2857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" r:id="rId9" imgW="115570" imgH="131445" progId="Equation.3">
                  <p:embed/>
                </p:oleObj>
              </mc:Choice>
              <mc:Fallback>
                <p:oleObj r:id="rId9" imgW="115570" imgH="131445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24750" y="1914525"/>
                        <a:ext cx="285750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2" name="Object 56"/>
          <p:cNvGraphicFramePr>
            <a:graphicFrameLocks noChangeAspect="1"/>
          </p:cNvGraphicFramePr>
          <p:nvPr/>
        </p:nvGraphicFramePr>
        <p:xfrm>
          <a:off x="5113338" y="2816225"/>
          <a:ext cx="5953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" r:id="rId11" imgW="419100" imgH="241300" progId="Equation.3">
                  <p:embed/>
                </p:oleObj>
              </mc:Choice>
              <mc:Fallback>
                <p:oleObj r:id="rId11" imgW="419100" imgH="2413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13338" y="2816225"/>
                        <a:ext cx="595312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3" name="Object 57"/>
          <p:cNvGraphicFramePr>
            <a:graphicFrameLocks noChangeAspect="1"/>
          </p:cNvGraphicFramePr>
          <p:nvPr/>
        </p:nvGraphicFramePr>
        <p:xfrm>
          <a:off x="4918075" y="3698875"/>
          <a:ext cx="801688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" r:id="rId13" imgW="596900" imgH="241300" progId="Equation.3">
                  <p:embed/>
                </p:oleObj>
              </mc:Choice>
              <mc:Fallback>
                <p:oleObj r:id="rId13" imgW="596900" imgH="2413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18075" y="3698875"/>
                        <a:ext cx="801688" cy="307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4" name="Object 58"/>
          <p:cNvGraphicFramePr>
            <a:graphicFrameLocks noChangeAspect="1"/>
          </p:cNvGraphicFramePr>
          <p:nvPr/>
        </p:nvGraphicFramePr>
        <p:xfrm>
          <a:off x="5064125" y="4452938"/>
          <a:ext cx="6985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" r:id="rId15" imgW="508000" imgH="304800" progId="Equation.3">
                  <p:embed/>
                </p:oleObj>
              </mc:Choice>
              <mc:Fallback>
                <p:oleObj r:id="rId15" imgW="508000" imgH="3048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064125" y="4452938"/>
                        <a:ext cx="698500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5" name="Object 59"/>
          <p:cNvGraphicFramePr>
            <a:graphicFrameLocks noChangeAspect="1"/>
          </p:cNvGraphicFramePr>
          <p:nvPr/>
        </p:nvGraphicFramePr>
        <p:xfrm>
          <a:off x="4787900" y="5341938"/>
          <a:ext cx="9715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" r:id="rId17" imgW="685800" imgH="304800" progId="Equation.3">
                  <p:embed/>
                </p:oleObj>
              </mc:Choice>
              <mc:Fallback>
                <p:oleObj r:id="rId17" imgW="685800" imgH="304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787900" y="5341938"/>
                        <a:ext cx="971550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6" name="Object 61"/>
          <p:cNvGraphicFramePr>
            <a:graphicFrameLocks noChangeAspect="1"/>
          </p:cNvGraphicFramePr>
          <p:nvPr/>
        </p:nvGraphicFramePr>
        <p:xfrm>
          <a:off x="5762625" y="1101725"/>
          <a:ext cx="3016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" r:id="rId19" imgW="177800" imgH="190500" progId="Equation.3">
                  <p:embed/>
                </p:oleObj>
              </mc:Choice>
              <mc:Fallback>
                <p:oleObj r:id="rId19" imgW="177800" imgH="1905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762625" y="1101725"/>
                        <a:ext cx="301625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7" name="Object 62"/>
          <p:cNvGraphicFramePr>
            <a:graphicFrameLocks noChangeAspect="1"/>
          </p:cNvGraphicFramePr>
          <p:nvPr/>
        </p:nvGraphicFramePr>
        <p:xfrm>
          <a:off x="5762625" y="2601913"/>
          <a:ext cx="2841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" r:id="rId21" imgW="228600" imgH="241300" progId="Equation.3">
                  <p:embed/>
                </p:oleObj>
              </mc:Choice>
              <mc:Fallback>
                <p:oleObj r:id="rId21" imgW="228600" imgH="2413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62625" y="2601913"/>
                        <a:ext cx="284163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8" name="Object 63"/>
          <p:cNvGraphicFramePr>
            <a:graphicFrameLocks noChangeAspect="1"/>
          </p:cNvGraphicFramePr>
          <p:nvPr/>
        </p:nvGraphicFramePr>
        <p:xfrm>
          <a:off x="5805488" y="4165600"/>
          <a:ext cx="30162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0" r:id="rId23" imgW="177800" imgH="190500" progId="Equation.3">
                  <p:embed/>
                </p:oleObj>
              </mc:Choice>
              <mc:Fallback>
                <p:oleObj r:id="rId23" imgW="177800" imgH="1905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805488" y="4165600"/>
                        <a:ext cx="301625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79" name="Object 69"/>
          <p:cNvGraphicFramePr>
            <a:graphicFrameLocks noChangeAspect="1"/>
          </p:cNvGraphicFramePr>
          <p:nvPr/>
        </p:nvGraphicFramePr>
        <p:xfrm>
          <a:off x="8402638" y="1538288"/>
          <a:ext cx="2190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1" r:id="rId25" imgW="114300" imgH="215900" progId="Equation.3">
                  <p:embed/>
                </p:oleObj>
              </mc:Choice>
              <mc:Fallback>
                <p:oleObj r:id="rId25" imgW="114300" imgH="215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402638" y="1538288"/>
                        <a:ext cx="219075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0" name="Object 70"/>
          <p:cNvGraphicFramePr>
            <a:graphicFrameLocks noChangeAspect="1"/>
          </p:cNvGraphicFramePr>
          <p:nvPr/>
        </p:nvGraphicFramePr>
        <p:xfrm>
          <a:off x="8383588" y="3040063"/>
          <a:ext cx="204787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2" r:id="rId27" imgW="114300" imgH="215900" progId="Equation.3">
                  <p:embed/>
                </p:oleObj>
              </mc:Choice>
              <mc:Fallback>
                <p:oleObj r:id="rId27" imgW="114300" imgH="2159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383588" y="3040063"/>
                        <a:ext cx="204787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1" name="Object 71"/>
          <p:cNvGraphicFramePr>
            <a:graphicFrameLocks noChangeAspect="1"/>
          </p:cNvGraphicFramePr>
          <p:nvPr/>
        </p:nvGraphicFramePr>
        <p:xfrm>
          <a:off x="8426450" y="4665663"/>
          <a:ext cx="21748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" r:id="rId28" imgW="114300" imgH="215900" progId="Equation.3">
                  <p:embed/>
                </p:oleObj>
              </mc:Choice>
              <mc:Fallback>
                <p:oleObj r:id="rId28" imgW="114300" imgH="2159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426450" y="4665663"/>
                        <a:ext cx="217488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2" name="Object 72"/>
          <p:cNvGraphicFramePr>
            <a:graphicFrameLocks noChangeAspect="1"/>
          </p:cNvGraphicFramePr>
          <p:nvPr/>
        </p:nvGraphicFramePr>
        <p:xfrm>
          <a:off x="5416550" y="1350963"/>
          <a:ext cx="303213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4" r:id="rId29" imgW="215900" imgH="228600" progId="Equation.3">
                  <p:embed/>
                </p:oleObj>
              </mc:Choice>
              <mc:Fallback>
                <p:oleObj r:id="rId29" imgW="215900" imgH="2286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416550" y="1350963"/>
                        <a:ext cx="303213" cy="31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3" name="Object 73"/>
          <p:cNvGraphicFramePr>
            <a:graphicFrameLocks noChangeAspect="1"/>
          </p:cNvGraphicFramePr>
          <p:nvPr/>
        </p:nvGraphicFramePr>
        <p:xfrm>
          <a:off x="5221288" y="2163763"/>
          <a:ext cx="43180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" r:id="rId31" imgW="393700" imgH="228600" progId="Equation.3">
                  <p:embed/>
                </p:oleObj>
              </mc:Choice>
              <mc:Fallback>
                <p:oleObj r:id="rId31" imgW="393700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221288" y="2163763"/>
                        <a:ext cx="431800" cy="3127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4" name="Object 76"/>
          <p:cNvGraphicFramePr>
            <a:graphicFrameLocks noChangeAspect="1"/>
          </p:cNvGraphicFramePr>
          <p:nvPr/>
        </p:nvGraphicFramePr>
        <p:xfrm>
          <a:off x="5407025" y="1789113"/>
          <a:ext cx="3556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" r:id="rId33" imgW="127000" imgH="139700" progId="Equation.3">
                  <p:embed/>
                </p:oleObj>
              </mc:Choice>
              <mc:Fallback>
                <p:oleObj r:id="rId33" imgW="127000" imgH="1397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407025" y="1789113"/>
                        <a:ext cx="3556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5" name="Object 77"/>
          <p:cNvGraphicFramePr>
            <a:graphicFrameLocks noChangeAspect="1"/>
          </p:cNvGraphicFramePr>
          <p:nvPr/>
        </p:nvGraphicFramePr>
        <p:xfrm>
          <a:off x="5407025" y="4914900"/>
          <a:ext cx="3556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7" r:id="rId35" imgW="127000" imgH="139700" progId="Equation.3">
                  <p:embed/>
                </p:oleObj>
              </mc:Choice>
              <mc:Fallback>
                <p:oleObj r:id="rId35" imgW="127000" imgH="1397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407025" y="4914900"/>
                        <a:ext cx="355600" cy="376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6" name="Object 78"/>
          <p:cNvGraphicFramePr>
            <a:graphicFrameLocks noChangeAspect="1"/>
          </p:cNvGraphicFramePr>
          <p:nvPr/>
        </p:nvGraphicFramePr>
        <p:xfrm>
          <a:off x="5407025" y="3227388"/>
          <a:ext cx="3556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" r:id="rId36" imgW="127000" imgH="139700" progId="Equation.3">
                  <p:embed/>
                </p:oleObj>
              </mc:Choice>
              <mc:Fallback>
                <p:oleObj r:id="rId36" imgW="127000" imgH="1397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407025" y="3227388"/>
                        <a:ext cx="355600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7" name="Line 91"/>
          <p:cNvSpPr/>
          <p:nvPr/>
        </p:nvSpPr>
        <p:spPr>
          <a:xfrm flipH="1">
            <a:off x="5762625" y="5665788"/>
            <a:ext cx="26638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88" name="Object 98"/>
          <p:cNvGraphicFramePr>
            <a:graphicFrameLocks noChangeAspect="1"/>
          </p:cNvGraphicFramePr>
          <p:nvPr/>
        </p:nvGraphicFramePr>
        <p:xfrm>
          <a:off x="7272338" y="5108575"/>
          <a:ext cx="2857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9" r:id="rId37" imgW="115570" imgH="131445" progId="Equation.3">
                  <p:embed/>
                </p:oleObj>
              </mc:Choice>
              <mc:Fallback>
                <p:oleObj r:id="rId37" imgW="115570" imgH="131445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272338" y="5108575"/>
                        <a:ext cx="285750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89" name="Object 13"/>
          <p:cNvGraphicFramePr>
            <a:graphicFrameLocks noChangeAspect="1"/>
          </p:cNvGraphicFramePr>
          <p:nvPr/>
        </p:nvGraphicFramePr>
        <p:xfrm>
          <a:off x="787400" y="1016000"/>
          <a:ext cx="27813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" r:id="rId39" imgW="893445" imgH="141605" progId="Equation.3">
                  <p:embed/>
                </p:oleObj>
              </mc:Choice>
              <mc:Fallback>
                <p:oleObj r:id="rId39" imgW="893445" imgH="141605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40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7400" y="1016000"/>
                        <a:ext cx="2781300" cy="501650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 w="19050" cap="flat" cmpd="sng">
                        <a:solidFill>
                          <a:srgbClr val="00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0227" name="Group 115"/>
          <p:cNvGrpSpPr/>
          <p:nvPr/>
        </p:nvGrpSpPr>
        <p:grpSpPr>
          <a:xfrm>
            <a:off x="2216150" y="1778000"/>
            <a:ext cx="1676400" cy="579438"/>
            <a:chOff x="1632" y="1104"/>
            <a:chExt cx="1056" cy="365"/>
          </a:xfrm>
        </p:grpSpPr>
        <p:graphicFrame>
          <p:nvGraphicFramePr>
            <p:cNvPr id="6201" name="Object 34"/>
            <p:cNvGraphicFramePr>
              <a:graphicFrameLocks noChangeAspect="1"/>
            </p:cNvGraphicFramePr>
            <p:nvPr/>
          </p:nvGraphicFramePr>
          <p:xfrm>
            <a:off x="1988" y="1112"/>
            <a:ext cx="700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1" r:id="rId41" imgW="278765" imgH="141605" progId="Equation.3">
                    <p:embed/>
                  </p:oleObj>
                </mc:Choice>
                <mc:Fallback>
                  <p:oleObj r:id="rId41" imgW="278765" imgH="141605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42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988" y="1112"/>
                          <a:ext cx="700" cy="3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02" name="Text Box 38"/>
            <p:cNvSpPr txBox="1"/>
            <p:nvPr/>
          </p:nvSpPr>
          <p:spPr>
            <a:xfrm>
              <a:off x="1632" y="1104"/>
              <a:ext cx="37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006699"/>
                  </a:solidFill>
                  <a:latin typeface="Times New Roman" panose="02020603050405020304" pitchFamily="18" charset="0"/>
                </a:rPr>
                <a:t>取</a:t>
              </a:r>
            </a:p>
          </p:txBody>
        </p:sp>
      </p:grpSp>
      <p:graphicFrame>
        <p:nvGraphicFramePr>
          <p:cNvPr id="90176" name="Object 64"/>
          <p:cNvGraphicFramePr>
            <a:graphicFrameLocks noChangeAspect="1"/>
          </p:cNvGraphicFramePr>
          <p:nvPr/>
        </p:nvGraphicFramePr>
        <p:xfrm>
          <a:off x="793750" y="1549400"/>
          <a:ext cx="12954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" r:id="rId43" imgW="383540" imgH="299720" progId="Equation.3">
                  <p:embed/>
                </p:oleObj>
              </mc:Choice>
              <mc:Fallback>
                <p:oleObj r:id="rId43" imgW="383540" imgH="29972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4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3750" y="1549400"/>
                        <a:ext cx="1295400" cy="1020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6" name="Object 14"/>
          <p:cNvGraphicFramePr>
            <a:graphicFrameLocks noChangeAspect="1"/>
          </p:cNvGraphicFramePr>
          <p:nvPr/>
        </p:nvGraphicFramePr>
        <p:xfrm>
          <a:off x="781050" y="3105150"/>
          <a:ext cx="36464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" r:id="rId45" imgW="1113790" imgH="299720" progId="Equation.3">
                  <p:embed/>
                </p:oleObj>
              </mc:Choice>
              <mc:Fallback>
                <p:oleObj r:id="rId45" imgW="1113790" imgH="29972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6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1050" y="3105150"/>
                        <a:ext cx="3646488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7" name="Object 65"/>
          <p:cNvGraphicFramePr>
            <a:graphicFrameLocks noChangeAspect="1"/>
          </p:cNvGraphicFramePr>
          <p:nvPr/>
        </p:nvGraphicFramePr>
        <p:xfrm>
          <a:off x="565150" y="2647950"/>
          <a:ext cx="36576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" r:id="rId47" imgW="1061720" imgH="141605" progId="Equation.3">
                  <p:embed/>
                </p:oleObj>
              </mc:Choice>
              <mc:Fallback>
                <p:oleObj r:id="rId47" imgW="1061720" imgH="14160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8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5150" y="2647950"/>
                        <a:ext cx="3657600" cy="517525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 w="19050" cap="flat" cmpd="sng">
                        <a:solidFill>
                          <a:srgbClr val="00800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7" name="Object 15"/>
          <p:cNvGraphicFramePr>
            <a:graphicFrameLocks noChangeAspect="1"/>
          </p:cNvGraphicFramePr>
          <p:nvPr/>
        </p:nvGraphicFramePr>
        <p:xfrm>
          <a:off x="781050" y="4933950"/>
          <a:ext cx="37512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" r:id="rId49" imgW="1145540" imgH="157480" progId="Equation.3">
                  <p:embed/>
                </p:oleObj>
              </mc:Choice>
              <mc:Fallback>
                <p:oleObj r:id="rId49" imgW="1145540" imgH="15748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0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1050" y="4933950"/>
                        <a:ext cx="3751263" cy="577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78" name="Object 66"/>
          <p:cNvGraphicFramePr>
            <a:graphicFrameLocks noChangeAspect="1"/>
          </p:cNvGraphicFramePr>
          <p:nvPr/>
        </p:nvGraphicFramePr>
        <p:xfrm>
          <a:off x="539750" y="4171950"/>
          <a:ext cx="400685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" r:id="rId51" imgW="1129665" imgH="157480" progId="Equation.3">
                  <p:embed/>
                </p:oleObj>
              </mc:Choice>
              <mc:Fallback>
                <p:oleObj r:id="rId51" imgW="1129665" imgH="15748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52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171950"/>
                        <a:ext cx="4006850" cy="581025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 w="19050" cap="flat" cmpd="sng">
                        <a:solidFill>
                          <a:srgbClr val="99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208" name="Freeform 96"/>
          <p:cNvSpPr>
            <a:spLocks noChangeAspect="1"/>
          </p:cNvSpPr>
          <p:nvPr/>
        </p:nvSpPr>
        <p:spPr>
          <a:xfrm>
            <a:off x="5740400" y="1460500"/>
            <a:ext cx="2260600" cy="9144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625" h="1183">
                <a:moveTo>
                  <a:pt x="0" y="0"/>
                </a:moveTo>
                <a:lnTo>
                  <a:pt x="37" y="4"/>
                </a:lnTo>
                <a:lnTo>
                  <a:pt x="71" y="14"/>
                </a:lnTo>
                <a:lnTo>
                  <a:pt x="108" y="32"/>
                </a:lnTo>
                <a:lnTo>
                  <a:pt x="144" y="58"/>
                </a:lnTo>
                <a:lnTo>
                  <a:pt x="180" y="89"/>
                </a:lnTo>
                <a:lnTo>
                  <a:pt x="215" y="127"/>
                </a:lnTo>
                <a:lnTo>
                  <a:pt x="251" y="170"/>
                </a:lnTo>
                <a:lnTo>
                  <a:pt x="287" y="219"/>
                </a:lnTo>
                <a:lnTo>
                  <a:pt x="324" y="272"/>
                </a:lnTo>
                <a:lnTo>
                  <a:pt x="359" y="329"/>
                </a:lnTo>
                <a:lnTo>
                  <a:pt x="395" y="390"/>
                </a:lnTo>
                <a:lnTo>
                  <a:pt x="432" y="453"/>
                </a:lnTo>
                <a:lnTo>
                  <a:pt x="467" y="517"/>
                </a:lnTo>
                <a:lnTo>
                  <a:pt x="503" y="583"/>
                </a:lnTo>
                <a:lnTo>
                  <a:pt x="540" y="649"/>
                </a:lnTo>
                <a:lnTo>
                  <a:pt x="575" y="713"/>
                </a:lnTo>
                <a:lnTo>
                  <a:pt x="612" y="777"/>
                </a:lnTo>
                <a:lnTo>
                  <a:pt x="646" y="839"/>
                </a:lnTo>
                <a:lnTo>
                  <a:pt x="683" y="896"/>
                </a:lnTo>
                <a:lnTo>
                  <a:pt x="720" y="951"/>
                </a:lnTo>
                <a:lnTo>
                  <a:pt x="754" y="1001"/>
                </a:lnTo>
                <a:lnTo>
                  <a:pt x="791" y="1046"/>
                </a:lnTo>
                <a:lnTo>
                  <a:pt x="828" y="1085"/>
                </a:lnTo>
                <a:lnTo>
                  <a:pt x="863" y="1118"/>
                </a:lnTo>
                <a:lnTo>
                  <a:pt x="899" y="1145"/>
                </a:lnTo>
                <a:lnTo>
                  <a:pt x="936" y="1165"/>
                </a:lnTo>
                <a:lnTo>
                  <a:pt x="971" y="1178"/>
                </a:lnTo>
                <a:lnTo>
                  <a:pt x="1008" y="1183"/>
                </a:lnTo>
                <a:lnTo>
                  <a:pt x="1042" y="1182"/>
                </a:lnTo>
                <a:lnTo>
                  <a:pt x="1079" y="1173"/>
                </a:lnTo>
                <a:lnTo>
                  <a:pt x="1115" y="1157"/>
                </a:lnTo>
                <a:lnTo>
                  <a:pt x="1151" y="1134"/>
                </a:lnTo>
                <a:lnTo>
                  <a:pt x="1186" y="1104"/>
                </a:lnTo>
                <a:lnTo>
                  <a:pt x="1223" y="1068"/>
                </a:lnTo>
                <a:lnTo>
                  <a:pt x="1259" y="1026"/>
                </a:lnTo>
                <a:lnTo>
                  <a:pt x="1295" y="979"/>
                </a:lnTo>
                <a:lnTo>
                  <a:pt x="1331" y="927"/>
                </a:lnTo>
                <a:lnTo>
                  <a:pt x="1366" y="870"/>
                </a:lnTo>
                <a:lnTo>
                  <a:pt x="1403" y="811"/>
                </a:lnTo>
                <a:lnTo>
                  <a:pt x="1437" y="749"/>
                </a:lnTo>
                <a:lnTo>
                  <a:pt x="1474" y="685"/>
                </a:lnTo>
                <a:lnTo>
                  <a:pt x="1511" y="620"/>
                </a:lnTo>
                <a:lnTo>
                  <a:pt x="1546" y="553"/>
                </a:lnTo>
                <a:lnTo>
                  <a:pt x="1582" y="488"/>
                </a:lnTo>
                <a:lnTo>
                  <a:pt x="1619" y="424"/>
                </a:lnTo>
                <a:lnTo>
                  <a:pt x="1654" y="362"/>
                </a:lnTo>
                <a:lnTo>
                  <a:pt x="1691" y="303"/>
                </a:lnTo>
                <a:lnTo>
                  <a:pt x="1727" y="247"/>
                </a:lnTo>
                <a:lnTo>
                  <a:pt x="1762" y="197"/>
                </a:lnTo>
                <a:lnTo>
                  <a:pt x="1799" y="150"/>
                </a:lnTo>
                <a:lnTo>
                  <a:pt x="1834" y="109"/>
                </a:lnTo>
                <a:lnTo>
                  <a:pt x="1870" y="75"/>
                </a:lnTo>
                <a:lnTo>
                  <a:pt x="1907" y="45"/>
                </a:lnTo>
                <a:lnTo>
                  <a:pt x="1942" y="24"/>
                </a:lnTo>
                <a:lnTo>
                  <a:pt x="1979" y="9"/>
                </a:lnTo>
                <a:lnTo>
                  <a:pt x="2014" y="1"/>
                </a:lnTo>
                <a:lnTo>
                  <a:pt x="2050" y="1"/>
                </a:lnTo>
                <a:lnTo>
                  <a:pt x="2086" y="8"/>
                </a:lnTo>
                <a:lnTo>
                  <a:pt x="2123" y="22"/>
                </a:lnTo>
                <a:lnTo>
                  <a:pt x="2157" y="43"/>
                </a:lnTo>
                <a:lnTo>
                  <a:pt x="2194" y="71"/>
                </a:lnTo>
                <a:lnTo>
                  <a:pt x="2230" y="105"/>
                </a:lnTo>
                <a:lnTo>
                  <a:pt x="2265" y="146"/>
                </a:lnTo>
                <a:lnTo>
                  <a:pt x="2302" y="191"/>
                </a:lnTo>
                <a:lnTo>
                  <a:pt x="2337" y="242"/>
                </a:lnTo>
                <a:lnTo>
                  <a:pt x="2374" y="298"/>
                </a:lnTo>
                <a:lnTo>
                  <a:pt x="2410" y="356"/>
                </a:lnTo>
                <a:lnTo>
                  <a:pt x="2445" y="418"/>
                </a:lnTo>
                <a:lnTo>
                  <a:pt x="2482" y="481"/>
                </a:lnTo>
                <a:lnTo>
                  <a:pt x="2519" y="547"/>
                </a:lnTo>
                <a:lnTo>
                  <a:pt x="2553" y="613"/>
                </a:lnTo>
                <a:lnTo>
                  <a:pt x="2590" y="679"/>
                </a:lnTo>
                <a:lnTo>
                  <a:pt x="2625" y="742"/>
                </a:lnTo>
              </a:path>
            </a:pathLst>
          </a:custGeom>
          <a:noFill/>
          <a:ln w="28575" cap="flat" cmpd="sng">
            <a:solidFill>
              <a:srgbClr val="0000FF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209" name="Freeform 97"/>
          <p:cNvSpPr>
            <a:spLocks noChangeAspect="1"/>
          </p:cNvSpPr>
          <p:nvPr/>
        </p:nvSpPr>
        <p:spPr>
          <a:xfrm flipV="1">
            <a:off x="5734050" y="4572000"/>
            <a:ext cx="2254250" cy="1103313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625" h="1183">
                <a:moveTo>
                  <a:pt x="0" y="0"/>
                </a:moveTo>
                <a:lnTo>
                  <a:pt x="37" y="4"/>
                </a:lnTo>
                <a:lnTo>
                  <a:pt x="71" y="14"/>
                </a:lnTo>
                <a:lnTo>
                  <a:pt x="108" y="32"/>
                </a:lnTo>
                <a:lnTo>
                  <a:pt x="144" y="58"/>
                </a:lnTo>
                <a:lnTo>
                  <a:pt x="180" y="89"/>
                </a:lnTo>
                <a:lnTo>
                  <a:pt x="215" y="127"/>
                </a:lnTo>
                <a:lnTo>
                  <a:pt x="251" y="170"/>
                </a:lnTo>
                <a:lnTo>
                  <a:pt x="287" y="219"/>
                </a:lnTo>
                <a:lnTo>
                  <a:pt x="324" y="272"/>
                </a:lnTo>
                <a:lnTo>
                  <a:pt x="359" y="329"/>
                </a:lnTo>
                <a:lnTo>
                  <a:pt x="395" y="390"/>
                </a:lnTo>
                <a:lnTo>
                  <a:pt x="432" y="453"/>
                </a:lnTo>
                <a:lnTo>
                  <a:pt x="467" y="517"/>
                </a:lnTo>
                <a:lnTo>
                  <a:pt x="503" y="583"/>
                </a:lnTo>
                <a:lnTo>
                  <a:pt x="540" y="649"/>
                </a:lnTo>
                <a:lnTo>
                  <a:pt x="575" y="713"/>
                </a:lnTo>
                <a:lnTo>
                  <a:pt x="612" y="777"/>
                </a:lnTo>
                <a:lnTo>
                  <a:pt x="646" y="839"/>
                </a:lnTo>
                <a:lnTo>
                  <a:pt x="683" y="896"/>
                </a:lnTo>
                <a:lnTo>
                  <a:pt x="720" y="951"/>
                </a:lnTo>
                <a:lnTo>
                  <a:pt x="754" y="1001"/>
                </a:lnTo>
                <a:lnTo>
                  <a:pt x="791" y="1046"/>
                </a:lnTo>
                <a:lnTo>
                  <a:pt x="828" y="1085"/>
                </a:lnTo>
                <a:lnTo>
                  <a:pt x="863" y="1118"/>
                </a:lnTo>
                <a:lnTo>
                  <a:pt x="899" y="1145"/>
                </a:lnTo>
                <a:lnTo>
                  <a:pt x="936" y="1165"/>
                </a:lnTo>
                <a:lnTo>
                  <a:pt x="971" y="1178"/>
                </a:lnTo>
                <a:lnTo>
                  <a:pt x="1008" y="1183"/>
                </a:lnTo>
                <a:lnTo>
                  <a:pt x="1042" y="1182"/>
                </a:lnTo>
                <a:lnTo>
                  <a:pt x="1079" y="1173"/>
                </a:lnTo>
                <a:lnTo>
                  <a:pt x="1115" y="1157"/>
                </a:lnTo>
                <a:lnTo>
                  <a:pt x="1151" y="1134"/>
                </a:lnTo>
                <a:lnTo>
                  <a:pt x="1186" y="1104"/>
                </a:lnTo>
                <a:lnTo>
                  <a:pt x="1223" y="1068"/>
                </a:lnTo>
                <a:lnTo>
                  <a:pt x="1259" y="1026"/>
                </a:lnTo>
                <a:lnTo>
                  <a:pt x="1295" y="979"/>
                </a:lnTo>
                <a:lnTo>
                  <a:pt x="1331" y="927"/>
                </a:lnTo>
                <a:lnTo>
                  <a:pt x="1366" y="870"/>
                </a:lnTo>
                <a:lnTo>
                  <a:pt x="1403" y="811"/>
                </a:lnTo>
                <a:lnTo>
                  <a:pt x="1437" y="749"/>
                </a:lnTo>
                <a:lnTo>
                  <a:pt x="1474" y="685"/>
                </a:lnTo>
                <a:lnTo>
                  <a:pt x="1511" y="620"/>
                </a:lnTo>
                <a:lnTo>
                  <a:pt x="1546" y="553"/>
                </a:lnTo>
                <a:lnTo>
                  <a:pt x="1582" y="488"/>
                </a:lnTo>
                <a:lnTo>
                  <a:pt x="1619" y="424"/>
                </a:lnTo>
                <a:lnTo>
                  <a:pt x="1654" y="362"/>
                </a:lnTo>
                <a:lnTo>
                  <a:pt x="1691" y="303"/>
                </a:lnTo>
                <a:lnTo>
                  <a:pt x="1727" y="247"/>
                </a:lnTo>
                <a:lnTo>
                  <a:pt x="1762" y="197"/>
                </a:lnTo>
                <a:lnTo>
                  <a:pt x="1799" y="150"/>
                </a:lnTo>
                <a:lnTo>
                  <a:pt x="1834" y="109"/>
                </a:lnTo>
                <a:lnTo>
                  <a:pt x="1870" y="75"/>
                </a:lnTo>
                <a:lnTo>
                  <a:pt x="1907" y="45"/>
                </a:lnTo>
                <a:lnTo>
                  <a:pt x="1942" y="24"/>
                </a:lnTo>
                <a:lnTo>
                  <a:pt x="1979" y="9"/>
                </a:lnTo>
                <a:lnTo>
                  <a:pt x="2014" y="1"/>
                </a:lnTo>
                <a:lnTo>
                  <a:pt x="2050" y="1"/>
                </a:lnTo>
                <a:lnTo>
                  <a:pt x="2086" y="8"/>
                </a:lnTo>
                <a:lnTo>
                  <a:pt x="2123" y="22"/>
                </a:lnTo>
                <a:lnTo>
                  <a:pt x="2157" y="43"/>
                </a:lnTo>
                <a:lnTo>
                  <a:pt x="2194" y="71"/>
                </a:lnTo>
                <a:lnTo>
                  <a:pt x="2230" y="105"/>
                </a:lnTo>
                <a:lnTo>
                  <a:pt x="2265" y="146"/>
                </a:lnTo>
                <a:lnTo>
                  <a:pt x="2302" y="191"/>
                </a:lnTo>
                <a:lnTo>
                  <a:pt x="2337" y="242"/>
                </a:lnTo>
                <a:lnTo>
                  <a:pt x="2374" y="298"/>
                </a:lnTo>
                <a:lnTo>
                  <a:pt x="2410" y="356"/>
                </a:lnTo>
                <a:lnTo>
                  <a:pt x="2445" y="418"/>
                </a:lnTo>
                <a:lnTo>
                  <a:pt x="2482" y="481"/>
                </a:lnTo>
                <a:lnTo>
                  <a:pt x="2519" y="547"/>
                </a:lnTo>
                <a:lnTo>
                  <a:pt x="2553" y="613"/>
                </a:lnTo>
                <a:lnTo>
                  <a:pt x="2590" y="679"/>
                </a:lnTo>
                <a:lnTo>
                  <a:pt x="2625" y="742"/>
                </a:lnTo>
              </a:path>
            </a:pathLst>
          </a:custGeom>
          <a:noFill/>
          <a:ln w="28575" cap="flat" cmpd="sng">
            <a:solidFill>
              <a:srgbClr val="CC00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211" name="Freeform 99"/>
          <p:cNvSpPr/>
          <p:nvPr/>
        </p:nvSpPr>
        <p:spPr>
          <a:xfrm>
            <a:off x="5740400" y="2933700"/>
            <a:ext cx="2184400" cy="9906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3290" h="1327">
                <a:moveTo>
                  <a:pt x="0" y="664"/>
                </a:moveTo>
                <a:lnTo>
                  <a:pt x="34" y="714"/>
                </a:lnTo>
                <a:lnTo>
                  <a:pt x="66" y="765"/>
                </a:lnTo>
                <a:lnTo>
                  <a:pt x="100" y="816"/>
                </a:lnTo>
                <a:lnTo>
                  <a:pt x="133" y="865"/>
                </a:lnTo>
                <a:lnTo>
                  <a:pt x="166" y="912"/>
                </a:lnTo>
                <a:lnTo>
                  <a:pt x="199" y="959"/>
                </a:lnTo>
                <a:lnTo>
                  <a:pt x="232" y="1003"/>
                </a:lnTo>
                <a:lnTo>
                  <a:pt x="265" y="1046"/>
                </a:lnTo>
                <a:lnTo>
                  <a:pt x="299" y="1086"/>
                </a:lnTo>
                <a:lnTo>
                  <a:pt x="332" y="1124"/>
                </a:lnTo>
                <a:lnTo>
                  <a:pt x="365" y="1160"/>
                </a:lnTo>
                <a:lnTo>
                  <a:pt x="399" y="1192"/>
                </a:lnTo>
                <a:lnTo>
                  <a:pt x="431" y="1221"/>
                </a:lnTo>
                <a:lnTo>
                  <a:pt x="465" y="1247"/>
                </a:lnTo>
                <a:lnTo>
                  <a:pt x="499" y="1270"/>
                </a:lnTo>
                <a:lnTo>
                  <a:pt x="531" y="1289"/>
                </a:lnTo>
                <a:lnTo>
                  <a:pt x="565" y="1304"/>
                </a:lnTo>
                <a:lnTo>
                  <a:pt x="597" y="1315"/>
                </a:lnTo>
                <a:lnTo>
                  <a:pt x="631" y="1323"/>
                </a:lnTo>
                <a:lnTo>
                  <a:pt x="665" y="1327"/>
                </a:lnTo>
                <a:lnTo>
                  <a:pt x="697" y="1327"/>
                </a:lnTo>
                <a:lnTo>
                  <a:pt x="731" y="1323"/>
                </a:lnTo>
                <a:lnTo>
                  <a:pt x="765" y="1315"/>
                </a:lnTo>
                <a:lnTo>
                  <a:pt x="797" y="1303"/>
                </a:lnTo>
                <a:lnTo>
                  <a:pt x="831" y="1287"/>
                </a:lnTo>
                <a:lnTo>
                  <a:pt x="865" y="1269"/>
                </a:lnTo>
                <a:lnTo>
                  <a:pt x="897" y="1246"/>
                </a:lnTo>
                <a:lnTo>
                  <a:pt x="931" y="1220"/>
                </a:lnTo>
                <a:lnTo>
                  <a:pt x="963" y="1189"/>
                </a:lnTo>
                <a:lnTo>
                  <a:pt x="997" y="1157"/>
                </a:lnTo>
                <a:lnTo>
                  <a:pt x="1030" y="1121"/>
                </a:lnTo>
                <a:lnTo>
                  <a:pt x="1063" y="1083"/>
                </a:lnTo>
                <a:lnTo>
                  <a:pt x="1096" y="1043"/>
                </a:lnTo>
                <a:lnTo>
                  <a:pt x="1130" y="1000"/>
                </a:lnTo>
                <a:lnTo>
                  <a:pt x="1163" y="955"/>
                </a:lnTo>
                <a:lnTo>
                  <a:pt x="1196" y="908"/>
                </a:lnTo>
                <a:lnTo>
                  <a:pt x="1230" y="860"/>
                </a:lnTo>
                <a:lnTo>
                  <a:pt x="1262" y="811"/>
                </a:lnTo>
                <a:lnTo>
                  <a:pt x="1296" y="762"/>
                </a:lnTo>
                <a:lnTo>
                  <a:pt x="1328" y="711"/>
                </a:lnTo>
                <a:lnTo>
                  <a:pt x="1362" y="659"/>
                </a:lnTo>
                <a:lnTo>
                  <a:pt x="1396" y="608"/>
                </a:lnTo>
                <a:lnTo>
                  <a:pt x="1428" y="558"/>
                </a:lnTo>
                <a:lnTo>
                  <a:pt x="1462" y="509"/>
                </a:lnTo>
                <a:lnTo>
                  <a:pt x="1496" y="459"/>
                </a:lnTo>
                <a:lnTo>
                  <a:pt x="1528" y="412"/>
                </a:lnTo>
                <a:lnTo>
                  <a:pt x="1562" y="366"/>
                </a:lnTo>
                <a:lnTo>
                  <a:pt x="1596" y="321"/>
                </a:lnTo>
                <a:lnTo>
                  <a:pt x="1628" y="278"/>
                </a:lnTo>
                <a:lnTo>
                  <a:pt x="1662" y="238"/>
                </a:lnTo>
                <a:lnTo>
                  <a:pt x="1694" y="200"/>
                </a:lnTo>
                <a:lnTo>
                  <a:pt x="1728" y="165"/>
                </a:lnTo>
                <a:lnTo>
                  <a:pt x="1762" y="132"/>
                </a:lnTo>
                <a:lnTo>
                  <a:pt x="1794" y="105"/>
                </a:lnTo>
                <a:lnTo>
                  <a:pt x="1828" y="79"/>
                </a:lnTo>
                <a:lnTo>
                  <a:pt x="1861" y="55"/>
                </a:lnTo>
                <a:lnTo>
                  <a:pt x="1894" y="37"/>
                </a:lnTo>
                <a:lnTo>
                  <a:pt x="1927" y="23"/>
                </a:lnTo>
                <a:lnTo>
                  <a:pt x="1961" y="11"/>
                </a:lnTo>
                <a:lnTo>
                  <a:pt x="1993" y="3"/>
                </a:lnTo>
                <a:lnTo>
                  <a:pt x="2027" y="0"/>
                </a:lnTo>
                <a:lnTo>
                  <a:pt x="2060" y="0"/>
                </a:lnTo>
                <a:lnTo>
                  <a:pt x="2093" y="5"/>
                </a:lnTo>
                <a:lnTo>
                  <a:pt x="2127" y="14"/>
                </a:lnTo>
                <a:lnTo>
                  <a:pt x="2159" y="26"/>
                </a:lnTo>
                <a:lnTo>
                  <a:pt x="2193" y="42"/>
                </a:lnTo>
                <a:lnTo>
                  <a:pt x="2227" y="62"/>
                </a:lnTo>
                <a:lnTo>
                  <a:pt x="2259" y="85"/>
                </a:lnTo>
                <a:lnTo>
                  <a:pt x="2293" y="111"/>
                </a:lnTo>
                <a:lnTo>
                  <a:pt x="2327" y="140"/>
                </a:lnTo>
                <a:lnTo>
                  <a:pt x="2359" y="172"/>
                </a:lnTo>
                <a:lnTo>
                  <a:pt x="2393" y="209"/>
                </a:lnTo>
                <a:lnTo>
                  <a:pt x="2425" y="247"/>
                </a:lnTo>
                <a:lnTo>
                  <a:pt x="2459" y="287"/>
                </a:lnTo>
                <a:lnTo>
                  <a:pt x="2493" y="330"/>
                </a:lnTo>
                <a:lnTo>
                  <a:pt x="2525" y="376"/>
                </a:lnTo>
                <a:lnTo>
                  <a:pt x="2559" y="423"/>
                </a:lnTo>
                <a:lnTo>
                  <a:pt x="2593" y="470"/>
                </a:lnTo>
                <a:lnTo>
                  <a:pt x="2625" y="519"/>
                </a:lnTo>
                <a:lnTo>
                  <a:pt x="2659" y="570"/>
                </a:lnTo>
                <a:lnTo>
                  <a:pt x="2692" y="621"/>
                </a:lnTo>
                <a:lnTo>
                  <a:pt x="2725" y="671"/>
                </a:lnTo>
                <a:lnTo>
                  <a:pt x="2758" y="722"/>
                </a:lnTo>
                <a:lnTo>
                  <a:pt x="2791" y="773"/>
                </a:lnTo>
                <a:lnTo>
                  <a:pt x="2824" y="823"/>
                </a:lnTo>
                <a:lnTo>
                  <a:pt x="2858" y="871"/>
                </a:lnTo>
                <a:lnTo>
                  <a:pt x="2890" y="919"/>
                </a:lnTo>
                <a:lnTo>
                  <a:pt x="2924" y="966"/>
                </a:lnTo>
                <a:lnTo>
                  <a:pt x="2958" y="1009"/>
                </a:lnTo>
                <a:lnTo>
                  <a:pt x="2990" y="1052"/>
                </a:lnTo>
                <a:lnTo>
                  <a:pt x="3024" y="1092"/>
                </a:lnTo>
                <a:lnTo>
                  <a:pt x="3058" y="1131"/>
                </a:lnTo>
                <a:lnTo>
                  <a:pt x="3090" y="1164"/>
                </a:lnTo>
                <a:lnTo>
                  <a:pt x="3124" y="1197"/>
                </a:lnTo>
                <a:lnTo>
                  <a:pt x="3156" y="1226"/>
                </a:lnTo>
                <a:lnTo>
                  <a:pt x="3190" y="1250"/>
                </a:lnTo>
                <a:lnTo>
                  <a:pt x="3224" y="1273"/>
                </a:lnTo>
                <a:lnTo>
                  <a:pt x="3256" y="1292"/>
                </a:lnTo>
                <a:lnTo>
                  <a:pt x="3290" y="1306"/>
                </a:lnTo>
              </a:path>
            </a:pathLst>
          </a:custGeom>
          <a:noFill/>
          <a:ln w="28575" cap="flat" cmpd="sng">
            <a:solidFill>
              <a:srgbClr val="0099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99" name="Object 114"/>
          <p:cNvGraphicFramePr>
            <a:graphicFrameLocks noChangeAspect="1"/>
          </p:cNvGraphicFramePr>
          <p:nvPr/>
        </p:nvGraphicFramePr>
        <p:xfrm>
          <a:off x="7277100" y="3429000"/>
          <a:ext cx="2857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" r:id="rId53" imgW="115570" imgH="131445" progId="Equation.3">
                  <p:embed/>
                </p:oleObj>
              </mc:Choice>
              <mc:Fallback>
                <p:oleObj r:id="rId53" imgW="115570" imgH="131445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7277100" y="3429000"/>
                        <a:ext cx="285750" cy="312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00" name="Rectangle 118"/>
          <p:cNvSpPr/>
          <p:nvPr/>
        </p:nvSpPr>
        <p:spPr>
          <a:xfrm>
            <a:off x="2846388" y="44450"/>
            <a:ext cx="36703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简谐运动的图像</a:t>
            </a:r>
            <a:endParaRPr lang="en-US" altLang="zh-CN" sz="360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9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0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9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90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组合 22"/>
          <p:cNvGrpSpPr/>
          <p:nvPr/>
        </p:nvGrpSpPr>
        <p:grpSpPr>
          <a:xfrm>
            <a:off x="2792413" y="2636838"/>
            <a:ext cx="4083050" cy="1800225"/>
            <a:chOff x="2359720" y="1628800"/>
            <a:chExt cx="4084487" cy="1800200"/>
          </a:xfrm>
        </p:grpSpPr>
        <p:grpSp>
          <p:nvGrpSpPr>
            <p:cNvPr id="7175" name="Group 69"/>
            <p:cNvGrpSpPr/>
            <p:nvPr/>
          </p:nvGrpSpPr>
          <p:grpSpPr>
            <a:xfrm>
              <a:off x="2359720" y="1772816"/>
              <a:ext cx="4084487" cy="1645449"/>
              <a:chOff x="2338" y="838"/>
              <a:chExt cx="2025" cy="840"/>
            </a:xfrm>
          </p:grpSpPr>
          <p:sp>
            <p:nvSpPr>
              <p:cNvPr id="7185" name="Line 3"/>
              <p:cNvSpPr/>
              <p:nvPr/>
            </p:nvSpPr>
            <p:spPr>
              <a:xfrm flipV="1">
                <a:off x="2548" y="1403"/>
                <a:ext cx="1801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6" name="Line 11"/>
              <p:cNvSpPr/>
              <p:nvPr/>
            </p:nvSpPr>
            <p:spPr>
              <a:xfrm>
                <a:off x="2548" y="1127"/>
                <a:ext cx="167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7" name="Line 12"/>
              <p:cNvSpPr/>
              <p:nvPr/>
            </p:nvSpPr>
            <p:spPr>
              <a:xfrm>
                <a:off x="2548" y="1678"/>
                <a:ext cx="167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8" name="Line 13"/>
              <p:cNvSpPr/>
              <p:nvPr/>
            </p:nvSpPr>
            <p:spPr>
              <a:xfrm flipV="1">
                <a:off x="2548" y="838"/>
                <a:ext cx="0" cy="82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189" name="Object 19"/>
              <p:cNvGraphicFramePr>
                <a:graphicFrameLocks noChangeAspect="1"/>
              </p:cNvGraphicFramePr>
              <p:nvPr/>
            </p:nvGraphicFramePr>
            <p:xfrm>
              <a:off x="4225" y="1166"/>
              <a:ext cx="138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4" r:id="rId4" imgW="114300" imgH="215900" progId="Equation.3">
                      <p:embed/>
                    </p:oleObj>
                  </mc:Choice>
                  <mc:Fallback>
                    <p:oleObj r:id="rId4" imgW="114300" imgH="215900" progId="Equation.3">
                      <p:embed/>
                      <p:pic>
                        <p:nvPicPr>
                          <p:cNvPr id="0" name="图片 3107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225" y="1166"/>
                            <a:ext cx="138" cy="2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90" name="Object 22"/>
              <p:cNvGraphicFramePr>
                <a:graphicFrameLocks noChangeAspect="1"/>
              </p:cNvGraphicFramePr>
              <p:nvPr/>
            </p:nvGraphicFramePr>
            <p:xfrm>
              <a:off x="2338" y="1324"/>
              <a:ext cx="224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5" r:id="rId6" imgW="127000" imgH="139700" progId="Equation.3">
                      <p:embed/>
                    </p:oleObj>
                  </mc:Choice>
                  <mc:Fallback>
                    <p:oleObj r:id="rId6" imgW="127000" imgH="139700" progId="Equation.3">
                      <p:embed/>
                      <p:pic>
                        <p:nvPicPr>
                          <p:cNvPr id="0" name="图片 3108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2338" y="1324"/>
                            <a:ext cx="224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176" name="Freeform 56"/>
            <p:cNvSpPr>
              <a:spLocks noChangeAspect="1"/>
            </p:cNvSpPr>
            <p:nvPr/>
          </p:nvSpPr>
          <p:spPr>
            <a:xfrm>
              <a:off x="2771800" y="2364395"/>
              <a:ext cx="2260600" cy="9144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7" name="Freeform 58"/>
            <p:cNvSpPr/>
            <p:nvPr/>
          </p:nvSpPr>
          <p:spPr>
            <a:xfrm>
              <a:off x="2783295" y="2364395"/>
              <a:ext cx="2184400" cy="990600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0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3290" h="1327">
                  <a:moveTo>
                    <a:pt x="0" y="664"/>
                  </a:moveTo>
                  <a:lnTo>
                    <a:pt x="34" y="714"/>
                  </a:lnTo>
                  <a:lnTo>
                    <a:pt x="66" y="765"/>
                  </a:lnTo>
                  <a:lnTo>
                    <a:pt x="100" y="816"/>
                  </a:lnTo>
                  <a:lnTo>
                    <a:pt x="133" y="865"/>
                  </a:lnTo>
                  <a:lnTo>
                    <a:pt x="166" y="912"/>
                  </a:lnTo>
                  <a:lnTo>
                    <a:pt x="199" y="959"/>
                  </a:lnTo>
                  <a:lnTo>
                    <a:pt x="232" y="1003"/>
                  </a:lnTo>
                  <a:lnTo>
                    <a:pt x="265" y="1046"/>
                  </a:lnTo>
                  <a:lnTo>
                    <a:pt x="299" y="1086"/>
                  </a:lnTo>
                  <a:lnTo>
                    <a:pt x="332" y="1124"/>
                  </a:lnTo>
                  <a:lnTo>
                    <a:pt x="365" y="1160"/>
                  </a:lnTo>
                  <a:lnTo>
                    <a:pt x="399" y="1192"/>
                  </a:lnTo>
                  <a:lnTo>
                    <a:pt x="431" y="1221"/>
                  </a:lnTo>
                  <a:lnTo>
                    <a:pt x="465" y="1247"/>
                  </a:lnTo>
                  <a:lnTo>
                    <a:pt x="499" y="1270"/>
                  </a:lnTo>
                  <a:lnTo>
                    <a:pt x="531" y="1289"/>
                  </a:lnTo>
                  <a:lnTo>
                    <a:pt x="565" y="1304"/>
                  </a:lnTo>
                  <a:lnTo>
                    <a:pt x="597" y="1315"/>
                  </a:lnTo>
                  <a:lnTo>
                    <a:pt x="631" y="1323"/>
                  </a:lnTo>
                  <a:lnTo>
                    <a:pt x="665" y="1327"/>
                  </a:lnTo>
                  <a:lnTo>
                    <a:pt x="697" y="1327"/>
                  </a:lnTo>
                  <a:lnTo>
                    <a:pt x="731" y="1323"/>
                  </a:lnTo>
                  <a:lnTo>
                    <a:pt x="765" y="1315"/>
                  </a:lnTo>
                  <a:lnTo>
                    <a:pt x="797" y="1303"/>
                  </a:lnTo>
                  <a:lnTo>
                    <a:pt x="831" y="1287"/>
                  </a:lnTo>
                  <a:lnTo>
                    <a:pt x="865" y="1269"/>
                  </a:lnTo>
                  <a:lnTo>
                    <a:pt x="897" y="1246"/>
                  </a:lnTo>
                  <a:lnTo>
                    <a:pt x="931" y="1220"/>
                  </a:lnTo>
                  <a:lnTo>
                    <a:pt x="963" y="1189"/>
                  </a:lnTo>
                  <a:lnTo>
                    <a:pt x="997" y="1157"/>
                  </a:lnTo>
                  <a:lnTo>
                    <a:pt x="1030" y="1121"/>
                  </a:lnTo>
                  <a:lnTo>
                    <a:pt x="1063" y="1083"/>
                  </a:lnTo>
                  <a:lnTo>
                    <a:pt x="1096" y="1043"/>
                  </a:lnTo>
                  <a:lnTo>
                    <a:pt x="1130" y="1000"/>
                  </a:lnTo>
                  <a:lnTo>
                    <a:pt x="1163" y="955"/>
                  </a:lnTo>
                  <a:lnTo>
                    <a:pt x="1196" y="908"/>
                  </a:lnTo>
                  <a:lnTo>
                    <a:pt x="1230" y="860"/>
                  </a:lnTo>
                  <a:lnTo>
                    <a:pt x="1262" y="811"/>
                  </a:lnTo>
                  <a:lnTo>
                    <a:pt x="1296" y="762"/>
                  </a:lnTo>
                  <a:lnTo>
                    <a:pt x="1328" y="711"/>
                  </a:lnTo>
                  <a:lnTo>
                    <a:pt x="1362" y="659"/>
                  </a:lnTo>
                  <a:lnTo>
                    <a:pt x="1396" y="608"/>
                  </a:lnTo>
                  <a:lnTo>
                    <a:pt x="1428" y="558"/>
                  </a:lnTo>
                  <a:lnTo>
                    <a:pt x="1462" y="509"/>
                  </a:lnTo>
                  <a:lnTo>
                    <a:pt x="1496" y="459"/>
                  </a:lnTo>
                  <a:lnTo>
                    <a:pt x="1528" y="412"/>
                  </a:lnTo>
                  <a:lnTo>
                    <a:pt x="1562" y="366"/>
                  </a:lnTo>
                  <a:lnTo>
                    <a:pt x="1596" y="321"/>
                  </a:lnTo>
                  <a:lnTo>
                    <a:pt x="1628" y="278"/>
                  </a:lnTo>
                  <a:lnTo>
                    <a:pt x="1662" y="238"/>
                  </a:lnTo>
                  <a:lnTo>
                    <a:pt x="1694" y="200"/>
                  </a:lnTo>
                  <a:lnTo>
                    <a:pt x="1728" y="165"/>
                  </a:lnTo>
                  <a:lnTo>
                    <a:pt x="1762" y="132"/>
                  </a:lnTo>
                  <a:lnTo>
                    <a:pt x="1794" y="105"/>
                  </a:lnTo>
                  <a:lnTo>
                    <a:pt x="1828" y="79"/>
                  </a:lnTo>
                  <a:lnTo>
                    <a:pt x="1861" y="55"/>
                  </a:lnTo>
                  <a:lnTo>
                    <a:pt x="1894" y="37"/>
                  </a:lnTo>
                  <a:lnTo>
                    <a:pt x="1927" y="23"/>
                  </a:lnTo>
                  <a:lnTo>
                    <a:pt x="1961" y="11"/>
                  </a:lnTo>
                  <a:lnTo>
                    <a:pt x="1993" y="3"/>
                  </a:lnTo>
                  <a:lnTo>
                    <a:pt x="2027" y="0"/>
                  </a:lnTo>
                  <a:lnTo>
                    <a:pt x="2060" y="0"/>
                  </a:lnTo>
                  <a:lnTo>
                    <a:pt x="2093" y="5"/>
                  </a:lnTo>
                  <a:lnTo>
                    <a:pt x="2127" y="14"/>
                  </a:lnTo>
                  <a:lnTo>
                    <a:pt x="2159" y="26"/>
                  </a:lnTo>
                  <a:lnTo>
                    <a:pt x="2193" y="42"/>
                  </a:lnTo>
                  <a:lnTo>
                    <a:pt x="2227" y="62"/>
                  </a:lnTo>
                  <a:lnTo>
                    <a:pt x="2259" y="85"/>
                  </a:lnTo>
                  <a:lnTo>
                    <a:pt x="2293" y="111"/>
                  </a:lnTo>
                  <a:lnTo>
                    <a:pt x="2327" y="140"/>
                  </a:lnTo>
                  <a:lnTo>
                    <a:pt x="2359" y="172"/>
                  </a:lnTo>
                  <a:lnTo>
                    <a:pt x="2393" y="209"/>
                  </a:lnTo>
                  <a:lnTo>
                    <a:pt x="2425" y="247"/>
                  </a:lnTo>
                  <a:lnTo>
                    <a:pt x="2459" y="287"/>
                  </a:lnTo>
                  <a:lnTo>
                    <a:pt x="2493" y="330"/>
                  </a:lnTo>
                  <a:lnTo>
                    <a:pt x="2525" y="376"/>
                  </a:lnTo>
                  <a:lnTo>
                    <a:pt x="2559" y="423"/>
                  </a:lnTo>
                  <a:lnTo>
                    <a:pt x="2593" y="470"/>
                  </a:lnTo>
                  <a:lnTo>
                    <a:pt x="2625" y="519"/>
                  </a:lnTo>
                  <a:lnTo>
                    <a:pt x="2659" y="570"/>
                  </a:lnTo>
                  <a:lnTo>
                    <a:pt x="2692" y="621"/>
                  </a:lnTo>
                  <a:lnTo>
                    <a:pt x="2725" y="671"/>
                  </a:lnTo>
                  <a:lnTo>
                    <a:pt x="2758" y="722"/>
                  </a:lnTo>
                  <a:lnTo>
                    <a:pt x="2791" y="773"/>
                  </a:lnTo>
                  <a:lnTo>
                    <a:pt x="2824" y="823"/>
                  </a:lnTo>
                  <a:lnTo>
                    <a:pt x="2858" y="871"/>
                  </a:lnTo>
                  <a:lnTo>
                    <a:pt x="2890" y="919"/>
                  </a:lnTo>
                  <a:lnTo>
                    <a:pt x="2924" y="966"/>
                  </a:lnTo>
                  <a:lnTo>
                    <a:pt x="2958" y="1009"/>
                  </a:lnTo>
                  <a:lnTo>
                    <a:pt x="2990" y="1052"/>
                  </a:lnTo>
                  <a:lnTo>
                    <a:pt x="3024" y="1092"/>
                  </a:lnTo>
                  <a:lnTo>
                    <a:pt x="3058" y="1131"/>
                  </a:lnTo>
                  <a:lnTo>
                    <a:pt x="3090" y="1164"/>
                  </a:lnTo>
                  <a:lnTo>
                    <a:pt x="3124" y="1197"/>
                  </a:lnTo>
                  <a:lnTo>
                    <a:pt x="3156" y="1226"/>
                  </a:lnTo>
                  <a:lnTo>
                    <a:pt x="3190" y="1250"/>
                  </a:lnTo>
                  <a:lnTo>
                    <a:pt x="3224" y="1273"/>
                  </a:lnTo>
                  <a:lnTo>
                    <a:pt x="3256" y="1292"/>
                  </a:lnTo>
                  <a:lnTo>
                    <a:pt x="3290" y="1306"/>
                  </a:lnTo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8" name="Freeform 57"/>
            <p:cNvSpPr>
              <a:spLocks noChangeAspect="1"/>
            </p:cNvSpPr>
            <p:nvPr/>
          </p:nvSpPr>
          <p:spPr>
            <a:xfrm flipV="1">
              <a:off x="2808694" y="2325688"/>
              <a:ext cx="2254250" cy="1103312"/>
            </a:xfrm>
            <a:custGeom>
              <a:avLst/>
              <a:gdLst/>
              <a:ahLst/>
              <a:cxnLst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  <a:cxn ang="0">
                  <a:pos x="2147483646" y="2147483646"/>
                </a:cxn>
              </a:cxnLst>
              <a:rect l="0" t="0" r="0" b="0"/>
              <a:pathLst>
                <a:path w="2625" h="1183">
                  <a:moveTo>
                    <a:pt x="0" y="0"/>
                  </a:moveTo>
                  <a:lnTo>
                    <a:pt x="37" y="4"/>
                  </a:lnTo>
                  <a:lnTo>
                    <a:pt x="71" y="14"/>
                  </a:lnTo>
                  <a:lnTo>
                    <a:pt x="108" y="32"/>
                  </a:lnTo>
                  <a:lnTo>
                    <a:pt x="144" y="58"/>
                  </a:lnTo>
                  <a:lnTo>
                    <a:pt x="180" y="89"/>
                  </a:lnTo>
                  <a:lnTo>
                    <a:pt x="215" y="127"/>
                  </a:lnTo>
                  <a:lnTo>
                    <a:pt x="251" y="170"/>
                  </a:lnTo>
                  <a:lnTo>
                    <a:pt x="287" y="219"/>
                  </a:lnTo>
                  <a:lnTo>
                    <a:pt x="324" y="272"/>
                  </a:lnTo>
                  <a:lnTo>
                    <a:pt x="359" y="329"/>
                  </a:lnTo>
                  <a:lnTo>
                    <a:pt x="395" y="390"/>
                  </a:lnTo>
                  <a:lnTo>
                    <a:pt x="432" y="453"/>
                  </a:lnTo>
                  <a:lnTo>
                    <a:pt x="467" y="517"/>
                  </a:lnTo>
                  <a:lnTo>
                    <a:pt x="503" y="583"/>
                  </a:lnTo>
                  <a:lnTo>
                    <a:pt x="540" y="649"/>
                  </a:lnTo>
                  <a:lnTo>
                    <a:pt x="575" y="713"/>
                  </a:lnTo>
                  <a:lnTo>
                    <a:pt x="612" y="777"/>
                  </a:lnTo>
                  <a:lnTo>
                    <a:pt x="646" y="839"/>
                  </a:lnTo>
                  <a:lnTo>
                    <a:pt x="683" y="896"/>
                  </a:lnTo>
                  <a:lnTo>
                    <a:pt x="720" y="951"/>
                  </a:lnTo>
                  <a:lnTo>
                    <a:pt x="754" y="1001"/>
                  </a:lnTo>
                  <a:lnTo>
                    <a:pt x="791" y="1046"/>
                  </a:lnTo>
                  <a:lnTo>
                    <a:pt x="828" y="1085"/>
                  </a:lnTo>
                  <a:lnTo>
                    <a:pt x="863" y="1118"/>
                  </a:lnTo>
                  <a:lnTo>
                    <a:pt x="899" y="1145"/>
                  </a:lnTo>
                  <a:lnTo>
                    <a:pt x="936" y="1165"/>
                  </a:lnTo>
                  <a:lnTo>
                    <a:pt x="971" y="1178"/>
                  </a:lnTo>
                  <a:lnTo>
                    <a:pt x="1008" y="1183"/>
                  </a:lnTo>
                  <a:lnTo>
                    <a:pt x="1042" y="1182"/>
                  </a:lnTo>
                  <a:lnTo>
                    <a:pt x="1079" y="1173"/>
                  </a:lnTo>
                  <a:lnTo>
                    <a:pt x="1115" y="1157"/>
                  </a:lnTo>
                  <a:lnTo>
                    <a:pt x="1151" y="1134"/>
                  </a:lnTo>
                  <a:lnTo>
                    <a:pt x="1186" y="1104"/>
                  </a:lnTo>
                  <a:lnTo>
                    <a:pt x="1223" y="1068"/>
                  </a:lnTo>
                  <a:lnTo>
                    <a:pt x="1259" y="1026"/>
                  </a:lnTo>
                  <a:lnTo>
                    <a:pt x="1295" y="979"/>
                  </a:lnTo>
                  <a:lnTo>
                    <a:pt x="1331" y="927"/>
                  </a:lnTo>
                  <a:lnTo>
                    <a:pt x="1366" y="870"/>
                  </a:lnTo>
                  <a:lnTo>
                    <a:pt x="1403" y="811"/>
                  </a:lnTo>
                  <a:lnTo>
                    <a:pt x="1437" y="749"/>
                  </a:lnTo>
                  <a:lnTo>
                    <a:pt x="1474" y="685"/>
                  </a:lnTo>
                  <a:lnTo>
                    <a:pt x="1511" y="620"/>
                  </a:lnTo>
                  <a:lnTo>
                    <a:pt x="1546" y="553"/>
                  </a:lnTo>
                  <a:lnTo>
                    <a:pt x="1582" y="488"/>
                  </a:lnTo>
                  <a:lnTo>
                    <a:pt x="1619" y="424"/>
                  </a:lnTo>
                  <a:lnTo>
                    <a:pt x="1654" y="362"/>
                  </a:lnTo>
                  <a:lnTo>
                    <a:pt x="1691" y="303"/>
                  </a:lnTo>
                  <a:lnTo>
                    <a:pt x="1727" y="247"/>
                  </a:lnTo>
                  <a:lnTo>
                    <a:pt x="1762" y="197"/>
                  </a:lnTo>
                  <a:lnTo>
                    <a:pt x="1799" y="150"/>
                  </a:lnTo>
                  <a:lnTo>
                    <a:pt x="1834" y="109"/>
                  </a:lnTo>
                  <a:lnTo>
                    <a:pt x="1870" y="75"/>
                  </a:lnTo>
                  <a:lnTo>
                    <a:pt x="1907" y="45"/>
                  </a:lnTo>
                  <a:lnTo>
                    <a:pt x="1942" y="24"/>
                  </a:lnTo>
                  <a:lnTo>
                    <a:pt x="1979" y="9"/>
                  </a:lnTo>
                  <a:lnTo>
                    <a:pt x="2014" y="1"/>
                  </a:lnTo>
                  <a:lnTo>
                    <a:pt x="2050" y="1"/>
                  </a:lnTo>
                  <a:lnTo>
                    <a:pt x="2086" y="8"/>
                  </a:lnTo>
                  <a:lnTo>
                    <a:pt x="2123" y="22"/>
                  </a:lnTo>
                  <a:lnTo>
                    <a:pt x="2157" y="43"/>
                  </a:lnTo>
                  <a:lnTo>
                    <a:pt x="2194" y="71"/>
                  </a:lnTo>
                  <a:lnTo>
                    <a:pt x="2230" y="105"/>
                  </a:lnTo>
                  <a:lnTo>
                    <a:pt x="2265" y="146"/>
                  </a:lnTo>
                  <a:lnTo>
                    <a:pt x="2302" y="191"/>
                  </a:lnTo>
                  <a:lnTo>
                    <a:pt x="2337" y="242"/>
                  </a:lnTo>
                  <a:lnTo>
                    <a:pt x="2374" y="298"/>
                  </a:lnTo>
                  <a:lnTo>
                    <a:pt x="2410" y="356"/>
                  </a:lnTo>
                  <a:lnTo>
                    <a:pt x="2445" y="418"/>
                  </a:lnTo>
                  <a:lnTo>
                    <a:pt x="2482" y="481"/>
                  </a:lnTo>
                  <a:lnTo>
                    <a:pt x="2519" y="547"/>
                  </a:lnTo>
                  <a:lnTo>
                    <a:pt x="2553" y="613"/>
                  </a:lnTo>
                  <a:lnTo>
                    <a:pt x="2590" y="679"/>
                  </a:lnTo>
                  <a:lnTo>
                    <a:pt x="2625" y="742"/>
                  </a:lnTo>
                </a:path>
              </a:pathLst>
            </a:custGeom>
            <a:noFill/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" name="文本框 14"/>
            <p:cNvSpPr txBox="1"/>
            <p:nvPr/>
          </p:nvSpPr>
          <p:spPr>
            <a:xfrm>
              <a:off x="2856675" y="1809443"/>
              <a:ext cx="2880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a</a:t>
              </a:r>
              <a:endParaRPr lang="zh-CN" altLang="en-US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0" name="文本框 15"/>
            <p:cNvSpPr txBox="1"/>
            <p:nvPr/>
          </p:nvSpPr>
          <p:spPr>
            <a:xfrm>
              <a:off x="3563888" y="1671191"/>
              <a:ext cx="2880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b</a:t>
              </a:r>
              <a:endParaRPr lang="zh-CN" altLang="en-US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7181" name="文本框 16"/>
            <p:cNvSpPr txBox="1"/>
            <p:nvPr/>
          </p:nvSpPr>
          <p:spPr>
            <a:xfrm>
              <a:off x="3995936" y="1628800"/>
              <a:ext cx="288032" cy="4616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i="1" dirty="0">
                  <a:latin typeface="Times New Roman" panose="02020603050405020304" pitchFamily="18" charset="0"/>
                </a:rPr>
                <a:t>c</a:t>
              </a:r>
              <a:endParaRPr lang="zh-CN" altLang="en-US" sz="2400" i="1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3001296" y="2209817"/>
              <a:ext cx="0" cy="282571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3707981" y="2060594"/>
              <a:ext cx="0" cy="282571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4139933" y="2060594"/>
              <a:ext cx="0" cy="282571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7171" name="文本框 23"/>
          <p:cNvSpPr txBox="1"/>
          <p:nvPr/>
        </p:nvSpPr>
        <p:spPr>
          <a:xfrm>
            <a:off x="395288" y="1020763"/>
            <a:ext cx="8493125" cy="16875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如图所示为某简谐振动的位移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、速度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和加速度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随时间变化的曲线（不计量纲和大小），图中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三条曲线依次为下列哪一组？</a:t>
            </a:r>
          </a:p>
        </p:txBody>
      </p:sp>
      <p:sp>
        <p:nvSpPr>
          <p:cNvPr id="7172" name="文本框 25"/>
          <p:cNvSpPr txBox="1"/>
          <p:nvPr/>
        </p:nvSpPr>
        <p:spPr>
          <a:xfrm>
            <a:off x="1058863" y="4578350"/>
            <a:ext cx="6121400" cy="1082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        B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 x </a:t>
            </a: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i="1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" name="Rectangle 3"/>
          <p:cNvSpPr/>
          <p:nvPr>
            <p:custDataLst>
              <p:tags r:id="rId2"/>
            </p:custDataLst>
          </p:nvPr>
        </p:nvSpPr>
        <p:spPr>
          <a:xfrm>
            <a:off x="6732588" y="5875338"/>
            <a:ext cx="1330325" cy="498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答案：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</a:p>
        </p:txBody>
      </p:sp>
      <p:sp>
        <p:nvSpPr>
          <p:cNvPr id="7174" name="Text Box 5"/>
          <p:cNvSpPr txBox="1"/>
          <p:nvPr/>
        </p:nvSpPr>
        <p:spPr>
          <a:xfrm>
            <a:off x="179388" y="123825"/>
            <a:ext cx="3671887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典型例题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8" name="Text Box 10"/>
          <p:cNvSpPr txBox="1"/>
          <p:nvPr/>
        </p:nvSpPr>
        <p:spPr>
          <a:xfrm>
            <a:off x="1403350" y="119063"/>
            <a:ext cx="55451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描述</a:t>
            </a:r>
            <a:r>
              <a:rPr lang="zh-CN" altLang="en-US" sz="2800" dirty="0">
                <a:solidFill>
                  <a:schemeClr val="bg1"/>
                </a:solidFill>
                <a:latin typeface="宋体" panose="02010600030101010101" pitchFamily="2" charset="-122"/>
              </a:rPr>
              <a:t>简谐振动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</a:rPr>
              <a:t>的特征量</a:t>
            </a:r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（三要素）</a:t>
            </a:r>
          </a:p>
        </p:txBody>
      </p:sp>
      <p:sp>
        <p:nvSpPr>
          <p:cNvPr id="78859" name="Text Box 11"/>
          <p:cNvSpPr txBox="1"/>
          <p:nvPr/>
        </p:nvSpPr>
        <p:spPr>
          <a:xfrm>
            <a:off x="331788" y="981075"/>
            <a:ext cx="7912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zh-CN" altLang="en-US" sz="2400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振幅 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振动物体离开平衡位置的最大位移的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绝对值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78860" name="Text Box 12"/>
          <p:cNvSpPr txBox="1"/>
          <p:nvPr/>
        </p:nvSpPr>
        <p:spPr>
          <a:xfrm>
            <a:off x="395288" y="1536700"/>
            <a:ext cx="8080375" cy="1684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周期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4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i="1" dirty="0">
                <a:solidFill>
                  <a:srgbClr val="FFCC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物体完成一次全振动所用的时间；</a:t>
            </a:r>
            <a:r>
              <a:rPr lang="zh-CN" altLang="en-US" sz="2400" i="1" dirty="0">
                <a:latin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频率 </a:t>
            </a:r>
            <a:r>
              <a:rPr lang="en-US" altLang="zh-CN" sz="24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v</a:t>
            </a:r>
            <a:r>
              <a:rPr lang="zh-CN" altLang="en-US" sz="24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400" dirty="0">
                <a:solidFill>
                  <a:srgbClr val="FFCC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单位时间内完成全振动的次数；</a:t>
            </a:r>
            <a:endParaRPr lang="zh-CN" altLang="en-US" sz="2400" i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i="1" dirty="0">
                <a:solidFill>
                  <a:srgbClr val="FF3300"/>
                </a:solidFill>
                <a:latin typeface="Times New Roman" panose="02020603050405020304" pitchFamily="18" charset="0"/>
              </a:rPr>
              <a:t>   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圆(角)频率</a:t>
            </a:r>
            <a:r>
              <a:rPr lang="zh-CN" altLang="en-US" sz="2400" i="1" dirty="0">
                <a:solidFill>
                  <a:srgbClr val="FF33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：</a:t>
            </a:r>
            <a:endParaRPr lang="en-US" altLang="zh-CN" sz="2400" i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61" name="Rectangle 13"/>
          <p:cNvSpPr/>
          <p:nvPr/>
        </p:nvSpPr>
        <p:spPr>
          <a:xfrm>
            <a:off x="6300788" y="2168525"/>
            <a:ext cx="1793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i="1" dirty="0">
                <a:solidFill>
                  <a:srgbClr val="FFCC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dirty="0">
                <a:solidFill>
                  <a:srgbClr val="FFCC00"/>
                </a:solidFill>
                <a:latin typeface="Times New Roman" panose="02020603050405020304" pitchFamily="18" charset="0"/>
              </a:rPr>
              <a:t> = 1/</a:t>
            </a:r>
            <a:r>
              <a:rPr lang="en-US" altLang="zh-CN" sz="2400" i="1" dirty="0">
                <a:solidFill>
                  <a:srgbClr val="FFCC00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dirty="0">
                <a:solidFill>
                  <a:srgbClr val="FFCC00"/>
                </a:solidFill>
                <a:latin typeface="Times New Roman" panose="02020603050405020304" pitchFamily="18" charset="0"/>
              </a:rPr>
              <a:t>  (Hz)</a:t>
            </a:r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916238" y="2659063"/>
          <a:ext cx="180022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r:id="rId3" imgW="1143000" imgH="469900" progId="Equation.3">
                  <p:embed/>
                </p:oleObj>
              </mc:Choice>
              <mc:Fallback>
                <p:oleObj r:id="rId3" imgW="1143000" imgH="4699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6238" y="2659063"/>
                        <a:ext cx="1800225" cy="741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104900" y="3489325"/>
            <a:ext cx="6934200" cy="5635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12700">
            <a:solidFill>
              <a:srgbClr val="006666"/>
            </a:solidFill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zh-CN" altLang="en-US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周期和频率仅与振动系统</a:t>
            </a:r>
            <a:r>
              <a:rPr kumimoji="0" lang="zh-CN" altLang="en-US" sz="2400" kern="1200" cap="none" spc="0" normalizeH="0" baseline="0" noProof="0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本身</a:t>
            </a:r>
            <a:r>
              <a:rPr kumimoji="0" lang="zh-CN" altLang="en-US" sz="2400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的物理性质有关</a:t>
            </a:r>
          </a:p>
        </p:txBody>
      </p:sp>
      <p:sp>
        <p:nvSpPr>
          <p:cNvPr id="8200" name="Text Box 23"/>
          <p:cNvSpPr txBox="1"/>
          <p:nvPr/>
        </p:nvSpPr>
        <p:spPr>
          <a:xfrm>
            <a:off x="493713" y="4292600"/>
            <a:ext cx="12239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相位</a:t>
            </a: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798638" y="4337050"/>
          <a:ext cx="19780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r:id="rId5" imgW="837565" imgH="215900" progId="Equation.3">
                  <p:embed/>
                </p:oleObj>
              </mc:Choice>
              <mc:Fallback>
                <p:oleObj r:id="rId5" imgW="837565" imgH="2159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98638" y="4337050"/>
                        <a:ext cx="1978025" cy="471488"/>
                      </a:xfrm>
                      <a:prstGeom prst="rect">
                        <a:avLst/>
                      </a:prstGeom>
                      <a:solidFill>
                        <a:srgbClr val="FFF3FF"/>
                      </a:solidFill>
                      <a:ln w="1905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1"/>
          <p:cNvGrpSpPr/>
          <p:nvPr/>
        </p:nvGrpSpPr>
        <p:grpSpPr>
          <a:xfrm>
            <a:off x="4156075" y="4337050"/>
            <a:ext cx="3938588" cy="579438"/>
            <a:chOff x="528" y="2016"/>
            <a:chExt cx="2481" cy="365"/>
          </a:xfrm>
        </p:grpSpPr>
        <p:graphicFrame>
          <p:nvGraphicFramePr>
            <p:cNvPr id="8208" name="Object 7"/>
            <p:cNvGraphicFramePr>
              <a:graphicFrameLocks noChangeAspect="1"/>
            </p:cNvGraphicFramePr>
            <p:nvPr/>
          </p:nvGraphicFramePr>
          <p:xfrm>
            <a:off x="1410" y="2032"/>
            <a:ext cx="159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5" r:id="rId7" imgW="1409065" imgH="254000" progId="Equation.3">
                    <p:embed/>
                  </p:oleObj>
                </mc:Choice>
                <mc:Fallback>
                  <p:oleObj r:id="rId7" imgW="1409065" imgH="2540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10" y="2032"/>
                          <a:ext cx="159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209" name="Group 29"/>
            <p:cNvGrpSpPr/>
            <p:nvPr/>
          </p:nvGrpSpPr>
          <p:grpSpPr>
            <a:xfrm>
              <a:off x="528" y="2016"/>
              <a:ext cx="1008" cy="365"/>
              <a:chOff x="528" y="2016"/>
              <a:chExt cx="1008" cy="365"/>
            </a:xfrm>
          </p:grpSpPr>
          <p:sp>
            <p:nvSpPr>
              <p:cNvPr id="8210" name="Rectangle 7"/>
              <p:cNvSpPr/>
              <p:nvPr/>
            </p:nvSpPr>
            <p:spPr>
              <a:xfrm>
                <a:off x="528" y="2016"/>
                <a:ext cx="1008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zh-CN" altLang="en-US" sz="2400" dirty="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初相位</a:t>
                </a:r>
              </a:p>
            </p:txBody>
          </p:sp>
          <p:graphicFrame>
            <p:nvGraphicFramePr>
              <p:cNvPr id="8211" name="Object 8"/>
              <p:cNvGraphicFramePr>
                <a:graphicFrameLocks noChangeAspect="1"/>
              </p:cNvGraphicFramePr>
              <p:nvPr/>
            </p:nvGraphicFramePr>
            <p:xfrm>
              <a:off x="1189" y="2098"/>
              <a:ext cx="170" cy="1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26" r:id="rId9" imgW="165100" imgH="190500" progId="Equation.3">
                      <p:embed/>
                    </p:oleObj>
                  </mc:Choice>
                  <mc:Fallback>
                    <p:oleObj r:id="rId9" imgW="165100" imgH="190500" progId="Equation.3">
                      <p:embed/>
                      <p:pic>
                        <p:nvPicPr>
                          <p:cNvPr id="0" name="图片 3110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189" y="2098"/>
                            <a:ext cx="170" cy="1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1" name="Rectangle 10"/>
          <p:cNvSpPr/>
          <p:nvPr/>
        </p:nvSpPr>
        <p:spPr>
          <a:xfrm>
            <a:off x="458788" y="5121275"/>
            <a:ext cx="8016875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  相位的意义:</a:t>
            </a:r>
            <a:r>
              <a:rPr lang="zh-CN" altLang="en-US" sz="2400" dirty="0">
                <a:latin typeface="Times New Roman" panose="02020603050405020304" pitchFamily="18" charset="0"/>
              </a:rPr>
              <a:t> 表征任意时刻（</a:t>
            </a:r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</a:rPr>
              <a:t>物体振动状态（相貌）。</a:t>
            </a:r>
          </a:p>
        </p:txBody>
      </p:sp>
      <p:sp>
        <p:nvSpPr>
          <p:cNvPr id="12" name="Text Box 10"/>
          <p:cNvSpPr txBox="1"/>
          <p:nvPr/>
        </p:nvSpPr>
        <p:spPr>
          <a:xfrm>
            <a:off x="684213" y="5659438"/>
            <a:ext cx="64516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由此：位移、速度、加速度由</a:t>
            </a:r>
            <a:r>
              <a:rPr lang="en-US" altLang="zh-CN" sz="2400" dirty="0">
                <a:latin typeface="Times New Roman" panose="02020603050405020304" pitchFamily="18" charset="0"/>
              </a:rPr>
              <a:t>(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 </a:t>
            </a:r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</a:rPr>
              <a:t>  +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 </a:t>
            </a:r>
            <a:r>
              <a:rPr lang="en-US" altLang="zh-CN" sz="2400" dirty="0">
                <a:latin typeface="Times New Roman" panose="02020603050405020304" pitchFamily="18" charset="0"/>
              </a:rPr>
              <a:t>) </a:t>
            </a:r>
            <a:r>
              <a:rPr lang="zh-CN" altLang="en-US" sz="2400" dirty="0">
                <a:latin typeface="Times New Roman" panose="02020603050405020304" pitchFamily="18" charset="0"/>
              </a:rPr>
              <a:t>确定；</a:t>
            </a:r>
          </a:p>
        </p:txBody>
      </p:sp>
      <p:grpSp>
        <p:nvGrpSpPr>
          <p:cNvPr id="13" name="Group 38"/>
          <p:cNvGrpSpPr/>
          <p:nvPr/>
        </p:nvGrpSpPr>
        <p:grpSpPr>
          <a:xfrm>
            <a:off x="668338" y="6149975"/>
            <a:ext cx="5084762" cy="463550"/>
            <a:chOff x="727" y="3036"/>
            <a:chExt cx="3203" cy="292"/>
          </a:xfrm>
        </p:grpSpPr>
        <p:graphicFrame>
          <p:nvGraphicFramePr>
            <p:cNvPr id="8206" name="Object 11"/>
            <p:cNvGraphicFramePr>
              <a:graphicFrameLocks noChangeAspect="1"/>
            </p:cNvGraphicFramePr>
            <p:nvPr/>
          </p:nvGraphicFramePr>
          <p:xfrm>
            <a:off x="3591" y="3036"/>
            <a:ext cx="33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7" r:id="rId11" imgW="120650" imgH="94615" progId="Equation.DSMT4">
                    <p:embed/>
                  </p:oleObj>
                </mc:Choice>
                <mc:Fallback>
                  <p:oleObj r:id="rId11" imgW="120650" imgH="94615" progId="Equation.DSMT4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91" y="3036"/>
                          <a:ext cx="339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07" name="Rectangle 37"/>
            <p:cNvSpPr/>
            <p:nvPr/>
          </p:nvSpPr>
          <p:spPr>
            <a:xfrm>
              <a:off x="727" y="3037"/>
              <a:ext cx="2845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336699"/>
                  </a:solidFill>
                  <a:latin typeface="Times New Roman" panose="02020603050405020304" pitchFamily="18" charset="0"/>
                </a:rPr>
                <a:t>物体经一周期的振动，相位改变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8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8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78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8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8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8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8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8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8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8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8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8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 tmFilter="0,0; .5, 1; 1, 1"/>
                                        <p:tgtEl>
                                          <p:spTgt spid="78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8" grpId="0"/>
      <p:bldP spid="78859" grpId="0"/>
      <p:bldP spid="78860" grpId="0" build="p"/>
      <p:bldP spid="78861" grpId="0"/>
      <p:bldP spid="3" grpId="0" animBg="1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119"/>
          <p:cNvGrpSpPr/>
          <p:nvPr/>
        </p:nvGrpSpPr>
        <p:grpSpPr>
          <a:xfrm>
            <a:off x="2124075" y="830263"/>
            <a:ext cx="4876800" cy="4038600"/>
            <a:chOff x="480" y="1008"/>
            <a:chExt cx="3072" cy="2544"/>
          </a:xfrm>
        </p:grpSpPr>
        <p:sp>
          <p:nvSpPr>
            <p:cNvPr id="9221" name="Rectangle 70"/>
            <p:cNvSpPr/>
            <p:nvPr/>
          </p:nvSpPr>
          <p:spPr>
            <a:xfrm>
              <a:off x="480" y="1008"/>
              <a:ext cx="3072" cy="254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9222" name="Line 72"/>
            <p:cNvSpPr/>
            <p:nvPr/>
          </p:nvSpPr>
          <p:spPr>
            <a:xfrm>
              <a:off x="624" y="2363"/>
              <a:ext cx="2862" cy="0"/>
            </a:xfrm>
            <a:prstGeom prst="line">
              <a:avLst/>
            </a:prstGeom>
            <a:ln w="28575" cap="flat" cmpd="sng">
              <a:solidFill>
                <a:srgbClr val="9900CC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" name="Arc 74"/>
            <p:cNvSpPr/>
            <p:nvPr/>
          </p:nvSpPr>
          <p:spPr>
            <a:xfrm>
              <a:off x="2613" y="1205"/>
              <a:ext cx="226" cy="3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566" h="20757" fill="none">
                  <a:moveTo>
                    <a:pt x="5976" y="0"/>
                  </a:moveTo>
                  <a:cubicBezTo>
                    <a:pt x="14795" y="2539"/>
                    <a:pt x="21047" y="10374"/>
                    <a:pt x="21565" y="19537"/>
                  </a:cubicBezTo>
                </a:path>
                <a:path w="21566" h="20757" stroke="0">
                  <a:moveTo>
                    <a:pt x="5976" y="0"/>
                  </a:moveTo>
                  <a:cubicBezTo>
                    <a:pt x="14795" y="2539"/>
                    <a:pt x="21047" y="10374"/>
                    <a:pt x="21565" y="19537"/>
                  </a:cubicBezTo>
                  <a:lnTo>
                    <a:pt x="0" y="20757"/>
                  </a:lnTo>
                  <a:lnTo>
                    <a:pt x="5976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FF6600">
                  <a:alpha val="100000"/>
                </a:srgbClr>
              </a:solidFill>
              <a:prstDash val="solid"/>
              <a:round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24" name="Object 75"/>
            <p:cNvGraphicFramePr>
              <a:graphicFrameLocks noChangeAspect="1"/>
            </p:cNvGraphicFramePr>
            <p:nvPr/>
          </p:nvGraphicFramePr>
          <p:xfrm>
            <a:off x="2425" y="1096"/>
            <a:ext cx="263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" r:id="rId3" imgW="177800" imgH="152400" progId="Equation.3">
                    <p:embed/>
                  </p:oleObj>
                </mc:Choice>
                <mc:Fallback>
                  <p:oleObj r:id="rId3" imgW="177800" imgH="1524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425" y="1096"/>
                          <a:ext cx="263" cy="23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5" name="Object 77"/>
            <p:cNvGraphicFramePr>
              <a:graphicFrameLocks noChangeAspect="1"/>
            </p:cNvGraphicFramePr>
            <p:nvPr/>
          </p:nvGraphicFramePr>
          <p:xfrm>
            <a:off x="1811" y="2381"/>
            <a:ext cx="180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8" r:id="rId5" imgW="165100" imgH="190500" progId="Equation.3">
                    <p:embed/>
                  </p:oleObj>
                </mc:Choice>
                <mc:Fallback>
                  <p:oleObj r:id="rId5" imgW="165100" imgH="19050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11" y="2381"/>
                          <a:ext cx="180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" name="Object 78"/>
            <p:cNvGraphicFramePr>
              <a:graphicFrameLocks noChangeAspect="1"/>
            </p:cNvGraphicFramePr>
            <p:nvPr/>
          </p:nvGraphicFramePr>
          <p:xfrm>
            <a:off x="2949" y="1371"/>
            <a:ext cx="265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9" r:id="rId7" imgW="83820" imgH="110490" progId="Equation.3">
                    <p:embed/>
                  </p:oleObj>
                </mc:Choice>
                <mc:Fallback>
                  <p:oleObj r:id="rId7" imgW="83820" imgH="11049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49" y="1371"/>
                          <a:ext cx="265" cy="3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7" name="Line 79"/>
            <p:cNvSpPr/>
            <p:nvPr/>
          </p:nvSpPr>
          <p:spPr>
            <a:xfrm flipV="1">
              <a:off x="2016" y="1201"/>
              <a:ext cx="0" cy="2262"/>
            </a:xfrm>
            <a:prstGeom prst="line">
              <a:avLst/>
            </a:prstGeom>
            <a:ln w="28575" cap="flat" cmpd="sng">
              <a:solidFill>
                <a:srgbClr val="9900CC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28" name="Object 80"/>
            <p:cNvGraphicFramePr>
              <a:graphicFrameLocks noChangeAspect="1"/>
            </p:cNvGraphicFramePr>
            <p:nvPr/>
          </p:nvGraphicFramePr>
          <p:xfrm>
            <a:off x="1182" y="1746"/>
            <a:ext cx="479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0" r:id="rId9" imgW="292100" imgH="152400" progId="Equation.3">
                    <p:embed/>
                  </p:oleObj>
                </mc:Choice>
                <mc:Fallback>
                  <p:oleObj r:id="rId9" imgW="292100" imgH="15240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82" y="1746"/>
                          <a:ext cx="479" cy="2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9" name="Line 81"/>
            <p:cNvSpPr/>
            <p:nvPr/>
          </p:nvSpPr>
          <p:spPr>
            <a:xfrm flipV="1">
              <a:off x="2016" y="1520"/>
              <a:ext cx="736" cy="832"/>
            </a:xfrm>
            <a:prstGeom prst="line">
              <a:avLst/>
            </a:prstGeom>
            <a:ln w="38100" cap="flat" cmpd="sng">
              <a:solidFill>
                <a:srgbClr val="F01A04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" name="Line 82"/>
            <p:cNvSpPr/>
            <p:nvPr/>
          </p:nvSpPr>
          <p:spPr>
            <a:xfrm>
              <a:off x="2756" y="1546"/>
              <a:ext cx="0" cy="813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" name="Arc 84"/>
            <p:cNvSpPr/>
            <p:nvPr/>
          </p:nvSpPr>
          <p:spPr>
            <a:xfrm>
              <a:off x="2308" y="2023"/>
              <a:ext cx="175" cy="3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767" fill="none">
                  <a:moveTo>
                    <a:pt x="3744" y="0"/>
                  </a:moveTo>
                  <a:cubicBezTo>
                    <a:pt x="14070" y="1817"/>
                    <a:pt x="21600" y="10788"/>
                    <a:pt x="21600" y="21273"/>
                  </a:cubicBezTo>
                  <a:cubicBezTo>
                    <a:pt x="21600" y="21437"/>
                    <a:pt x="21598" y="21602"/>
                    <a:pt x="21594" y="21767"/>
                  </a:cubicBezTo>
                </a:path>
                <a:path w="21600" h="21767" stroke="0">
                  <a:moveTo>
                    <a:pt x="3744" y="0"/>
                  </a:moveTo>
                  <a:cubicBezTo>
                    <a:pt x="14070" y="1817"/>
                    <a:pt x="21600" y="10788"/>
                    <a:pt x="21600" y="21273"/>
                  </a:cubicBezTo>
                  <a:cubicBezTo>
                    <a:pt x="21600" y="21437"/>
                    <a:pt x="21598" y="21602"/>
                    <a:pt x="21594" y="21767"/>
                  </a:cubicBezTo>
                  <a:lnTo>
                    <a:pt x="0" y="21273"/>
                  </a:lnTo>
                  <a:lnTo>
                    <a:pt x="374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32" name="Object 85"/>
            <p:cNvGraphicFramePr>
              <a:graphicFrameLocks noChangeAspect="1"/>
            </p:cNvGraphicFramePr>
            <p:nvPr/>
          </p:nvGraphicFramePr>
          <p:xfrm>
            <a:off x="2489" y="1981"/>
            <a:ext cx="551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1" r:id="rId11" imgW="673100" imgH="266700" progId="Equation.3">
                    <p:embed/>
                  </p:oleObj>
                </mc:Choice>
                <mc:Fallback>
                  <p:oleObj r:id="rId11" imgW="673100" imgH="2667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489" y="1981"/>
                          <a:ext cx="551" cy="220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66FF66"/>
                            </a:gs>
                            <a:gs pos="50000">
                              <a:srgbClr val="FFFFFF"/>
                            </a:gs>
                            <a:gs pos="100000">
                              <a:srgbClr val="66FF66"/>
                            </a:gs>
                          </a:gsLst>
                          <a:lin ang="5400000" scaled="1"/>
                          <a:tileRect/>
                        </a:gradFill>
                        <a:ln w="9525" cap="flat" cmpd="sng">
                          <a:solidFill>
                            <a:srgbClr val="008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3" name="Object 86"/>
            <p:cNvGraphicFramePr>
              <a:graphicFrameLocks noChangeAspect="1"/>
            </p:cNvGraphicFramePr>
            <p:nvPr/>
          </p:nvGraphicFramePr>
          <p:xfrm>
            <a:off x="1217" y="2792"/>
            <a:ext cx="1536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2" r:id="rId13" imgW="1078865" imgH="203200" progId="Equation.3">
                    <p:embed/>
                  </p:oleObj>
                </mc:Choice>
                <mc:Fallback>
                  <p:oleObj r:id="rId13" imgW="1078865" imgH="2032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17" y="2792"/>
                          <a:ext cx="1536" cy="287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66FF66"/>
                            </a:gs>
                            <a:gs pos="50000">
                              <a:srgbClr val="FFFFFF"/>
                            </a:gs>
                            <a:gs pos="100000">
                              <a:srgbClr val="66FF66"/>
                            </a:gs>
                          </a:gsLst>
                          <a:lin ang="5400000" scaled="1"/>
                          <a:tileRect/>
                        </a:gradFill>
                        <a:ln w="9525" cap="flat" cmpd="sng">
                          <a:solidFill>
                            <a:srgbClr val="0066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4" name="Text Box 87"/>
            <p:cNvSpPr txBox="1"/>
            <p:nvPr/>
          </p:nvSpPr>
          <p:spPr>
            <a:xfrm>
              <a:off x="1636" y="1695"/>
              <a:ext cx="3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9235" name="Oval 95"/>
            <p:cNvSpPr/>
            <p:nvPr/>
          </p:nvSpPr>
          <p:spPr>
            <a:xfrm>
              <a:off x="864" y="1185"/>
              <a:ext cx="2234" cy="2261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9236" name="Oval 73"/>
            <p:cNvSpPr/>
            <p:nvPr/>
          </p:nvSpPr>
          <p:spPr>
            <a:xfrm>
              <a:off x="2706" y="2302"/>
              <a:ext cx="105" cy="10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8F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9237" name="Object 118"/>
            <p:cNvGraphicFramePr>
              <a:graphicFrameLocks noChangeAspect="1"/>
            </p:cNvGraphicFramePr>
            <p:nvPr/>
          </p:nvGraphicFramePr>
          <p:xfrm>
            <a:off x="3271" y="2382"/>
            <a:ext cx="16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63" r:id="rId15" imgW="139700" imgH="152400" progId="Equation.3">
                    <p:embed/>
                  </p:oleObj>
                </mc:Choice>
                <mc:Fallback>
                  <p:oleObj r:id="rId15" imgW="139700" imgH="152400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271" y="2382"/>
                          <a:ext cx="168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1976" name="Text Box 120"/>
          <p:cNvSpPr txBox="1"/>
          <p:nvPr/>
        </p:nvSpPr>
        <p:spPr>
          <a:xfrm>
            <a:off x="468313" y="5157788"/>
            <a:ext cx="8640762" cy="1373187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336699"/>
                </a:solidFill>
                <a:latin typeface="Times New Roman" panose="02020603050405020304" pitchFamily="18" charset="0"/>
              </a:rPr>
              <a:t>旋转矢量的端点在</a:t>
            </a:r>
            <a:r>
              <a:rPr lang="en-US" altLang="zh-CN" sz="2800" dirty="0">
                <a:solidFill>
                  <a:srgbClr val="336699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rgbClr val="336699"/>
                </a:solidFill>
                <a:latin typeface="Times New Roman" panose="02020603050405020304" pitchFamily="18" charset="0"/>
              </a:rPr>
              <a:t>轴上的投影点的运动可表示物体在</a:t>
            </a:r>
            <a:r>
              <a:rPr lang="en-US" altLang="zh-CN" sz="2800" dirty="0">
                <a:solidFill>
                  <a:srgbClr val="336699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rgbClr val="336699"/>
                </a:solidFill>
                <a:latin typeface="Times New Roman" panose="02020603050405020304" pitchFamily="18" charset="0"/>
              </a:rPr>
              <a:t>轴上的简谐运动。旋转矢量旋转一周，相当于物体在</a:t>
            </a:r>
            <a:r>
              <a:rPr lang="en-US" altLang="zh-CN" sz="2800" dirty="0">
                <a:solidFill>
                  <a:srgbClr val="336699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dirty="0">
                <a:solidFill>
                  <a:srgbClr val="336699"/>
                </a:solidFill>
                <a:latin typeface="Times New Roman" panose="02020603050405020304" pitchFamily="18" charset="0"/>
              </a:rPr>
              <a:t>轴上作一次完全振动。</a:t>
            </a:r>
          </a:p>
        </p:txBody>
      </p:sp>
      <p:sp>
        <p:nvSpPr>
          <p:cNvPr id="9220" name="Text Box 121"/>
          <p:cNvSpPr txBox="1"/>
          <p:nvPr/>
        </p:nvSpPr>
        <p:spPr>
          <a:xfrm>
            <a:off x="3400425" y="44450"/>
            <a:ext cx="2971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旋转矢量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7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93"/>
          <p:cNvGrpSpPr/>
          <p:nvPr/>
        </p:nvGrpSpPr>
        <p:grpSpPr>
          <a:xfrm>
            <a:off x="1979613" y="1082675"/>
            <a:ext cx="4383087" cy="3816350"/>
            <a:chOff x="480" y="1008"/>
            <a:chExt cx="3072" cy="2544"/>
          </a:xfrm>
        </p:grpSpPr>
        <p:sp>
          <p:nvSpPr>
            <p:cNvPr id="10247" name="Rectangle 43"/>
            <p:cNvSpPr/>
            <p:nvPr/>
          </p:nvSpPr>
          <p:spPr>
            <a:xfrm>
              <a:off x="480" y="1008"/>
              <a:ext cx="3072" cy="254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0248" name="Object 27"/>
            <p:cNvGraphicFramePr>
              <a:graphicFrameLocks noChangeAspect="1"/>
            </p:cNvGraphicFramePr>
            <p:nvPr/>
          </p:nvGraphicFramePr>
          <p:xfrm>
            <a:off x="3271" y="2382"/>
            <a:ext cx="16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6" r:id="rId3" imgW="139700" imgH="152400" progId="Equation.3">
                    <p:embed/>
                  </p:oleObj>
                </mc:Choice>
                <mc:Fallback>
                  <p:oleObj r:id="rId3" imgW="139700" imgH="1524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71" y="2382"/>
                          <a:ext cx="168" cy="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9" name="Object 30"/>
            <p:cNvGraphicFramePr>
              <a:graphicFrameLocks noChangeAspect="1"/>
            </p:cNvGraphicFramePr>
            <p:nvPr/>
          </p:nvGraphicFramePr>
          <p:xfrm>
            <a:off x="1807" y="2333"/>
            <a:ext cx="180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7" r:id="rId5" imgW="165100" imgH="190500" progId="Equation.3">
                    <p:embed/>
                  </p:oleObj>
                </mc:Choice>
                <mc:Fallback>
                  <p:oleObj r:id="rId5" imgW="165100" imgH="190500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07" y="2333"/>
                          <a:ext cx="180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0" name="Line 42"/>
            <p:cNvSpPr/>
            <p:nvPr/>
          </p:nvSpPr>
          <p:spPr>
            <a:xfrm flipV="1">
              <a:off x="1981" y="1185"/>
              <a:ext cx="0" cy="2261"/>
            </a:xfrm>
            <a:prstGeom prst="line">
              <a:avLst/>
            </a:prstGeom>
            <a:ln w="28575" cap="flat" cmpd="sng">
              <a:solidFill>
                <a:srgbClr val="9900CC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51" name="Oval 4"/>
            <p:cNvSpPr/>
            <p:nvPr/>
          </p:nvSpPr>
          <p:spPr>
            <a:xfrm>
              <a:off x="864" y="1185"/>
              <a:ext cx="2234" cy="2261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0252" name="Line 15"/>
            <p:cNvSpPr/>
            <p:nvPr/>
          </p:nvSpPr>
          <p:spPr>
            <a:xfrm>
              <a:off x="3009" y="1931"/>
              <a:ext cx="0" cy="42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253" name="Group 49"/>
            <p:cNvGrpSpPr/>
            <p:nvPr/>
          </p:nvGrpSpPr>
          <p:grpSpPr>
            <a:xfrm>
              <a:off x="2432" y="2163"/>
              <a:ext cx="239" cy="205"/>
              <a:chOff x="2736" y="2064"/>
              <a:chExt cx="329" cy="278"/>
            </a:xfrm>
          </p:grpSpPr>
          <p:sp>
            <p:nvSpPr>
              <p:cNvPr id="10264" name="Arc 17"/>
              <p:cNvSpPr/>
              <p:nvPr/>
            </p:nvSpPr>
            <p:spPr>
              <a:xfrm>
                <a:off x="2736" y="2064"/>
                <a:ext cx="48" cy="25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 fill="none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65" name="Object 18"/>
              <p:cNvGraphicFramePr>
                <a:graphicFrameLocks noChangeAspect="1"/>
              </p:cNvGraphicFramePr>
              <p:nvPr/>
            </p:nvGraphicFramePr>
            <p:xfrm>
              <a:off x="2832" y="2064"/>
              <a:ext cx="233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88" r:id="rId7" imgW="203200" imgH="241300" progId="Equation.3">
                      <p:embed/>
                    </p:oleObj>
                  </mc:Choice>
                  <mc:Fallback>
                    <p:oleObj r:id="rId7" imgW="203200" imgH="241300" progId="Equation.3">
                      <p:embed/>
                      <p:pic>
                        <p:nvPicPr>
                          <p:cNvPr id="0" name="图片 3122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832" y="2064"/>
                            <a:ext cx="233" cy="27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54" name="Arc 19"/>
            <p:cNvSpPr/>
            <p:nvPr/>
          </p:nvSpPr>
          <p:spPr>
            <a:xfrm>
              <a:off x="2784" y="1296"/>
              <a:ext cx="228" cy="2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285" h="20757" fill="none">
                  <a:moveTo>
                    <a:pt x="5976" y="0"/>
                  </a:moveTo>
                  <a:cubicBezTo>
                    <a:pt x="13930" y="2290"/>
                    <a:pt x="19875" y="8923"/>
                    <a:pt x="21284" y="17079"/>
                  </a:cubicBezTo>
                </a:path>
                <a:path w="21285" h="20757" stroke="0">
                  <a:moveTo>
                    <a:pt x="5976" y="0"/>
                  </a:moveTo>
                  <a:cubicBezTo>
                    <a:pt x="13930" y="2290"/>
                    <a:pt x="19875" y="8923"/>
                    <a:pt x="21284" y="17079"/>
                  </a:cubicBezTo>
                  <a:lnTo>
                    <a:pt x="0" y="20757"/>
                  </a:lnTo>
                  <a:lnTo>
                    <a:pt x="5976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FF6600">
                  <a:alpha val="100000"/>
                </a:srgbClr>
              </a:solidFill>
              <a:prstDash val="solid"/>
              <a:round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55" name="Object 20"/>
            <p:cNvGraphicFramePr>
              <a:graphicFrameLocks noChangeAspect="1"/>
            </p:cNvGraphicFramePr>
            <p:nvPr/>
          </p:nvGraphicFramePr>
          <p:xfrm>
            <a:off x="2592" y="1148"/>
            <a:ext cx="310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9" r:id="rId9" imgW="177800" imgH="152400" progId="Equation.3">
                    <p:embed/>
                  </p:oleObj>
                </mc:Choice>
                <mc:Fallback>
                  <p:oleObj r:id="rId9" imgW="177800" imgH="1524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592" y="1148"/>
                          <a:ext cx="310" cy="2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6" name="Line 7"/>
            <p:cNvSpPr/>
            <p:nvPr/>
          </p:nvSpPr>
          <p:spPr>
            <a:xfrm flipV="1">
              <a:off x="1981" y="1928"/>
              <a:ext cx="1013" cy="424"/>
            </a:xfrm>
            <a:prstGeom prst="line">
              <a:avLst/>
            </a:prstGeom>
            <a:ln w="38100" cap="flat" cmpd="sng">
              <a:solidFill>
                <a:srgbClr val="F01A04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57" name="Object 33"/>
            <p:cNvGraphicFramePr>
              <a:graphicFrameLocks noChangeAspect="1"/>
            </p:cNvGraphicFramePr>
            <p:nvPr/>
          </p:nvGraphicFramePr>
          <p:xfrm>
            <a:off x="3087" y="1673"/>
            <a:ext cx="25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0" r:id="rId11" imgW="78740" imgH="105410" progId="Equation.3">
                    <p:embed/>
                  </p:oleObj>
                </mc:Choice>
                <mc:Fallback>
                  <p:oleObj r:id="rId11" imgW="78740" imgH="10541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87" y="1673"/>
                          <a:ext cx="252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8" name="Object 22"/>
            <p:cNvGraphicFramePr>
              <a:graphicFrameLocks noChangeAspect="1"/>
            </p:cNvGraphicFramePr>
            <p:nvPr/>
          </p:nvGraphicFramePr>
          <p:xfrm>
            <a:off x="1388" y="2704"/>
            <a:ext cx="1272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1" r:id="rId13" imgW="1485900" imgH="381000" progId="Equation.DSMT4">
                    <p:embed/>
                  </p:oleObj>
                </mc:Choice>
                <mc:Fallback>
                  <p:oleObj r:id="rId13" imgW="1485900" imgH="381000" progId="Equation.DSMT4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388" y="2704"/>
                          <a:ext cx="1272" cy="323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66FF66"/>
                            </a:gs>
                            <a:gs pos="50000">
                              <a:srgbClr val="FFFFFF"/>
                            </a:gs>
                            <a:gs pos="100000">
                              <a:srgbClr val="66FF66"/>
                            </a:gs>
                          </a:gsLst>
                          <a:lin ang="5400000" scaled="1"/>
                          <a:tileRect/>
                        </a:gradFill>
                        <a:ln w="9525" cap="flat" cmpd="sng">
                          <a:solidFill>
                            <a:srgbClr val="0066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9" name="Text Box 56"/>
            <p:cNvSpPr txBox="1"/>
            <p:nvPr/>
          </p:nvSpPr>
          <p:spPr>
            <a:xfrm>
              <a:off x="960" y="1881"/>
              <a:ext cx="127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         </a:t>
              </a:r>
            </a:p>
          </p:txBody>
        </p:sp>
        <p:sp>
          <p:nvSpPr>
            <p:cNvPr id="10260" name="Line 91"/>
            <p:cNvSpPr/>
            <p:nvPr/>
          </p:nvSpPr>
          <p:spPr>
            <a:xfrm>
              <a:off x="624" y="2363"/>
              <a:ext cx="2862" cy="0"/>
            </a:xfrm>
            <a:prstGeom prst="line">
              <a:avLst/>
            </a:prstGeom>
            <a:ln w="28575" cap="flat" cmpd="sng">
              <a:solidFill>
                <a:srgbClr val="9900CC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61" name="Object 23"/>
            <p:cNvGraphicFramePr>
              <a:graphicFrameLocks noChangeAspect="1"/>
            </p:cNvGraphicFramePr>
            <p:nvPr/>
          </p:nvGraphicFramePr>
          <p:xfrm>
            <a:off x="1209" y="1920"/>
            <a:ext cx="567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2" r:id="rId15" imgW="495300" imgH="241300" progId="Equation.3">
                    <p:embed/>
                  </p:oleObj>
                </mc:Choice>
                <mc:Fallback>
                  <p:oleObj r:id="rId15" imgW="495300" imgH="2413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209" y="1920"/>
                          <a:ext cx="567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2" name="Object 55"/>
            <p:cNvGraphicFramePr>
              <a:graphicFrameLocks noChangeAspect="1"/>
            </p:cNvGraphicFramePr>
            <p:nvPr/>
          </p:nvGraphicFramePr>
          <p:xfrm>
            <a:off x="2824" y="2304"/>
            <a:ext cx="233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3" r:id="rId17" imgW="190500" imgH="254000" progId="Equation.3">
                    <p:embed/>
                  </p:oleObj>
                </mc:Choice>
                <mc:Fallback>
                  <p:oleObj r:id="rId17" imgW="190500" imgH="2540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824" y="2304"/>
                          <a:ext cx="233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3" name="Oval 16"/>
            <p:cNvSpPr/>
            <p:nvPr/>
          </p:nvSpPr>
          <p:spPr>
            <a:xfrm>
              <a:off x="2948" y="2301"/>
              <a:ext cx="104" cy="106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8F00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rgbClr val="CC00CC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243" name="Text Box 95"/>
          <p:cNvSpPr txBox="1"/>
          <p:nvPr/>
        </p:nvSpPr>
        <p:spPr>
          <a:xfrm>
            <a:off x="2071688" y="44450"/>
            <a:ext cx="5237162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旋转矢量表示确定初相</a:t>
            </a:r>
          </a:p>
        </p:txBody>
      </p:sp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82982" y="5517232"/>
            <a:ext cx="2922082" cy="492443"/>
          </a:xfrm>
          <a:prstGeom prst="rect">
            <a:avLst/>
          </a:pr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sp>
        <p:nvSpPr>
          <p:cNvPr id="5" name="文本框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58230" y="5157191"/>
            <a:ext cx="2681503" cy="492443"/>
          </a:xfrm>
          <a:prstGeom prst="rect">
            <a:avLst/>
          </a:prstGeom>
          <a:blipFill>
            <a:blip r:embed="rId20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sp>
        <p:nvSpPr>
          <p:cNvPr id="6" name="文本框 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99992" y="5744869"/>
            <a:ext cx="2681503" cy="492443"/>
          </a:xfrm>
          <a:prstGeom prst="rect">
            <a:avLst/>
          </a:pr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文本框 1"/>
          <p:cNvSpPr txBox="1"/>
          <p:nvPr/>
        </p:nvSpPr>
        <p:spPr>
          <a:xfrm>
            <a:off x="2051050" y="115888"/>
            <a:ext cx="6192838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利用旋转矢量表示确定初相</a:t>
            </a:r>
          </a:p>
        </p:txBody>
      </p:sp>
      <p:sp>
        <p:nvSpPr>
          <p:cNvPr id="11267" name="文本框 10"/>
          <p:cNvSpPr txBox="1"/>
          <p:nvPr/>
        </p:nvSpPr>
        <p:spPr>
          <a:xfrm>
            <a:off x="4351338" y="1260475"/>
            <a:ext cx="4443412" cy="4660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方法（已知振幅和初始条件）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作出旋转矢量圆；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过初始位置（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=Acos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）做一虚线垂直于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轴，与旋转矢量圆交于两点，该两点对应旋转矢量与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轴正方向夹角即为可能的相位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根据初始振动方向判定初相：（由于旋转矢量逆时针旋转） 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&gt;0,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&lt;0,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endParaRPr lang="zh-CN" altLang="en-US" sz="2400" i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11268" name="组合 20"/>
          <p:cNvGrpSpPr/>
          <p:nvPr/>
        </p:nvGrpSpPr>
        <p:grpSpPr>
          <a:xfrm>
            <a:off x="250825" y="1844675"/>
            <a:ext cx="3889375" cy="2736850"/>
            <a:chOff x="827584" y="1844824"/>
            <a:chExt cx="3888432" cy="2736304"/>
          </a:xfrm>
        </p:grpSpPr>
        <p:sp>
          <p:nvSpPr>
            <p:cNvPr id="11271" name="椭圆 2"/>
            <p:cNvSpPr/>
            <p:nvPr/>
          </p:nvSpPr>
          <p:spPr>
            <a:xfrm>
              <a:off x="1187624" y="1844824"/>
              <a:ext cx="2808312" cy="2736304"/>
            </a:xfrm>
            <a:prstGeom prst="ellipse">
              <a:avLst/>
            </a:prstGeom>
            <a:noFill/>
            <a:ln w="444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11272" name="直接箭头连接符 4"/>
            <p:cNvCxnSpPr/>
            <p:nvPr/>
          </p:nvCxnSpPr>
          <p:spPr>
            <a:xfrm>
              <a:off x="827584" y="3212976"/>
              <a:ext cx="3888432" cy="0"/>
            </a:xfrm>
            <a:prstGeom prst="straightConnector1">
              <a:avLst/>
            </a:prstGeom>
            <a:ln w="444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1273" name="直接连接符 7"/>
            <p:cNvCxnSpPr/>
            <p:nvPr/>
          </p:nvCxnSpPr>
          <p:spPr>
            <a:xfrm>
              <a:off x="2591780" y="3212976"/>
              <a:ext cx="0" cy="0"/>
            </a:xfrm>
            <a:prstGeom prst="line">
              <a:avLst/>
            </a:prstGeom>
            <a:ln w="41275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11274" name="椭圆 8"/>
            <p:cNvSpPr/>
            <p:nvPr/>
          </p:nvSpPr>
          <p:spPr>
            <a:xfrm>
              <a:off x="2483768" y="3140968"/>
              <a:ext cx="144016" cy="144016"/>
            </a:xfrm>
            <a:prstGeom prst="ellipse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/>
            <a:lstStyle/>
            <a:p>
              <a:pPr algn="ctr" eaLnBrk="1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275" name="文本框 9"/>
            <p:cNvSpPr txBox="1"/>
            <p:nvPr/>
          </p:nvSpPr>
          <p:spPr>
            <a:xfrm>
              <a:off x="2339752" y="3356992"/>
              <a:ext cx="432048" cy="369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1800" dirty="0">
                  <a:latin typeface="Times New Roman" panose="02020603050405020304" pitchFamily="18" charset="0"/>
                </a:rPr>
                <a:t>O</a:t>
              </a: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11276" name="直接连接符 12"/>
            <p:cNvCxnSpPr/>
            <p:nvPr/>
          </p:nvCxnSpPr>
          <p:spPr>
            <a:xfrm>
              <a:off x="3203848" y="1988840"/>
              <a:ext cx="0" cy="2448272"/>
            </a:xfrm>
            <a:prstGeom prst="line">
              <a:avLst/>
            </a:prstGeom>
            <a:ln w="34925" cap="flat" cmpd="sng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</p:cxnSp>
        <p:cxnSp>
          <p:nvCxnSpPr>
            <p:cNvPr id="11277" name="直接箭头连接符 14"/>
            <p:cNvCxnSpPr>
              <a:stCxn id="11274" idx="7"/>
            </p:cNvCxnSpPr>
            <p:nvPr/>
          </p:nvCxnSpPr>
          <p:spPr>
            <a:xfrm flipV="1">
              <a:off x="2606693" y="1988840"/>
              <a:ext cx="597155" cy="1173219"/>
            </a:xfrm>
            <a:prstGeom prst="straightConnector1">
              <a:avLst/>
            </a:prstGeom>
            <a:ln w="4445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1278" name="直接箭头连接符 16"/>
            <p:cNvCxnSpPr/>
            <p:nvPr/>
          </p:nvCxnSpPr>
          <p:spPr>
            <a:xfrm>
              <a:off x="2576867" y="3263893"/>
              <a:ext cx="626981" cy="1173218"/>
            </a:xfrm>
            <a:prstGeom prst="straightConnector1">
              <a:avLst/>
            </a:prstGeom>
            <a:ln w="44450" cap="flat" cmpd="sng">
              <a:solidFill>
                <a:schemeClr val="tx2"/>
              </a:solidFill>
              <a:prstDash val="solid"/>
              <a:headEnd type="none" w="med" len="med"/>
              <a:tailEnd type="triangle" w="med" len="med"/>
            </a:ln>
          </p:spPr>
        </p:cxnSp>
      </p:grpSp>
      <p:sp>
        <p:nvSpPr>
          <p:cNvPr id="11269" name="文本框 24"/>
          <p:cNvSpPr txBox="1"/>
          <p:nvPr/>
        </p:nvSpPr>
        <p:spPr>
          <a:xfrm>
            <a:off x="1517650" y="1260475"/>
            <a:ext cx="4111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l-GR" altLang="zh-CN" dirty="0">
                <a:latin typeface="Times New Roman" panose="02020603050405020304" pitchFamily="18" charset="0"/>
              </a:rPr>
              <a:t>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1270" name="Arc 19"/>
          <p:cNvSpPr/>
          <p:nvPr/>
        </p:nvSpPr>
        <p:spPr>
          <a:xfrm rot="-6409224">
            <a:off x="939800" y="1525588"/>
            <a:ext cx="323850" cy="9286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0" b="0"/>
            <a:pathLst>
              <a:path w="21285" h="20757" fill="none">
                <a:moveTo>
                  <a:pt x="5976" y="0"/>
                </a:moveTo>
                <a:cubicBezTo>
                  <a:pt x="13930" y="2290"/>
                  <a:pt x="19875" y="8923"/>
                  <a:pt x="21284" y="17079"/>
                </a:cubicBezTo>
              </a:path>
              <a:path w="21285" h="20757" stroke="0">
                <a:moveTo>
                  <a:pt x="5976" y="0"/>
                </a:moveTo>
                <a:cubicBezTo>
                  <a:pt x="13930" y="2290"/>
                  <a:pt x="19875" y="8923"/>
                  <a:pt x="21284" y="17079"/>
                </a:cubicBezTo>
                <a:lnTo>
                  <a:pt x="0" y="20757"/>
                </a:lnTo>
                <a:lnTo>
                  <a:pt x="5976" y="0"/>
                </a:lnTo>
                <a:close/>
              </a:path>
            </a:pathLst>
          </a:custGeom>
          <a:noFill/>
          <a:ln w="38100" cap="flat" cmpd="sng">
            <a:solidFill>
              <a:srgbClr val="FF6600">
                <a:alpha val="100000"/>
              </a:srgbClr>
            </a:solidFill>
            <a:prstDash val="solid"/>
            <a:round/>
            <a:headEnd type="triangl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/>
          <p:nvPr/>
        </p:nvSpPr>
        <p:spPr>
          <a:xfrm>
            <a:off x="762000" y="990600"/>
            <a:ext cx="7924800" cy="3124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>
              <a:spcBef>
                <a:spcPct val="50000"/>
              </a:spcBef>
            </a:pP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12291" name="Line 7"/>
          <p:cNvSpPr/>
          <p:nvPr/>
        </p:nvSpPr>
        <p:spPr>
          <a:xfrm flipV="1">
            <a:off x="1474788" y="2503488"/>
            <a:ext cx="32575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2" name="Line 8"/>
          <p:cNvSpPr/>
          <p:nvPr/>
        </p:nvSpPr>
        <p:spPr>
          <a:xfrm flipV="1">
            <a:off x="1466850" y="1066800"/>
            <a:ext cx="3175" cy="2667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293" name="Object 9"/>
          <p:cNvGraphicFramePr>
            <a:graphicFrameLocks noChangeAspect="1"/>
          </p:cNvGraphicFramePr>
          <p:nvPr/>
        </p:nvGraphicFramePr>
        <p:xfrm>
          <a:off x="1089025" y="1555750"/>
          <a:ext cx="22225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0" r:id="rId3" imgW="177800" imgH="190500" progId="Equation.3">
                  <p:embed/>
                </p:oleObj>
              </mc:Choice>
              <mc:Fallback>
                <p:oleObj r:id="rId3" imgW="177800" imgH="1905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9025" y="1555750"/>
                        <a:ext cx="222250" cy="325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1"/>
          <p:cNvGraphicFramePr>
            <a:graphicFrameLocks noChangeAspect="1"/>
          </p:cNvGraphicFramePr>
          <p:nvPr/>
        </p:nvGraphicFramePr>
        <p:xfrm>
          <a:off x="1089025" y="1033463"/>
          <a:ext cx="2286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1" r:id="rId5" imgW="139700" imgH="152400" progId="Equation.3">
                  <p:embed/>
                </p:oleObj>
              </mc:Choice>
              <mc:Fallback>
                <p:oleObj r:id="rId5" imgW="139700" imgH="1524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9025" y="1033463"/>
                        <a:ext cx="228600" cy="34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Line 12"/>
          <p:cNvSpPr/>
          <p:nvPr/>
        </p:nvSpPr>
        <p:spPr>
          <a:xfrm flipH="1" flipV="1">
            <a:off x="3546475" y="1787525"/>
            <a:ext cx="0" cy="1431925"/>
          </a:xfrm>
          <a:prstGeom prst="line">
            <a:avLst/>
          </a:prstGeom>
          <a:ln w="19050" cap="flat" cmpd="sng">
            <a:solidFill>
              <a:srgbClr val="3333FF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6" name="Line 13"/>
          <p:cNvSpPr/>
          <p:nvPr/>
        </p:nvSpPr>
        <p:spPr>
          <a:xfrm flipV="1">
            <a:off x="2519363" y="1787525"/>
            <a:ext cx="0" cy="1408113"/>
          </a:xfrm>
          <a:prstGeom prst="line">
            <a:avLst/>
          </a:prstGeom>
          <a:ln w="19050" cap="flat" cmpd="sng">
            <a:solidFill>
              <a:srgbClr val="3333FF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2297" name="Object 14"/>
          <p:cNvGraphicFramePr>
            <a:graphicFrameLocks noChangeAspect="1"/>
          </p:cNvGraphicFramePr>
          <p:nvPr/>
        </p:nvGraphicFramePr>
        <p:xfrm>
          <a:off x="914400" y="1911350"/>
          <a:ext cx="4857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" r:id="rId7" imgW="342900" imgH="254000" progId="Equation.3">
                  <p:embed/>
                </p:oleObj>
              </mc:Choice>
              <mc:Fallback>
                <p:oleObj r:id="rId7" imgW="342900" imgH="2540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0" y="1911350"/>
                        <a:ext cx="485775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15"/>
          <p:cNvGraphicFramePr>
            <a:graphicFrameLocks noChangeAspect="1"/>
          </p:cNvGraphicFramePr>
          <p:nvPr/>
        </p:nvGraphicFramePr>
        <p:xfrm>
          <a:off x="4516438" y="2097088"/>
          <a:ext cx="195262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3" r:id="rId9" imgW="101600" imgH="177800" progId="Equation.3">
                  <p:embed/>
                </p:oleObj>
              </mc:Choice>
              <mc:Fallback>
                <p:oleObj r:id="rId9" imgW="101600" imgH="1778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16438" y="2097088"/>
                        <a:ext cx="195262" cy="379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6"/>
          <p:cNvGraphicFramePr>
            <a:graphicFrameLocks noChangeAspect="1"/>
          </p:cNvGraphicFramePr>
          <p:nvPr/>
        </p:nvGraphicFramePr>
        <p:xfrm>
          <a:off x="1133475" y="2590800"/>
          <a:ext cx="274638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" r:id="rId11" imgW="139700" imgH="152400" progId="Equation.3">
                  <p:embed/>
                </p:oleObj>
              </mc:Choice>
              <mc:Fallback>
                <p:oleObj r:id="rId11" imgW="139700" imgH="1524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33475" y="2590800"/>
                        <a:ext cx="274638" cy="327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21"/>
          <p:cNvGraphicFramePr>
            <a:graphicFrameLocks noChangeAspect="1"/>
          </p:cNvGraphicFramePr>
          <p:nvPr/>
        </p:nvGraphicFramePr>
        <p:xfrm>
          <a:off x="2187575" y="1749425"/>
          <a:ext cx="3270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" r:id="rId13" imgW="127000" imgH="177165" progId="Equation.3">
                  <p:embed/>
                </p:oleObj>
              </mc:Choice>
              <mc:Fallback>
                <p:oleObj r:id="rId13" imgW="127000" imgH="177165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87575" y="1749425"/>
                        <a:ext cx="327025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Freeform 23"/>
          <p:cNvSpPr/>
          <p:nvPr/>
        </p:nvSpPr>
        <p:spPr>
          <a:xfrm>
            <a:off x="1470025" y="1789113"/>
            <a:ext cx="3106738" cy="14112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0" t="0" r="0" b="0"/>
            <a:pathLst>
              <a:path w="2107" h="921">
                <a:moveTo>
                  <a:pt x="0" y="242"/>
                </a:moveTo>
                <a:lnTo>
                  <a:pt x="22" y="203"/>
                </a:lnTo>
                <a:lnTo>
                  <a:pt x="44" y="167"/>
                </a:lnTo>
                <a:lnTo>
                  <a:pt x="67" y="133"/>
                </a:lnTo>
                <a:lnTo>
                  <a:pt x="90" y="103"/>
                </a:lnTo>
                <a:lnTo>
                  <a:pt x="112" y="76"/>
                </a:lnTo>
                <a:lnTo>
                  <a:pt x="134" y="52"/>
                </a:lnTo>
                <a:lnTo>
                  <a:pt x="157" y="33"/>
                </a:lnTo>
                <a:lnTo>
                  <a:pt x="179" y="18"/>
                </a:lnTo>
                <a:lnTo>
                  <a:pt x="202" y="8"/>
                </a:lnTo>
                <a:lnTo>
                  <a:pt x="225" y="2"/>
                </a:lnTo>
                <a:lnTo>
                  <a:pt x="246" y="0"/>
                </a:lnTo>
                <a:lnTo>
                  <a:pt x="269" y="3"/>
                </a:lnTo>
                <a:lnTo>
                  <a:pt x="291" y="11"/>
                </a:lnTo>
                <a:lnTo>
                  <a:pt x="314" y="22"/>
                </a:lnTo>
                <a:lnTo>
                  <a:pt x="337" y="38"/>
                </a:lnTo>
                <a:lnTo>
                  <a:pt x="358" y="59"/>
                </a:lnTo>
                <a:lnTo>
                  <a:pt x="381" y="82"/>
                </a:lnTo>
                <a:lnTo>
                  <a:pt x="404" y="110"/>
                </a:lnTo>
                <a:lnTo>
                  <a:pt x="426" y="142"/>
                </a:lnTo>
                <a:lnTo>
                  <a:pt x="448" y="176"/>
                </a:lnTo>
                <a:lnTo>
                  <a:pt x="471" y="213"/>
                </a:lnTo>
                <a:lnTo>
                  <a:pt x="493" y="253"/>
                </a:lnTo>
                <a:lnTo>
                  <a:pt x="516" y="294"/>
                </a:lnTo>
                <a:lnTo>
                  <a:pt x="538" y="337"/>
                </a:lnTo>
                <a:lnTo>
                  <a:pt x="560" y="382"/>
                </a:lnTo>
                <a:lnTo>
                  <a:pt x="583" y="428"/>
                </a:lnTo>
                <a:lnTo>
                  <a:pt x="605" y="473"/>
                </a:lnTo>
                <a:lnTo>
                  <a:pt x="627" y="518"/>
                </a:lnTo>
                <a:lnTo>
                  <a:pt x="650" y="563"/>
                </a:lnTo>
                <a:lnTo>
                  <a:pt x="672" y="607"/>
                </a:lnTo>
                <a:lnTo>
                  <a:pt x="695" y="649"/>
                </a:lnTo>
                <a:lnTo>
                  <a:pt x="718" y="690"/>
                </a:lnTo>
                <a:lnTo>
                  <a:pt x="739" y="728"/>
                </a:lnTo>
                <a:lnTo>
                  <a:pt x="762" y="764"/>
                </a:lnTo>
                <a:lnTo>
                  <a:pt x="784" y="796"/>
                </a:lnTo>
                <a:lnTo>
                  <a:pt x="807" y="826"/>
                </a:lnTo>
                <a:lnTo>
                  <a:pt x="830" y="852"/>
                </a:lnTo>
                <a:lnTo>
                  <a:pt x="851" y="874"/>
                </a:lnTo>
                <a:lnTo>
                  <a:pt x="874" y="893"/>
                </a:lnTo>
                <a:lnTo>
                  <a:pt x="897" y="906"/>
                </a:lnTo>
                <a:lnTo>
                  <a:pt x="919" y="915"/>
                </a:lnTo>
                <a:lnTo>
                  <a:pt x="942" y="920"/>
                </a:lnTo>
                <a:lnTo>
                  <a:pt x="964" y="921"/>
                </a:lnTo>
                <a:lnTo>
                  <a:pt x="986" y="917"/>
                </a:lnTo>
                <a:lnTo>
                  <a:pt x="1009" y="909"/>
                </a:lnTo>
                <a:lnTo>
                  <a:pt x="1031" y="895"/>
                </a:lnTo>
                <a:lnTo>
                  <a:pt x="1053" y="879"/>
                </a:lnTo>
                <a:lnTo>
                  <a:pt x="1076" y="857"/>
                </a:lnTo>
                <a:lnTo>
                  <a:pt x="1098" y="831"/>
                </a:lnTo>
                <a:lnTo>
                  <a:pt x="1121" y="803"/>
                </a:lnTo>
                <a:lnTo>
                  <a:pt x="1143" y="771"/>
                </a:lnTo>
                <a:lnTo>
                  <a:pt x="1165" y="736"/>
                </a:lnTo>
                <a:lnTo>
                  <a:pt x="1188" y="698"/>
                </a:lnTo>
                <a:lnTo>
                  <a:pt x="1211" y="658"/>
                </a:lnTo>
                <a:lnTo>
                  <a:pt x="1232" y="616"/>
                </a:lnTo>
                <a:lnTo>
                  <a:pt x="1255" y="573"/>
                </a:lnTo>
                <a:lnTo>
                  <a:pt x="1277" y="527"/>
                </a:lnTo>
                <a:lnTo>
                  <a:pt x="1300" y="482"/>
                </a:lnTo>
                <a:lnTo>
                  <a:pt x="1323" y="436"/>
                </a:lnTo>
                <a:lnTo>
                  <a:pt x="1344" y="391"/>
                </a:lnTo>
                <a:lnTo>
                  <a:pt x="1367" y="346"/>
                </a:lnTo>
                <a:lnTo>
                  <a:pt x="1390" y="303"/>
                </a:lnTo>
                <a:lnTo>
                  <a:pt x="1412" y="261"/>
                </a:lnTo>
                <a:lnTo>
                  <a:pt x="1435" y="221"/>
                </a:lnTo>
                <a:lnTo>
                  <a:pt x="1457" y="183"/>
                </a:lnTo>
                <a:lnTo>
                  <a:pt x="1479" y="149"/>
                </a:lnTo>
                <a:lnTo>
                  <a:pt x="1502" y="117"/>
                </a:lnTo>
                <a:lnTo>
                  <a:pt x="1524" y="87"/>
                </a:lnTo>
                <a:lnTo>
                  <a:pt x="1547" y="63"/>
                </a:lnTo>
                <a:lnTo>
                  <a:pt x="1569" y="42"/>
                </a:lnTo>
                <a:lnTo>
                  <a:pt x="1591" y="25"/>
                </a:lnTo>
                <a:lnTo>
                  <a:pt x="1614" y="13"/>
                </a:lnTo>
                <a:lnTo>
                  <a:pt x="1637" y="4"/>
                </a:lnTo>
                <a:lnTo>
                  <a:pt x="1658" y="0"/>
                </a:lnTo>
                <a:lnTo>
                  <a:pt x="1681" y="1"/>
                </a:lnTo>
                <a:lnTo>
                  <a:pt x="1704" y="6"/>
                </a:lnTo>
                <a:lnTo>
                  <a:pt x="1726" y="16"/>
                </a:lnTo>
                <a:lnTo>
                  <a:pt x="1748" y="30"/>
                </a:lnTo>
                <a:lnTo>
                  <a:pt x="1770" y="48"/>
                </a:lnTo>
                <a:lnTo>
                  <a:pt x="1793" y="71"/>
                </a:lnTo>
                <a:lnTo>
                  <a:pt x="1816" y="96"/>
                </a:lnTo>
                <a:lnTo>
                  <a:pt x="1837" y="126"/>
                </a:lnTo>
                <a:lnTo>
                  <a:pt x="1860" y="159"/>
                </a:lnTo>
                <a:lnTo>
                  <a:pt x="1883" y="195"/>
                </a:lnTo>
                <a:lnTo>
                  <a:pt x="1905" y="234"/>
                </a:lnTo>
                <a:lnTo>
                  <a:pt x="1928" y="274"/>
                </a:lnTo>
                <a:lnTo>
                  <a:pt x="1951" y="316"/>
                </a:lnTo>
                <a:lnTo>
                  <a:pt x="1972" y="360"/>
                </a:lnTo>
                <a:lnTo>
                  <a:pt x="1995" y="405"/>
                </a:lnTo>
                <a:lnTo>
                  <a:pt x="2017" y="451"/>
                </a:lnTo>
                <a:lnTo>
                  <a:pt x="2040" y="497"/>
                </a:lnTo>
                <a:lnTo>
                  <a:pt x="2062" y="541"/>
                </a:lnTo>
                <a:lnTo>
                  <a:pt x="2084" y="586"/>
                </a:lnTo>
                <a:lnTo>
                  <a:pt x="2107" y="629"/>
                </a:lnTo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2302" name="Group 24"/>
          <p:cNvGrpSpPr/>
          <p:nvPr/>
        </p:nvGrpSpPr>
        <p:grpSpPr>
          <a:xfrm>
            <a:off x="1470025" y="1787525"/>
            <a:ext cx="2997200" cy="1431925"/>
            <a:chOff x="752" y="2662"/>
            <a:chExt cx="2001" cy="902"/>
          </a:xfrm>
        </p:grpSpPr>
        <p:sp>
          <p:nvSpPr>
            <p:cNvPr id="12339" name="Line 25"/>
            <p:cNvSpPr/>
            <p:nvPr/>
          </p:nvSpPr>
          <p:spPr>
            <a:xfrm flipH="1" flipV="1">
              <a:off x="752" y="2662"/>
              <a:ext cx="1984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0" name="Line 26"/>
            <p:cNvSpPr/>
            <p:nvPr/>
          </p:nvSpPr>
          <p:spPr>
            <a:xfrm flipH="1" flipV="1">
              <a:off x="766" y="3564"/>
              <a:ext cx="1987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1" name="Line 27"/>
            <p:cNvSpPr/>
            <p:nvPr/>
          </p:nvSpPr>
          <p:spPr>
            <a:xfrm flipV="1">
              <a:off x="766" y="2880"/>
              <a:ext cx="1970" cy="7"/>
            </a:xfrm>
            <a:prstGeom prst="line">
              <a:avLst/>
            </a:prstGeom>
            <a:ln w="9525" cap="flat" cmpd="sng">
              <a:solidFill>
                <a:srgbClr val="3333FF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03" name="Oval 22"/>
          <p:cNvSpPr/>
          <p:nvPr/>
        </p:nvSpPr>
        <p:spPr>
          <a:xfrm>
            <a:off x="2130425" y="2117725"/>
            <a:ext cx="92075" cy="92075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algn="ctr" eaLnBrk="1" hangingPunct="1">
              <a:spcBef>
                <a:spcPct val="50000"/>
              </a:spcBef>
            </a:pP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12304" name="Group 17"/>
          <p:cNvGrpSpPr/>
          <p:nvPr/>
        </p:nvGrpSpPr>
        <p:grpSpPr>
          <a:xfrm>
            <a:off x="1752600" y="1371600"/>
            <a:ext cx="304800" cy="457200"/>
            <a:chOff x="912" y="2160"/>
            <a:chExt cx="302" cy="384"/>
          </a:xfrm>
        </p:grpSpPr>
        <p:graphicFrame>
          <p:nvGraphicFramePr>
            <p:cNvPr id="12337" name="Object 18"/>
            <p:cNvGraphicFramePr>
              <a:graphicFrameLocks noChangeAspect="1"/>
            </p:cNvGraphicFramePr>
            <p:nvPr/>
          </p:nvGraphicFramePr>
          <p:xfrm>
            <a:off x="912" y="2160"/>
            <a:ext cx="302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6" r:id="rId15" imgW="127000" imgH="139700" progId="Equation.3">
                    <p:embed/>
                  </p:oleObj>
                </mc:Choice>
                <mc:Fallback>
                  <p:oleObj r:id="rId15" imgW="127000" imgH="1397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12" y="2160"/>
                          <a:ext cx="302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8" name="Oval 19"/>
            <p:cNvSpPr/>
            <p:nvPr/>
          </p:nvSpPr>
          <p:spPr>
            <a:xfrm>
              <a:off x="983" y="2471"/>
              <a:ext cx="73" cy="73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1764" name="Group 36"/>
          <p:cNvGrpSpPr/>
          <p:nvPr/>
        </p:nvGrpSpPr>
        <p:grpSpPr>
          <a:xfrm>
            <a:off x="6705600" y="2425700"/>
            <a:ext cx="1066800" cy="533400"/>
            <a:chOff x="4320" y="2928"/>
            <a:chExt cx="672" cy="336"/>
          </a:xfrm>
        </p:grpSpPr>
        <p:sp>
          <p:nvSpPr>
            <p:cNvPr id="12335" name="Line 37"/>
            <p:cNvSpPr/>
            <p:nvPr/>
          </p:nvSpPr>
          <p:spPr>
            <a:xfrm>
              <a:off x="4320" y="2976"/>
              <a:ext cx="672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36" name="Object 38"/>
            <p:cNvGraphicFramePr>
              <a:graphicFrameLocks noChangeAspect="1"/>
            </p:cNvGraphicFramePr>
            <p:nvPr/>
          </p:nvGraphicFramePr>
          <p:xfrm>
            <a:off x="4676" y="2928"/>
            <a:ext cx="22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7" r:id="rId17" imgW="105410" imgH="189230" progId="Equation.3">
                    <p:embed/>
                  </p:oleObj>
                </mc:Choice>
                <mc:Fallback>
                  <p:oleObj r:id="rId17" imgW="105410" imgH="18923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76" y="2928"/>
                          <a:ext cx="22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1770" name="Object 42"/>
          <p:cNvGraphicFramePr>
            <a:graphicFrameLocks noChangeAspect="1"/>
          </p:cNvGraphicFramePr>
          <p:nvPr/>
        </p:nvGraphicFramePr>
        <p:xfrm>
          <a:off x="1554163" y="4314825"/>
          <a:ext cx="133508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8" r:id="rId19" imgW="383540" imgH="288925" progId="Equation.3">
                  <p:embed/>
                </p:oleObj>
              </mc:Choice>
              <mc:Fallback>
                <p:oleObj r:id="rId19" imgW="383540" imgH="288925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54163" y="4314825"/>
                        <a:ext cx="1335087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71" name="Object 43"/>
          <p:cNvGraphicFramePr>
            <a:graphicFrameLocks noChangeAspect="1"/>
          </p:cNvGraphicFramePr>
          <p:nvPr/>
        </p:nvGraphicFramePr>
        <p:xfrm>
          <a:off x="3668713" y="4306888"/>
          <a:ext cx="3057525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" r:id="rId21" imgW="845820" imgH="288925" progId="Equation.3">
                  <p:embed/>
                </p:oleObj>
              </mc:Choice>
              <mc:Fallback>
                <p:oleObj r:id="rId21" imgW="845820" imgH="288925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68713" y="4306888"/>
                        <a:ext cx="3057525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88" name="Group 60"/>
          <p:cNvGrpSpPr/>
          <p:nvPr/>
        </p:nvGrpSpPr>
        <p:grpSpPr>
          <a:xfrm>
            <a:off x="6858000" y="1905000"/>
            <a:ext cx="603250" cy="609600"/>
            <a:chOff x="4320" y="1200"/>
            <a:chExt cx="380" cy="384"/>
          </a:xfrm>
        </p:grpSpPr>
        <p:graphicFrame>
          <p:nvGraphicFramePr>
            <p:cNvPr id="12333" name="Object 45"/>
            <p:cNvGraphicFramePr>
              <a:graphicFrameLocks noChangeAspect="1"/>
            </p:cNvGraphicFramePr>
            <p:nvPr/>
          </p:nvGraphicFramePr>
          <p:xfrm>
            <a:off x="4320" y="1200"/>
            <a:ext cx="38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0" r:id="rId23" imgW="131445" imgH="105410" progId="Equation.3">
                    <p:embed/>
                  </p:oleObj>
                </mc:Choice>
                <mc:Fallback>
                  <p:oleObj r:id="rId23" imgW="131445" imgH="10541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20" y="1200"/>
                          <a:ext cx="380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4" name="Freeform 46"/>
            <p:cNvSpPr/>
            <p:nvPr/>
          </p:nvSpPr>
          <p:spPr>
            <a:xfrm>
              <a:off x="4320" y="1405"/>
              <a:ext cx="96" cy="1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28"/>
                </a:cxn>
                <a:cxn ang="0">
                  <a:pos x="6" y="109"/>
                </a:cxn>
              </a:cxnLst>
              <a:rect l="0" t="0" r="0" b="0"/>
              <a:pathLst>
                <a:path w="144" h="192">
                  <a:moveTo>
                    <a:pt x="0" y="0"/>
                  </a:moveTo>
                  <a:cubicBezTo>
                    <a:pt x="36" y="8"/>
                    <a:pt x="72" y="16"/>
                    <a:pt x="96" y="48"/>
                  </a:cubicBezTo>
                  <a:cubicBezTo>
                    <a:pt x="120" y="80"/>
                    <a:pt x="136" y="168"/>
                    <a:pt x="144" y="192"/>
                  </a:cubicBezTo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1778" name="Group 50"/>
          <p:cNvGrpSpPr/>
          <p:nvPr/>
        </p:nvGrpSpPr>
        <p:grpSpPr>
          <a:xfrm>
            <a:off x="6781800" y="1600200"/>
            <a:ext cx="381000" cy="1752600"/>
            <a:chOff x="4390" y="2400"/>
            <a:chExt cx="240" cy="1104"/>
          </a:xfrm>
        </p:grpSpPr>
        <p:sp>
          <p:nvSpPr>
            <p:cNvPr id="12331" name="Line 51"/>
            <p:cNvSpPr/>
            <p:nvPr/>
          </p:nvSpPr>
          <p:spPr>
            <a:xfrm>
              <a:off x="4630" y="2400"/>
              <a:ext cx="0" cy="1104"/>
            </a:xfrm>
            <a:prstGeom prst="line">
              <a:avLst/>
            </a:prstGeom>
            <a:ln w="19050" cap="flat" cmpd="sng">
              <a:solidFill>
                <a:srgbClr val="9900CC"/>
              </a:solidFill>
              <a:prstDash val="sysDot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32" name="Object 52"/>
            <p:cNvGraphicFramePr>
              <a:graphicFrameLocks noChangeAspect="1"/>
            </p:cNvGraphicFramePr>
            <p:nvPr/>
          </p:nvGraphicFramePr>
          <p:xfrm>
            <a:off x="4390" y="2976"/>
            <a:ext cx="208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1" r:id="rId25" imgW="131445" imgH="383540" progId="Equation.3">
                    <p:embed/>
                  </p:oleObj>
                </mc:Choice>
                <mc:Fallback>
                  <p:oleObj r:id="rId25" imgW="131445" imgH="38354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99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90" y="2976"/>
                          <a:ext cx="208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1793" name="Group 65"/>
          <p:cNvGrpSpPr/>
          <p:nvPr/>
        </p:nvGrpSpPr>
        <p:grpSpPr>
          <a:xfrm>
            <a:off x="6705600" y="1206500"/>
            <a:ext cx="1339850" cy="1295400"/>
            <a:chOff x="4224" y="760"/>
            <a:chExt cx="844" cy="816"/>
          </a:xfrm>
        </p:grpSpPr>
        <p:grpSp>
          <p:nvGrpSpPr>
            <p:cNvPr id="12325" name="Group 39"/>
            <p:cNvGrpSpPr/>
            <p:nvPr/>
          </p:nvGrpSpPr>
          <p:grpSpPr>
            <a:xfrm>
              <a:off x="4800" y="912"/>
              <a:ext cx="268" cy="480"/>
              <a:chOff x="5232" y="2256"/>
              <a:chExt cx="268" cy="480"/>
            </a:xfrm>
          </p:grpSpPr>
          <p:sp>
            <p:nvSpPr>
              <p:cNvPr id="12329" name="Freeform 40"/>
              <p:cNvSpPr/>
              <p:nvPr/>
            </p:nvSpPr>
            <p:spPr>
              <a:xfrm>
                <a:off x="5376" y="2496"/>
                <a:ext cx="56" cy="240"/>
              </a:xfrm>
              <a:custGeom>
                <a:avLst/>
                <a:gdLst/>
                <a:ahLst/>
                <a:cxnLst>
                  <a:cxn ang="0">
                    <a:pos x="48" y="240"/>
                  </a:cxn>
                  <a:cxn ang="0">
                    <a:pos x="48" y="144"/>
                  </a:cxn>
                  <a:cxn ang="0">
                    <a:pos x="0" y="0"/>
                  </a:cxn>
                </a:cxnLst>
                <a:rect l="0" t="0" r="0" b="0"/>
                <a:pathLst>
                  <a:path w="56" h="240">
                    <a:moveTo>
                      <a:pt x="48" y="240"/>
                    </a:moveTo>
                    <a:cubicBezTo>
                      <a:pt x="52" y="212"/>
                      <a:pt x="56" y="184"/>
                      <a:pt x="48" y="144"/>
                    </a:cubicBezTo>
                    <a:cubicBezTo>
                      <a:pt x="40" y="104"/>
                      <a:pt x="8" y="24"/>
                      <a:pt x="0" y="0"/>
                    </a:cubicBezTo>
                  </a:path>
                </a:pathLst>
              </a:custGeom>
              <a:noFill/>
              <a:ln w="28575" cap="flat" cmpd="sng">
                <a:solidFill>
                  <a:srgbClr val="FF0066">
                    <a:alpha val="100000"/>
                  </a:srgbClr>
                </a:solidFill>
                <a:prstDash val="solid"/>
                <a:round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30" name="Object 41"/>
              <p:cNvGraphicFramePr>
                <a:graphicFrameLocks noChangeAspect="1"/>
              </p:cNvGraphicFramePr>
              <p:nvPr/>
            </p:nvGraphicFramePr>
            <p:xfrm flipH="1">
              <a:off x="5232" y="2256"/>
              <a:ext cx="268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82" r:id="rId27" imgW="215900" imgH="190500" progId="Equation.3">
                      <p:embed/>
                    </p:oleObj>
                  </mc:Choice>
                  <mc:Fallback>
                    <p:oleObj r:id="rId27" imgW="215900" imgH="190500" progId="Equation.3">
                      <p:embed/>
                      <p:pic>
                        <p:nvPicPr>
                          <p:cNvPr id="0" name="图片 3140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 flipH="1">
                            <a:off x="5232" y="2256"/>
                            <a:ext cx="268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326" name="Group 53"/>
            <p:cNvGrpSpPr/>
            <p:nvPr/>
          </p:nvGrpSpPr>
          <p:grpSpPr>
            <a:xfrm>
              <a:off x="4224" y="760"/>
              <a:ext cx="528" cy="816"/>
              <a:chOff x="4320" y="2256"/>
              <a:chExt cx="559" cy="864"/>
            </a:xfrm>
          </p:grpSpPr>
          <p:sp>
            <p:nvSpPr>
              <p:cNvPr id="12327" name="Line 54"/>
              <p:cNvSpPr/>
              <p:nvPr/>
            </p:nvSpPr>
            <p:spPr>
              <a:xfrm flipV="1">
                <a:off x="4320" y="2506"/>
                <a:ext cx="308" cy="614"/>
              </a:xfrm>
              <a:prstGeom prst="line">
                <a:avLst/>
              </a:prstGeom>
              <a:ln w="38100" cap="flat" cmpd="sng">
                <a:solidFill>
                  <a:srgbClr val="9900CC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28" name="Object 55"/>
              <p:cNvGraphicFramePr>
                <a:graphicFrameLocks noChangeAspect="1"/>
              </p:cNvGraphicFramePr>
              <p:nvPr/>
            </p:nvGraphicFramePr>
            <p:xfrm>
              <a:off x="4656" y="2256"/>
              <a:ext cx="223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83" r:id="rId29" imgW="94615" imgH="189230" progId="Equation.3">
                      <p:embed/>
                    </p:oleObj>
                  </mc:Choice>
                  <mc:Fallback>
                    <p:oleObj r:id="rId29" imgW="94615" imgH="189230" progId="Equation.3">
                      <p:embed/>
                      <p:pic>
                        <p:nvPicPr>
                          <p:cNvPr id="0" name="图片 3141"/>
                          <p:cNvPicPr/>
                          <p:nvPr/>
                        </p:nvPicPr>
                        <p:blipFill>
                          <a:blip r:embed="rId30">
                            <a:clrChange>
                              <a:clrFrom>
                                <a:srgbClr val="000000"/>
                              </a:clrFrom>
                              <a:clrTo>
                                <a:srgbClr val="9900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656" y="2256"/>
                            <a:ext cx="223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01775" name="Group 47"/>
          <p:cNvGrpSpPr/>
          <p:nvPr/>
        </p:nvGrpSpPr>
        <p:grpSpPr>
          <a:xfrm>
            <a:off x="1955800" y="2200275"/>
            <a:ext cx="393700" cy="1050925"/>
            <a:chOff x="1104" y="2736"/>
            <a:chExt cx="248" cy="734"/>
          </a:xfrm>
        </p:grpSpPr>
        <p:sp>
          <p:nvSpPr>
            <p:cNvPr id="12323" name="Line 48"/>
            <p:cNvSpPr/>
            <p:nvPr/>
          </p:nvSpPr>
          <p:spPr>
            <a:xfrm>
              <a:off x="1248" y="2736"/>
              <a:ext cx="0" cy="432"/>
            </a:xfrm>
            <a:prstGeom prst="line">
              <a:avLst/>
            </a:prstGeom>
            <a:ln w="38100" cap="flat" cmpd="sng">
              <a:solidFill>
                <a:srgbClr val="CC0099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24" name="Object 49"/>
            <p:cNvGraphicFramePr>
              <a:graphicFrameLocks noChangeAspect="1"/>
            </p:cNvGraphicFramePr>
            <p:nvPr/>
          </p:nvGraphicFramePr>
          <p:xfrm>
            <a:off x="1104" y="3120"/>
            <a:ext cx="248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4" r:id="rId31" imgW="127000" imgH="177165" progId="Equation.3">
                    <p:embed/>
                  </p:oleObj>
                </mc:Choice>
                <mc:Fallback>
                  <p:oleObj r:id="rId31" imgW="127000" imgH="177165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104" y="3120"/>
                          <a:ext cx="248" cy="3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312" name="Object 62"/>
          <p:cNvGraphicFramePr>
            <a:graphicFrameLocks noChangeAspect="1"/>
          </p:cNvGraphicFramePr>
          <p:nvPr/>
        </p:nvGraphicFramePr>
        <p:xfrm>
          <a:off x="914400" y="3048000"/>
          <a:ext cx="381000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" r:id="rId33" imgW="304800" imgH="190500" progId="Equation.3">
                  <p:embed/>
                </p:oleObj>
              </mc:Choice>
              <mc:Fallback>
                <p:oleObj r:id="rId33" imgW="304800" imgH="1905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14400" y="3048000"/>
                        <a:ext cx="381000" cy="325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92" name="Group 64"/>
          <p:cNvGrpSpPr/>
          <p:nvPr/>
        </p:nvGrpSpPr>
        <p:grpSpPr>
          <a:xfrm>
            <a:off x="4960938" y="1066800"/>
            <a:ext cx="3608387" cy="2819400"/>
            <a:chOff x="3125" y="672"/>
            <a:chExt cx="2273" cy="1776"/>
          </a:xfrm>
        </p:grpSpPr>
        <p:sp>
          <p:nvSpPr>
            <p:cNvPr id="12316" name="Oval 29"/>
            <p:cNvSpPr/>
            <p:nvPr/>
          </p:nvSpPr>
          <p:spPr>
            <a:xfrm>
              <a:off x="3610" y="932"/>
              <a:ext cx="1254" cy="1256"/>
            </a:xfrm>
            <a:prstGeom prst="ellipse">
              <a:avLst/>
            </a:prstGeom>
            <a:noFill/>
            <a:ln w="28575" cap="flat" cmpd="sng">
              <a:solidFill>
                <a:srgbClr val="3333FF"/>
              </a:solidFill>
              <a:prstDash val="dash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7" name="Line 31"/>
            <p:cNvSpPr/>
            <p:nvPr/>
          </p:nvSpPr>
          <p:spPr>
            <a:xfrm>
              <a:off x="4215" y="672"/>
              <a:ext cx="0" cy="17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18" name="Object 32"/>
            <p:cNvGraphicFramePr>
              <a:graphicFrameLocks noChangeAspect="1"/>
            </p:cNvGraphicFramePr>
            <p:nvPr/>
          </p:nvGraphicFramePr>
          <p:xfrm>
            <a:off x="5206" y="1322"/>
            <a:ext cx="192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6" r:id="rId35" imgW="139700" imgH="152400" progId="Equation.3">
                    <p:embed/>
                  </p:oleObj>
                </mc:Choice>
                <mc:Fallback>
                  <p:oleObj r:id="rId35" imgW="139700" imgH="1524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06" y="1322"/>
                          <a:ext cx="192" cy="2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9" name="Object 34"/>
            <p:cNvGraphicFramePr>
              <a:graphicFrameLocks noChangeAspect="1"/>
            </p:cNvGraphicFramePr>
            <p:nvPr/>
          </p:nvGraphicFramePr>
          <p:xfrm>
            <a:off x="3125" y="1560"/>
            <a:ext cx="37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" r:id="rId36" imgW="173355" imgH="94615" progId="Equation.3">
                    <p:embed/>
                  </p:oleObj>
                </mc:Choice>
                <mc:Fallback>
                  <p:oleObj r:id="rId36" imgW="173355" imgH="94615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37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25" y="1560"/>
                          <a:ext cx="379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0" name="Object 35"/>
            <p:cNvGraphicFramePr>
              <a:graphicFrameLocks noChangeAspect="1"/>
            </p:cNvGraphicFramePr>
            <p:nvPr/>
          </p:nvGraphicFramePr>
          <p:xfrm>
            <a:off x="4033" y="1600"/>
            <a:ext cx="197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8" r:id="rId38" imgW="139700" imgH="152400" progId="Equation.3">
                    <p:embed/>
                  </p:oleObj>
                </mc:Choice>
                <mc:Fallback>
                  <p:oleObj r:id="rId38" imgW="139700" imgH="1524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033" y="1600"/>
                          <a:ext cx="197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1" name="Line 58"/>
            <p:cNvSpPr/>
            <p:nvPr/>
          </p:nvSpPr>
          <p:spPr>
            <a:xfrm>
              <a:off x="3312" y="1576"/>
              <a:ext cx="20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22" name="Object 63"/>
            <p:cNvGraphicFramePr>
              <a:graphicFrameLocks noChangeAspect="1"/>
            </p:cNvGraphicFramePr>
            <p:nvPr/>
          </p:nvGraphicFramePr>
          <p:xfrm>
            <a:off x="4848" y="1568"/>
            <a:ext cx="22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9" r:id="rId39" imgW="83820" imgH="94615" progId="Equation.3">
                    <p:embed/>
                  </p:oleObj>
                </mc:Choice>
                <mc:Fallback>
                  <p:oleObj r:id="rId39" imgW="83820" imgH="94615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40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48" y="1568"/>
                          <a:ext cx="221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14" name="Text Box 66"/>
          <p:cNvSpPr txBox="1"/>
          <p:nvPr/>
        </p:nvSpPr>
        <p:spPr>
          <a:xfrm>
            <a:off x="2411413" y="115888"/>
            <a:ext cx="417671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讨论：关于相位差</a:t>
            </a:r>
          </a:p>
        </p:txBody>
      </p:sp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92894" y="5407113"/>
            <a:ext cx="3526863" cy="920573"/>
          </a:xfrm>
          <a:prstGeom prst="rect">
            <a:avLst/>
          </a:prstGeom>
          <a:blipFill>
            <a:blip r:embed="rId41"/>
            <a:stretch>
              <a:fillRect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1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1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1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1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20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1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1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1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1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0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20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20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/>
          <p:nvPr/>
        </p:nvSpPr>
        <p:spPr>
          <a:xfrm>
            <a:off x="225583" y="280332"/>
            <a:ext cx="7659688" cy="523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R="0" algn="just" defTabSz="914400"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.  简谐振动的能量(以水平弹簧振子为例)</a:t>
            </a:r>
          </a:p>
        </p:txBody>
      </p:sp>
      <p:sp>
        <p:nvSpPr>
          <p:cNvPr id="93187" name="Text Box 3"/>
          <p:cNvSpPr txBox="1"/>
          <p:nvPr/>
        </p:nvSpPr>
        <p:spPr>
          <a:xfrm>
            <a:off x="422275" y="981075"/>
            <a:ext cx="1371600" cy="5598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R="0" algn="just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动能</a:t>
            </a:r>
          </a:p>
        </p:txBody>
      </p:sp>
      <p:sp>
        <p:nvSpPr>
          <p:cNvPr id="93192" name="Text Box 8"/>
          <p:cNvSpPr txBox="1"/>
          <p:nvPr/>
        </p:nvSpPr>
        <p:spPr>
          <a:xfrm>
            <a:off x="460375" y="1857016"/>
            <a:ext cx="1295400" cy="5598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R="0" algn="just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势能</a:t>
            </a:r>
          </a:p>
        </p:txBody>
      </p:sp>
      <p:sp>
        <p:nvSpPr>
          <p:cNvPr id="93195" name="Text Box 11"/>
          <p:cNvSpPr txBox="1"/>
          <p:nvPr/>
        </p:nvSpPr>
        <p:spPr>
          <a:xfrm>
            <a:off x="490220" y="2869103"/>
            <a:ext cx="1676400" cy="5598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/>
          <a:p>
            <a:pPr marR="0" algn="just" defTabSz="914400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机械能</a:t>
            </a:r>
          </a:p>
        </p:txBody>
      </p:sp>
      <p:sp>
        <p:nvSpPr>
          <p:cNvPr id="93197" name="Text Box 13"/>
          <p:cNvSpPr txBox="1"/>
          <p:nvPr/>
        </p:nvSpPr>
        <p:spPr>
          <a:xfrm>
            <a:off x="5181600" y="4016375"/>
            <a:ext cx="3733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（简谐振动系统机械能守恒）</a:t>
            </a:r>
          </a:p>
        </p:txBody>
      </p:sp>
      <p:pic>
        <p:nvPicPr>
          <p:cNvPr id="93200" name="Picture 16" descr="sspictmp005F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3744913"/>
            <a:ext cx="5173663" cy="177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201" name="Text Box 17"/>
          <p:cNvSpPr txBox="1"/>
          <p:nvPr/>
        </p:nvSpPr>
        <p:spPr>
          <a:xfrm>
            <a:off x="5867400" y="3905250"/>
            <a:ext cx="2736850" cy="22463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①</a:t>
            </a:r>
            <a:r>
              <a:rPr lang="en-US" altLang="zh-CN" sz="2800" dirty="0">
                <a:latin typeface="宋体" panose="02010600030101010101" pitchFamily="2" charset="-122"/>
              </a:rPr>
              <a:t>.</a:t>
            </a:r>
            <a:r>
              <a:rPr lang="zh-CN" altLang="en-US" sz="2800" dirty="0">
                <a:latin typeface="宋体" panose="02010600030101010101" pitchFamily="2" charset="-122"/>
              </a:rPr>
              <a:t>都是周期函数</a:t>
            </a:r>
            <a:r>
              <a:rPr lang="en-US" altLang="zh-CN" sz="2800" dirty="0">
                <a:latin typeface="宋体" panose="02010600030101010101" pitchFamily="2" charset="-122"/>
              </a:rPr>
              <a:t>: </a:t>
            </a:r>
            <a:r>
              <a:rPr lang="en-US" altLang="zh-CN" sz="2800" dirty="0">
                <a:latin typeface="Times New Roman" panose="02020603050405020304" pitchFamily="18" charset="0"/>
              </a:rPr>
              <a:t>T/2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②</a:t>
            </a:r>
            <a:r>
              <a:rPr lang="en-US" altLang="zh-CN" sz="2800" dirty="0">
                <a:latin typeface="宋体" panose="02010600030101010101" pitchFamily="2" charset="-122"/>
              </a:rPr>
              <a:t>.</a:t>
            </a:r>
            <a:r>
              <a:rPr lang="zh-CN" altLang="en-US" sz="2800" dirty="0">
                <a:latin typeface="宋体" panose="02010600030101010101" pitchFamily="2" charset="-122"/>
              </a:rPr>
              <a:t>步调相反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宋体" panose="02010600030101010101" pitchFamily="2" charset="-122"/>
              </a:rPr>
              <a:t>③</a:t>
            </a:r>
            <a:r>
              <a:rPr lang="en-US" altLang="zh-CN" sz="2800" dirty="0">
                <a:latin typeface="宋体" panose="02010600030101010101" pitchFamily="2" charset="-122"/>
              </a:rPr>
              <a:t>.</a:t>
            </a:r>
            <a:r>
              <a:rPr lang="zh-CN" altLang="en-US" sz="2800" dirty="0">
                <a:latin typeface="宋体" panose="02010600030101010101" pitchFamily="2" charset="-122"/>
              </a:rPr>
              <a:t>总和不变；</a:t>
            </a:r>
          </a:p>
        </p:txBody>
      </p:sp>
      <p:graphicFrame>
        <p:nvGraphicFramePr>
          <p:cNvPr id="278532" name="Object 3"/>
          <p:cNvGraphicFramePr/>
          <p:nvPr/>
        </p:nvGraphicFramePr>
        <p:xfrm>
          <a:off x="1820863" y="906463"/>
          <a:ext cx="628015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r:id="rId4" imgW="56083200" imgH="9753600" progId="Equation.3">
                  <p:embed/>
                </p:oleObj>
              </mc:Choice>
              <mc:Fallback>
                <p:oleObj r:id="rId4" imgW="56083200" imgH="97536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20863" y="906463"/>
                        <a:ext cx="6280150" cy="855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4" name="Object 4"/>
          <p:cNvGraphicFramePr/>
          <p:nvPr/>
        </p:nvGraphicFramePr>
        <p:xfrm>
          <a:off x="1889125" y="1789113"/>
          <a:ext cx="433387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r:id="rId6" imgW="49377600" imgH="9753600" progId="Equation.3">
                  <p:embed/>
                </p:oleObj>
              </mc:Choice>
              <mc:Fallback>
                <p:oleObj r:id="rId6" imgW="49377600" imgH="97536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89125" y="1789113"/>
                        <a:ext cx="4333875" cy="855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5" name="Object 2"/>
          <p:cNvGraphicFramePr/>
          <p:nvPr/>
        </p:nvGraphicFramePr>
        <p:xfrm>
          <a:off x="2271713" y="2671763"/>
          <a:ext cx="581342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r:id="rId8" imgW="50901600" imgH="9753600" progId="Equation.3">
                  <p:embed/>
                </p:oleObj>
              </mc:Choice>
              <mc:Fallback>
                <p:oleObj r:id="rId8" imgW="50901600" imgH="97536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71713" y="2671763"/>
                        <a:ext cx="5813425" cy="1054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90"/>
          <p:cNvSpPr txBox="1">
            <a:spLocks noChangeArrowheads="1"/>
          </p:cNvSpPr>
          <p:nvPr/>
        </p:nvSpPr>
        <p:spPr bwMode="auto">
          <a:xfrm>
            <a:off x="522288" y="5649913"/>
            <a:ext cx="5073650" cy="56038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rgbClr val="006666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800" kern="1200" cap="none" spc="0" normalizeH="0" baseline="0" noProof="0">
                <a:solidFill>
                  <a:srgbClr val="3366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简谐运动能量守恒，振幅不变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3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3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7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7" grpId="0"/>
      <p:bldP spid="93201" grpId="0" bldLvl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11188" y="765175"/>
            <a:ext cx="7632700" cy="3417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zh-CN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一弹簧振子做简谐振动，总能量为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en-US" altLang="zh-CN" sz="2800" kern="1200" cap="none" spc="0" normalizeH="0" baseline="-2500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，如果简谐振动振幅增加为原来的两倍，重物的质量增加为原来的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r>
              <a:rPr kumimoji="0" lang="zh-CN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倍，则它的总能量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en-US" altLang="zh-CN" sz="2800" kern="1200" cap="none" spc="0" normalizeH="0" baseline="-2500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变为（  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0" lang="zh-CN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）</a:t>
            </a:r>
            <a:endParaRPr kumimoji="0" lang="en-US" altLang="zh-CN" sz="2800" kern="1200" cap="none" spc="0" normalizeH="0" baseline="0" noProof="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R="0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A. E</a:t>
            </a:r>
            <a:r>
              <a:rPr kumimoji="0" lang="en-US" altLang="zh-CN" sz="2800" kern="1200" cap="none" spc="0" normalizeH="0" baseline="-2500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/4               B. E</a:t>
            </a:r>
            <a:r>
              <a:rPr kumimoji="0" lang="en-US" altLang="zh-CN" sz="2800" kern="1200" cap="none" spc="0" normalizeH="0" baseline="-2500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/2       </a:t>
            </a:r>
          </a:p>
          <a:p>
            <a:pPr marR="0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C. 2E</a:t>
            </a:r>
            <a:r>
              <a:rPr kumimoji="0" lang="en-US" altLang="zh-CN" sz="2800" kern="1200" cap="none" spc="0" normalizeH="0" baseline="-2500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sz="2800" kern="1200" cap="none" spc="0" normalizeH="0" baseline="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D. 4E</a:t>
            </a:r>
            <a:r>
              <a:rPr kumimoji="0" lang="en-US" altLang="zh-CN" sz="2800" kern="1200" cap="none" spc="0" normalizeH="0" baseline="-25000" noProof="0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endParaRPr kumimoji="0" lang="zh-CN" altLang="en-US" sz="2800" kern="1200" cap="none" spc="0" normalizeH="0" baseline="0" noProof="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6227763" y="5661025"/>
            <a:ext cx="1657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答案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/>
          <p:nvPr/>
        </p:nvSpPr>
        <p:spPr>
          <a:xfrm>
            <a:off x="501650" y="44450"/>
            <a:ext cx="853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     两个同方向同频率简谐运动的合成</a:t>
            </a:r>
          </a:p>
        </p:txBody>
      </p:sp>
      <p:sp>
        <p:nvSpPr>
          <p:cNvPr id="102404" name="Rectangle 4"/>
          <p:cNvSpPr/>
          <p:nvPr/>
        </p:nvSpPr>
        <p:spPr>
          <a:xfrm>
            <a:off x="457200" y="1660525"/>
            <a:ext cx="4572000" cy="1844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336699"/>
                </a:solidFill>
                <a:latin typeface="Times New Roman" panose="02020603050405020304" pitchFamily="18" charset="0"/>
              </a:rPr>
              <a:t>        设一质点同时参与两独立的同方向、同频率的简谐振动：</a:t>
            </a:r>
          </a:p>
        </p:txBody>
      </p:sp>
      <p:grpSp>
        <p:nvGrpSpPr>
          <p:cNvPr id="102586" name="Group 186"/>
          <p:cNvGrpSpPr/>
          <p:nvPr/>
        </p:nvGrpSpPr>
        <p:grpSpPr>
          <a:xfrm>
            <a:off x="5486400" y="1600200"/>
            <a:ext cx="3200400" cy="2971800"/>
            <a:chOff x="3456" y="1008"/>
            <a:chExt cx="2016" cy="1872"/>
          </a:xfrm>
        </p:grpSpPr>
        <p:sp>
          <p:nvSpPr>
            <p:cNvPr id="15378" name="Rectangle 23"/>
            <p:cNvSpPr/>
            <p:nvPr/>
          </p:nvSpPr>
          <p:spPr>
            <a:xfrm>
              <a:off x="3456" y="1008"/>
              <a:ext cx="2016" cy="187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5379" name="Group 64"/>
            <p:cNvGrpSpPr/>
            <p:nvPr/>
          </p:nvGrpSpPr>
          <p:grpSpPr>
            <a:xfrm>
              <a:off x="3648" y="2160"/>
              <a:ext cx="1442" cy="672"/>
              <a:chOff x="3648" y="2688"/>
              <a:chExt cx="1442" cy="672"/>
            </a:xfrm>
          </p:grpSpPr>
          <p:sp>
            <p:nvSpPr>
              <p:cNvPr id="15383" name="Line 26"/>
              <p:cNvSpPr/>
              <p:nvPr/>
            </p:nvSpPr>
            <p:spPr>
              <a:xfrm flipV="1">
                <a:off x="3648" y="2688"/>
                <a:ext cx="1091" cy="384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4" name="Arc 27"/>
              <p:cNvSpPr/>
              <p:nvPr/>
            </p:nvSpPr>
            <p:spPr>
              <a:xfrm>
                <a:off x="4032" y="2928"/>
                <a:ext cx="44" cy="1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 fill="none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CC00CC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5385" name="Object 28"/>
              <p:cNvGraphicFramePr>
                <a:graphicFrameLocks noChangeAspect="1"/>
              </p:cNvGraphicFramePr>
              <p:nvPr/>
            </p:nvGraphicFramePr>
            <p:xfrm>
              <a:off x="4252" y="2784"/>
              <a:ext cx="209" cy="2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73" r:id="rId3" imgW="126365" imgH="178435" progId="Equation.3">
                      <p:embed/>
                    </p:oleObj>
                  </mc:Choice>
                  <mc:Fallback>
                    <p:oleObj r:id="rId3" imgW="126365" imgH="178435" progId="Equation.3">
                      <p:embed/>
                      <p:pic>
                        <p:nvPicPr>
                          <p:cNvPr id="0" name="图片 3082"/>
                          <p:cNvPicPr/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000000"/>
                              </a:clrFrom>
                              <a:clrTo>
                                <a:srgbClr val="CC00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252" y="2784"/>
                            <a:ext cx="209" cy="2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86" name="Object 29"/>
              <p:cNvGraphicFramePr>
                <a:graphicFrameLocks noChangeAspect="1"/>
              </p:cNvGraphicFramePr>
              <p:nvPr/>
            </p:nvGraphicFramePr>
            <p:xfrm>
              <a:off x="4801" y="2736"/>
              <a:ext cx="289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74" r:id="rId5" imgW="126365" imgH="184150" progId="Equation.3">
                      <p:embed/>
                    </p:oleObj>
                  </mc:Choice>
                  <mc:Fallback>
                    <p:oleObj r:id="rId5" imgW="126365" imgH="184150" progId="Equation.3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6">
                            <a:clrChange>
                              <a:clrFrom>
                                <a:srgbClr val="000000"/>
                              </a:clrFrom>
                              <a:clrTo>
                                <a:srgbClr val="CC00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801" y="2736"/>
                            <a:ext cx="289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87" name="Line 30"/>
              <p:cNvSpPr/>
              <p:nvPr/>
            </p:nvSpPr>
            <p:spPr>
              <a:xfrm>
                <a:off x="4739" y="2688"/>
                <a:ext cx="0" cy="384"/>
              </a:xfrm>
              <a:prstGeom prst="line">
                <a:avLst/>
              </a:prstGeom>
              <a:ln w="19050" cap="flat" cmpd="sng">
                <a:solidFill>
                  <a:srgbClr val="CC00CC"/>
                </a:solidFill>
                <a:prstDash val="dash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5388" name="Object 31"/>
              <p:cNvGraphicFramePr>
                <a:graphicFrameLocks noChangeAspect="1"/>
              </p:cNvGraphicFramePr>
              <p:nvPr/>
            </p:nvGraphicFramePr>
            <p:xfrm>
              <a:off x="4594" y="3024"/>
              <a:ext cx="254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75" r:id="rId7" imgW="105410" imgH="178435" progId="Equation.3">
                      <p:embed/>
                    </p:oleObj>
                  </mc:Choice>
                  <mc:Fallback>
                    <p:oleObj r:id="rId7" imgW="105410" imgH="178435" progId="Equation.3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8">
                            <a:clrChange>
                              <a:clrFrom>
                                <a:srgbClr val="000000"/>
                              </a:clrFrom>
                              <a:clrTo>
                                <a:srgbClr val="CC00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594" y="3024"/>
                            <a:ext cx="254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380" name="Line 25"/>
            <p:cNvSpPr/>
            <p:nvPr/>
          </p:nvSpPr>
          <p:spPr>
            <a:xfrm>
              <a:off x="3648" y="2544"/>
              <a:ext cx="168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1" name="Object 32"/>
            <p:cNvGraphicFramePr>
              <a:graphicFrameLocks noChangeAspect="1"/>
            </p:cNvGraphicFramePr>
            <p:nvPr/>
          </p:nvGraphicFramePr>
          <p:xfrm>
            <a:off x="5136" y="2568"/>
            <a:ext cx="20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6" r:id="rId9" imgW="177800" imgH="190500" progId="Equation.3">
                    <p:embed/>
                  </p:oleObj>
                </mc:Choice>
                <mc:Fallback>
                  <p:oleObj r:id="rId9" imgW="177800" imgH="19050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36" y="2568"/>
                          <a:ext cx="20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2" name="Object 33"/>
            <p:cNvGraphicFramePr>
              <a:graphicFrameLocks noChangeAspect="1"/>
            </p:cNvGraphicFramePr>
            <p:nvPr/>
          </p:nvGraphicFramePr>
          <p:xfrm>
            <a:off x="3494" y="2515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7" r:id="rId11" imgW="177800" imgH="203200" progId="Equation.3">
                    <p:embed/>
                  </p:oleObj>
                </mc:Choice>
                <mc:Fallback>
                  <p:oleObj r:id="rId11" imgW="177800" imgH="20320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494" y="2515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470" name="Group 70"/>
          <p:cNvGrpSpPr/>
          <p:nvPr/>
        </p:nvGrpSpPr>
        <p:grpSpPr>
          <a:xfrm>
            <a:off x="5791200" y="2584450"/>
            <a:ext cx="1020763" cy="1911350"/>
            <a:chOff x="3648" y="2156"/>
            <a:chExt cx="643" cy="1204"/>
          </a:xfrm>
        </p:grpSpPr>
        <p:graphicFrame>
          <p:nvGraphicFramePr>
            <p:cNvPr id="15371" name="Object 53"/>
            <p:cNvGraphicFramePr>
              <a:graphicFrameLocks noChangeAspect="1"/>
            </p:cNvGraphicFramePr>
            <p:nvPr/>
          </p:nvGraphicFramePr>
          <p:xfrm>
            <a:off x="3978" y="3024"/>
            <a:ext cx="31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78" r:id="rId13" imgW="131445" imgH="178435" progId="Equation.3">
                    <p:embed/>
                  </p:oleObj>
                </mc:Choice>
                <mc:Fallback>
                  <p:oleObj r:id="rId13" imgW="131445" imgH="178435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78" y="3024"/>
                          <a:ext cx="313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72" name="Group 67"/>
            <p:cNvGrpSpPr/>
            <p:nvPr/>
          </p:nvGrpSpPr>
          <p:grpSpPr>
            <a:xfrm>
              <a:off x="3648" y="2156"/>
              <a:ext cx="504" cy="956"/>
              <a:chOff x="3648" y="2156"/>
              <a:chExt cx="504" cy="956"/>
            </a:xfrm>
          </p:grpSpPr>
          <p:sp>
            <p:nvSpPr>
              <p:cNvPr id="15373" name="Line 51"/>
              <p:cNvSpPr/>
              <p:nvPr/>
            </p:nvSpPr>
            <p:spPr>
              <a:xfrm>
                <a:off x="4128" y="2336"/>
                <a:ext cx="8" cy="776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4" name="Line 56"/>
              <p:cNvSpPr/>
              <p:nvPr/>
            </p:nvSpPr>
            <p:spPr>
              <a:xfrm flipV="1">
                <a:off x="3648" y="2292"/>
                <a:ext cx="504" cy="775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5375" name="Object 57"/>
              <p:cNvGraphicFramePr>
                <a:graphicFrameLocks noChangeAspect="1"/>
              </p:cNvGraphicFramePr>
              <p:nvPr/>
            </p:nvGraphicFramePr>
            <p:xfrm>
              <a:off x="3696" y="2156"/>
              <a:ext cx="352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79" r:id="rId15" imgW="141605" imgH="184150" progId="Equation.3">
                      <p:embed/>
                    </p:oleObj>
                  </mc:Choice>
                  <mc:Fallback>
                    <p:oleObj r:id="rId15" imgW="141605" imgH="184150" progId="Equation.3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696" y="2156"/>
                            <a:ext cx="352" cy="3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6" name="Object 59"/>
              <p:cNvGraphicFramePr>
                <a:graphicFrameLocks noChangeAspect="1"/>
              </p:cNvGraphicFramePr>
              <p:nvPr/>
            </p:nvGraphicFramePr>
            <p:xfrm>
              <a:off x="3881" y="2640"/>
              <a:ext cx="241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80" r:id="rId17" imgW="141605" imgH="178435" progId="Equation.3">
                      <p:embed/>
                    </p:oleObj>
                  </mc:Choice>
                  <mc:Fallback>
                    <p:oleObj r:id="rId17" imgW="141605" imgH="178435" progId="Equation.3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0000FF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881" y="2640"/>
                            <a:ext cx="241" cy="28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77" name="Arc 60"/>
              <p:cNvSpPr/>
              <p:nvPr/>
            </p:nvSpPr>
            <p:spPr>
              <a:xfrm>
                <a:off x="3792" y="2830"/>
                <a:ext cx="144" cy="2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35228" fill="none">
                    <a:moveTo>
                      <a:pt x="2384" y="0"/>
                    </a:moveTo>
                    <a:cubicBezTo>
                      <a:pt x="13324" y="1215"/>
                      <a:pt x="21600" y="10461"/>
                      <a:pt x="21600" y="21468"/>
                    </a:cubicBezTo>
                    <a:cubicBezTo>
                      <a:pt x="21600" y="26490"/>
                      <a:pt x="19849" y="31356"/>
                      <a:pt x="16649" y="35227"/>
                    </a:cubicBezTo>
                  </a:path>
                  <a:path w="21600" h="35228" stroke="0">
                    <a:moveTo>
                      <a:pt x="2384" y="0"/>
                    </a:moveTo>
                    <a:cubicBezTo>
                      <a:pt x="13324" y="1215"/>
                      <a:pt x="21600" y="10461"/>
                      <a:pt x="21600" y="21468"/>
                    </a:cubicBezTo>
                    <a:cubicBezTo>
                      <a:pt x="21600" y="26490"/>
                      <a:pt x="19849" y="31356"/>
                      <a:pt x="16649" y="35227"/>
                    </a:cubicBezTo>
                    <a:lnTo>
                      <a:pt x="0" y="21468"/>
                    </a:lnTo>
                    <a:lnTo>
                      <a:pt x="2384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02578" name="Object 178"/>
          <p:cNvGraphicFramePr>
            <a:graphicFrameLocks noChangeAspect="1"/>
          </p:cNvGraphicFramePr>
          <p:nvPr/>
        </p:nvGraphicFramePr>
        <p:xfrm>
          <a:off x="1403350" y="3644900"/>
          <a:ext cx="34655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1" r:id="rId19" imgW="972185" imgH="131445" progId="Equation.3">
                  <p:embed/>
                </p:oleObj>
              </mc:Choice>
              <mc:Fallback>
                <p:oleObj r:id="rId19" imgW="972185" imgH="13144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03350" y="3644900"/>
                        <a:ext cx="3465513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9" name="Object 179"/>
          <p:cNvGraphicFramePr>
            <a:graphicFrameLocks noChangeAspect="1"/>
          </p:cNvGraphicFramePr>
          <p:nvPr/>
        </p:nvGraphicFramePr>
        <p:xfrm>
          <a:off x="1363663" y="4318000"/>
          <a:ext cx="35131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2" r:id="rId21" imgW="1009015" imgH="131445" progId="Equation.3">
                  <p:embed/>
                </p:oleObj>
              </mc:Choice>
              <mc:Fallback>
                <p:oleObj r:id="rId21" imgW="1009015" imgH="131445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63663" y="4318000"/>
                        <a:ext cx="3513137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82" name="Group 182"/>
          <p:cNvGrpSpPr/>
          <p:nvPr/>
        </p:nvGrpSpPr>
        <p:grpSpPr>
          <a:xfrm>
            <a:off x="533400" y="4965700"/>
            <a:ext cx="6858000" cy="749300"/>
            <a:chOff x="336" y="3088"/>
            <a:chExt cx="4320" cy="472"/>
          </a:xfrm>
        </p:grpSpPr>
        <p:sp>
          <p:nvSpPr>
            <p:cNvPr id="15369" name="Rectangle 8"/>
            <p:cNvSpPr/>
            <p:nvPr/>
          </p:nvSpPr>
          <p:spPr>
            <a:xfrm>
              <a:off x="336" y="3088"/>
              <a:ext cx="4320" cy="47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35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336699"/>
                  </a:solidFill>
                  <a:latin typeface="Times New Roman" panose="02020603050405020304" pitchFamily="18" charset="0"/>
                </a:rPr>
                <a:t>两振动的位相差                     =常数</a:t>
              </a:r>
            </a:p>
          </p:txBody>
        </p:sp>
        <p:graphicFrame>
          <p:nvGraphicFramePr>
            <p:cNvPr id="15370" name="Object 181"/>
            <p:cNvGraphicFramePr>
              <a:graphicFrameLocks noChangeAspect="1"/>
            </p:cNvGraphicFramePr>
            <p:nvPr/>
          </p:nvGraphicFramePr>
          <p:xfrm>
            <a:off x="2200" y="3184"/>
            <a:ext cx="1316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83" r:id="rId23" imgW="630555" imgH="131445" progId="Equation.3">
                    <p:embed/>
                  </p:oleObj>
                </mc:Choice>
                <mc:Fallback>
                  <p:oleObj r:id="rId23" imgW="630555" imgH="131445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00" y="3184"/>
                          <a:ext cx="1316" cy="3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02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71" name="Rectangle 2095"/>
          <p:cNvSpPr/>
          <p:nvPr/>
        </p:nvSpPr>
        <p:spPr>
          <a:xfrm>
            <a:off x="823913" y="4794250"/>
            <a:ext cx="7010400" cy="1260475"/>
          </a:xfrm>
          <a:prstGeom prst="rect">
            <a:avLst/>
          </a:prstGeom>
          <a:solidFill>
            <a:srgbClr val="FFFF66"/>
          </a:solidFill>
          <a:ln w="12700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336699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dirty="0">
                <a:solidFill>
                  <a:srgbClr val="336699"/>
                </a:solidFill>
                <a:latin typeface="Times New Roman" panose="02020603050405020304" pitchFamily="18" charset="0"/>
              </a:rPr>
              <a:t>两个同方向同频率简谐运动合成后仍为同频率的简谐运动</a:t>
            </a:r>
            <a:endParaRPr lang="zh-CN" altLang="zh-CN" dirty="0">
              <a:solidFill>
                <a:srgbClr val="3366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3468" name="Object 2092"/>
          <p:cNvGraphicFramePr>
            <a:graphicFrameLocks noChangeAspect="1"/>
          </p:cNvGraphicFramePr>
          <p:nvPr/>
        </p:nvGraphicFramePr>
        <p:xfrm>
          <a:off x="661988" y="1871663"/>
          <a:ext cx="42894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" r:id="rId3" imgW="1771015" imgH="168275" progId="Equation.3">
                  <p:embed/>
                </p:oleObj>
              </mc:Choice>
              <mc:Fallback>
                <p:oleObj r:id="rId3" imgW="1771015" imgH="168275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1988" y="1871663"/>
                        <a:ext cx="4289425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69" name="Object 2093"/>
          <p:cNvGraphicFramePr>
            <a:graphicFrameLocks noChangeAspect="1"/>
          </p:cNvGraphicFramePr>
          <p:nvPr/>
        </p:nvGraphicFramePr>
        <p:xfrm>
          <a:off x="762000" y="1165225"/>
          <a:ext cx="33178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3" r:id="rId5" imgW="877570" imgH="126365" progId="Equation.3">
                  <p:embed/>
                </p:oleObj>
              </mc:Choice>
              <mc:Fallback>
                <p:oleObj r:id="rId5" imgW="877570" imgH="126365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62000" y="1165225"/>
                        <a:ext cx="3317875" cy="511175"/>
                      </a:xfrm>
                      <a:prstGeom prst="rect">
                        <a:avLst/>
                      </a:prstGeom>
                      <a:solidFill>
                        <a:srgbClr val="FCF7FF"/>
                      </a:solidFill>
                      <a:ln w="1905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70" name="AutoShape 2094"/>
          <p:cNvSpPr/>
          <p:nvPr/>
        </p:nvSpPr>
        <p:spPr>
          <a:xfrm>
            <a:off x="381000" y="2162175"/>
            <a:ext cx="228600" cy="1190625"/>
          </a:xfrm>
          <a:prstGeom prst="leftBrace">
            <a:avLst>
              <a:gd name="adj1" fmla="val 43402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6390" name="Rectangle 2097"/>
          <p:cNvSpPr/>
          <p:nvPr/>
        </p:nvSpPr>
        <p:spPr>
          <a:xfrm>
            <a:off x="5486400" y="1484313"/>
            <a:ext cx="3317875" cy="30114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>
              <a:spcBef>
                <a:spcPct val="50000"/>
              </a:spcBef>
            </a:pP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6391" name="Line 2099"/>
          <p:cNvSpPr/>
          <p:nvPr/>
        </p:nvSpPr>
        <p:spPr>
          <a:xfrm flipV="1">
            <a:off x="5791200" y="3429000"/>
            <a:ext cx="1731963" cy="609600"/>
          </a:xfrm>
          <a:prstGeom prst="line">
            <a:avLst/>
          </a:prstGeom>
          <a:ln w="38100" cap="flat" cmpd="sng">
            <a:solidFill>
              <a:srgbClr val="CC00CC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92" name="Arc 2100"/>
          <p:cNvSpPr/>
          <p:nvPr/>
        </p:nvSpPr>
        <p:spPr>
          <a:xfrm>
            <a:off x="6400800" y="3810000"/>
            <a:ext cx="69850" cy="228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35349493" y="2147483646"/>
              </a:cxn>
              <a:cxn ang="0">
                <a:pos x="0" y="2147483646"/>
              </a:cxn>
            </a:cxnLst>
            <a:rect l="0" t="0" r="0" b="0"/>
            <a:pathLst>
              <a:path w="21600" h="21600" fill="none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8575" cap="flat" cmpd="sng">
            <a:solidFill>
              <a:srgbClr val="CC00CC">
                <a:alpha val="100000"/>
              </a:srgbClr>
            </a:solidFill>
            <a:prstDash val="solid"/>
            <a:round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393" name="Object 2101"/>
          <p:cNvGraphicFramePr>
            <a:graphicFrameLocks noChangeAspect="1"/>
          </p:cNvGraphicFramePr>
          <p:nvPr/>
        </p:nvGraphicFramePr>
        <p:xfrm>
          <a:off x="6629400" y="3581400"/>
          <a:ext cx="3317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4" r:id="rId7" imgW="126365" imgH="178435" progId="Equation.3">
                  <p:embed/>
                </p:oleObj>
              </mc:Choice>
              <mc:Fallback>
                <p:oleObj r:id="rId7" imgW="126365" imgH="178435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CC00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629400" y="3581400"/>
                        <a:ext cx="331788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2102"/>
          <p:cNvGraphicFramePr>
            <a:graphicFrameLocks noChangeAspect="1"/>
          </p:cNvGraphicFramePr>
          <p:nvPr/>
        </p:nvGraphicFramePr>
        <p:xfrm>
          <a:off x="7621588" y="3505200"/>
          <a:ext cx="4587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5" r:id="rId9" imgW="126365" imgH="184150" progId="Equation.3">
                  <p:embed/>
                </p:oleObj>
              </mc:Choice>
              <mc:Fallback>
                <p:oleObj r:id="rId9" imgW="126365" imgH="18415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CC00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621588" y="3505200"/>
                        <a:ext cx="458787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Line 2103"/>
          <p:cNvSpPr/>
          <p:nvPr/>
        </p:nvSpPr>
        <p:spPr>
          <a:xfrm>
            <a:off x="7523163" y="3429000"/>
            <a:ext cx="0" cy="609600"/>
          </a:xfrm>
          <a:prstGeom prst="line">
            <a:avLst/>
          </a:prstGeom>
          <a:ln w="19050" cap="flat" cmpd="sng">
            <a:solidFill>
              <a:srgbClr val="CC00CC"/>
            </a:solidFill>
            <a:prstDash val="dash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396" name="Object 2104"/>
          <p:cNvGraphicFramePr>
            <a:graphicFrameLocks noChangeAspect="1"/>
          </p:cNvGraphicFramePr>
          <p:nvPr/>
        </p:nvGraphicFramePr>
        <p:xfrm>
          <a:off x="7292975" y="3962400"/>
          <a:ext cx="4032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6" r:id="rId11" imgW="105410" imgH="178435" progId="Equation.3">
                  <p:embed/>
                </p:oleObj>
              </mc:Choice>
              <mc:Fallback>
                <p:oleObj r:id="rId11" imgW="105410" imgH="178435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CC00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292975" y="3962400"/>
                        <a:ext cx="403225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Line 2105"/>
          <p:cNvSpPr/>
          <p:nvPr/>
        </p:nvSpPr>
        <p:spPr>
          <a:xfrm>
            <a:off x="5791200" y="4038600"/>
            <a:ext cx="2819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6398" name="Object 2106"/>
          <p:cNvGraphicFramePr>
            <a:graphicFrameLocks noChangeAspect="1"/>
          </p:cNvGraphicFramePr>
          <p:nvPr/>
        </p:nvGraphicFramePr>
        <p:xfrm>
          <a:off x="8305800" y="4076700"/>
          <a:ext cx="3270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7" r:id="rId13" imgW="78740" imgH="89535" progId="Equation.3">
                  <p:embed/>
                </p:oleObj>
              </mc:Choice>
              <mc:Fallback>
                <p:oleObj r:id="rId13" imgW="78740" imgH="89535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305800" y="4076700"/>
                        <a:ext cx="32702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9" name="Object 2107"/>
          <p:cNvGraphicFramePr>
            <a:graphicFrameLocks noChangeAspect="1"/>
          </p:cNvGraphicFramePr>
          <p:nvPr/>
        </p:nvGraphicFramePr>
        <p:xfrm>
          <a:off x="5546725" y="3992563"/>
          <a:ext cx="265113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8" r:id="rId15" imgW="177800" imgH="203200" progId="Equation.3">
                  <p:embed/>
                </p:oleObj>
              </mc:Choice>
              <mc:Fallback>
                <p:oleObj r:id="rId15" imgW="177800" imgH="2032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46725" y="3992563"/>
                        <a:ext cx="265113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495" name="Group 2119"/>
          <p:cNvGrpSpPr/>
          <p:nvPr/>
        </p:nvGrpSpPr>
        <p:grpSpPr>
          <a:xfrm>
            <a:off x="5829300" y="1752600"/>
            <a:ext cx="2738438" cy="2241550"/>
            <a:chOff x="3672" y="1152"/>
            <a:chExt cx="1725" cy="1412"/>
          </a:xfrm>
        </p:grpSpPr>
        <p:grpSp>
          <p:nvGrpSpPr>
            <p:cNvPr id="16419" name="Group 2066"/>
            <p:cNvGrpSpPr/>
            <p:nvPr/>
          </p:nvGrpSpPr>
          <p:grpSpPr>
            <a:xfrm>
              <a:off x="4800" y="1152"/>
              <a:ext cx="467" cy="265"/>
              <a:chOff x="4560" y="955"/>
              <a:chExt cx="576" cy="293"/>
            </a:xfrm>
          </p:grpSpPr>
          <p:sp>
            <p:nvSpPr>
              <p:cNvPr id="16424" name="Arc 2067"/>
              <p:cNvSpPr/>
              <p:nvPr/>
            </p:nvSpPr>
            <p:spPr>
              <a:xfrm rot="584142">
                <a:off x="4704" y="985"/>
                <a:ext cx="432" cy="2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20899" h="20486" fill="none">
                    <a:moveTo>
                      <a:pt x="6847" y="0"/>
                    </a:moveTo>
                    <a:cubicBezTo>
                      <a:pt x="13770" y="2314"/>
                      <a:pt x="19055" y="7967"/>
                      <a:pt x="20899" y="15029"/>
                    </a:cubicBezTo>
                  </a:path>
                  <a:path w="20899" h="20486" stroke="0">
                    <a:moveTo>
                      <a:pt x="6847" y="0"/>
                    </a:moveTo>
                    <a:cubicBezTo>
                      <a:pt x="13770" y="2314"/>
                      <a:pt x="19055" y="7967"/>
                      <a:pt x="20899" y="15029"/>
                    </a:cubicBezTo>
                    <a:lnTo>
                      <a:pt x="0" y="20486"/>
                    </a:lnTo>
                    <a:lnTo>
                      <a:pt x="6847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6425" name="Object 2068"/>
              <p:cNvGraphicFramePr>
                <a:graphicFrameLocks noChangeAspect="1"/>
              </p:cNvGraphicFramePr>
              <p:nvPr/>
            </p:nvGraphicFramePr>
            <p:xfrm>
              <a:off x="4560" y="955"/>
              <a:ext cx="277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29" r:id="rId17" imgW="105410" imgH="89535" progId="Equation.3">
                      <p:embed/>
                    </p:oleObj>
                  </mc:Choice>
                  <mc:Fallback>
                    <p:oleObj r:id="rId17" imgW="105410" imgH="89535" progId="Equation.3">
                      <p:embed/>
                      <p:pic>
                        <p:nvPicPr>
                          <p:cNvPr id="0" name="图片 3093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3366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560" y="955"/>
                            <a:ext cx="277" cy="24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420" name="Line 2070"/>
            <p:cNvSpPr/>
            <p:nvPr/>
          </p:nvSpPr>
          <p:spPr>
            <a:xfrm flipV="1">
              <a:off x="4734" y="1440"/>
              <a:ext cx="402" cy="762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1" name="Line 2071"/>
            <p:cNvSpPr/>
            <p:nvPr/>
          </p:nvSpPr>
          <p:spPr>
            <a:xfrm flipV="1">
              <a:off x="3672" y="1440"/>
              <a:ext cx="1464" cy="112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2" name="Line 2072"/>
            <p:cNvSpPr/>
            <p:nvPr/>
          </p:nvSpPr>
          <p:spPr>
            <a:xfrm flipV="1">
              <a:off x="4141" y="1440"/>
              <a:ext cx="995" cy="399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23" name="Object 2073"/>
            <p:cNvGraphicFramePr>
              <a:graphicFrameLocks noChangeAspect="1"/>
            </p:cNvGraphicFramePr>
            <p:nvPr/>
          </p:nvGraphicFramePr>
          <p:xfrm>
            <a:off x="5184" y="1440"/>
            <a:ext cx="213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0" r:id="rId19" imgW="105410" imgH="141605" progId="Equation.3">
                    <p:embed/>
                  </p:oleObj>
                </mc:Choice>
                <mc:Fallback>
                  <p:oleObj r:id="rId19" imgW="105410" imgH="141605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84" y="1440"/>
                          <a:ext cx="213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3498" name="Group 2122"/>
          <p:cNvGrpSpPr/>
          <p:nvPr/>
        </p:nvGrpSpPr>
        <p:grpSpPr>
          <a:xfrm>
            <a:off x="6934200" y="3124200"/>
            <a:ext cx="485775" cy="914400"/>
            <a:chOff x="4368" y="1968"/>
            <a:chExt cx="306" cy="576"/>
          </a:xfrm>
        </p:grpSpPr>
        <p:sp>
          <p:nvSpPr>
            <p:cNvPr id="16417" name="Freeform 2063"/>
            <p:cNvSpPr/>
            <p:nvPr/>
          </p:nvSpPr>
          <p:spPr>
            <a:xfrm>
              <a:off x="4368" y="2002"/>
              <a:ext cx="96" cy="5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597"/>
                </a:cxn>
                <a:cxn ang="0">
                  <a:pos x="3" y="3326"/>
                </a:cxn>
              </a:cxnLst>
              <a:rect l="0" t="0" r="0" b="0"/>
              <a:pathLst>
                <a:path w="152" h="432">
                  <a:moveTo>
                    <a:pt x="0" y="0"/>
                  </a:moveTo>
                  <a:cubicBezTo>
                    <a:pt x="21" y="35"/>
                    <a:pt x="104" y="136"/>
                    <a:pt x="128" y="208"/>
                  </a:cubicBezTo>
                  <a:cubicBezTo>
                    <a:pt x="152" y="280"/>
                    <a:pt x="141" y="385"/>
                    <a:pt x="144" y="432"/>
                  </a:cubicBezTo>
                </a:path>
              </a:pathLst>
            </a:custGeom>
            <a:noFill/>
            <a:ln w="28575" cap="flat" cmpd="sng">
              <a:solidFill>
                <a:srgbClr val="009900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18" name="Object 2064"/>
            <p:cNvGraphicFramePr>
              <a:graphicFrameLocks noChangeAspect="1"/>
            </p:cNvGraphicFramePr>
            <p:nvPr/>
          </p:nvGraphicFramePr>
          <p:xfrm>
            <a:off x="4464" y="1968"/>
            <a:ext cx="21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1" r:id="rId21" imgW="99695" imgH="126365" progId="Equation.3">
                    <p:embed/>
                  </p:oleObj>
                </mc:Choice>
                <mc:Fallback>
                  <p:oleObj r:id="rId21" imgW="99695" imgH="126365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64" y="1968"/>
                          <a:ext cx="210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3450" name="Group 2074"/>
          <p:cNvGrpSpPr/>
          <p:nvPr/>
        </p:nvGrpSpPr>
        <p:grpSpPr>
          <a:xfrm>
            <a:off x="7556500" y="2235200"/>
            <a:ext cx="749300" cy="2209800"/>
            <a:chOff x="4560" y="1248"/>
            <a:chExt cx="664" cy="1488"/>
          </a:xfrm>
        </p:grpSpPr>
        <p:graphicFrame>
          <p:nvGraphicFramePr>
            <p:cNvPr id="16414" name="Object 2075"/>
            <p:cNvGraphicFramePr>
              <a:graphicFrameLocks noChangeAspect="1"/>
            </p:cNvGraphicFramePr>
            <p:nvPr/>
          </p:nvGraphicFramePr>
          <p:xfrm>
            <a:off x="4958" y="2448"/>
            <a:ext cx="26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2" r:id="rId23" imgW="78740" imgH="89535" progId="Equation.3">
                    <p:embed/>
                  </p:oleObj>
                </mc:Choice>
                <mc:Fallback>
                  <p:oleObj r:id="rId23" imgW="78740" imgH="8953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99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958" y="2448"/>
                          <a:ext cx="26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5" name="Line 2076"/>
            <p:cNvSpPr/>
            <p:nvPr/>
          </p:nvSpPr>
          <p:spPr>
            <a:xfrm>
              <a:off x="5088" y="1248"/>
              <a:ext cx="0" cy="1200"/>
            </a:xfrm>
            <a:prstGeom prst="line">
              <a:avLst/>
            </a:prstGeom>
            <a:ln w="28575" cap="flat" cmpd="sng">
              <a:solidFill>
                <a:srgbClr val="0099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6" name="Line 2077"/>
            <p:cNvSpPr/>
            <p:nvPr/>
          </p:nvSpPr>
          <p:spPr>
            <a:xfrm>
              <a:off x="4560" y="2064"/>
              <a:ext cx="528" cy="0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03466" name="Object 2090"/>
          <p:cNvGraphicFramePr>
            <a:graphicFrameLocks noChangeAspect="1"/>
          </p:cNvGraphicFramePr>
          <p:nvPr/>
        </p:nvGraphicFramePr>
        <p:xfrm>
          <a:off x="5562600" y="1676400"/>
          <a:ext cx="18288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3" r:id="rId25" imgW="693420" imgH="178435" progId="Equation.DSMT4">
                  <p:embed/>
                </p:oleObj>
              </mc:Choice>
              <mc:Fallback>
                <p:oleObj r:id="rId25" imgW="693420" imgH="178435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62600" y="1676400"/>
                        <a:ext cx="1828800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404" name="Group 2118"/>
          <p:cNvGrpSpPr/>
          <p:nvPr/>
        </p:nvGrpSpPr>
        <p:grpSpPr>
          <a:xfrm>
            <a:off x="5638800" y="2584450"/>
            <a:ext cx="1173163" cy="1911350"/>
            <a:chOff x="3552" y="1676"/>
            <a:chExt cx="739" cy="1204"/>
          </a:xfrm>
        </p:grpSpPr>
        <p:graphicFrame>
          <p:nvGraphicFramePr>
            <p:cNvPr id="16407" name="Object 2109"/>
            <p:cNvGraphicFramePr>
              <a:graphicFrameLocks noChangeAspect="1"/>
            </p:cNvGraphicFramePr>
            <p:nvPr/>
          </p:nvGraphicFramePr>
          <p:xfrm>
            <a:off x="3978" y="2544"/>
            <a:ext cx="31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4" r:id="rId27" imgW="131445" imgH="178435" progId="Equation.3">
                    <p:embed/>
                  </p:oleObj>
                </mc:Choice>
                <mc:Fallback>
                  <p:oleObj r:id="rId27" imgW="131445" imgH="178435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78" y="2544"/>
                          <a:ext cx="313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8" name="Line 2111"/>
            <p:cNvSpPr/>
            <p:nvPr/>
          </p:nvSpPr>
          <p:spPr>
            <a:xfrm>
              <a:off x="4128" y="1856"/>
              <a:ext cx="8" cy="776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9" name="Line 2112"/>
            <p:cNvSpPr/>
            <p:nvPr/>
          </p:nvSpPr>
          <p:spPr>
            <a:xfrm flipV="1">
              <a:off x="3648" y="1812"/>
              <a:ext cx="504" cy="775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10" name="Object 2113"/>
            <p:cNvGraphicFramePr>
              <a:graphicFrameLocks noChangeAspect="1"/>
            </p:cNvGraphicFramePr>
            <p:nvPr/>
          </p:nvGraphicFramePr>
          <p:xfrm>
            <a:off x="3696" y="1676"/>
            <a:ext cx="352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5" r:id="rId29" imgW="141605" imgH="184150" progId="Equation.3">
                    <p:embed/>
                  </p:oleObj>
                </mc:Choice>
                <mc:Fallback>
                  <p:oleObj r:id="rId29" imgW="141605" imgH="18415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30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96" y="1676"/>
                          <a:ext cx="352" cy="3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1" name="Object 2114"/>
            <p:cNvGraphicFramePr>
              <a:graphicFrameLocks noChangeAspect="1"/>
            </p:cNvGraphicFramePr>
            <p:nvPr/>
          </p:nvGraphicFramePr>
          <p:xfrm>
            <a:off x="3552" y="1923"/>
            <a:ext cx="24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6" r:id="rId31" imgW="141605" imgH="178435" progId="Equation.3">
                    <p:embed/>
                  </p:oleObj>
                </mc:Choice>
                <mc:Fallback>
                  <p:oleObj r:id="rId31" imgW="141605" imgH="178435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52" y="1923"/>
                          <a:ext cx="241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2" name="Arc 2115"/>
            <p:cNvSpPr/>
            <p:nvPr/>
          </p:nvSpPr>
          <p:spPr>
            <a:xfrm>
              <a:off x="3792" y="2350"/>
              <a:ext cx="144" cy="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35228" fill="none">
                  <a:moveTo>
                    <a:pt x="2384" y="0"/>
                  </a:moveTo>
                  <a:cubicBezTo>
                    <a:pt x="13324" y="1215"/>
                    <a:pt x="21600" y="10461"/>
                    <a:pt x="21600" y="21468"/>
                  </a:cubicBezTo>
                  <a:cubicBezTo>
                    <a:pt x="21600" y="26490"/>
                    <a:pt x="19849" y="31356"/>
                    <a:pt x="16649" y="35227"/>
                  </a:cubicBezTo>
                </a:path>
                <a:path w="21600" h="35228" stroke="0">
                  <a:moveTo>
                    <a:pt x="2384" y="0"/>
                  </a:moveTo>
                  <a:cubicBezTo>
                    <a:pt x="13324" y="1215"/>
                    <a:pt x="21600" y="10461"/>
                    <a:pt x="21600" y="21468"/>
                  </a:cubicBezTo>
                  <a:cubicBezTo>
                    <a:pt x="21600" y="26490"/>
                    <a:pt x="19849" y="31356"/>
                    <a:pt x="16649" y="35227"/>
                  </a:cubicBezTo>
                  <a:lnTo>
                    <a:pt x="0" y="21468"/>
                  </a:lnTo>
                  <a:lnTo>
                    <a:pt x="2384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Arc 2117"/>
            <p:cNvSpPr/>
            <p:nvPr/>
          </p:nvSpPr>
          <p:spPr>
            <a:xfrm>
              <a:off x="3792" y="2102"/>
              <a:ext cx="144" cy="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35228" fill="none">
                  <a:moveTo>
                    <a:pt x="2384" y="0"/>
                  </a:moveTo>
                  <a:cubicBezTo>
                    <a:pt x="13324" y="1215"/>
                    <a:pt x="21600" y="10461"/>
                    <a:pt x="21600" y="21468"/>
                  </a:cubicBezTo>
                  <a:cubicBezTo>
                    <a:pt x="21600" y="26490"/>
                    <a:pt x="19849" y="31356"/>
                    <a:pt x="16649" y="35227"/>
                  </a:cubicBezTo>
                </a:path>
                <a:path w="21600" h="35228" stroke="0">
                  <a:moveTo>
                    <a:pt x="2384" y="0"/>
                  </a:moveTo>
                  <a:cubicBezTo>
                    <a:pt x="13324" y="1215"/>
                    <a:pt x="21600" y="10461"/>
                    <a:pt x="21600" y="21468"/>
                  </a:cubicBezTo>
                  <a:cubicBezTo>
                    <a:pt x="21600" y="26490"/>
                    <a:pt x="19849" y="31356"/>
                    <a:pt x="16649" y="35227"/>
                  </a:cubicBezTo>
                  <a:lnTo>
                    <a:pt x="0" y="21468"/>
                  </a:lnTo>
                  <a:lnTo>
                    <a:pt x="2384" y="0"/>
                  </a:lnTo>
                  <a:close/>
                </a:path>
              </a:pathLst>
            </a:custGeom>
            <a:noFill/>
            <a:ln w="12700" cap="flat" cmpd="sng">
              <a:solidFill>
                <a:srgbClr val="800000">
                  <a:alpha val="100000"/>
                </a:srgbClr>
              </a:solidFill>
              <a:prstDash val="solid"/>
              <a:round/>
              <a:headEnd type="none" w="sm" len="lg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03497" name="Object 2121"/>
          <p:cNvGraphicFramePr>
            <a:graphicFrameLocks noChangeAspect="1"/>
          </p:cNvGraphicFramePr>
          <p:nvPr/>
        </p:nvGraphicFramePr>
        <p:xfrm>
          <a:off x="549275" y="2743200"/>
          <a:ext cx="4649788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7" r:id="rId33" imgW="1403350" imgH="315595" progId="Equation.3">
                  <p:embed/>
                </p:oleObj>
              </mc:Choice>
              <mc:Fallback>
                <p:oleObj r:id="rId33" imgW="1403350" imgH="315595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9275" y="2743200"/>
                        <a:ext cx="4649788" cy="1049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6" name="Rectangle 2123"/>
          <p:cNvSpPr/>
          <p:nvPr/>
        </p:nvSpPr>
        <p:spPr>
          <a:xfrm>
            <a:off x="501650" y="44450"/>
            <a:ext cx="853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     两个同方向同频率简谐运动的合成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0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3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0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3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7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28" name="Group 124"/>
          <p:cNvGrpSpPr/>
          <p:nvPr/>
        </p:nvGrpSpPr>
        <p:grpSpPr>
          <a:xfrm>
            <a:off x="457200" y="4572000"/>
            <a:ext cx="6400800" cy="1219200"/>
            <a:chOff x="144" y="2880"/>
            <a:chExt cx="4032" cy="768"/>
          </a:xfrm>
        </p:grpSpPr>
        <p:sp>
          <p:nvSpPr>
            <p:cNvPr id="17424" name="Text Box 38"/>
            <p:cNvSpPr txBox="1"/>
            <p:nvPr/>
          </p:nvSpPr>
          <p:spPr>
            <a:xfrm>
              <a:off x="144" y="2880"/>
              <a:ext cx="227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336699"/>
                  </a:solidFill>
                  <a:latin typeface="宋体" panose="02010600030101010101" pitchFamily="2" charset="-122"/>
                </a:rPr>
                <a:t>（</a:t>
              </a:r>
              <a:r>
                <a:rPr lang="zh-CN" altLang="en-US" dirty="0">
                  <a:solidFill>
                    <a:srgbClr val="336699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dirty="0">
                  <a:solidFill>
                    <a:srgbClr val="336699"/>
                  </a:solidFill>
                  <a:latin typeface="宋体" panose="02010600030101010101" pitchFamily="2" charset="-122"/>
                </a:rPr>
                <a:t>）</a:t>
              </a:r>
              <a:r>
                <a:rPr lang="zh-CN" altLang="zh-CN" dirty="0">
                  <a:solidFill>
                    <a:srgbClr val="336699"/>
                  </a:solidFill>
                  <a:latin typeface="宋体" panose="02010600030101010101" pitchFamily="2" charset="-122"/>
                </a:rPr>
                <a:t>一般情况</a:t>
              </a:r>
            </a:p>
          </p:txBody>
        </p:sp>
        <p:graphicFrame>
          <p:nvGraphicFramePr>
            <p:cNvPr id="17425" name="Object 39"/>
            <p:cNvGraphicFramePr>
              <a:graphicFrameLocks noChangeAspect="1"/>
            </p:cNvGraphicFramePr>
            <p:nvPr/>
          </p:nvGraphicFramePr>
          <p:xfrm>
            <a:off x="1701" y="3280"/>
            <a:ext cx="2475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1" r:id="rId3" imgW="1103630" imgH="152400" progId="Equation.3">
                    <p:embed/>
                  </p:oleObj>
                </mc:Choice>
                <mc:Fallback>
                  <p:oleObj r:id="rId3" imgW="1103630" imgH="1524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01" y="3280"/>
                          <a:ext cx="2475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203" name="Object 99"/>
          <p:cNvGraphicFramePr>
            <a:graphicFrameLocks noChangeAspect="1"/>
          </p:cNvGraphicFramePr>
          <p:nvPr/>
        </p:nvGraphicFramePr>
        <p:xfrm>
          <a:off x="2874963" y="3802063"/>
          <a:ext cx="2306637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r:id="rId5" imgW="604520" imgH="152400" progId="Equation.3">
                  <p:embed/>
                </p:oleObj>
              </mc:Choice>
              <mc:Fallback>
                <p:oleObj r:id="rId5" imgW="604520" imgH="1524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74963" y="3802063"/>
                        <a:ext cx="2306637" cy="604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99" name="Object 95"/>
          <p:cNvGraphicFramePr>
            <a:graphicFrameLocks noChangeAspect="1"/>
          </p:cNvGraphicFramePr>
          <p:nvPr/>
        </p:nvGraphicFramePr>
        <p:xfrm>
          <a:off x="2963863" y="2228850"/>
          <a:ext cx="191293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r:id="rId7" imgW="562610" imgH="131445" progId="Equation.3">
                  <p:embed/>
                </p:oleObj>
              </mc:Choice>
              <mc:Fallback>
                <p:oleObj r:id="rId7" imgW="562610" imgH="131445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63863" y="2228850"/>
                        <a:ext cx="1912937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211" name="Text Box 107"/>
          <p:cNvSpPr txBox="1"/>
          <p:nvPr/>
        </p:nvSpPr>
        <p:spPr>
          <a:xfrm>
            <a:off x="6705600" y="2133600"/>
            <a:ext cx="1262063" cy="598488"/>
          </a:xfrm>
          <a:prstGeom prst="rect">
            <a:avLst/>
          </a:prstGeom>
          <a:solidFill>
            <a:srgbClr val="F9F0FE"/>
          </a:solidFill>
          <a:ln w="19050" cap="flat" cmpd="sng">
            <a:solidFill>
              <a:srgbClr val="CC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336699"/>
                </a:solidFill>
                <a:latin typeface="Times New Roman" panose="02020603050405020304" pitchFamily="18" charset="0"/>
              </a:rPr>
              <a:t>加强</a:t>
            </a:r>
          </a:p>
        </p:txBody>
      </p:sp>
      <p:sp>
        <p:nvSpPr>
          <p:cNvPr id="47212" name="Text Box 108"/>
          <p:cNvSpPr txBox="1"/>
          <p:nvPr/>
        </p:nvSpPr>
        <p:spPr>
          <a:xfrm>
            <a:off x="6718300" y="3821113"/>
            <a:ext cx="1219200" cy="598487"/>
          </a:xfrm>
          <a:prstGeom prst="rect">
            <a:avLst/>
          </a:prstGeom>
          <a:solidFill>
            <a:srgbClr val="F9F0FE"/>
          </a:solidFill>
          <a:ln w="19050" cap="flat" cmpd="sng">
            <a:solidFill>
              <a:srgbClr val="CC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336699"/>
                </a:solidFill>
                <a:latin typeface="Times New Roman" panose="02020603050405020304" pitchFamily="18" charset="0"/>
              </a:rPr>
              <a:t>减弱</a:t>
            </a:r>
          </a:p>
        </p:txBody>
      </p:sp>
      <p:sp>
        <p:nvSpPr>
          <p:cNvPr id="17415" name="Text Box 117"/>
          <p:cNvSpPr txBox="1"/>
          <p:nvPr/>
        </p:nvSpPr>
        <p:spPr>
          <a:xfrm>
            <a:off x="3817938" y="114300"/>
            <a:ext cx="2368550" cy="627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合成结果</a:t>
            </a:r>
          </a:p>
        </p:txBody>
      </p:sp>
      <p:grpSp>
        <p:nvGrpSpPr>
          <p:cNvPr id="47229" name="Group 125"/>
          <p:cNvGrpSpPr/>
          <p:nvPr/>
        </p:nvGrpSpPr>
        <p:grpSpPr>
          <a:xfrm>
            <a:off x="457200" y="1447800"/>
            <a:ext cx="7696200" cy="614363"/>
            <a:chOff x="144" y="912"/>
            <a:chExt cx="4848" cy="387"/>
          </a:xfrm>
        </p:grpSpPr>
        <p:sp>
          <p:nvSpPr>
            <p:cNvPr id="17421" name="Text Box 92"/>
            <p:cNvSpPr txBox="1"/>
            <p:nvPr/>
          </p:nvSpPr>
          <p:spPr>
            <a:xfrm>
              <a:off x="144" y="934"/>
              <a:ext cx="233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336699"/>
                  </a:solidFill>
                  <a:latin typeface="Times New Roman" panose="02020603050405020304" pitchFamily="18" charset="0"/>
                </a:rPr>
                <a:t>（1</a:t>
              </a:r>
              <a:r>
                <a:rPr lang="zh-CN" altLang="en-US" dirty="0">
                  <a:solidFill>
                    <a:srgbClr val="336699"/>
                  </a:solidFill>
                  <a:latin typeface="宋体" panose="02010600030101010101" pitchFamily="2" charset="-122"/>
                </a:rPr>
                <a:t>）相位差</a:t>
              </a:r>
            </a:p>
          </p:txBody>
        </p:sp>
        <p:graphicFrame>
          <p:nvGraphicFramePr>
            <p:cNvPr id="17422" name="Object 120"/>
            <p:cNvGraphicFramePr>
              <a:graphicFrameLocks noChangeAspect="1"/>
            </p:cNvGraphicFramePr>
            <p:nvPr/>
          </p:nvGraphicFramePr>
          <p:xfrm>
            <a:off x="1728" y="912"/>
            <a:ext cx="1492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4" r:id="rId9" imgW="704215" imgH="131445" progId="Equation.3">
                    <p:embed/>
                  </p:oleObj>
                </mc:Choice>
                <mc:Fallback>
                  <p:oleObj r:id="rId9" imgW="704215" imgH="131445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28" y="912"/>
                          <a:ext cx="1492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3" name="Object 121"/>
            <p:cNvGraphicFramePr>
              <a:graphicFrameLocks noChangeAspect="1"/>
            </p:cNvGraphicFramePr>
            <p:nvPr/>
          </p:nvGraphicFramePr>
          <p:xfrm>
            <a:off x="3408" y="912"/>
            <a:ext cx="158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5" r:id="rId11" imgW="756920" imgH="126365" progId="Equation.3">
                    <p:embed/>
                  </p:oleObj>
                </mc:Choice>
                <mc:Fallback>
                  <p:oleObj r:id="rId11" imgW="756920" imgH="126365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08" y="912"/>
                          <a:ext cx="1584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230" name="Group 126"/>
          <p:cNvGrpSpPr/>
          <p:nvPr/>
        </p:nvGrpSpPr>
        <p:grpSpPr>
          <a:xfrm>
            <a:off x="457200" y="3124200"/>
            <a:ext cx="8305800" cy="593725"/>
            <a:chOff x="144" y="1968"/>
            <a:chExt cx="5232" cy="374"/>
          </a:xfrm>
        </p:grpSpPr>
        <p:sp>
          <p:nvSpPr>
            <p:cNvPr id="17418" name="Text Box 100"/>
            <p:cNvSpPr txBox="1"/>
            <p:nvPr/>
          </p:nvSpPr>
          <p:spPr>
            <a:xfrm>
              <a:off x="144" y="1968"/>
              <a:ext cx="233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336699"/>
                  </a:solidFill>
                  <a:latin typeface="Times New Roman" panose="02020603050405020304" pitchFamily="18" charset="0"/>
                </a:rPr>
                <a:t>（2</a:t>
              </a:r>
              <a:r>
                <a:rPr lang="zh-CN" altLang="en-US" dirty="0">
                  <a:solidFill>
                    <a:srgbClr val="336699"/>
                  </a:solidFill>
                  <a:latin typeface="宋体" panose="02010600030101010101" pitchFamily="2" charset="-122"/>
                </a:rPr>
                <a:t>）相位差</a:t>
              </a:r>
            </a:p>
          </p:txBody>
        </p:sp>
        <p:graphicFrame>
          <p:nvGraphicFramePr>
            <p:cNvPr id="17419" name="Object 113"/>
            <p:cNvGraphicFramePr>
              <a:graphicFrameLocks noChangeAspect="1"/>
            </p:cNvGraphicFramePr>
            <p:nvPr/>
          </p:nvGraphicFramePr>
          <p:xfrm>
            <a:off x="1728" y="1968"/>
            <a:ext cx="196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6" r:id="rId13" imgW="946150" imgH="131445" progId="Equation.3">
                    <p:embed/>
                  </p:oleObj>
                </mc:Choice>
                <mc:Fallback>
                  <p:oleObj r:id="rId13" imgW="946150" imgH="131445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28" y="1968"/>
                          <a:ext cx="1968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0" name="Object 123"/>
            <p:cNvGraphicFramePr>
              <a:graphicFrameLocks noChangeAspect="1"/>
            </p:cNvGraphicFramePr>
            <p:nvPr/>
          </p:nvGraphicFramePr>
          <p:xfrm>
            <a:off x="3792" y="2016"/>
            <a:ext cx="158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7" r:id="rId15" imgW="756920" imgH="126365" progId="Equation.3">
                    <p:embed/>
                  </p:oleObj>
                </mc:Choice>
                <mc:Fallback>
                  <p:oleObj r:id="rId15" imgW="756920" imgH="126365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92" y="2016"/>
                          <a:ext cx="1584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4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4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11" grpId="0" animBg="1"/>
      <p:bldP spid="472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文本框 1"/>
          <p:cNvSpPr txBox="1"/>
          <p:nvPr/>
        </p:nvSpPr>
        <p:spPr>
          <a:xfrm>
            <a:off x="3348038" y="115888"/>
            <a:ext cx="2303462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典型例题</a:t>
            </a:r>
          </a:p>
        </p:txBody>
      </p:sp>
      <p:sp>
        <p:nvSpPr>
          <p:cNvPr id="4" name="文本框 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9552" y="1340768"/>
            <a:ext cx="8280920" cy="3300006"/>
          </a:xfrm>
          <a:prstGeom prst="rect">
            <a:avLst/>
          </a:prstGeom>
          <a:blipFill>
            <a:blip r:embed="rId2"/>
            <a:stretch>
              <a:fillRect l="-1546" t="-2588" b="-1294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84888" y="5732463"/>
            <a:ext cx="2087562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答案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4"/>
          <p:cNvSpPr txBox="1">
            <a:spLocks noChangeArrowheads="1"/>
          </p:cNvSpPr>
          <p:nvPr/>
        </p:nvSpPr>
        <p:spPr bwMode="auto">
          <a:xfrm>
            <a:off x="647700" y="5373688"/>
            <a:ext cx="7848600" cy="919163"/>
          </a:xfrm>
          <a:prstGeom prst="rect">
            <a:avLst/>
          </a:prstGeom>
          <a:gradFill rotWithShape="0">
            <a:gsLst>
              <a:gs pos="0">
                <a:srgbClr val="CCFFFF"/>
              </a:gs>
              <a:gs pos="50000">
                <a:schemeClr val="bg1"/>
              </a:gs>
              <a:gs pos="100000">
                <a:srgbClr val="CCFFFF"/>
              </a:gs>
            </a:gsLst>
            <a:lin ang="5400000" scaled="1"/>
          </a:gradFill>
          <a:ln w="19050">
            <a:solidFill>
              <a:schemeClr val="tx2"/>
            </a:solidFill>
            <a:miter lim="800000"/>
          </a:ln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2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频率</a:t>
            </a:r>
            <a:r>
              <a:rPr kumimoji="0" lang="zh-CN" altLang="en-US" sz="2400" kern="1200" cap="none" spc="0" normalizeH="0" baseline="0" noProof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较大</a:t>
            </a:r>
            <a:r>
              <a:rPr kumimoji="0" lang="zh-CN" altLang="en-US" sz="2400" kern="1200" cap="none" spc="0" normalizeH="0" baseline="0" noProof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而频率之</a:t>
            </a:r>
            <a:r>
              <a:rPr kumimoji="0" lang="zh-CN" altLang="en-US" sz="2400" kern="1200" cap="none" spc="0" normalizeH="0" baseline="0" noProof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差很小</a:t>
            </a:r>
            <a:r>
              <a:rPr kumimoji="0" lang="zh-CN" altLang="en-US" sz="2400" kern="1200" cap="none" spc="0" normalizeH="0" baseline="0" noProof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的两个</a:t>
            </a:r>
            <a:r>
              <a:rPr kumimoji="0" lang="zh-CN" altLang="en-US" sz="2400" kern="1200" cap="none" spc="0" normalizeH="0" baseline="0" noProof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同方向</a:t>
            </a:r>
            <a:r>
              <a:rPr kumimoji="0" lang="zh-CN" altLang="en-US" sz="2400" kern="1200" cap="none" spc="0" normalizeH="0" baseline="0" noProof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简谐运动的合成，其合振动的振幅时而加强时而减弱的现象叫</a:t>
            </a:r>
            <a:r>
              <a:rPr kumimoji="0" lang="zh-CN" altLang="en-US" sz="2400" kern="1200" cap="none" spc="0" normalizeH="0" baseline="0" noProof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拍</a:t>
            </a:r>
            <a:r>
              <a:rPr kumimoji="0" lang="zh-CN" altLang="en-US" sz="2400" kern="1200" cap="none" spc="0" normalizeH="0" baseline="0" noProof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19460" name="文本框 2"/>
          <p:cNvSpPr txBox="1"/>
          <p:nvPr/>
        </p:nvSpPr>
        <p:spPr>
          <a:xfrm>
            <a:off x="3348038" y="71438"/>
            <a:ext cx="27368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拍的形成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2296" name="ShockwaveFlash1" r:id="rId2" imgW="1828800" imgH="1828800"/>
        </mc:Choice>
        <mc:Fallback>
          <p:control name="ShockwaveFlash1" r:id="rId2" imgW="1828800" imgH="1828800">
            <p:pic>
              <p:nvPicPr>
                <p:cNvPr id="2" name="ShockwaveFlash1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0113" y="836613"/>
                  <a:ext cx="7343775" cy="4464050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62" name="Group 2"/>
          <p:cNvGrpSpPr/>
          <p:nvPr/>
        </p:nvGrpSpPr>
        <p:grpSpPr>
          <a:xfrm>
            <a:off x="187325" y="1066800"/>
            <a:ext cx="3648075" cy="4495800"/>
            <a:chOff x="118" y="672"/>
            <a:chExt cx="2298" cy="2832"/>
          </a:xfrm>
        </p:grpSpPr>
        <p:sp>
          <p:nvSpPr>
            <p:cNvPr id="20529" name="Text Box 3"/>
            <p:cNvSpPr txBox="1"/>
            <p:nvPr/>
          </p:nvSpPr>
          <p:spPr>
            <a:xfrm>
              <a:off x="223" y="672"/>
              <a:ext cx="101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336699"/>
                  </a:solidFill>
                  <a:latin typeface="宋体" panose="02010600030101010101" pitchFamily="2" charset="-122"/>
                </a:rPr>
                <a:t>振幅 </a:t>
              </a:r>
            </a:p>
          </p:txBody>
        </p:sp>
        <p:sp>
          <p:nvSpPr>
            <p:cNvPr id="20530" name="Text Box 4"/>
            <p:cNvSpPr txBox="1"/>
            <p:nvPr/>
          </p:nvSpPr>
          <p:spPr>
            <a:xfrm>
              <a:off x="336" y="2736"/>
              <a:ext cx="208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336699"/>
                  </a:solidFill>
                  <a:latin typeface="Times New Roman" panose="02020603050405020304" pitchFamily="18" charset="0"/>
                </a:rPr>
                <a:t>振动圆频率</a:t>
              </a:r>
            </a:p>
          </p:txBody>
        </p:sp>
        <p:sp>
          <p:nvSpPr>
            <p:cNvPr id="20531" name="AutoShape 5"/>
            <p:cNvSpPr/>
            <p:nvPr/>
          </p:nvSpPr>
          <p:spPr>
            <a:xfrm>
              <a:off x="118" y="889"/>
              <a:ext cx="170" cy="2615"/>
            </a:xfrm>
            <a:prstGeom prst="leftBrace">
              <a:avLst>
                <a:gd name="adj1" fmla="val 128186"/>
                <a:gd name="adj2" fmla="val 50000"/>
              </a:avLst>
            </a:prstGeom>
            <a:noFill/>
            <a:ln w="2857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483" name="Group 6"/>
          <p:cNvGrpSpPr/>
          <p:nvPr/>
        </p:nvGrpSpPr>
        <p:grpSpPr>
          <a:xfrm>
            <a:off x="5207000" y="914400"/>
            <a:ext cx="3657600" cy="3810000"/>
            <a:chOff x="3264" y="576"/>
            <a:chExt cx="2304" cy="2400"/>
          </a:xfrm>
        </p:grpSpPr>
        <p:sp>
          <p:nvSpPr>
            <p:cNvPr id="20493" name="Rectangle 7"/>
            <p:cNvSpPr/>
            <p:nvPr/>
          </p:nvSpPr>
          <p:spPr>
            <a:xfrm>
              <a:off x="3264" y="576"/>
              <a:ext cx="2304" cy="240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0494" name="Arc 8"/>
            <p:cNvSpPr/>
            <p:nvPr/>
          </p:nvSpPr>
          <p:spPr>
            <a:xfrm rot="1869666">
              <a:off x="3792" y="2069"/>
              <a:ext cx="75" cy="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0520" fill="none">
                  <a:moveTo>
                    <a:pt x="8614" y="-1"/>
                  </a:moveTo>
                  <a:cubicBezTo>
                    <a:pt x="16499" y="3429"/>
                    <a:pt x="21600" y="11209"/>
                    <a:pt x="21600" y="19808"/>
                  </a:cubicBezTo>
                  <a:cubicBezTo>
                    <a:pt x="21600" y="20045"/>
                    <a:pt x="21596" y="20282"/>
                    <a:pt x="21588" y="20520"/>
                  </a:cubicBezTo>
                </a:path>
                <a:path w="21600" h="20520" stroke="0">
                  <a:moveTo>
                    <a:pt x="8614" y="-1"/>
                  </a:moveTo>
                  <a:cubicBezTo>
                    <a:pt x="16499" y="3429"/>
                    <a:pt x="21600" y="11209"/>
                    <a:pt x="21600" y="19808"/>
                  </a:cubicBezTo>
                  <a:cubicBezTo>
                    <a:pt x="21600" y="20045"/>
                    <a:pt x="21596" y="20282"/>
                    <a:pt x="21588" y="20520"/>
                  </a:cubicBezTo>
                  <a:lnTo>
                    <a:pt x="0" y="19808"/>
                  </a:lnTo>
                  <a:lnTo>
                    <a:pt x="8614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5" name="Arc 9"/>
            <p:cNvSpPr/>
            <p:nvPr/>
          </p:nvSpPr>
          <p:spPr>
            <a:xfrm>
              <a:off x="3792" y="1872"/>
              <a:ext cx="144" cy="4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0594" h="21109" fill="none">
                  <a:moveTo>
                    <a:pt x="4578" y="-1"/>
                  </a:moveTo>
                  <a:cubicBezTo>
                    <a:pt x="12147" y="1641"/>
                    <a:pt x="18257" y="7209"/>
                    <a:pt x="20594" y="14593"/>
                  </a:cubicBezTo>
                </a:path>
                <a:path w="20594" h="21109" stroke="0">
                  <a:moveTo>
                    <a:pt x="4578" y="-1"/>
                  </a:moveTo>
                  <a:cubicBezTo>
                    <a:pt x="12147" y="1641"/>
                    <a:pt x="18257" y="7209"/>
                    <a:pt x="20594" y="14593"/>
                  </a:cubicBezTo>
                  <a:lnTo>
                    <a:pt x="0" y="21109"/>
                  </a:lnTo>
                  <a:lnTo>
                    <a:pt x="4578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96" name="Line 10"/>
            <p:cNvSpPr/>
            <p:nvPr/>
          </p:nvSpPr>
          <p:spPr>
            <a:xfrm flipV="1">
              <a:off x="3577" y="1632"/>
              <a:ext cx="455" cy="52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97" name="Object 11"/>
            <p:cNvGraphicFramePr>
              <a:graphicFrameLocks noChangeAspect="1"/>
            </p:cNvGraphicFramePr>
            <p:nvPr/>
          </p:nvGraphicFramePr>
          <p:xfrm>
            <a:off x="3588" y="1632"/>
            <a:ext cx="22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4" r:id="rId3" imgW="141605" imgH="184150" progId="Equation.3">
                    <p:embed/>
                  </p:oleObj>
                </mc:Choice>
                <mc:Fallback>
                  <p:oleObj r:id="rId3" imgW="141605" imgH="18415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88" y="1632"/>
                          <a:ext cx="22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8" name="Line 12"/>
            <p:cNvSpPr/>
            <p:nvPr/>
          </p:nvSpPr>
          <p:spPr>
            <a:xfrm>
              <a:off x="4032" y="1632"/>
              <a:ext cx="0" cy="52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99" name="Object 13"/>
            <p:cNvGraphicFramePr>
              <a:graphicFrameLocks noChangeAspect="1"/>
            </p:cNvGraphicFramePr>
            <p:nvPr/>
          </p:nvGraphicFramePr>
          <p:xfrm>
            <a:off x="4048" y="2064"/>
            <a:ext cx="25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5" r:id="rId5" imgW="131445" imgH="178435" progId="Equation.3">
                    <p:embed/>
                  </p:oleObj>
                </mc:Choice>
                <mc:Fallback>
                  <p:oleObj r:id="rId5" imgW="131445" imgH="178435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48" y="2064"/>
                          <a:ext cx="25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0" name="Arc 14"/>
            <p:cNvSpPr/>
            <p:nvPr/>
          </p:nvSpPr>
          <p:spPr>
            <a:xfrm rot="-895938">
              <a:off x="3600" y="1382"/>
              <a:ext cx="356" cy="2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18342" fill="none">
                  <a:moveTo>
                    <a:pt x="11407" y="-1"/>
                  </a:moveTo>
                  <a:cubicBezTo>
                    <a:pt x="17745" y="3941"/>
                    <a:pt x="21600" y="10877"/>
                    <a:pt x="21600" y="18342"/>
                  </a:cubicBezTo>
                </a:path>
                <a:path w="21600" h="18342" stroke="0">
                  <a:moveTo>
                    <a:pt x="11407" y="-1"/>
                  </a:moveTo>
                  <a:cubicBezTo>
                    <a:pt x="17745" y="3941"/>
                    <a:pt x="21600" y="10877"/>
                    <a:pt x="21600" y="18342"/>
                  </a:cubicBezTo>
                  <a:lnTo>
                    <a:pt x="0" y="18342"/>
                  </a:lnTo>
                  <a:lnTo>
                    <a:pt x="11407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01" name="Object 15"/>
            <p:cNvGraphicFramePr>
              <a:graphicFrameLocks noChangeAspect="1"/>
            </p:cNvGraphicFramePr>
            <p:nvPr/>
          </p:nvGraphicFramePr>
          <p:xfrm>
            <a:off x="3586" y="1056"/>
            <a:ext cx="30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6" r:id="rId7" imgW="157480" imgH="178435" progId="Equation.3">
                    <p:embed/>
                  </p:oleObj>
                </mc:Choice>
                <mc:Fallback>
                  <p:oleObj r:id="rId7" imgW="157480" imgH="178435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86" y="1056"/>
                          <a:ext cx="302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2" name="Freeform 16"/>
            <p:cNvSpPr/>
            <p:nvPr/>
          </p:nvSpPr>
          <p:spPr>
            <a:xfrm>
              <a:off x="3920" y="1752"/>
              <a:ext cx="144" cy="24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9" y="7"/>
                </a:cxn>
                <a:cxn ang="0">
                  <a:pos x="10" y="12"/>
                </a:cxn>
              </a:cxnLst>
              <a:rect l="0" t="0" r="0" b="0"/>
              <a:pathLst>
                <a:path w="199" h="347">
                  <a:moveTo>
                    <a:pt x="0" y="0"/>
                  </a:moveTo>
                  <a:cubicBezTo>
                    <a:pt x="18" y="15"/>
                    <a:pt x="79" y="57"/>
                    <a:pt x="108" y="88"/>
                  </a:cubicBezTo>
                  <a:cubicBezTo>
                    <a:pt x="137" y="119"/>
                    <a:pt x="157" y="145"/>
                    <a:pt x="172" y="188"/>
                  </a:cubicBezTo>
                  <a:cubicBezTo>
                    <a:pt x="187" y="231"/>
                    <a:pt x="194" y="314"/>
                    <a:pt x="199" y="347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03" name="Object 17"/>
            <p:cNvGraphicFramePr>
              <a:graphicFrameLocks noChangeAspect="1"/>
            </p:cNvGraphicFramePr>
            <p:nvPr/>
          </p:nvGraphicFramePr>
          <p:xfrm>
            <a:off x="5040" y="2160"/>
            <a:ext cx="21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7" r:id="rId9" imgW="78740" imgH="89535" progId="Equation.3">
                    <p:embed/>
                  </p:oleObj>
                </mc:Choice>
                <mc:Fallback>
                  <p:oleObj r:id="rId9" imgW="78740" imgH="89535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40" y="2160"/>
                          <a:ext cx="214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4" name="Line 18"/>
            <p:cNvSpPr/>
            <p:nvPr/>
          </p:nvSpPr>
          <p:spPr>
            <a:xfrm>
              <a:off x="5184" y="1200"/>
              <a:ext cx="0" cy="955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Line 19"/>
            <p:cNvSpPr/>
            <p:nvPr/>
          </p:nvSpPr>
          <p:spPr>
            <a:xfrm flipV="1">
              <a:off x="4032" y="1200"/>
              <a:ext cx="1152" cy="432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Line 20"/>
            <p:cNvSpPr/>
            <p:nvPr/>
          </p:nvSpPr>
          <p:spPr>
            <a:xfrm flipV="1">
              <a:off x="4704" y="1200"/>
              <a:ext cx="480" cy="57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7" name="Line 21"/>
            <p:cNvSpPr/>
            <p:nvPr/>
          </p:nvSpPr>
          <p:spPr>
            <a:xfrm flipV="1">
              <a:off x="3622" y="1200"/>
              <a:ext cx="1562" cy="92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08" name="Object 22"/>
            <p:cNvGraphicFramePr>
              <a:graphicFrameLocks noChangeAspect="1"/>
            </p:cNvGraphicFramePr>
            <p:nvPr/>
          </p:nvGraphicFramePr>
          <p:xfrm>
            <a:off x="5088" y="797"/>
            <a:ext cx="240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8" r:id="rId11" imgW="105410" imgH="89535" progId="Equation.3">
                    <p:embed/>
                  </p:oleObj>
                </mc:Choice>
                <mc:Fallback>
                  <p:oleObj r:id="rId11" imgW="105410" imgH="89535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88" y="797"/>
                          <a:ext cx="240" cy="2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9" name="Arc 23"/>
            <p:cNvSpPr/>
            <p:nvPr/>
          </p:nvSpPr>
          <p:spPr>
            <a:xfrm rot="-1186085">
              <a:off x="4800" y="912"/>
              <a:ext cx="357" cy="3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21693" fill="none">
                  <a:moveTo>
                    <a:pt x="11407" y="-1"/>
                  </a:moveTo>
                  <a:cubicBezTo>
                    <a:pt x="17745" y="3941"/>
                    <a:pt x="21600" y="10877"/>
                    <a:pt x="21600" y="18342"/>
                  </a:cubicBezTo>
                  <a:cubicBezTo>
                    <a:pt x="21600" y="19464"/>
                    <a:pt x="21512" y="20584"/>
                    <a:pt x="21338" y="21692"/>
                  </a:cubicBezTo>
                </a:path>
                <a:path w="21600" h="21693" stroke="0">
                  <a:moveTo>
                    <a:pt x="11407" y="-1"/>
                  </a:moveTo>
                  <a:cubicBezTo>
                    <a:pt x="17745" y="3941"/>
                    <a:pt x="21600" y="10877"/>
                    <a:pt x="21600" y="18342"/>
                  </a:cubicBezTo>
                  <a:cubicBezTo>
                    <a:pt x="21600" y="19464"/>
                    <a:pt x="21512" y="20584"/>
                    <a:pt x="21338" y="21692"/>
                  </a:cubicBezTo>
                  <a:lnTo>
                    <a:pt x="0" y="18342"/>
                  </a:lnTo>
                  <a:lnTo>
                    <a:pt x="11407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0" name="Object 24"/>
            <p:cNvGraphicFramePr>
              <a:graphicFrameLocks noChangeAspect="1"/>
            </p:cNvGraphicFramePr>
            <p:nvPr/>
          </p:nvGraphicFramePr>
          <p:xfrm>
            <a:off x="5239" y="1200"/>
            <a:ext cx="19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9" r:id="rId13" imgW="105410" imgH="141605" progId="Equation.3">
                    <p:embed/>
                  </p:oleObj>
                </mc:Choice>
                <mc:Fallback>
                  <p:oleObj r:id="rId13" imgW="105410" imgH="141605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39" y="1200"/>
                          <a:ext cx="194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1" name="Object 25"/>
            <p:cNvGraphicFramePr>
              <a:graphicFrameLocks noChangeAspect="1"/>
            </p:cNvGraphicFramePr>
            <p:nvPr/>
          </p:nvGraphicFramePr>
          <p:xfrm>
            <a:off x="5371" y="2053"/>
            <a:ext cx="197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0" r:id="rId15" imgW="78740" imgH="89535" progId="Equation.3">
                    <p:embed/>
                  </p:oleObj>
                </mc:Choice>
                <mc:Fallback>
                  <p:oleObj r:id="rId15" imgW="78740" imgH="89535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371" y="2053"/>
                          <a:ext cx="197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2" name="Object 26"/>
            <p:cNvGraphicFramePr>
              <a:graphicFrameLocks noChangeAspect="1"/>
            </p:cNvGraphicFramePr>
            <p:nvPr/>
          </p:nvGraphicFramePr>
          <p:xfrm>
            <a:off x="3361" y="2112"/>
            <a:ext cx="23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1" r:id="rId17" imgW="127000" imgH="139700" progId="Equation.3">
                    <p:embed/>
                  </p:oleObj>
                </mc:Choice>
                <mc:Fallback>
                  <p:oleObj r:id="rId17" imgW="127000" imgH="1397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61" y="2112"/>
                          <a:ext cx="233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3" name="Line 27"/>
            <p:cNvSpPr/>
            <p:nvPr/>
          </p:nvSpPr>
          <p:spPr>
            <a:xfrm flipV="1">
              <a:off x="3550" y="1776"/>
              <a:ext cx="1154" cy="378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4" name="Object 28"/>
            <p:cNvGraphicFramePr>
              <a:graphicFrameLocks noChangeAspect="1"/>
            </p:cNvGraphicFramePr>
            <p:nvPr/>
          </p:nvGraphicFramePr>
          <p:xfrm>
            <a:off x="4416" y="1872"/>
            <a:ext cx="20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2" r:id="rId19" imgW="126365" imgH="184150" progId="Equation.3">
                    <p:embed/>
                  </p:oleObj>
                </mc:Choice>
                <mc:Fallback>
                  <p:oleObj r:id="rId19" imgW="126365" imgH="18415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16" y="1872"/>
                          <a:ext cx="201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5" name="Object 29"/>
            <p:cNvGraphicFramePr>
              <a:graphicFrameLocks noChangeAspect="1"/>
            </p:cNvGraphicFramePr>
            <p:nvPr/>
          </p:nvGraphicFramePr>
          <p:xfrm>
            <a:off x="4566" y="2064"/>
            <a:ext cx="21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3" r:id="rId21" imgW="105410" imgH="178435" progId="Equation.3">
                    <p:embed/>
                  </p:oleObj>
                </mc:Choice>
                <mc:Fallback>
                  <p:oleObj r:id="rId21" imgW="105410" imgH="178435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66" y="2064"/>
                          <a:ext cx="219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6" name="Arc 30"/>
            <p:cNvSpPr/>
            <p:nvPr/>
          </p:nvSpPr>
          <p:spPr>
            <a:xfrm>
              <a:off x="4348" y="1575"/>
              <a:ext cx="356" cy="2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21600" h="18342" fill="none">
                  <a:moveTo>
                    <a:pt x="11407" y="-1"/>
                  </a:moveTo>
                  <a:cubicBezTo>
                    <a:pt x="17745" y="3941"/>
                    <a:pt x="21600" y="10877"/>
                    <a:pt x="21600" y="18342"/>
                  </a:cubicBezTo>
                </a:path>
                <a:path w="21600" h="18342" stroke="0">
                  <a:moveTo>
                    <a:pt x="11407" y="-1"/>
                  </a:moveTo>
                  <a:cubicBezTo>
                    <a:pt x="17745" y="3941"/>
                    <a:pt x="21600" y="10877"/>
                    <a:pt x="21600" y="18342"/>
                  </a:cubicBezTo>
                  <a:lnTo>
                    <a:pt x="0" y="18342"/>
                  </a:lnTo>
                  <a:lnTo>
                    <a:pt x="11407" y="-1"/>
                  </a:lnTo>
                  <a:close/>
                </a:path>
              </a:pathLst>
            </a:custGeom>
            <a:noFill/>
            <a:ln w="28575" cap="flat" cmpd="sng">
              <a:solidFill>
                <a:srgbClr val="CC00CC">
                  <a:alpha val="100000"/>
                </a:srgbClr>
              </a:solidFill>
              <a:prstDash val="solid"/>
              <a:round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7" name="Object 31"/>
            <p:cNvGraphicFramePr>
              <a:graphicFrameLocks noChangeAspect="1"/>
            </p:cNvGraphicFramePr>
            <p:nvPr/>
          </p:nvGraphicFramePr>
          <p:xfrm>
            <a:off x="4752" y="1776"/>
            <a:ext cx="19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4" r:id="rId23" imgW="141605" imgH="178435" progId="Equation.3">
                    <p:embed/>
                  </p:oleObj>
                </mc:Choice>
                <mc:Fallback>
                  <p:oleObj r:id="rId23" imgW="141605" imgH="178435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52" y="1776"/>
                          <a:ext cx="197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8" name="Line 32"/>
            <p:cNvSpPr/>
            <p:nvPr/>
          </p:nvSpPr>
          <p:spPr>
            <a:xfrm>
              <a:off x="4656" y="1776"/>
              <a:ext cx="0" cy="384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519" name="Object 33"/>
            <p:cNvGraphicFramePr>
              <a:graphicFrameLocks noChangeAspect="1"/>
            </p:cNvGraphicFramePr>
            <p:nvPr/>
          </p:nvGraphicFramePr>
          <p:xfrm>
            <a:off x="4656" y="2544"/>
            <a:ext cx="76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5" r:id="rId25" imgW="494030" imgH="178435" progId="Equation.3">
                    <p:embed/>
                  </p:oleObj>
                </mc:Choice>
                <mc:Fallback>
                  <p:oleObj r:id="rId25" imgW="494030" imgH="178435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56" y="2544"/>
                          <a:ext cx="768" cy="314"/>
                        </a:xfrm>
                        <a:prstGeom prst="rect">
                          <a:avLst/>
                        </a:prstGeom>
                        <a:noFill/>
                        <a:ln w="9525" cap="flat" cmpd="sng">
                          <a:solidFill>
                            <a:schemeClr val="tx2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520" name="Group 34"/>
            <p:cNvGrpSpPr/>
            <p:nvPr/>
          </p:nvGrpSpPr>
          <p:grpSpPr>
            <a:xfrm>
              <a:off x="3360" y="2112"/>
              <a:ext cx="432" cy="786"/>
              <a:chOff x="3456" y="2016"/>
              <a:chExt cx="432" cy="786"/>
            </a:xfrm>
          </p:grpSpPr>
          <p:graphicFrame>
            <p:nvGraphicFramePr>
              <p:cNvPr id="20527" name="Object 35"/>
              <p:cNvGraphicFramePr>
                <a:graphicFrameLocks noChangeAspect="1"/>
              </p:cNvGraphicFramePr>
              <p:nvPr/>
            </p:nvGraphicFramePr>
            <p:xfrm>
              <a:off x="3456" y="2423"/>
              <a:ext cx="384" cy="3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26" r:id="rId27" imgW="115570" imgH="105410" progId="Equation.3">
                      <p:embed/>
                    </p:oleObj>
                  </mc:Choice>
                  <mc:Fallback>
                    <p:oleObj r:id="rId27" imgW="115570" imgH="105410" progId="Equation.3">
                      <p:embed/>
                      <p:pic>
                        <p:nvPicPr>
                          <p:cNvPr id="0" name="图片 3122"/>
                          <p:cNvPicPr/>
                          <p:nvPr/>
                        </p:nvPicPr>
                        <p:blipFill>
                          <a:blip r:embed="rId28">
                            <a:clrChange>
                              <a:clrFrom>
                                <a:srgbClr val="000000"/>
                              </a:clrFrom>
                              <a:clrTo>
                                <a:srgbClr val="3366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456" y="2423"/>
                            <a:ext cx="384" cy="379"/>
                          </a:xfrm>
                          <a:prstGeom prst="rect">
                            <a:avLst/>
                          </a:prstGeom>
                          <a:solidFill>
                            <a:srgbClr val="FAF4FE"/>
                          </a:solidFill>
                          <a:ln w="19050" cap="flat" cmpd="sng">
                            <a:solidFill>
                              <a:srgbClr val="CC00CC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28" name="Line 36"/>
              <p:cNvSpPr/>
              <p:nvPr/>
            </p:nvSpPr>
            <p:spPr>
              <a:xfrm flipV="1">
                <a:off x="3552" y="2016"/>
                <a:ext cx="336" cy="384"/>
              </a:xfrm>
              <a:prstGeom prst="line">
                <a:avLst/>
              </a:prstGeom>
              <a:ln w="38100" cap="flat" cmpd="sng">
                <a:solidFill>
                  <a:srgbClr val="CC00CC"/>
                </a:solidFill>
                <a:prstDash val="sysDot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21" name="Group 37"/>
            <p:cNvGrpSpPr/>
            <p:nvPr/>
          </p:nvGrpSpPr>
          <p:grpSpPr>
            <a:xfrm>
              <a:off x="3888" y="698"/>
              <a:ext cx="960" cy="1174"/>
              <a:chOff x="3984" y="602"/>
              <a:chExt cx="960" cy="1174"/>
            </a:xfrm>
          </p:grpSpPr>
          <p:graphicFrame>
            <p:nvGraphicFramePr>
              <p:cNvPr id="20525" name="Object 38"/>
              <p:cNvGraphicFramePr>
                <a:graphicFrameLocks noChangeAspect="1"/>
              </p:cNvGraphicFramePr>
              <p:nvPr/>
            </p:nvGraphicFramePr>
            <p:xfrm>
              <a:off x="3984" y="602"/>
              <a:ext cx="960" cy="3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27" r:id="rId29" imgW="404495" imgH="105410" progId="Equation.3">
                      <p:embed/>
                    </p:oleObj>
                  </mc:Choice>
                  <mc:Fallback>
                    <p:oleObj r:id="rId29" imgW="404495" imgH="105410" progId="Equation.3">
                      <p:embed/>
                      <p:pic>
                        <p:nvPicPr>
                          <p:cNvPr id="0" name="图片 3123"/>
                          <p:cNvPicPr/>
                          <p:nvPr/>
                        </p:nvPicPr>
                        <p:blipFill>
                          <a:blip r:embed="rId30">
                            <a:clrChange>
                              <a:clrFrom>
                                <a:srgbClr val="000000"/>
                              </a:clrFrom>
                              <a:clrTo>
                                <a:srgbClr val="3366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984" y="602"/>
                            <a:ext cx="960" cy="358"/>
                          </a:xfrm>
                          <a:prstGeom prst="rect">
                            <a:avLst/>
                          </a:prstGeom>
                          <a:solidFill>
                            <a:srgbClr val="FFEFEF"/>
                          </a:solidFill>
                          <a:ln w="19050" cap="flat" cmpd="sng">
                            <a:solidFill>
                              <a:srgbClr val="FF0066"/>
                            </a:solidFill>
                            <a:prstDash val="solid"/>
                            <a:miter/>
                            <a:headEnd type="none" w="med" len="med"/>
                            <a:tailEnd type="none" w="med" len="med"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26" name="Line 39"/>
              <p:cNvSpPr/>
              <p:nvPr/>
            </p:nvSpPr>
            <p:spPr>
              <a:xfrm flipH="1">
                <a:off x="4080" y="960"/>
                <a:ext cx="432" cy="816"/>
              </a:xfrm>
              <a:prstGeom prst="line">
                <a:avLst/>
              </a:prstGeom>
              <a:ln w="38100" cap="flat" cmpd="sng">
                <a:solidFill>
                  <a:srgbClr val="FF0066"/>
                </a:solidFill>
                <a:prstDash val="sysDot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0522" name="Object 40"/>
            <p:cNvGraphicFramePr>
              <a:graphicFrameLocks noChangeAspect="1"/>
            </p:cNvGraphicFramePr>
            <p:nvPr/>
          </p:nvGraphicFramePr>
          <p:xfrm>
            <a:off x="3864" y="2530"/>
            <a:ext cx="432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28" r:id="rId31" imgW="131445" imgH="105410" progId="Equation.3">
                    <p:embed/>
                  </p:oleObj>
                </mc:Choice>
                <mc:Fallback>
                  <p:oleObj r:id="rId31" imgW="131445" imgH="10541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64" y="2530"/>
                          <a:ext cx="432" cy="381"/>
                        </a:xfrm>
                        <a:prstGeom prst="rect">
                          <a:avLst/>
                        </a:prstGeom>
                        <a:solidFill>
                          <a:srgbClr val="CCECFF">
                            <a:alpha val="50195"/>
                          </a:srgbClr>
                        </a:solidFill>
                        <a:ln w="19050" cap="flat" cmpd="sng">
                          <a:solidFill>
                            <a:srgbClr val="0000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3" name="Line 41"/>
            <p:cNvSpPr/>
            <p:nvPr/>
          </p:nvSpPr>
          <p:spPr>
            <a:xfrm flipH="1" flipV="1">
              <a:off x="3936" y="2064"/>
              <a:ext cx="192" cy="48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ysDot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Line 42"/>
            <p:cNvSpPr/>
            <p:nvPr/>
          </p:nvSpPr>
          <p:spPr>
            <a:xfrm>
              <a:off x="3568" y="2144"/>
              <a:ext cx="17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17803" name="Object 43"/>
          <p:cNvGraphicFramePr>
            <a:graphicFrameLocks noChangeAspect="1"/>
          </p:cNvGraphicFramePr>
          <p:nvPr/>
        </p:nvGraphicFramePr>
        <p:xfrm>
          <a:off x="1306513" y="1795463"/>
          <a:ext cx="3494087" cy="1087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9" r:id="rId33" imgW="1045845" imgH="315595" progId="Equation.3">
                  <p:embed/>
                </p:oleObj>
              </mc:Choice>
              <mc:Fallback>
                <p:oleObj r:id="rId33" imgW="1045845" imgH="315595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06513" y="1795463"/>
                        <a:ext cx="3494087" cy="1087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04" name="Object 44"/>
          <p:cNvGraphicFramePr>
            <a:graphicFrameLocks noChangeAspect="1"/>
          </p:cNvGraphicFramePr>
          <p:nvPr/>
        </p:nvGraphicFramePr>
        <p:xfrm>
          <a:off x="762000" y="5105400"/>
          <a:ext cx="26035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0" r:id="rId35" imgW="782955" imgH="283845" progId="Equation.3">
                  <p:embed/>
                </p:oleObj>
              </mc:Choice>
              <mc:Fallback>
                <p:oleObj r:id="rId35" imgW="782955" imgH="283845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36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62000" y="5105400"/>
                        <a:ext cx="2603500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05" name="Object 45"/>
          <p:cNvGraphicFramePr>
            <a:graphicFrameLocks noChangeAspect="1"/>
          </p:cNvGraphicFramePr>
          <p:nvPr/>
        </p:nvGraphicFramePr>
        <p:xfrm>
          <a:off x="3962400" y="5105400"/>
          <a:ext cx="2024063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1" r:id="rId37" imgW="604520" imgH="283845" progId="Equation.3">
                  <p:embed/>
                </p:oleObj>
              </mc:Choice>
              <mc:Fallback>
                <p:oleObj r:id="rId37" imgW="604520" imgH="28384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38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62400" y="5105400"/>
                        <a:ext cx="2024063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06" name="Group 46"/>
          <p:cNvGrpSpPr/>
          <p:nvPr/>
        </p:nvGrpSpPr>
        <p:grpSpPr>
          <a:xfrm>
            <a:off x="838200" y="3275013"/>
            <a:ext cx="3109913" cy="687387"/>
            <a:chOff x="528" y="2063"/>
            <a:chExt cx="1959" cy="433"/>
          </a:xfrm>
        </p:grpSpPr>
        <p:sp>
          <p:nvSpPr>
            <p:cNvPr id="20490" name="AutoShape 47"/>
            <p:cNvSpPr/>
            <p:nvPr/>
          </p:nvSpPr>
          <p:spPr>
            <a:xfrm flipH="1">
              <a:off x="528" y="2063"/>
              <a:ext cx="883" cy="433"/>
            </a:xfrm>
            <a:prstGeom prst="leftArrowCallout">
              <a:avLst>
                <a:gd name="adj1" fmla="val 19055"/>
                <a:gd name="adj2" fmla="val 22921"/>
                <a:gd name="adj3" fmla="val 33043"/>
                <a:gd name="adj4" fmla="val 70023"/>
              </a:avLst>
            </a:prstGeom>
            <a:solidFill>
              <a:srgbClr val="FAF4FE"/>
            </a:solidFill>
            <a:ln w="19050" cap="flat" cmpd="sng">
              <a:solidFill>
                <a:srgbClr val="CC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sz="2800" dirty="0">
                <a:solidFill>
                  <a:srgbClr val="3366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0491" name="Rectangle 48"/>
            <p:cNvSpPr/>
            <p:nvPr/>
          </p:nvSpPr>
          <p:spPr>
            <a:xfrm>
              <a:off x="528" y="2063"/>
              <a:ext cx="8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dirty="0">
                  <a:solidFill>
                    <a:srgbClr val="336699"/>
                  </a:solidFill>
                  <a:latin typeface="宋体" panose="02010600030101010101" pitchFamily="2" charset="-122"/>
                </a:rPr>
                <a:t>拍频</a:t>
              </a:r>
            </a:p>
          </p:txBody>
        </p:sp>
        <p:graphicFrame>
          <p:nvGraphicFramePr>
            <p:cNvPr id="20492" name="Object 49"/>
            <p:cNvGraphicFramePr>
              <a:graphicFrameLocks noChangeAspect="1"/>
            </p:cNvGraphicFramePr>
            <p:nvPr/>
          </p:nvGraphicFramePr>
          <p:xfrm>
            <a:off x="1488" y="2112"/>
            <a:ext cx="999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32" r:id="rId39" imgW="509905" imgH="131445" progId="Equation.3">
                    <p:embed/>
                  </p:oleObj>
                </mc:Choice>
                <mc:Fallback>
                  <p:oleObj r:id="rId39" imgW="509905" imgH="131445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40">
                          <a:clrChange>
                            <a:clrFrom>
                              <a:srgbClr val="000000"/>
                            </a:clrFrom>
                            <a:clrTo>
                              <a:srgbClr val="33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88" y="2112"/>
                          <a:ext cx="999" cy="352"/>
                        </a:xfrm>
                        <a:prstGeom prst="rect">
                          <a:avLst/>
                        </a:prstGeom>
                        <a:solidFill>
                          <a:srgbClr val="FAF4FE"/>
                        </a:solidFill>
                        <a:ln w="19050" cap="flat" cmpd="sng">
                          <a:solidFill>
                            <a:srgbClr val="CC00CC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7810" name="Object 50"/>
          <p:cNvGraphicFramePr>
            <a:graphicFrameLocks noChangeAspect="1"/>
          </p:cNvGraphicFramePr>
          <p:nvPr/>
        </p:nvGraphicFramePr>
        <p:xfrm>
          <a:off x="1312863" y="1143000"/>
          <a:ext cx="371633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3" r:id="rId41" imgW="1103630" imgH="157480" progId="Equation.3">
                  <p:embed/>
                </p:oleObj>
              </mc:Choice>
              <mc:Fallback>
                <p:oleObj r:id="rId41" imgW="1103630" imgH="15748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2">
                        <a:clrChange>
                          <a:clrFrom>
                            <a:srgbClr val="000000"/>
                          </a:clrFrom>
                          <a:clrTo>
                            <a:srgbClr val="33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12863" y="1143000"/>
                        <a:ext cx="3716337" cy="60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Text Box 54"/>
          <p:cNvSpPr txBox="1"/>
          <p:nvPr/>
        </p:nvSpPr>
        <p:spPr>
          <a:xfrm>
            <a:off x="34925" y="-68262"/>
            <a:ext cx="8640763" cy="750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600" dirty="0">
                <a:solidFill>
                  <a:srgbClr val="CC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两个同方向不同频率简谐运动的合成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7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1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文本框 99"/>
          <p:cNvSpPr txBox="1"/>
          <p:nvPr/>
        </p:nvSpPr>
        <p:spPr>
          <a:xfrm>
            <a:off x="394970" y="1278379"/>
            <a:ext cx="8372475" cy="380680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eaLnBrk="0" hangingPunct="0">
              <a:lnSpc>
                <a:spcPct val="150000"/>
              </a:lnSpc>
            </a:pPr>
            <a:r>
              <a:rPr lang="zh-CN" altLang="zh-CN" sz="2400" dirty="0">
                <a:latin typeface="Times New Roman" panose="02020603050405020304" pitchFamily="18" charset="0"/>
              </a:rPr>
              <a:t>1. 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zh-CN" sz="2400" dirty="0">
                <a:latin typeface="Times New Roman" panose="02020603050405020304" pitchFamily="18" charset="0"/>
              </a:rPr>
              <a:t>在弹簧振子的简谐振动中，弹性势能变化的频率就是振子振动频率的两倍。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zh-CN" sz="2400" dirty="0">
                <a:latin typeface="Times New Roman" panose="02020603050405020304" pitchFamily="18" charset="0"/>
              </a:rPr>
              <a:t>2. 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zh-CN" sz="2400" dirty="0">
                <a:latin typeface="Times New Roman" panose="02020603050405020304" pitchFamily="18" charset="0"/>
              </a:rPr>
              <a:t>旋转矢量本身就是简谐振动。 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3.  </a:t>
            </a:r>
            <a:r>
              <a:rPr lang="zh-CN" altLang="zh-CN" sz="2400" dirty="0">
                <a:latin typeface="Times New Roman" panose="02020603050405020304" pitchFamily="18" charset="0"/>
              </a:rPr>
              <a:t>两个振动方向和频率都相同的简谐振动，其合振动为频率是分振动频率两倍的简谐振动。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4.  </a:t>
            </a:r>
            <a:r>
              <a:rPr lang="zh-CN" altLang="zh-CN" sz="2400" dirty="0">
                <a:latin typeface="Times New Roman" panose="02020603050405020304" pitchFamily="18" charset="0"/>
              </a:rPr>
              <a:t>作简谐振动的质点，其加速度与位移的方向始终相反。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8194" name="文本框 1"/>
          <p:cNvSpPr txBox="1"/>
          <p:nvPr/>
        </p:nvSpPr>
        <p:spPr>
          <a:xfrm>
            <a:off x="3419475" y="117475"/>
            <a:ext cx="2316163" cy="5826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</a:rPr>
              <a:t>判断正误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hlinkClick r:id="rId2"/>
          </p:cNvPr>
          <p:cNvSpPr/>
          <p:nvPr/>
        </p:nvSpPr>
        <p:spPr>
          <a:xfrm>
            <a:off x="763588" y="1266825"/>
            <a:ext cx="72310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chemeClr val="hlink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6699"/>
                </a:solidFill>
                <a:latin typeface="Times New Roman" panose="02020603050405020304" pitchFamily="18" charset="0"/>
              </a:rPr>
              <a:t>机械波的有关概念</a:t>
            </a:r>
            <a:endParaRPr lang="zh-CN" altLang="en-US" dirty="0">
              <a:solidFill>
                <a:srgbClr val="3366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07" name="Rectangle 3">
            <a:hlinkClick r:id="rId3"/>
          </p:cNvPr>
          <p:cNvSpPr/>
          <p:nvPr/>
        </p:nvSpPr>
        <p:spPr>
          <a:xfrm>
            <a:off x="763588" y="2105025"/>
            <a:ext cx="72310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rgbClr val="FF99FF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6699"/>
                </a:solidFill>
                <a:latin typeface="Times New Roman" panose="02020603050405020304" pitchFamily="18" charset="0"/>
              </a:rPr>
              <a:t>平面简谐波的波函数</a:t>
            </a:r>
            <a:endParaRPr lang="zh-CN" altLang="en-US" dirty="0">
              <a:solidFill>
                <a:srgbClr val="3366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08" name="Rectangle 4">
            <a:hlinkClick r:id="rId4"/>
          </p:cNvPr>
          <p:cNvSpPr/>
          <p:nvPr/>
        </p:nvSpPr>
        <p:spPr>
          <a:xfrm>
            <a:off x="755650" y="2867025"/>
            <a:ext cx="7239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rgbClr val="FF99FF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6699"/>
                </a:solidFill>
                <a:latin typeface="Times New Roman" panose="02020603050405020304" pitchFamily="18" charset="0"/>
              </a:rPr>
              <a:t>波的能量  能流密度</a:t>
            </a:r>
            <a:endParaRPr lang="zh-CN" altLang="en-US" dirty="0">
              <a:solidFill>
                <a:srgbClr val="3366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09" name="Rectangle 5">
            <a:hlinkClick r:id="rId5"/>
          </p:cNvPr>
          <p:cNvSpPr/>
          <p:nvPr/>
        </p:nvSpPr>
        <p:spPr>
          <a:xfrm>
            <a:off x="755650" y="3705225"/>
            <a:ext cx="71326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rgbClr val="FF99FF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6699"/>
                </a:solidFill>
                <a:latin typeface="Times New Roman" panose="02020603050405020304" pitchFamily="18" charset="0"/>
              </a:rPr>
              <a:t>惠更斯原理  波的衍射和干涉</a:t>
            </a:r>
            <a:endParaRPr lang="zh-CN" altLang="en-US" dirty="0">
              <a:solidFill>
                <a:srgbClr val="3366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10" name="Rectangle 6">
            <a:hlinkClick r:id="rId6"/>
          </p:cNvPr>
          <p:cNvSpPr/>
          <p:nvPr/>
        </p:nvSpPr>
        <p:spPr>
          <a:xfrm>
            <a:off x="755650" y="4497388"/>
            <a:ext cx="7010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Clr>
                <a:srgbClr val="FF99FF"/>
              </a:buClr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006699"/>
                </a:solidFill>
                <a:latin typeface="Times New Roman" panose="02020603050405020304" pitchFamily="18" charset="0"/>
              </a:rPr>
              <a:t>驻波</a:t>
            </a:r>
          </a:p>
        </p:txBody>
      </p:sp>
      <p:sp>
        <p:nvSpPr>
          <p:cNvPr id="21511" name="Rectangle 9">
            <a:hlinkClick r:id="rId3"/>
          </p:cNvPr>
          <p:cNvSpPr/>
          <p:nvPr/>
        </p:nvSpPr>
        <p:spPr>
          <a:xfrm>
            <a:off x="2670175" y="50800"/>
            <a:ext cx="391795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第十章   主要内容</a:t>
            </a:r>
            <a:endParaRPr lang="zh-CN" altLang="en-US" sz="3600" dirty="0">
              <a:solidFill>
                <a:srgbClr val="336699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Line 1114"/>
          <p:cNvSpPr/>
          <p:nvPr/>
        </p:nvSpPr>
        <p:spPr>
          <a:xfrm>
            <a:off x="1263650" y="2832100"/>
            <a:ext cx="7183438" cy="127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115"/>
          <p:cNvGrpSpPr/>
          <p:nvPr/>
        </p:nvGrpSpPr>
        <p:grpSpPr>
          <a:xfrm>
            <a:off x="998538" y="1828800"/>
            <a:ext cx="8145462" cy="1792288"/>
            <a:chOff x="629" y="1152"/>
            <a:chExt cx="5131" cy="1129"/>
          </a:xfrm>
        </p:grpSpPr>
        <p:sp>
          <p:nvSpPr>
            <p:cNvPr id="23634" name="Rectangle 1116"/>
            <p:cNvSpPr/>
            <p:nvPr/>
          </p:nvSpPr>
          <p:spPr>
            <a:xfrm>
              <a:off x="629" y="1152"/>
              <a:ext cx="5131" cy="1129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3635" name="Freeform 1117"/>
            <p:cNvSpPr/>
            <p:nvPr/>
          </p:nvSpPr>
          <p:spPr>
            <a:xfrm>
              <a:off x="638" y="1542"/>
              <a:ext cx="5122" cy="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40" y="0"/>
                </a:cxn>
                <a:cxn ang="0">
                  <a:pos x="1886" y="0"/>
                </a:cxn>
                <a:cxn ang="0">
                  <a:pos x="2826" y="1"/>
                </a:cxn>
                <a:cxn ang="0">
                  <a:pos x="3769" y="0"/>
                </a:cxn>
                <a:cxn ang="0">
                  <a:pos x="4712" y="0"/>
                </a:cxn>
                <a:cxn ang="0">
                  <a:pos x="5657" y="0"/>
                </a:cxn>
                <a:cxn ang="0">
                  <a:pos x="6599" y="1"/>
                </a:cxn>
                <a:cxn ang="0">
                  <a:pos x="7539" y="0"/>
                </a:cxn>
                <a:cxn ang="0">
                  <a:pos x="8482" y="0"/>
                </a:cxn>
                <a:cxn ang="0">
                  <a:pos x="9330" y="0"/>
                </a:cxn>
              </a:cxnLst>
              <a:rect l="0" t="0" r="0" b="0"/>
              <a:pathLst>
                <a:path w="4752" h="1200">
                  <a:moveTo>
                    <a:pt x="0" y="576"/>
                  </a:moveTo>
                  <a:cubicBezTo>
                    <a:pt x="160" y="288"/>
                    <a:pt x="320" y="0"/>
                    <a:pt x="480" y="0"/>
                  </a:cubicBezTo>
                  <a:cubicBezTo>
                    <a:pt x="640" y="0"/>
                    <a:pt x="800" y="376"/>
                    <a:pt x="960" y="576"/>
                  </a:cubicBezTo>
                  <a:cubicBezTo>
                    <a:pt x="1120" y="776"/>
                    <a:pt x="1280" y="1200"/>
                    <a:pt x="1440" y="1200"/>
                  </a:cubicBezTo>
                  <a:cubicBezTo>
                    <a:pt x="1600" y="1200"/>
                    <a:pt x="1760" y="776"/>
                    <a:pt x="1920" y="576"/>
                  </a:cubicBezTo>
                  <a:cubicBezTo>
                    <a:pt x="2080" y="376"/>
                    <a:pt x="2240" y="0"/>
                    <a:pt x="2400" y="0"/>
                  </a:cubicBezTo>
                  <a:cubicBezTo>
                    <a:pt x="2560" y="0"/>
                    <a:pt x="2720" y="376"/>
                    <a:pt x="2880" y="576"/>
                  </a:cubicBezTo>
                  <a:cubicBezTo>
                    <a:pt x="3040" y="776"/>
                    <a:pt x="3200" y="1200"/>
                    <a:pt x="3360" y="1200"/>
                  </a:cubicBezTo>
                  <a:cubicBezTo>
                    <a:pt x="3520" y="1200"/>
                    <a:pt x="3680" y="776"/>
                    <a:pt x="3840" y="576"/>
                  </a:cubicBezTo>
                  <a:cubicBezTo>
                    <a:pt x="4000" y="376"/>
                    <a:pt x="4168" y="0"/>
                    <a:pt x="4320" y="0"/>
                  </a:cubicBezTo>
                  <a:cubicBezTo>
                    <a:pt x="4472" y="0"/>
                    <a:pt x="4612" y="288"/>
                    <a:pt x="4752" y="576"/>
                  </a:cubicBezTo>
                </a:path>
              </a:pathLst>
            </a:custGeom>
            <a:noFill/>
            <a:ln w="762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32" name="Text Box 1122"/>
          <p:cNvSpPr txBox="1"/>
          <p:nvPr/>
        </p:nvSpPr>
        <p:spPr>
          <a:xfrm>
            <a:off x="1360488" y="549275"/>
            <a:ext cx="63293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横波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质点的振动方向与波的传播方向垂直</a:t>
            </a:r>
          </a:p>
        </p:txBody>
      </p:sp>
      <p:sp>
        <p:nvSpPr>
          <p:cNvPr id="22533" name="Text Box 1123"/>
          <p:cNvSpPr txBox="1"/>
          <p:nvPr/>
        </p:nvSpPr>
        <p:spPr>
          <a:xfrm>
            <a:off x="1381125" y="1125538"/>
            <a:ext cx="6510338" cy="517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纵波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质点的振动方向与波的传播方向平行</a:t>
            </a:r>
          </a:p>
        </p:txBody>
      </p:sp>
      <p:sp>
        <p:nvSpPr>
          <p:cNvPr id="22534" name="Rectangle 1124"/>
          <p:cNvSpPr/>
          <p:nvPr/>
        </p:nvSpPr>
        <p:spPr>
          <a:xfrm>
            <a:off x="1471613" y="3494088"/>
            <a:ext cx="7356475" cy="5222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22535" name="Group 1125"/>
          <p:cNvGrpSpPr/>
          <p:nvPr/>
        </p:nvGrpSpPr>
        <p:grpSpPr>
          <a:xfrm>
            <a:off x="1244600" y="2286000"/>
            <a:ext cx="7667625" cy="1171575"/>
            <a:chOff x="672" y="768"/>
            <a:chExt cx="4512" cy="1392"/>
          </a:xfrm>
        </p:grpSpPr>
        <p:grpSp>
          <p:nvGrpSpPr>
            <p:cNvPr id="23572" name="Group 1126"/>
            <p:cNvGrpSpPr/>
            <p:nvPr/>
          </p:nvGrpSpPr>
          <p:grpSpPr>
            <a:xfrm>
              <a:off x="672" y="768"/>
              <a:ext cx="2208" cy="1392"/>
              <a:chOff x="624" y="144"/>
              <a:chExt cx="2208" cy="3792"/>
            </a:xfrm>
          </p:grpSpPr>
          <p:grpSp>
            <p:nvGrpSpPr>
              <p:cNvPr id="23604" name="Group 1127"/>
              <p:cNvGrpSpPr/>
              <p:nvPr/>
            </p:nvGrpSpPr>
            <p:grpSpPr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23620" name="Group 1128"/>
                <p:cNvGrpSpPr/>
                <p:nvPr/>
              </p:nvGrpSpPr>
              <p:grpSpPr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3628" name="Line 1129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9" name="Line 1130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30" name="Line 1131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31" name="Line 1132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32" name="Line 1133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33" name="Line 1134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621" name="Group 1135"/>
                <p:cNvGrpSpPr/>
                <p:nvPr/>
              </p:nvGrpSpPr>
              <p:grpSpPr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3622" name="Line 1136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3" name="Line 1137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4" name="Line 1138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5" name="Line 1139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6" name="Line 1140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27" name="Line 1141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3605" name="Group 1142"/>
              <p:cNvGrpSpPr/>
              <p:nvPr/>
            </p:nvGrpSpPr>
            <p:grpSpPr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23606" name="Group 1143"/>
                <p:cNvGrpSpPr/>
                <p:nvPr/>
              </p:nvGrpSpPr>
              <p:grpSpPr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3614" name="Line 1144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5" name="Line 1145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6" name="Line 1146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7" name="Line 1147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8" name="Line 1148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9" name="Line 1149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607" name="Group 1150"/>
                <p:cNvGrpSpPr/>
                <p:nvPr/>
              </p:nvGrpSpPr>
              <p:grpSpPr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3608" name="Line 1151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09" name="Line 1152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0" name="Line 1153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1" name="Line 1154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2" name="Line 1155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3" name="Line 1156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23573" name="Group 1157"/>
            <p:cNvGrpSpPr/>
            <p:nvPr/>
          </p:nvGrpSpPr>
          <p:grpSpPr>
            <a:xfrm>
              <a:off x="2976" y="768"/>
              <a:ext cx="2208" cy="1392"/>
              <a:chOff x="624" y="144"/>
              <a:chExt cx="2208" cy="3792"/>
            </a:xfrm>
          </p:grpSpPr>
          <p:grpSp>
            <p:nvGrpSpPr>
              <p:cNvPr id="23574" name="Group 1158"/>
              <p:cNvGrpSpPr/>
              <p:nvPr/>
            </p:nvGrpSpPr>
            <p:grpSpPr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23590" name="Group 1159"/>
                <p:cNvGrpSpPr/>
                <p:nvPr/>
              </p:nvGrpSpPr>
              <p:grpSpPr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3598" name="Line 1160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99" name="Line 1161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00" name="Line 1162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01" name="Line 1163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02" name="Line 1164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03" name="Line 1165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591" name="Group 1166"/>
                <p:cNvGrpSpPr/>
                <p:nvPr/>
              </p:nvGrpSpPr>
              <p:grpSpPr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3592" name="Line 1167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93" name="Line 1168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94" name="Line 1169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95" name="Line 1170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96" name="Line 1171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97" name="Line 1172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3575" name="Group 1173"/>
              <p:cNvGrpSpPr/>
              <p:nvPr/>
            </p:nvGrpSpPr>
            <p:grpSpPr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23576" name="Group 1174"/>
                <p:cNvGrpSpPr/>
                <p:nvPr/>
              </p:nvGrpSpPr>
              <p:grpSpPr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3584" name="Line 1175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5" name="Line 1176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6" name="Line 1177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7" name="Line 1178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8" name="Line 1179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9" name="Line 1180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3577" name="Group 1181"/>
                <p:cNvGrpSpPr/>
                <p:nvPr/>
              </p:nvGrpSpPr>
              <p:grpSpPr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3578" name="Line 1182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79" name="Line 1183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0" name="Line 1184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1" name="Line 1185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2" name="Line 1186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83" name="Line 1187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sp>
        <p:nvSpPr>
          <p:cNvPr id="22536" name="Rectangle 1188"/>
          <p:cNvSpPr/>
          <p:nvPr/>
        </p:nvSpPr>
        <p:spPr>
          <a:xfrm>
            <a:off x="1476375" y="1849438"/>
            <a:ext cx="7356475" cy="4905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2537" name="Text Box 1189"/>
          <p:cNvSpPr txBox="1"/>
          <p:nvPr/>
        </p:nvSpPr>
        <p:spPr>
          <a:xfrm>
            <a:off x="6269038" y="2390775"/>
            <a:ext cx="889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软绳</a:t>
            </a:r>
          </a:p>
        </p:txBody>
      </p:sp>
      <p:grpSp>
        <p:nvGrpSpPr>
          <p:cNvPr id="22538" name="Group 1190"/>
          <p:cNvGrpSpPr/>
          <p:nvPr/>
        </p:nvGrpSpPr>
        <p:grpSpPr>
          <a:xfrm>
            <a:off x="1943100" y="4479925"/>
            <a:ext cx="6470650" cy="544513"/>
            <a:chOff x="653" y="2322"/>
            <a:chExt cx="4076" cy="343"/>
          </a:xfrm>
        </p:grpSpPr>
        <p:sp>
          <p:nvSpPr>
            <p:cNvPr id="23463" name="Freeform 1191" descr="深色竖线"/>
            <p:cNvSpPr/>
            <p:nvPr/>
          </p:nvSpPr>
          <p:spPr>
            <a:xfrm flipV="1">
              <a:off x="653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64" name="Freeform 1192" descr="深色竖线"/>
            <p:cNvSpPr/>
            <p:nvPr/>
          </p:nvSpPr>
          <p:spPr>
            <a:xfrm>
              <a:off x="690" y="2325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65" name="Freeform 1193" descr="深色竖线"/>
            <p:cNvSpPr/>
            <p:nvPr/>
          </p:nvSpPr>
          <p:spPr>
            <a:xfrm>
              <a:off x="765" y="232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66" name="Freeform 1194" descr="深色竖线"/>
            <p:cNvSpPr/>
            <p:nvPr/>
          </p:nvSpPr>
          <p:spPr>
            <a:xfrm>
              <a:off x="840" y="2325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67" name="Freeform 1195" descr="深色竖线"/>
            <p:cNvSpPr/>
            <p:nvPr/>
          </p:nvSpPr>
          <p:spPr>
            <a:xfrm flipV="1">
              <a:off x="728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68" name="Freeform 1196" descr="深色竖线"/>
            <p:cNvSpPr/>
            <p:nvPr/>
          </p:nvSpPr>
          <p:spPr>
            <a:xfrm flipV="1">
              <a:off x="803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69" name="Freeform 1197" descr="深色竖线"/>
            <p:cNvSpPr/>
            <p:nvPr/>
          </p:nvSpPr>
          <p:spPr>
            <a:xfrm flipV="1">
              <a:off x="1106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70" name="Freeform 1198" descr="深色竖线"/>
            <p:cNvSpPr/>
            <p:nvPr/>
          </p:nvSpPr>
          <p:spPr>
            <a:xfrm>
              <a:off x="1143" y="232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71" name="Freeform 1199" descr="深色竖线"/>
            <p:cNvSpPr/>
            <p:nvPr/>
          </p:nvSpPr>
          <p:spPr>
            <a:xfrm>
              <a:off x="1218" y="2323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72" name="Freeform 1200" descr="深色竖线"/>
            <p:cNvSpPr/>
            <p:nvPr/>
          </p:nvSpPr>
          <p:spPr>
            <a:xfrm flipV="1">
              <a:off x="1181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73" name="Freeform 1201" descr="深色竖线"/>
            <p:cNvSpPr/>
            <p:nvPr/>
          </p:nvSpPr>
          <p:spPr>
            <a:xfrm flipV="1">
              <a:off x="1256" y="2493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74" name="Freeform 1202" descr="深色竖线"/>
            <p:cNvSpPr/>
            <p:nvPr/>
          </p:nvSpPr>
          <p:spPr>
            <a:xfrm flipV="1">
              <a:off x="879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75" name="Freeform 1203" descr="深色竖线"/>
            <p:cNvSpPr/>
            <p:nvPr/>
          </p:nvSpPr>
          <p:spPr>
            <a:xfrm>
              <a:off x="916" y="2323"/>
              <a:ext cx="38" cy="1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76" name="Freeform 1204" descr="深色竖线"/>
            <p:cNvSpPr/>
            <p:nvPr/>
          </p:nvSpPr>
          <p:spPr>
            <a:xfrm>
              <a:off x="992" y="2322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77" name="Freeform 1205" descr="深色竖线"/>
            <p:cNvSpPr/>
            <p:nvPr/>
          </p:nvSpPr>
          <p:spPr>
            <a:xfrm>
              <a:off x="1067" y="2323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78" name="Freeform 1206" descr="深色竖线"/>
            <p:cNvSpPr/>
            <p:nvPr/>
          </p:nvSpPr>
          <p:spPr>
            <a:xfrm flipV="1">
              <a:off x="954" y="2493"/>
              <a:ext cx="38" cy="1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79" name="Freeform 1207" descr="深色竖线"/>
            <p:cNvSpPr/>
            <p:nvPr/>
          </p:nvSpPr>
          <p:spPr>
            <a:xfrm flipV="1">
              <a:off x="1029" y="2493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80" name="Freeform 1208" descr="深色竖线"/>
            <p:cNvSpPr/>
            <p:nvPr/>
          </p:nvSpPr>
          <p:spPr>
            <a:xfrm flipV="1">
              <a:off x="2012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81" name="Freeform 1209" descr="深色竖线"/>
            <p:cNvSpPr/>
            <p:nvPr/>
          </p:nvSpPr>
          <p:spPr>
            <a:xfrm>
              <a:off x="2049" y="2325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82" name="Freeform 1210" descr="深色竖线"/>
            <p:cNvSpPr/>
            <p:nvPr/>
          </p:nvSpPr>
          <p:spPr>
            <a:xfrm>
              <a:off x="2124" y="232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83" name="Freeform 1211" descr="深色竖线"/>
            <p:cNvSpPr/>
            <p:nvPr/>
          </p:nvSpPr>
          <p:spPr>
            <a:xfrm flipV="1">
              <a:off x="2087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84" name="Freeform 1212" descr="深色竖线"/>
            <p:cNvSpPr/>
            <p:nvPr/>
          </p:nvSpPr>
          <p:spPr>
            <a:xfrm flipV="1">
              <a:off x="1786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85" name="Freeform 1213" descr="深色竖线"/>
            <p:cNvSpPr/>
            <p:nvPr/>
          </p:nvSpPr>
          <p:spPr>
            <a:xfrm>
              <a:off x="1823" y="2325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86" name="Freeform 1214" descr="深色竖线"/>
            <p:cNvSpPr/>
            <p:nvPr/>
          </p:nvSpPr>
          <p:spPr>
            <a:xfrm>
              <a:off x="1898" y="232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87" name="Freeform 1215" descr="深色竖线"/>
            <p:cNvSpPr/>
            <p:nvPr/>
          </p:nvSpPr>
          <p:spPr>
            <a:xfrm>
              <a:off x="1973" y="2325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88" name="Freeform 1216" descr="深色竖线"/>
            <p:cNvSpPr/>
            <p:nvPr/>
          </p:nvSpPr>
          <p:spPr>
            <a:xfrm flipV="1">
              <a:off x="1861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89" name="Freeform 1217" descr="深色竖线"/>
            <p:cNvSpPr/>
            <p:nvPr/>
          </p:nvSpPr>
          <p:spPr>
            <a:xfrm flipV="1">
              <a:off x="1936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90" name="Freeform 1218" descr="深色竖线"/>
            <p:cNvSpPr/>
            <p:nvPr/>
          </p:nvSpPr>
          <p:spPr>
            <a:xfrm flipV="1">
              <a:off x="1558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91" name="Freeform 1219" descr="深色竖线"/>
            <p:cNvSpPr/>
            <p:nvPr/>
          </p:nvSpPr>
          <p:spPr>
            <a:xfrm>
              <a:off x="1595" y="2323"/>
              <a:ext cx="38" cy="1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92" name="Freeform 1220" descr="深色竖线"/>
            <p:cNvSpPr/>
            <p:nvPr/>
          </p:nvSpPr>
          <p:spPr>
            <a:xfrm>
              <a:off x="1671" y="2322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93" name="Freeform 1221" descr="深色竖线"/>
            <p:cNvSpPr/>
            <p:nvPr/>
          </p:nvSpPr>
          <p:spPr>
            <a:xfrm>
              <a:off x="1746" y="2323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94" name="Freeform 1222" descr="深色竖线"/>
            <p:cNvSpPr/>
            <p:nvPr/>
          </p:nvSpPr>
          <p:spPr>
            <a:xfrm flipV="1">
              <a:off x="1633" y="2493"/>
              <a:ext cx="38" cy="1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95" name="Freeform 1223" descr="深色竖线"/>
            <p:cNvSpPr/>
            <p:nvPr/>
          </p:nvSpPr>
          <p:spPr>
            <a:xfrm flipV="1">
              <a:off x="1708" y="2493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96" name="Freeform 1224" descr="深色竖线"/>
            <p:cNvSpPr/>
            <p:nvPr/>
          </p:nvSpPr>
          <p:spPr>
            <a:xfrm flipV="1">
              <a:off x="1333" y="2493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97" name="Freeform 1225" descr="深色竖线"/>
            <p:cNvSpPr/>
            <p:nvPr/>
          </p:nvSpPr>
          <p:spPr>
            <a:xfrm>
              <a:off x="1370" y="2323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98" name="Freeform 1226" descr="深色竖线"/>
            <p:cNvSpPr/>
            <p:nvPr/>
          </p:nvSpPr>
          <p:spPr>
            <a:xfrm>
              <a:off x="1445" y="2322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99" name="Freeform 1227" descr="深色竖线"/>
            <p:cNvSpPr/>
            <p:nvPr/>
          </p:nvSpPr>
          <p:spPr>
            <a:xfrm>
              <a:off x="1520" y="2323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00" name="Freeform 1228" descr="深色竖线"/>
            <p:cNvSpPr/>
            <p:nvPr/>
          </p:nvSpPr>
          <p:spPr>
            <a:xfrm flipV="1">
              <a:off x="1408" y="2493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01" name="Freeform 1229" descr="深色竖线"/>
            <p:cNvSpPr/>
            <p:nvPr/>
          </p:nvSpPr>
          <p:spPr>
            <a:xfrm flipV="1">
              <a:off x="1483" y="2492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02" name="Freeform 1230" descr="深色竖线"/>
            <p:cNvSpPr/>
            <p:nvPr/>
          </p:nvSpPr>
          <p:spPr>
            <a:xfrm>
              <a:off x="1293" y="2324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03" name="Freeform 1231" descr="深色竖线"/>
            <p:cNvSpPr/>
            <p:nvPr/>
          </p:nvSpPr>
          <p:spPr>
            <a:xfrm flipV="1">
              <a:off x="2464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04" name="Freeform 1232" descr="深色竖线"/>
            <p:cNvSpPr/>
            <p:nvPr/>
          </p:nvSpPr>
          <p:spPr>
            <a:xfrm>
              <a:off x="2501" y="232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05" name="Freeform 1233" descr="深色竖线"/>
            <p:cNvSpPr/>
            <p:nvPr/>
          </p:nvSpPr>
          <p:spPr>
            <a:xfrm>
              <a:off x="2576" y="2323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06" name="Freeform 1234" descr="深色竖线"/>
            <p:cNvSpPr/>
            <p:nvPr/>
          </p:nvSpPr>
          <p:spPr>
            <a:xfrm>
              <a:off x="2651" y="2324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07" name="Freeform 1235" descr="深色竖线"/>
            <p:cNvSpPr/>
            <p:nvPr/>
          </p:nvSpPr>
          <p:spPr>
            <a:xfrm flipV="1">
              <a:off x="2539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08" name="Freeform 1236" descr="深色竖线"/>
            <p:cNvSpPr/>
            <p:nvPr/>
          </p:nvSpPr>
          <p:spPr>
            <a:xfrm flipV="1">
              <a:off x="2614" y="2493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09" name="Freeform 1237" descr="深色竖线"/>
            <p:cNvSpPr/>
            <p:nvPr/>
          </p:nvSpPr>
          <p:spPr>
            <a:xfrm flipV="1">
              <a:off x="2238" y="2495"/>
              <a:ext cx="37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10" name="Freeform 1238" descr="深色竖线"/>
            <p:cNvSpPr/>
            <p:nvPr/>
          </p:nvSpPr>
          <p:spPr>
            <a:xfrm>
              <a:off x="2275" y="2326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11" name="Freeform 1239" descr="深色竖线"/>
            <p:cNvSpPr/>
            <p:nvPr/>
          </p:nvSpPr>
          <p:spPr>
            <a:xfrm>
              <a:off x="2350" y="2325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12" name="Freeform 1240" descr="深色竖线"/>
            <p:cNvSpPr/>
            <p:nvPr/>
          </p:nvSpPr>
          <p:spPr>
            <a:xfrm>
              <a:off x="2425" y="2326"/>
              <a:ext cx="38" cy="1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13" name="Freeform 1241" descr="深色竖线"/>
            <p:cNvSpPr/>
            <p:nvPr/>
          </p:nvSpPr>
          <p:spPr>
            <a:xfrm flipV="1">
              <a:off x="2313" y="2495"/>
              <a:ext cx="37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14" name="Freeform 1242" descr="深色竖线"/>
            <p:cNvSpPr/>
            <p:nvPr/>
          </p:nvSpPr>
          <p:spPr>
            <a:xfrm flipV="1">
              <a:off x="2388" y="2494"/>
              <a:ext cx="37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15" name="Freeform 1243" descr="深色竖线"/>
            <p:cNvSpPr/>
            <p:nvPr/>
          </p:nvSpPr>
          <p:spPr>
            <a:xfrm>
              <a:off x="2199" y="2325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16" name="Freeform 1244" descr="深色竖线"/>
            <p:cNvSpPr/>
            <p:nvPr/>
          </p:nvSpPr>
          <p:spPr>
            <a:xfrm flipV="1">
              <a:off x="2162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17" name="Freeform 1245" descr="深色竖线"/>
            <p:cNvSpPr/>
            <p:nvPr/>
          </p:nvSpPr>
          <p:spPr>
            <a:xfrm flipV="1">
              <a:off x="2693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18" name="Freeform 1246" descr="深色竖线"/>
            <p:cNvSpPr/>
            <p:nvPr/>
          </p:nvSpPr>
          <p:spPr>
            <a:xfrm>
              <a:off x="2730" y="2325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19" name="Freeform 1247" descr="深色竖线"/>
            <p:cNvSpPr/>
            <p:nvPr/>
          </p:nvSpPr>
          <p:spPr>
            <a:xfrm>
              <a:off x="2805" y="232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20" name="Freeform 1248" descr="深色竖线"/>
            <p:cNvSpPr/>
            <p:nvPr/>
          </p:nvSpPr>
          <p:spPr>
            <a:xfrm>
              <a:off x="2880" y="2325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21" name="Freeform 1249" descr="深色竖线"/>
            <p:cNvSpPr/>
            <p:nvPr/>
          </p:nvSpPr>
          <p:spPr>
            <a:xfrm flipV="1">
              <a:off x="2768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22" name="Freeform 1250" descr="深色竖线"/>
            <p:cNvSpPr/>
            <p:nvPr/>
          </p:nvSpPr>
          <p:spPr>
            <a:xfrm flipV="1">
              <a:off x="2843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523" name="Group 1251"/>
            <p:cNvGrpSpPr/>
            <p:nvPr/>
          </p:nvGrpSpPr>
          <p:grpSpPr>
            <a:xfrm>
              <a:off x="4051" y="2323"/>
              <a:ext cx="678" cy="342"/>
              <a:chOff x="4051" y="2323"/>
              <a:chExt cx="678" cy="342"/>
            </a:xfrm>
          </p:grpSpPr>
          <p:sp>
            <p:nvSpPr>
              <p:cNvPr id="23554" name="Freeform 1252" descr="深色竖线"/>
              <p:cNvSpPr/>
              <p:nvPr/>
            </p:nvSpPr>
            <p:spPr>
              <a:xfrm flipV="1">
                <a:off x="4504" y="2494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55" name="Freeform 1253" descr="深色竖线"/>
              <p:cNvSpPr/>
              <p:nvPr/>
            </p:nvSpPr>
            <p:spPr>
              <a:xfrm>
                <a:off x="4541" y="2324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56" name="Freeform 1254" descr="深色竖线"/>
              <p:cNvSpPr/>
              <p:nvPr/>
            </p:nvSpPr>
            <p:spPr>
              <a:xfrm>
                <a:off x="4616" y="2323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57" name="Freeform 1255" descr="深色竖线"/>
              <p:cNvSpPr/>
              <p:nvPr/>
            </p:nvSpPr>
            <p:spPr>
              <a:xfrm>
                <a:off x="4691" y="2324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58" name="Freeform 1256" descr="深色竖线"/>
              <p:cNvSpPr/>
              <p:nvPr/>
            </p:nvSpPr>
            <p:spPr>
              <a:xfrm flipV="1">
                <a:off x="4579" y="2494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59" name="Freeform 1257" descr="深色竖线"/>
              <p:cNvSpPr/>
              <p:nvPr/>
            </p:nvSpPr>
            <p:spPr>
              <a:xfrm flipV="1">
                <a:off x="4654" y="2493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0" name="Freeform 1258" descr="深色竖线"/>
              <p:cNvSpPr/>
              <p:nvPr/>
            </p:nvSpPr>
            <p:spPr>
              <a:xfrm flipV="1">
                <a:off x="4277" y="2494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1" name="Freeform 1259" descr="深色竖线"/>
              <p:cNvSpPr/>
              <p:nvPr/>
            </p:nvSpPr>
            <p:spPr>
              <a:xfrm>
                <a:off x="4314" y="2325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2" name="Freeform 1260" descr="深色竖线"/>
              <p:cNvSpPr/>
              <p:nvPr/>
            </p:nvSpPr>
            <p:spPr>
              <a:xfrm>
                <a:off x="4389" y="2324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3" name="Freeform 1261" descr="深色竖线"/>
              <p:cNvSpPr/>
              <p:nvPr/>
            </p:nvSpPr>
            <p:spPr>
              <a:xfrm>
                <a:off x="4464" y="2325"/>
                <a:ext cx="38" cy="1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4" name="Freeform 1262" descr="深色竖线"/>
              <p:cNvSpPr/>
              <p:nvPr/>
            </p:nvSpPr>
            <p:spPr>
              <a:xfrm flipV="1">
                <a:off x="4352" y="2494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5" name="Freeform 1263" descr="深色竖线"/>
              <p:cNvSpPr/>
              <p:nvPr/>
            </p:nvSpPr>
            <p:spPr>
              <a:xfrm flipV="1">
                <a:off x="4427" y="2493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6" name="Freeform 1264" descr="深色竖线"/>
              <p:cNvSpPr/>
              <p:nvPr/>
            </p:nvSpPr>
            <p:spPr>
              <a:xfrm flipV="1">
                <a:off x="4051" y="2495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7" name="Freeform 1265" descr="深色竖线"/>
              <p:cNvSpPr/>
              <p:nvPr/>
            </p:nvSpPr>
            <p:spPr>
              <a:xfrm>
                <a:off x="4088" y="2325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8" name="Freeform 1266" descr="深色竖线"/>
              <p:cNvSpPr/>
              <p:nvPr/>
            </p:nvSpPr>
            <p:spPr>
              <a:xfrm>
                <a:off x="4163" y="2324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9" name="Freeform 1267" descr="深色竖线"/>
              <p:cNvSpPr/>
              <p:nvPr/>
            </p:nvSpPr>
            <p:spPr>
              <a:xfrm>
                <a:off x="4238" y="2325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0" name="Freeform 1268" descr="深色竖线"/>
              <p:cNvSpPr/>
              <p:nvPr/>
            </p:nvSpPr>
            <p:spPr>
              <a:xfrm flipV="1">
                <a:off x="4126" y="2495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1" name="Freeform 1269" descr="深色竖线"/>
              <p:cNvSpPr/>
              <p:nvPr/>
            </p:nvSpPr>
            <p:spPr>
              <a:xfrm flipV="1">
                <a:off x="4201" y="2494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24" name="Freeform 1270" descr="深色竖线"/>
            <p:cNvSpPr/>
            <p:nvPr/>
          </p:nvSpPr>
          <p:spPr>
            <a:xfrm flipV="1">
              <a:off x="3825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25" name="Freeform 1271" descr="深色竖线"/>
            <p:cNvSpPr/>
            <p:nvPr/>
          </p:nvSpPr>
          <p:spPr>
            <a:xfrm>
              <a:off x="3862" y="2325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26" name="Freeform 1272" descr="深色竖线"/>
            <p:cNvSpPr/>
            <p:nvPr/>
          </p:nvSpPr>
          <p:spPr>
            <a:xfrm>
              <a:off x="3937" y="232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27" name="Freeform 1273" descr="深色竖线"/>
            <p:cNvSpPr/>
            <p:nvPr/>
          </p:nvSpPr>
          <p:spPr>
            <a:xfrm>
              <a:off x="4012" y="2325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28" name="Freeform 1274" descr="深色竖线"/>
            <p:cNvSpPr/>
            <p:nvPr/>
          </p:nvSpPr>
          <p:spPr>
            <a:xfrm flipV="1">
              <a:off x="3900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29" name="Freeform 1275" descr="深色竖线"/>
            <p:cNvSpPr/>
            <p:nvPr/>
          </p:nvSpPr>
          <p:spPr>
            <a:xfrm flipV="1">
              <a:off x="3975" y="2494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30" name="Freeform 1276" descr="深色竖线"/>
            <p:cNvSpPr/>
            <p:nvPr/>
          </p:nvSpPr>
          <p:spPr>
            <a:xfrm flipV="1">
              <a:off x="3598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31" name="Freeform 1277" descr="深色竖线"/>
            <p:cNvSpPr/>
            <p:nvPr/>
          </p:nvSpPr>
          <p:spPr>
            <a:xfrm>
              <a:off x="3635" y="2324"/>
              <a:ext cx="38" cy="1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32" name="Freeform 1278" descr="深色竖线"/>
            <p:cNvSpPr/>
            <p:nvPr/>
          </p:nvSpPr>
          <p:spPr>
            <a:xfrm>
              <a:off x="3711" y="2323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33" name="Freeform 1279" descr="深色竖线"/>
            <p:cNvSpPr/>
            <p:nvPr/>
          </p:nvSpPr>
          <p:spPr>
            <a:xfrm>
              <a:off x="3786" y="232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34" name="Freeform 1280" descr="深色竖线"/>
            <p:cNvSpPr/>
            <p:nvPr/>
          </p:nvSpPr>
          <p:spPr>
            <a:xfrm flipV="1">
              <a:off x="3673" y="2494"/>
              <a:ext cx="38" cy="1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35" name="Freeform 1281" descr="深色竖线"/>
            <p:cNvSpPr/>
            <p:nvPr/>
          </p:nvSpPr>
          <p:spPr>
            <a:xfrm flipV="1">
              <a:off x="3748" y="249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36" name="Freeform 1282" descr="深色竖线"/>
            <p:cNvSpPr/>
            <p:nvPr/>
          </p:nvSpPr>
          <p:spPr>
            <a:xfrm flipV="1">
              <a:off x="3372" y="2493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37" name="Freeform 1283" descr="深色竖线"/>
            <p:cNvSpPr/>
            <p:nvPr/>
          </p:nvSpPr>
          <p:spPr>
            <a:xfrm>
              <a:off x="3409" y="2323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38" name="Freeform 1284" descr="深色竖线"/>
            <p:cNvSpPr/>
            <p:nvPr/>
          </p:nvSpPr>
          <p:spPr>
            <a:xfrm>
              <a:off x="3484" y="2322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39" name="Freeform 1285" descr="深色竖线"/>
            <p:cNvSpPr/>
            <p:nvPr/>
          </p:nvSpPr>
          <p:spPr>
            <a:xfrm>
              <a:off x="3559" y="2323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40" name="Freeform 1286" descr="深色竖线"/>
            <p:cNvSpPr/>
            <p:nvPr/>
          </p:nvSpPr>
          <p:spPr>
            <a:xfrm flipV="1">
              <a:off x="3447" y="2493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41" name="Freeform 1287" descr="深色竖线"/>
            <p:cNvSpPr/>
            <p:nvPr/>
          </p:nvSpPr>
          <p:spPr>
            <a:xfrm flipV="1">
              <a:off x="3522" y="2492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42" name="Freeform 1288" descr="深色竖线"/>
            <p:cNvSpPr/>
            <p:nvPr/>
          </p:nvSpPr>
          <p:spPr>
            <a:xfrm flipV="1">
              <a:off x="3147" y="2493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43" name="Freeform 1289" descr="深色竖线"/>
            <p:cNvSpPr/>
            <p:nvPr/>
          </p:nvSpPr>
          <p:spPr>
            <a:xfrm>
              <a:off x="3184" y="2323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44" name="Freeform 1290" descr="深色竖线"/>
            <p:cNvSpPr/>
            <p:nvPr/>
          </p:nvSpPr>
          <p:spPr>
            <a:xfrm>
              <a:off x="3259" y="2322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45" name="Freeform 1291" descr="深色竖线"/>
            <p:cNvSpPr/>
            <p:nvPr/>
          </p:nvSpPr>
          <p:spPr>
            <a:xfrm>
              <a:off x="3334" y="2323"/>
              <a:ext cx="38" cy="16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46" name="Freeform 1292" descr="深色竖线"/>
            <p:cNvSpPr/>
            <p:nvPr/>
          </p:nvSpPr>
          <p:spPr>
            <a:xfrm flipV="1">
              <a:off x="3222" y="2493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47" name="Freeform 1293" descr="深色竖线"/>
            <p:cNvSpPr/>
            <p:nvPr/>
          </p:nvSpPr>
          <p:spPr>
            <a:xfrm flipV="1">
              <a:off x="3297" y="2492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48" name="Freeform 1294" descr="深色竖线"/>
            <p:cNvSpPr/>
            <p:nvPr/>
          </p:nvSpPr>
          <p:spPr>
            <a:xfrm flipV="1">
              <a:off x="2920" y="2495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49" name="Freeform 1295" descr="深色竖线"/>
            <p:cNvSpPr/>
            <p:nvPr/>
          </p:nvSpPr>
          <p:spPr>
            <a:xfrm>
              <a:off x="2957" y="2324"/>
              <a:ext cx="38" cy="1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0" name="Freeform 1296" descr="深色竖线"/>
            <p:cNvSpPr/>
            <p:nvPr/>
          </p:nvSpPr>
          <p:spPr>
            <a:xfrm>
              <a:off x="3033" y="2323"/>
              <a:ext cx="37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1" name="Freeform 1297" descr="深色竖线"/>
            <p:cNvSpPr/>
            <p:nvPr/>
          </p:nvSpPr>
          <p:spPr>
            <a:xfrm>
              <a:off x="3108" y="232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2" name="Freeform 1298" descr="深色竖线"/>
            <p:cNvSpPr/>
            <p:nvPr/>
          </p:nvSpPr>
          <p:spPr>
            <a:xfrm flipV="1">
              <a:off x="2995" y="2494"/>
              <a:ext cx="38" cy="1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3" name="Freeform 1299" descr="深色竖线"/>
            <p:cNvSpPr/>
            <p:nvPr/>
          </p:nvSpPr>
          <p:spPr>
            <a:xfrm flipV="1">
              <a:off x="3070" y="2494"/>
              <a:ext cx="38" cy="1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0" b="0"/>
              <a:pathLst>
                <a:path w="587" h="1000">
                  <a:moveTo>
                    <a:pt x="0" y="1000"/>
                  </a:moveTo>
                  <a:cubicBezTo>
                    <a:pt x="98" y="500"/>
                    <a:pt x="196" y="0"/>
                    <a:pt x="294" y="0"/>
                  </a:cubicBezTo>
                  <a:cubicBezTo>
                    <a:pt x="392" y="0"/>
                    <a:pt x="489" y="500"/>
                    <a:pt x="587" y="1000"/>
                  </a:cubicBez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1300"/>
          <p:cNvGrpSpPr/>
          <p:nvPr/>
        </p:nvGrpSpPr>
        <p:grpSpPr>
          <a:xfrm>
            <a:off x="1900238" y="4459288"/>
            <a:ext cx="6513512" cy="576262"/>
            <a:chOff x="679" y="3377"/>
            <a:chExt cx="4103" cy="363"/>
          </a:xfrm>
        </p:grpSpPr>
        <p:sp>
          <p:nvSpPr>
            <p:cNvPr id="23342" name="Rectangle 1301"/>
            <p:cNvSpPr/>
            <p:nvPr/>
          </p:nvSpPr>
          <p:spPr>
            <a:xfrm>
              <a:off x="679" y="3377"/>
              <a:ext cx="4103" cy="36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343" name="Group 1302"/>
            <p:cNvGrpSpPr/>
            <p:nvPr/>
          </p:nvGrpSpPr>
          <p:grpSpPr>
            <a:xfrm>
              <a:off x="695" y="3383"/>
              <a:ext cx="4073" cy="348"/>
              <a:chOff x="656" y="2792"/>
              <a:chExt cx="4073" cy="348"/>
            </a:xfrm>
          </p:grpSpPr>
          <p:sp>
            <p:nvSpPr>
              <p:cNvPr id="23344" name="Freeform 1303" descr="深色竖线"/>
              <p:cNvSpPr/>
              <p:nvPr/>
            </p:nvSpPr>
            <p:spPr>
              <a:xfrm flipV="1">
                <a:off x="2577" y="296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45" name="Freeform 1304" descr="深色竖线"/>
              <p:cNvSpPr/>
              <p:nvPr/>
            </p:nvSpPr>
            <p:spPr>
              <a:xfrm>
                <a:off x="2614" y="279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46" name="Freeform 1305" descr="深色竖线"/>
              <p:cNvSpPr/>
              <p:nvPr/>
            </p:nvSpPr>
            <p:spPr>
              <a:xfrm>
                <a:off x="2689" y="2798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47" name="Freeform 1306" descr="深色竖线"/>
              <p:cNvSpPr/>
              <p:nvPr/>
            </p:nvSpPr>
            <p:spPr>
              <a:xfrm>
                <a:off x="2764" y="2799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48" name="Freeform 1307" descr="深色竖线"/>
              <p:cNvSpPr/>
              <p:nvPr/>
            </p:nvSpPr>
            <p:spPr>
              <a:xfrm flipV="1">
                <a:off x="2652" y="296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49" name="Freeform 1308" descr="深色竖线"/>
              <p:cNvSpPr/>
              <p:nvPr/>
            </p:nvSpPr>
            <p:spPr>
              <a:xfrm flipV="1">
                <a:off x="2727" y="2968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50" name="Freeform 1309" descr="深色竖线"/>
              <p:cNvSpPr/>
              <p:nvPr/>
            </p:nvSpPr>
            <p:spPr>
              <a:xfrm flipV="1">
                <a:off x="2351" y="2970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51" name="Freeform 1310" descr="深色竖线"/>
              <p:cNvSpPr/>
              <p:nvPr/>
            </p:nvSpPr>
            <p:spPr>
              <a:xfrm>
                <a:off x="2388" y="2801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52" name="Freeform 1311" descr="深色竖线"/>
              <p:cNvSpPr/>
              <p:nvPr/>
            </p:nvSpPr>
            <p:spPr>
              <a:xfrm>
                <a:off x="2463" y="2800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53" name="Freeform 1312" descr="深色竖线"/>
              <p:cNvSpPr/>
              <p:nvPr/>
            </p:nvSpPr>
            <p:spPr>
              <a:xfrm>
                <a:off x="2538" y="2801"/>
                <a:ext cx="38" cy="1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54" name="Freeform 1313" descr="深色竖线"/>
              <p:cNvSpPr/>
              <p:nvPr/>
            </p:nvSpPr>
            <p:spPr>
              <a:xfrm flipV="1">
                <a:off x="2426" y="2970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55" name="Freeform 1314" descr="深色竖线"/>
              <p:cNvSpPr/>
              <p:nvPr/>
            </p:nvSpPr>
            <p:spPr>
              <a:xfrm flipV="1">
                <a:off x="2501" y="2969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56" name="Freeform 1315" descr="深色竖线"/>
              <p:cNvSpPr/>
              <p:nvPr/>
            </p:nvSpPr>
            <p:spPr>
              <a:xfrm flipV="1">
                <a:off x="2125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57" name="Freeform 1316" descr="深色竖线"/>
              <p:cNvSpPr/>
              <p:nvPr/>
            </p:nvSpPr>
            <p:spPr>
              <a:xfrm>
                <a:off x="2162" y="2800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58" name="Freeform 1317" descr="深色竖线"/>
              <p:cNvSpPr/>
              <p:nvPr/>
            </p:nvSpPr>
            <p:spPr>
              <a:xfrm>
                <a:off x="2237" y="279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59" name="Freeform 1318" descr="深色竖线"/>
              <p:cNvSpPr/>
              <p:nvPr/>
            </p:nvSpPr>
            <p:spPr>
              <a:xfrm>
                <a:off x="2312" y="2800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60" name="Freeform 1319" descr="深色竖线"/>
              <p:cNvSpPr/>
              <p:nvPr/>
            </p:nvSpPr>
            <p:spPr>
              <a:xfrm flipV="1">
                <a:off x="2200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61" name="Freeform 1320" descr="深色竖线"/>
              <p:cNvSpPr/>
              <p:nvPr/>
            </p:nvSpPr>
            <p:spPr>
              <a:xfrm flipV="1">
                <a:off x="2275" y="296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62" name="Freeform 1321" descr="深色竖线"/>
              <p:cNvSpPr/>
              <p:nvPr/>
            </p:nvSpPr>
            <p:spPr>
              <a:xfrm flipV="1">
                <a:off x="1899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63" name="Freeform 1322" descr="深色竖线"/>
              <p:cNvSpPr/>
              <p:nvPr/>
            </p:nvSpPr>
            <p:spPr>
              <a:xfrm>
                <a:off x="1936" y="2800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64" name="Freeform 1323" descr="深色竖线"/>
              <p:cNvSpPr/>
              <p:nvPr/>
            </p:nvSpPr>
            <p:spPr>
              <a:xfrm>
                <a:off x="2011" y="279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65" name="Freeform 1324" descr="深色竖线"/>
              <p:cNvSpPr/>
              <p:nvPr/>
            </p:nvSpPr>
            <p:spPr>
              <a:xfrm>
                <a:off x="2086" y="2800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66" name="Freeform 1325" descr="深色竖线"/>
              <p:cNvSpPr/>
              <p:nvPr/>
            </p:nvSpPr>
            <p:spPr>
              <a:xfrm flipV="1">
                <a:off x="1974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67" name="Freeform 1326" descr="深色竖线"/>
              <p:cNvSpPr/>
              <p:nvPr/>
            </p:nvSpPr>
            <p:spPr>
              <a:xfrm flipV="1">
                <a:off x="2049" y="296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68" name="Freeform 1327" descr="深色竖线"/>
              <p:cNvSpPr/>
              <p:nvPr/>
            </p:nvSpPr>
            <p:spPr>
              <a:xfrm flipV="1">
                <a:off x="1671" y="296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69" name="Freeform 1328" descr="深色竖线"/>
              <p:cNvSpPr/>
              <p:nvPr/>
            </p:nvSpPr>
            <p:spPr>
              <a:xfrm>
                <a:off x="1708" y="2798"/>
                <a:ext cx="38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70" name="Freeform 1329" descr="深色竖线"/>
              <p:cNvSpPr/>
              <p:nvPr/>
            </p:nvSpPr>
            <p:spPr>
              <a:xfrm>
                <a:off x="1784" y="2797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71" name="Freeform 1330" descr="深色竖线"/>
              <p:cNvSpPr/>
              <p:nvPr/>
            </p:nvSpPr>
            <p:spPr>
              <a:xfrm>
                <a:off x="1859" y="2798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72" name="Freeform 1331" descr="深色竖线"/>
              <p:cNvSpPr/>
              <p:nvPr/>
            </p:nvSpPr>
            <p:spPr>
              <a:xfrm flipV="1">
                <a:off x="1746" y="2968"/>
                <a:ext cx="38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73" name="Freeform 1332" descr="深色竖线"/>
              <p:cNvSpPr/>
              <p:nvPr/>
            </p:nvSpPr>
            <p:spPr>
              <a:xfrm flipV="1">
                <a:off x="1821" y="2968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74" name="Freeform 1333" descr="深色竖线"/>
              <p:cNvSpPr/>
              <p:nvPr/>
            </p:nvSpPr>
            <p:spPr>
              <a:xfrm flipV="1">
                <a:off x="1446" y="2968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75" name="Freeform 1334" descr="深色竖线"/>
              <p:cNvSpPr/>
              <p:nvPr/>
            </p:nvSpPr>
            <p:spPr>
              <a:xfrm>
                <a:off x="1483" y="2798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76" name="Freeform 1335" descr="深色竖线"/>
              <p:cNvSpPr/>
              <p:nvPr/>
            </p:nvSpPr>
            <p:spPr>
              <a:xfrm>
                <a:off x="1558" y="2797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77" name="Freeform 1336" descr="深色竖线"/>
              <p:cNvSpPr/>
              <p:nvPr/>
            </p:nvSpPr>
            <p:spPr>
              <a:xfrm>
                <a:off x="1633" y="2798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78" name="Freeform 1337" descr="深色竖线"/>
              <p:cNvSpPr/>
              <p:nvPr/>
            </p:nvSpPr>
            <p:spPr>
              <a:xfrm flipV="1">
                <a:off x="1521" y="2968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79" name="Freeform 1338" descr="深色竖线"/>
              <p:cNvSpPr/>
              <p:nvPr/>
            </p:nvSpPr>
            <p:spPr>
              <a:xfrm flipV="1">
                <a:off x="1596" y="2967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80" name="Freeform 1339" descr="深色竖线"/>
              <p:cNvSpPr/>
              <p:nvPr/>
            </p:nvSpPr>
            <p:spPr>
              <a:xfrm>
                <a:off x="1406" y="2799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81" name="Freeform 1340" descr="深色竖线"/>
              <p:cNvSpPr/>
              <p:nvPr/>
            </p:nvSpPr>
            <p:spPr>
              <a:xfrm flipV="1">
                <a:off x="2806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82" name="Freeform 1341" descr="深色竖线"/>
              <p:cNvSpPr/>
              <p:nvPr/>
            </p:nvSpPr>
            <p:spPr>
              <a:xfrm>
                <a:off x="2843" y="2800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83" name="Freeform 1342" descr="深色竖线"/>
              <p:cNvSpPr/>
              <p:nvPr/>
            </p:nvSpPr>
            <p:spPr>
              <a:xfrm>
                <a:off x="2918" y="279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84" name="Freeform 1343" descr="深色竖线"/>
              <p:cNvSpPr/>
              <p:nvPr/>
            </p:nvSpPr>
            <p:spPr>
              <a:xfrm>
                <a:off x="2993" y="2800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85" name="Freeform 1344" descr="深色竖线"/>
              <p:cNvSpPr/>
              <p:nvPr/>
            </p:nvSpPr>
            <p:spPr>
              <a:xfrm flipV="1">
                <a:off x="2881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86" name="Freeform 1345" descr="深色竖线"/>
              <p:cNvSpPr/>
              <p:nvPr/>
            </p:nvSpPr>
            <p:spPr>
              <a:xfrm flipV="1">
                <a:off x="2956" y="296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87" name="Freeform 1346" descr="深色竖线"/>
              <p:cNvSpPr/>
              <p:nvPr/>
            </p:nvSpPr>
            <p:spPr>
              <a:xfrm flipV="1">
                <a:off x="4617" y="296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88" name="Freeform 1347" descr="深色竖线"/>
              <p:cNvSpPr/>
              <p:nvPr/>
            </p:nvSpPr>
            <p:spPr>
              <a:xfrm>
                <a:off x="4654" y="279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89" name="Freeform 1348" descr="深色竖线"/>
              <p:cNvSpPr/>
              <p:nvPr/>
            </p:nvSpPr>
            <p:spPr>
              <a:xfrm flipV="1">
                <a:off x="4692" y="296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90" name="Freeform 1349" descr="深色竖线"/>
              <p:cNvSpPr/>
              <p:nvPr/>
            </p:nvSpPr>
            <p:spPr>
              <a:xfrm flipV="1">
                <a:off x="4390" y="2969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91" name="Freeform 1350" descr="深色竖线"/>
              <p:cNvSpPr/>
              <p:nvPr/>
            </p:nvSpPr>
            <p:spPr>
              <a:xfrm>
                <a:off x="4427" y="2800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92" name="Freeform 1351" descr="深色竖线"/>
              <p:cNvSpPr/>
              <p:nvPr/>
            </p:nvSpPr>
            <p:spPr>
              <a:xfrm>
                <a:off x="4502" y="2799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93" name="Freeform 1352" descr="深色竖线"/>
              <p:cNvSpPr/>
              <p:nvPr/>
            </p:nvSpPr>
            <p:spPr>
              <a:xfrm>
                <a:off x="4577" y="2800"/>
                <a:ext cx="38" cy="1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94" name="Freeform 1353" descr="深色竖线"/>
              <p:cNvSpPr/>
              <p:nvPr/>
            </p:nvSpPr>
            <p:spPr>
              <a:xfrm flipV="1">
                <a:off x="4465" y="2969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95" name="Freeform 1354" descr="深色竖线"/>
              <p:cNvSpPr/>
              <p:nvPr/>
            </p:nvSpPr>
            <p:spPr>
              <a:xfrm flipV="1">
                <a:off x="4540" y="2968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96" name="Freeform 1355" descr="深色竖线"/>
              <p:cNvSpPr/>
              <p:nvPr/>
            </p:nvSpPr>
            <p:spPr>
              <a:xfrm flipV="1">
                <a:off x="4164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97" name="Freeform 1356" descr="深色竖线"/>
              <p:cNvSpPr/>
              <p:nvPr/>
            </p:nvSpPr>
            <p:spPr>
              <a:xfrm>
                <a:off x="4201" y="2800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98" name="Freeform 1357" descr="深色竖线"/>
              <p:cNvSpPr/>
              <p:nvPr/>
            </p:nvSpPr>
            <p:spPr>
              <a:xfrm>
                <a:off x="4276" y="279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99" name="Freeform 1358" descr="深色竖线"/>
              <p:cNvSpPr/>
              <p:nvPr/>
            </p:nvSpPr>
            <p:spPr>
              <a:xfrm>
                <a:off x="4351" y="2800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00" name="Freeform 1359" descr="深色竖线"/>
              <p:cNvSpPr/>
              <p:nvPr/>
            </p:nvSpPr>
            <p:spPr>
              <a:xfrm flipV="1">
                <a:off x="4239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01" name="Freeform 1360" descr="深色竖线"/>
              <p:cNvSpPr/>
              <p:nvPr/>
            </p:nvSpPr>
            <p:spPr>
              <a:xfrm flipV="1">
                <a:off x="4314" y="296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02" name="Freeform 1361" descr="深色竖线"/>
              <p:cNvSpPr/>
              <p:nvPr/>
            </p:nvSpPr>
            <p:spPr>
              <a:xfrm flipV="1">
                <a:off x="3938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03" name="Freeform 1362" descr="深色竖线"/>
              <p:cNvSpPr/>
              <p:nvPr/>
            </p:nvSpPr>
            <p:spPr>
              <a:xfrm>
                <a:off x="3975" y="2800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04" name="Freeform 1363" descr="深色竖线"/>
              <p:cNvSpPr/>
              <p:nvPr/>
            </p:nvSpPr>
            <p:spPr>
              <a:xfrm>
                <a:off x="4050" y="279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05" name="Freeform 1364" descr="深色竖线"/>
              <p:cNvSpPr/>
              <p:nvPr/>
            </p:nvSpPr>
            <p:spPr>
              <a:xfrm>
                <a:off x="4125" y="2800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06" name="Freeform 1365" descr="深色竖线"/>
              <p:cNvSpPr/>
              <p:nvPr/>
            </p:nvSpPr>
            <p:spPr>
              <a:xfrm flipV="1">
                <a:off x="4013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07" name="Freeform 1366" descr="深色竖线"/>
              <p:cNvSpPr/>
              <p:nvPr/>
            </p:nvSpPr>
            <p:spPr>
              <a:xfrm flipV="1">
                <a:off x="4088" y="296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08" name="Freeform 1367" descr="深色竖线"/>
              <p:cNvSpPr/>
              <p:nvPr/>
            </p:nvSpPr>
            <p:spPr>
              <a:xfrm flipV="1">
                <a:off x="3711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09" name="Freeform 1368" descr="深色竖线"/>
              <p:cNvSpPr/>
              <p:nvPr/>
            </p:nvSpPr>
            <p:spPr>
              <a:xfrm>
                <a:off x="3748" y="2799"/>
                <a:ext cx="38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10" name="Freeform 1369" descr="深色竖线"/>
              <p:cNvSpPr/>
              <p:nvPr/>
            </p:nvSpPr>
            <p:spPr>
              <a:xfrm>
                <a:off x="3824" y="2798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11" name="Freeform 1370" descr="深色竖线"/>
              <p:cNvSpPr/>
              <p:nvPr/>
            </p:nvSpPr>
            <p:spPr>
              <a:xfrm>
                <a:off x="3899" y="279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12" name="Freeform 1371" descr="深色竖线"/>
              <p:cNvSpPr/>
              <p:nvPr/>
            </p:nvSpPr>
            <p:spPr>
              <a:xfrm flipV="1">
                <a:off x="3786" y="2969"/>
                <a:ext cx="38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13" name="Freeform 1372" descr="深色竖线"/>
              <p:cNvSpPr/>
              <p:nvPr/>
            </p:nvSpPr>
            <p:spPr>
              <a:xfrm flipV="1">
                <a:off x="3861" y="296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14" name="Freeform 1373" descr="深色竖线"/>
              <p:cNvSpPr/>
              <p:nvPr/>
            </p:nvSpPr>
            <p:spPr>
              <a:xfrm flipV="1">
                <a:off x="3485" y="2968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15" name="Freeform 1374" descr="深色竖线"/>
              <p:cNvSpPr/>
              <p:nvPr/>
            </p:nvSpPr>
            <p:spPr>
              <a:xfrm>
                <a:off x="3522" y="2798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16" name="Freeform 1375" descr="深色竖线"/>
              <p:cNvSpPr/>
              <p:nvPr/>
            </p:nvSpPr>
            <p:spPr>
              <a:xfrm>
                <a:off x="3597" y="2797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17" name="Freeform 1376" descr="深色竖线"/>
              <p:cNvSpPr/>
              <p:nvPr/>
            </p:nvSpPr>
            <p:spPr>
              <a:xfrm>
                <a:off x="3672" y="2798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18" name="Freeform 1377" descr="深色竖线"/>
              <p:cNvSpPr/>
              <p:nvPr/>
            </p:nvSpPr>
            <p:spPr>
              <a:xfrm flipV="1">
                <a:off x="3560" y="2968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19" name="Freeform 1378" descr="深色竖线"/>
              <p:cNvSpPr/>
              <p:nvPr/>
            </p:nvSpPr>
            <p:spPr>
              <a:xfrm flipV="1">
                <a:off x="3635" y="2967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20" name="Freeform 1379" descr="深色竖线"/>
              <p:cNvSpPr/>
              <p:nvPr/>
            </p:nvSpPr>
            <p:spPr>
              <a:xfrm flipV="1">
                <a:off x="3260" y="2968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21" name="Freeform 1380" descr="深色竖线"/>
              <p:cNvSpPr/>
              <p:nvPr/>
            </p:nvSpPr>
            <p:spPr>
              <a:xfrm>
                <a:off x="3297" y="2798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22" name="Freeform 1381" descr="深色竖线"/>
              <p:cNvSpPr/>
              <p:nvPr/>
            </p:nvSpPr>
            <p:spPr>
              <a:xfrm>
                <a:off x="3372" y="2797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23" name="Freeform 1382" descr="深色竖线"/>
              <p:cNvSpPr/>
              <p:nvPr/>
            </p:nvSpPr>
            <p:spPr>
              <a:xfrm>
                <a:off x="3447" y="2798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24" name="Freeform 1383" descr="深色竖线"/>
              <p:cNvSpPr/>
              <p:nvPr/>
            </p:nvSpPr>
            <p:spPr>
              <a:xfrm flipV="1">
                <a:off x="3335" y="2968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25" name="Freeform 1384" descr="深色竖线"/>
              <p:cNvSpPr/>
              <p:nvPr/>
            </p:nvSpPr>
            <p:spPr>
              <a:xfrm flipV="1">
                <a:off x="3410" y="2967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26" name="Freeform 1385" descr="深色竖线"/>
              <p:cNvSpPr/>
              <p:nvPr/>
            </p:nvSpPr>
            <p:spPr>
              <a:xfrm flipV="1">
                <a:off x="3033" y="297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27" name="Freeform 1386" descr="深色竖线"/>
              <p:cNvSpPr/>
              <p:nvPr/>
            </p:nvSpPr>
            <p:spPr>
              <a:xfrm>
                <a:off x="3070" y="2799"/>
                <a:ext cx="38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28" name="Freeform 1387" descr="深色竖线"/>
              <p:cNvSpPr/>
              <p:nvPr/>
            </p:nvSpPr>
            <p:spPr>
              <a:xfrm>
                <a:off x="3146" y="2798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29" name="Freeform 1388" descr="深色竖线"/>
              <p:cNvSpPr/>
              <p:nvPr/>
            </p:nvSpPr>
            <p:spPr>
              <a:xfrm>
                <a:off x="3221" y="279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30" name="Freeform 1389" descr="深色竖线"/>
              <p:cNvSpPr/>
              <p:nvPr/>
            </p:nvSpPr>
            <p:spPr>
              <a:xfrm flipV="1">
                <a:off x="3108" y="2969"/>
                <a:ext cx="38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31" name="Freeform 1390" descr="深色竖线"/>
              <p:cNvSpPr/>
              <p:nvPr/>
            </p:nvSpPr>
            <p:spPr>
              <a:xfrm flipV="1">
                <a:off x="3183" y="296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3432" name="Group 1391"/>
              <p:cNvGrpSpPr/>
              <p:nvPr/>
            </p:nvGrpSpPr>
            <p:grpSpPr>
              <a:xfrm>
                <a:off x="656" y="2792"/>
                <a:ext cx="750" cy="346"/>
                <a:chOff x="656" y="2792"/>
                <a:chExt cx="750" cy="346"/>
              </a:xfrm>
            </p:grpSpPr>
            <p:sp>
              <p:nvSpPr>
                <p:cNvPr id="23433" name="Freeform 1392" descr="深色竖线"/>
                <p:cNvSpPr/>
                <p:nvPr/>
              </p:nvSpPr>
              <p:spPr>
                <a:xfrm flipH="1">
                  <a:off x="759" y="2793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34" name="Freeform 1393" descr="深色竖线"/>
                <p:cNvSpPr/>
                <p:nvPr/>
              </p:nvSpPr>
              <p:spPr>
                <a:xfrm flipH="1" flipV="1">
                  <a:off x="743" y="2963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35" name="Freeform 1394" descr="深色竖线"/>
                <p:cNvSpPr/>
                <p:nvPr/>
              </p:nvSpPr>
              <p:spPr>
                <a:xfrm flipH="1" flipV="1">
                  <a:off x="711" y="2964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36" name="Freeform 1395" descr="深色竖线"/>
                <p:cNvSpPr/>
                <p:nvPr/>
              </p:nvSpPr>
              <p:spPr>
                <a:xfrm flipH="1" flipV="1">
                  <a:off x="679" y="2964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37" name="Freeform 1396" descr="深色竖线"/>
                <p:cNvSpPr/>
                <p:nvPr/>
              </p:nvSpPr>
              <p:spPr>
                <a:xfrm flipH="1">
                  <a:off x="727" y="2793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38" name="Freeform 1397" descr="深色竖线"/>
                <p:cNvSpPr/>
                <p:nvPr/>
              </p:nvSpPr>
              <p:spPr>
                <a:xfrm flipH="1">
                  <a:off x="695" y="2794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39" name="Freeform 1398" descr="深色竖线"/>
                <p:cNvSpPr/>
                <p:nvPr/>
              </p:nvSpPr>
              <p:spPr>
                <a:xfrm flipH="1">
                  <a:off x="656" y="2792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0" name="Freeform 1399" descr="深色竖线"/>
                <p:cNvSpPr/>
                <p:nvPr/>
              </p:nvSpPr>
              <p:spPr>
                <a:xfrm flipV="1">
                  <a:off x="775" y="2965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1" name="Freeform 1400" descr="深色竖线"/>
                <p:cNvSpPr/>
                <p:nvPr/>
              </p:nvSpPr>
              <p:spPr>
                <a:xfrm>
                  <a:off x="791" y="2795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2" name="Freeform 1401" descr="深色竖线"/>
                <p:cNvSpPr/>
                <p:nvPr/>
              </p:nvSpPr>
              <p:spPr>
                <a:xfrm>
                  <a:off x="823" y="2794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3" name="Freeform 1402" descr="深色竖线"/>
                <p:cNvSpPr/>
                <p:nvPr/>
              </p:nvSpPr>
              <p:spPr>
                <a:xfrm>
                  <a:off x="855" y="2795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4" name="Freeform 1403" descr="深色竖线"/>
                <p:cNvSpPr/>
                <p:nvPr/>
              </p:nvSpPr>
              <p:spPr>
                <a:xfrm flipV="1">
                  <a:off x="807" y="2965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5" name="Freeform 1404" descr="深色竖线"/>
                <p:cNvSpPr/>
                <p:nvPr/>
              </p:nvSpPr>
              <p:spPr>
                <a:xfrm flipV="1">
                  <a:off x="839" y="2964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6" name="Freeform 1405" descr="深色竖线"/>
                <p:cNvSpPr/>
                <p:nvPr/>
              </p:nvSpPr>
              <p:spPr>
                <a:xfrm flipV="1">
                  <a:off x="1182" y="2968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7" name="Freeform 1406" descr="深色竖线"/>
                <p:cNvSpPr/>
                <p:nvPr/>
              </p:nvSpPr>
              <p:spPr>
                <a:xfrm>
                  <a:off x="1226" y="2798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8" name="Freeform 1407" descr="深色竖线"/>
                <p:cNvSpPr/>
                <p:nvPr/>
              </p:nvSpPr>
              <p:spPr>
                <a:xfrm>
                  <a:off x="1316" y="2797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49" name="Freeform 1408" descr="深色竖线"/>
                <p:cNvSpPr/>
                <p:nvPr/>
              </p:nvSpPr>
              <p:spPr>
                <a:xfrm flipV="1">
                  <a:off x="1271" y="2968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0" name="Freeform 1409" descr="深色竖线"/>
                <p:cNvSpPr/>
                <p:nvPr/>
              </p:nvSpPr>
              <p:spPr>
                <a:xfrm flipV="1">
                  <a:off x="1361" y="2967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1" name="Freeform 1410" descr="深色竖线"/>
                <p:cNvSpPr/>
                <p:nvPr/>
              </p:nvSpPr>
              <p:spPr>
                <a:xfrm flipV="1">
                  <a:off x="999" y="2965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2" name="Freeform 1411" descr="深色竖线"/>
                <p:cNvSpPr/>
                <p:nvPr/>
              </p:nvSpPr>
              <p:spPr>
                <a:xfrm>
                  <a:off x="1030" y="2795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3" name="Freeform 1412" descr="深色竖线"/>
                <p:cNvSpPr/>
                <p:nvPr/>
              </p:nvSpPr>
              <p:spPr>
                <a:xfrm>
                  <a:off x="1092" y="2794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4" name="Freeform 1413" descr="深色竖线"/>
                <p:cNvSpPr/>
                <p:nvPr/>
              </p:nvSpPr>
              <p:spPr>
                <a:xfrm>
                  <a:off x="1153" y="2795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5" name="Freeform 1414" descr="深色竖线"/>
                <p:cNvSpPr/>
                <p:nvPr/>
              </p:nvSpPr>
              <p:spPr>
                <a:xfrm flipV="1">
                  <a:off x="1061" y="2965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6" name="Freeform 1415" descr="深色竖线"/>
                <p:cNvSpPr/>
                <p:nvPr/>
              </p:nvSpPr>
              <p:spPr>
                <a:xfrm flipV="1">
                  <a:off x="1122" y="2964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7" name="Freeform 1416" descr="深色竖线"/>
                <p:cNvSpPr/>
                <p:nvPr/>
              </p:nvSpPr>
              <p:spPr>
                <a:xfrm flipV="1">
                  <a:off x="872" y="2966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8" name="Freeform 1417" descr="深色竖线"/>
                <p:cNvSpPr/>
                <p:nvPr/>
              </p:nvSpPr>
              <p:spPr>
                <a:xfrm>
                  <a:off x="894" y="2795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59" name="Freeform 1418" descr="深色竖线"/>
                <p:cNvSpPr/>
                <p:nvPr/>
              </p:nvSpPr>
              <p:spPr>
                <a:xfrm>
                  <a:off x="936" y="2794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60" name="Freeform 1419" descr="深色竖线"/>
                <p:cNvSpPr/>
                <p:nvPr/>
              </p:nvSpPr>
              <p:spPr>
                <a:xfrm>
                  <a:off x="979" y="2795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61" name="Freeform 1420" descr="深色竖线"/>
                <p:cNvSpPr/>
                <p:nvPr/>
              </p:nvSpPr>
              <p:spPr>
                <a:xfrm flipV="1">
                  <a:off x="915" y="2965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462" name="Freeform 1421" descr="深色竖线"/>
                <p:cNvSpPr/>
                <p:nvPr/>
              </p:nvSpPr>
              <p:spPr>
                <a:xfrm flipV="1">
                  <a:off x="957" y="2965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4" name="Group 1422"/>
          <p:cNvGrpSpPr/>
          <p:nvPr/>
        </p:nvGrpSpPr>
        <p:grpSpPr>
          <a:xfrm>
            <a:off x="1939925" y="4479925"/>
            <a:ext cx="6480175" cy="563563"/>
            <a:chOff x="671" y="2785"/>
            <a:chExt cx="4082" cy="355"/>
          </a:xfrm>
        </p:grpSpPr>
        <p:sp>
          <p:nvSpPr>
            <p:cNvPr id="23220" name="Rectangle 1423"/>
            <p:cNvSpPr/>
            <p:nvPr/>
          </p:nvSpPr>
          <p:spPr>
            <a:xfrm>
              <a:off x="671" y="2785"/>
              <a:ext cx="4071" cy="35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221" name="Group 1424"/>
            <p:cNvGrpSpPr/>
            <p:nvPr/>
          </p:nvGrpSpPr>
          <p:grpSpPr>
            <a:xfrm>
              <a:off x="672" y="2790"/>
              <a:ext cx="4081" cy="348"/>
              <a:chOff x="672" y="2790"/>
              <a:chExt cx="4081" cy="348"/>
            </a:xfrm>
          </p:grpSpPr>
          <p:grpSp>
            <p:nvGrpSpPr>
              <p:cNvPr id="23222" name="Group 1425"/>
              <p:cNvGrpSpPr/>
              <p:nvPr/>
            </p:nvGrpSpPr>
            <p:grpSpPr>
              <a:xfrm>
                <a:off x="672" y="2790"/>
                <a:ext cx="1515" cy="348"/>
                <a:chOff x="1680" y="1835"/>
                <a:chExt cx="1515" cy="348"/>
              </a:xfrm>
            </p:grpSpPr>
            <p:sp>
              <p:nvSpPr>
                <p:cNvPr id="23292" name="Freeform 1426" descr="深色竖线"/>
                <p:cNvSpPr/>
                <p:nvPr/>
              </p:nvSpPr>
              <p:spPr>
                <a:xfrm flipH="1">
                  <a:off x="1964" y="1836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93" name="Freeform 1427" descr="深色竖线"/>
                <p:cNvSpPr/>
                <p:nvPr/>
              </p:nvSpPr>
              <p:spPr>
                <a:xfrm flipH="1" flipV="1">
                  <a:off x="1908" y="2006"/>
                  <a:ext cx="56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94" name="Freeform 1428" descr="深色竖线"/>
                <p:cNvSpPr/>
                <p:nvPr/>
              </p:nvSpPr>
              <p:spPr>
                <a:xfrm flipH="1" flipV="1">
                  <a:off x="1794" y="2008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95" name="Freeform 1429" descr="深色竖线"/>
                <p:cNvSpPr/>
                <p:nvPr/>
              </p:nvSpPr>
              <p:spPr>
                <a:xfrm flipH="1" flipV="1">
                  <a:off x="1680" y="2007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96" name="Freeform 1430" descr="深色竖线"/>
                <p:cNvSpPr/>
                <p:nvPr/>
              </p:nvSpPr>
              <p:spPr>
                <a:xfrm flipH="1">
                  <a:off x="1851" y="1836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97" name="Freeform 1431" descr="深色竖线"/>
                <p:cNvSpPr/>
                <p:nvPr/>
              </p:nvSpPr>
              <p:spPr>
                <a:xfrm flipH="1">
                  <a:off x="1737" y="1837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98" name="Freeform 1432" descr="深色竖线"/>
                <p:cNvSpPr/>
                <p:nvPr/>
              </p:nvSpPr>
              <p:spPr>
                <a:xfrm flipH="1">
                  <a:off x="2248" y="1835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99" name="Freeform 1433" descr="深色竖线"/>
                <p:cNvSpPr/>
                <p:nvPr/>
              </p:nvSpPr>
              <p:spPr>
                <a:xfrm flipH="1" flipV="1">
                  <a:off x="2203" y="2005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0" name="Freeform 1434" descr="深色竖线"/>
                <p:cNvSpPr/>
                <p:nvPr/>
              </p:nvSpPr>
              <p:spPr>
                <a:xfrm flipH="1" flipV="1">
                  <a:off x="2113" y="2006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1" name="Freeform 1435" descr="深色竖线"/>
                <p:cNvSpPr/>
                <p:nvPr/>
              </p:nvSpPr>
              <p:spPr>
                <a:xfrm flipH="1" flipV="1">
                  <a:off x="2023" y="2006"/>
                  <a:ext cx="45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2" name="Freeform 1436" descr="深色竖线"/>
                <p:cNvSpPr/>
                <p:nvPr/>
              </p:nvSpPr>
              <p:spPr>
                <a:xfrm flipH="1">
                  <a:off x="2158" y="1835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3" name="Freeform 1437" descr="深色竖线"/>
                <p:cNvSpPr/>
                <p:nvPr/>
              </p:nvSpPr>
              <p:spPr>
                <a:xfrm flipH="1">
                  <a:off x="2068" y="1836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4" name="Freeform 1438" descr="深色竖线"/>
                <p:cNvSpPr/>
                <p:nvPr/>
              </p:nvSpPr>
              <p:spPr>
                <a:xfrm flipH="1">
                  <a:off x="2444" y="1838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5" name="Freeform 1439" descr="深色竖线"/>
                <p:cNvSpPr/>
                <p:nvPr/>
              </p:nvSpPr>
              <p:spPr>
                <a:xfrm flipH="1" flipV="1">
                  <a:off x="2413" y="2008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6" name="Freeform 1440" descr="深色竖线"/>
                <p:cNvSpPr/>
                <p:nvPr/>
              </p:nvSpPr>
              <p:spPr>
                <a:xfrm flipH="1" flipV="1">
                  <a:off x="2352" y="2009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7" name="Freeform 1441" descr="深色竖线"/>
                <p:cNvSpPr/>
                <p:nvPr/>
              </p:nvSpPr>
              <p:spPr>
                <a:xfrm flipH="1" flipV="1">
                  <a:off x="2290" y="2009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8" name="Freeform 1442" descr="深色竖线"/>
                <p:cNvSpPr/>
                <p:nvPr/>
              </p:nvSpPr>
              <p:spPr>
                <a:xfrm flipH="1">
                  <a:off x="2382" y="1838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09" name="Freeform 1443" descr="深色竖线"/>
                <p:cNvSpPr/>
                <p:nvPr/>
              </p:nvSpPr>
              <p:spPr>
                <a:xfrm flipH="1">
                  <a:off x="2321" y="1839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0" name="Freeform 1444" descr="深色竖线"/>
                <p:cNvSpPr/>
                <p:nvPr/>
              </p:nvSpPr>
              <p:spPr>
                <a:xfrm flipH="1" flipV="1">
                  <a:off x="2559" y="200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1" name="Freeform 1445" descr="深色竖线"/>
                <p:cNvSpPr/>
                <p:nvPr/>
              </p:nvSpPr>
              <p:spPr>
                <a:xfrm flipH="1" flipV="1">
                  <a:off x="2517" y="2009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2" name="Freeform 1446" descr="深色竖线"/>
                <p:cNvSpPr/>
                <p:nvPr/>
              </p:nvSpPr>
              <p:spPr>
                <a:xfrm flipH="1" flipV="1">
                  <a:off x="2474" y="2008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3" name="Freeform 1447" descr="深色竖线"/>
                <p:cNvSpPr/>
                <p:nvPr/>
              </p:nvSpPr>
              <p:spPr>
                <a:xfrm flipH="1">
                  <a:off x="2538" y="183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4" name="Freeform 1448" descr="深色竖线"/>
                <p:cNvSpPr/>
                <p:nvPr/>
              </p:nvSpPr>
              <p:spPr>
                <a:xfrm flipH="1">
                  <a:off x="2495" y="1838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5" name="Freeform 1449" descr="深色竖线"/>
                <p:cNvSpPr/>
                <p:nvPr/>
              </p:nvSpPr>
              <p:spPr>
                <a:xfrm flipH="1">
                  <a:off x="2683" y="183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6" name="Freeform 1450" descr="深色竖线"/>
                <p:cNvSpPr/>
                <p:nvPr/>
              </p:nvSpPr>
              <p:spPr>
                <a:xfrm flipH="1" flipV="1">
                  <a:off x="2667" y="200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7" name="Freeform 1451" descr="深色竖线"/>
                <p:cNvSpPr/>
                <p:nvPr/>
              </p:nvSpPr>
              <p:spPr>
                <a:xfrm flipH="1" flipV="1">
                  <a:off x="2635" y="200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8" name="Freeform 1452" descr="深色竖线"/>
                <p:cNvSpPr/>
                <p:nvPr/>
              </p:nvSpPr>
              <p:spPr>
                <a:xfrm flipH="1" flipV="1">
                  <a:off x="2603" y="2009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19" name="Freeform 1453" descr="深色竖线"/>
                <p:cNvSpPr/>
                <p:nvPr/>
              </p:nvSpPr>
              <p:spPr>
                <a:xfrm flipH="1">
                  <a:off x="2651" y="183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0" name="Freeform 1454" descr="深色竖线"/>
                <p:cNvSpPr/>
                <p:nvPr/>
              </p:nvSpPr>
              <p:spPr>
                <a:xfrm flipH="1">
                  <a:off x="2619" y="183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1" name="Freeform 1455" descr="深色竖线"/>
                <p:cNvSpPr/>
                <p:nvPr/>
              </p:nvSpPr>
              <p:spPr>
                <a:xfrm flipH="1">
                  <a:off x="2580" y="1837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2" name="Freeform 1456" descr="深色竖线"/>
                <p:cNvSpPr/>
                <p:nvPr/>
              </p:nvSpPr>
              <p:spPr>
                <a:xfrm flipV="1">
                  <a:off x="2699" y="201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3" name="Freeform 1457" descr="深色竖线"/>
                <p:cNvSpPr/>
                <p:nvPr/>
              </p:nvSpPr>
              <p:spPr>
                <a:xfrm>
                  <a:off x="2715" y="184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4" name="Freeform 1458" descr="深色竖线"/>
                <p:cNvSpPr/>
                <p:nvPr/>
              </p:nvSpPr>
              <p:spPr>
                <a:xfrm>
                  <a:off x="2747" y="183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5" name="Freeform 1459" descr="深色竖线"/>
                <p:cNvSpPr/>
                <p:nvPr/>
              </p:nvSpPr>
              <p:spPr>
                <a:xfrm>
                  <a:off x="2779" y="1840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6" name="Freeform 1460" descr="深色竖线"/>
                <p:cNvSpPr/>
                <p:nvPr/>
              </p:nvSpPr>
              <p:spPr>
                <a:xfrm flipV="1">
                  <a:off x="2731" y="201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7" name="Freeform 1461" descr="深色竖线"/>
                <p:cNvSpPr/>
                <p:nvPr/>
              </p:nvSpPr>
              <p:spPr>
                <a:xfrm flipV="1">
                  <a:off x="2763" y="200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8" name="Freeform 1462" descr="深色竖线"/>
                <p:cNvSpPr/>
                <p:nvPr/>
              </p:nvSpPr>
              <p:spPr>
                <a:xfrm flipV="1">
                  <a:off x="3106" y="2013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29" name="Freeform 1463" descr="深色竖线"/>
                <p:cNvSpPr/>
                <p:nvPr/>
              </p:nvSpPr>
              <p:spPr>
                <a:xfrm>
                  <a:off x="3150" y="1843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0" name="Freeform 1464" descr="深色竖线"/>
                <p:cNvSpPr/>
                <p:nvPr/>
              </p:nvSpPr>
              <p:spPr>
                <a:xfrm flipV="1">
                  <a:off x="2923" y="201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1" name="Freeform 1465" descr="深色竖线"/>
                <p:cNvSpPr/>
                <p:nvPr/>
              </p:nvSpPr>
              <p:spPr>
                <a:xfrm>
                  <a:off x="2954" y="184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2" name="Freeform 1466" descr="深色竖线"/>
                <p:cNvSpPr/>
                <p:nvPr/>
              </p:nvSpPr>
              <p:spPr>
                <a:xfrm>
                  <a:off x="3016" y="1839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3" name="Freeform 1467" descr="深色竖线"/>
                <p:cNvSpPr/>
                <p:nvPr/>
              </p:nvSpPr>
              <p:spPr>
                <a:xfrm>
                  <a:off x="3077" y="1840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4" name="Freeform 1468" descr="深色竖线"/>
                <p:cNvSpPr/>
                <p:nvPr/>
              </p:nvSpPr>
              <p:spPr>
                <a:xfrm flipV="1">
                  <a:off x="2985" y="201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5" name="Freeform 1469" descr="深色竖线"/>
                <p:cNvSpPr/>
                <p:nvPr/>
              </p:nvSpPr>
              <p:spPr>
                <a:xfrm flipV="1">
                  <a:off x="3046" y="2009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6" name="Freeform 1470" descr="深色竖线"/>
                <p:cNvSpPr/>
                <p:nvPr/>
              </p:nvSpPr>
              <p:spPr>
                <a:xfrm flipV="1">
                  <a:off x="2796" y="2011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7" name="Freeform 1471" descr="深色竖线"/>
                <p:cNvSpPr/>
                <p:nvPr/>
              </p:nvSpPr>
              <p:spPr>
                <a:xfrm>
                  <a:off x="2818" y="1840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8" name="Freeform 1472" descr="深色竖线"/>
                <p:cNvSpPr/>
                <p:nvPr/>
              </p:nvSpPr>
              <p:spPr>
                <a:xfrm>
                  <a:off x="2860" y="1839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39" name="Freeform 1473" descr="深色竖线"/>
                <p:cNvSpPr/>
                <p:nvPr/>
              </p:nvSpPr>
              <p:spPr>
                <a:xfrm>
                  <a:off x="2903" y="1840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40" name="Freeform 1474" descr="深色竖线"/>
                <p:cNvSpPr/>
                <p:nvPr/>
              </p:nvSpPr>
              <p:spPr>
                <a:xfrm flipV="1">
                  <a:off x="2839" y="2010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341" name="Freeform 1475" descr="深色竖线"/>
                <p:cNvSpPr/>
                <p:nvPr/>
              </p:nvSpPr>
              <p:spPr>
                <a:xfrm flipV="1">
                  <a:off x="2881" y="2010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223" name="Group 1476"/>
              <p:cNvGrpSpPr/>
              <p:nvPr/>
            </p:nvGrpSpPr>
            <p:grpSpPr>
              <a:xfrm>
                <a:off x="2186" y="2795"/>
                <a:ext cx="2567" cy="343"/>
                <a:chOff x="2162" y="2322"/>
                <a:chExt cx="2567" cy="343"/>
              </a:xfrm>
            </p:grpSpPr>
            <p:sp>
              <p:nvSpPr>
                <p:cNvPr id="23224" name="Freeform 1477" descr="深色竖线"/>
                <p:cNvSpPr/>
                <p:nvPr/>
              </p:nvSpPr>
              <p:spPr>
                <a:xfrm flipV="1">
                  <a:off x="2464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25" name="Freeform 1478" descr="深色竖线"/>
                <p:cNvSpPr/>
                <p:nvPr/>
              </p:nvSpPr>
              <p:spPr>
                <a:xfrm>
                  <a:off x="2501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26" name="Freeform 1479" descr="深色竖线"/>
                <p:cNvSpPr/>
                <p:nvPr/>
              </p:nvSpPr>
              <p:spPr>
                <a:xfrm>
                  <a:off x="2576" y="2323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27" name="Freeform 1480" descr="深色竖线"/>
                <p:cNvSpPr/>
                <p:nvPr/>
              </p:nvSpPr>
              <p:spPr>
                <a:xfrm>
                  <a:off x="2651" y="2324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28" name="Freeform 1481" descr="深色竖线"/>
                <p:cNvSpPr/>
                <p:nvPr/>
              </p:nvSpPr>
              <p:spPr>
                <a:xfrm flipV="1">
                  <a:off x="2539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29" name="Freeform 1482" descr="深色竖线"/>
                <p:cNvSpPr/>
                <p:nvPr/>
              </p:nvSpPr>
              <p:spPr>
                <a:xfrm flipV="1">
                  <a:off x="2614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0" name="Freeform 1483" descr="深色竖线"/>
                <p:cNvSpPr/>
                <p:nvPr/>
              </p:nvSpPr>
              <p:spPr>
                <a:xfrm flipV="1">
                  <a:off x="2238" y="2495"/>
                  <a:ext cx="37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1" name="Freeform 1484" descr="深色竖线"/>
                <p:cNvSpPr/>
                <p:nvPr/>
              </p:nvSpPr>
              <p:spPr>
                <a:xfrm>
                  <a:off x="2275" y="2326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2" name="Freeform 1485" descr="深色竖线"/>
                <p:cNvSpPr/>
                <p:nvPr/>
              </p:nvSpPr>
              <p:spPr>
                <a:xfrm>
                  <a:off x="2350" y="2325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3" name="Freeform 1486" descr="深色竖线"/>
                <p:cNvSpPr/>
                <p:nvPr/>
              </p:nvSpPr>
              <p:spPr>
                <a:xfrm>
                  <a:off x="2425" y="2326"/>
                  <a:ext cx="38" cy="16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4" name="Freeform 1487" descr="深色竖线"/>
                <p:cNvSpPr/>
                <p:nvPr/>
              </p:nvSpPr>
              <p:spPr>
                <a:xfrm flipV="1">
                  <a:off x="2313" y="2495"/>
                  <a:ext cx="37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5" name="Freeform 1488" descr="深色竖线"/>
                <p:cNvSpPr/>
                <p:nvPr/>
              </p:nvSpPr>
              <p:spPr>
                <a:xfrm flipV="1">
                  <a:off x="2388" y="2494"/>
                  <a:ext cx="37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6" name="Freeform 1489" descr="深色竖线"/>
                <p:cNvSpPr/>
                <p:nvPr/>
              </p:nvSpPr>
              <p:spPr>
                <a:xfrm>
                  <a:off x="2199" y="2325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7" name="Freeform 1490" descr="深色竖线"/>
                <p:cNvSpPr/>
                <p:nvPr/>
              </p:nvSpPr>
              <p:spPr>
                <a:xfrm flipV="1">
                  <a:off x="2162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8" name="Freeform 1491" descr="深色竖线"/>
                <p:cNvSpPr/>
                <p:nvPr/>
              </p:nvSpPr>
              <p:spPr>
                <a:xfrm flipV="1">
                  <a:off x="2693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39" name="Freeform 1492" descr="深色竖线"/>
                <p:cNvSpPr/>
                <p:nvPr/>
              </p:nvSpPr>
              <p:spPr>
                <a:xfrm>
                  <a:off x="2730" y="2325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0" name="Freeform 1493" descr="深色竖线"/>
                <p:cNvSpPr/>
                <p:nvPr/>
              </p:nvSpPr>
              <p:spPr>
                <a:xfrm>
                  <a:off x="2805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1" name="Freeform 1494" descr="深色竖线"/>
                <p:cNvSpPr/>
                <p:nvPr/>
              </p:nvSpPr>
              <p:spPr>
                <a:xfrm>
                  <a:off x="2880" y="2325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2" name="Freeform 1495" descr="深色竖线"/>
                <p:cNvSpPr/>
                <p:nvPr/>
              </p:nvSpPr>
              <p:spPr>
                <a:xfrm flipV="1">
                  <a:off x="2768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3" name="Freeform 1496" descr="深色竖线"/>
                <p:cNvSpPr/>
                <p:nvPr/>
              </p:nvSpPr>
              <p:spPr>
                <a:xfrm flipV="1">
                  <a:off x="2843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4" name="Freeform 1497" descr="深色竖线"/>
                <p:cNvSpPr/>
                <p:nvPr/>
              </p:nvSpPr>
              <p:spPr>
                <a:xfrm flipV="1">
                  <a:off x="4504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5" name="Freeform 1498" descr="深色竖线"/>
                <p:cNvSpPr/>
                <p:nvPr/>
              </p:nvSpPr>
              <p:spPr>
                <a:xfrm>
                  <a:off x="4541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6" name="Freeform 1499" descr="深色竖线"/>
                <p:cNvSpPr/>
                <p:nvPr/>
              </p:nvSpPr>
              <p:spPr>
                <a:xfrm>
                  <a:off x="4616" y="2323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7" name="Freeform 1500" descr="深色竖线"/>
                <p:cNvSpPr/>
                <p:nvPr/>
              </p:nvSpPr>
              <p:spPr>
                <a:xfrm>
                  <a:off x="4691" y="2324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8" name="Freeform 1501" descr="深色竖线"/>
                <p:cNvSpPr/>
                <p:nvPr/>
              </p:nvSpPr>
              <p:spPr>
                <a:xfrm flipV="1">
                  <a:off x="4579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49" name="Freeform 1502" descr="深色竖线"/>
                <p:cNvSpPr/>
                <p:nvPr/>
              </p:nvSpPr>
              <p:spPr>
                <a:xfrm flipV="1">
                  <a:off x="4654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0" name="Freeform 1503" descr="深色竖线"/>
                <p:cNvSpPr/>
                <p:nvPr/>
              </p:nvSpPr>
              <p:spPr>
                <a:xfrm flipV="1">
                  <a:off x="4277" y="2494"/>
                  <a:ext cx="37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1" name="Freeform 1504" descr="深色竖线"/>
                <p:cNvSpPr/>
                <p:nvPr/>
              </p:nvSpPr>
              <p:spPr>
                <a:xfrm>
                  <a:off x="4314" y="2325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2" name="Freeform 1505" descr="深色竖线"/>
                <p:cNvSpPr/>
                <p:nvPr/>
              </p:nvSpPr>
              <p:spPr>
                <a:xfrm>
                  <a:off x="4389" y="2324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3" name="Freeform 1506" descr="深色竖线"/>
                <p:cNvSpPr/>
                <p:nvPr/>
              </p:nvSpPr>
              <p:spPr>
                <a:xfrm>
                  <a:off x="4464" y="2325"/>
                  <a:ext cx="38" cy="16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4" name="Freeform 1507" descr="深色竖线"/>
                <p:cNvSpPr/>
                <p:nvPr/>
              </p:nvSpPr>
              <p:spPr>
                <a:xfrm flipV="1">
                  <a:off x="4352" y="2494"/>
                  <a:ext cx="37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5" name="Freeform 1508" descr="深色竖线"/>
                <p:cNvSpPr/>
                <p:nvPr/>
              </p:nvSpPr>
              <p:spPr>
                <a:xfrm flipV="1">
                  <a:off x="4427" y="2493"/>
                  <a:ext cx="37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6" name="Freeform 1509" descr="深色竖线"/>
                <p:cNvSpPr/>
                <p:nvPr/>
              </p:nvSpPr>
              <p:spPr>
                <a:xfrm flipV="1">
                  <a:off x="4051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7" name="Freeform 1510" descr="深色竖线"/>
                <p:cNvSpPr/>
                <p:nvPr/>
              </p:nvSpPr>
              <p:spPr>
                <a:xfrm>
                  <a:off x="4088" y="2325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8" name="Freeform 1511" descr="深色竖线"/>
                <p:cNvSpPr/>
                <p:nvPr/>
              </p:nvSpPr>
              <p:spPr>
                <a:xfrm>
                  <a:off x="4163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59" name="Freeform 1512" descr="深色竖线"/>
                <p:cNvSpPr/>
                <p:nvPr/>
              </p:nvSpPr>
              <p:spPr>
                <a:xfrm>
                  <a:off x="4238" y="2325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0" name="Freeform 1513" descr="深色竖线"/>
                <p:cNvSpPr/>
                <p:nvPr/>
              </p:nvSpPr>
              <p:spPr>
                <a:xfrm flipV="1">
                  <a:off x="4126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1" name="Freeform 1514" descr="深色竖线"/>
                <p:cNvSpPr/>
                <p:nvPr/>
              </p:nvSpPr>
              <p:spPr>
                <a:xfrm flipV="1">
                  <a:off x="4201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2" name="Freeform 1515" descr="深色竖线"/>
                <p:cNvSpPr/>
                <p:nvPr/>
              </p:nvSpPr>
              <p:spPr>
                <a:xfrm flipV="1">
                  <a:off x="3825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3" name="Freeform 1516" descr="深色竖线"/>
                <p:cNvSpPr/>
                <p:nvPr/>
              </p:nvSpPr>
              <p:spPr>
                <a:xfrm>
                  <a:off x="3862" y="2325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4" name="Freeform 1517" descr="深色竖线"/>
                <p:cNvSpPr/>
                <p:nvPr/>
              </p:nvSpPr>
              <p:spPr>
                <a:xfrm>
                  <a:off x="3937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5" name="Freeform 1518" descr="深色竖线"/>
                <p:cNvSpPr/>
                <p:nvPr/>
              </p:nvSpPr>
              <p:spPr>
                <a:xfrm>
                  <a:off x="4012" y="2325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6" name="Freeform 1519" descr="深色竖线"/>
                <p:cNvSpPr/>
                <p:nvPr/>
              </p:nvSpPr>
              <p:spPr>
                <a:xfrm flipV="1">
                  <a:off x="3900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7" name="Freeform 1520" descr="深色竖线"/>
                <p:cNvSpPr/>
                <p:nvPr/>
              </p:nvSpPr>
              <p:spPr>
                <a:xfrm flipV="1">
                  <a:off x="3975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8" name="Freeform 1521" descr="深色竖线"/>
                <p:cNvSpPr/>
                <p:nvPr/>
              </p:nvSpPr>
              <p:spPr>
                <a:xfrm flipV="1">
                  <a:off x="3598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69" name="Freeform 1522" descr="深色竖线"/>
                <p:cNvSpPr/>
                <p:nvPr/>
              </p:nvSpPr>
              <p:spPr>
                <a:xfrm>
                  <a:off x="3635" y="2324"/>
                  <a:ext cx="38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0" name="Freeform 1523" descr="深色竖线"/>
                <p:cNvSpPr/>
                <p:nvPr/>
              </p:nvSpPr>
              <p:spPr>
                <a:xfrm>
                  <a:off x="3711" y="232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1" name="Freeform 1524" descr="深色竖线"/>
                <p:cNvSpPr/>
                <p:nvPr/>
              </p:nvSpPr>
              <p:spPr>
                <a:xfrm>
                  <a:off x="3786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2" name="Freeform 1525" descr="深色竖线"/>
                <p:cNvSpPr/>
                <p:nvPr/>
              </p:nvSpPr>
              <p:spPr>
                <a:xfrm flipV="1">
                  <a:off x="3673" y="2494"/>
                  <a:ext cx="38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3" name="Freeform 1526" descr="深色竖线"/>
                <p:cNvSpPr/>
                <p:nvPr/>
              </p:nvSpPr>
              <p:spPr>
                <a:xfrm flipV="1">
                  <a:off x="3748" y="249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4" name="Freeform 1527" descr="深色竖线"/>
                <p:cNvSpPr/>
                <p:nvPr/>
              </p:nvSpPr>
              <p:spPr>
                <a:xfrm flipV="1">
                  <a:off x="3372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5" name="Freeform 1528" descr="深色竖线"/>
                <p:cNvSpPr/>
                <p:nvPr/>
              </p:nvSpPr>
              <p:spPr>
                <a:xfrm>
                  <a:off x="3409" y="2323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6" name="Freeform 1529" descr="深色竖线"/>
                <p:cNvSpPr/>
                <p:nvPr/>
              </p:nvSpPr>
              <p:spPr>
                <a:xfrm>
                  <a:off x="3484" y="2322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7" name="Freeform 1530" descr="深色竖线"/>
                <p:cNvSpPr/>
                <p:nvPr/>
              </p:nvSpPr>
              <p:spPr>
                <a:xfrm>
                  <a:off x="3559" y="2323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8" name="Freeform 1531" descr="深色竖线"/>
                <p:cNvSpPr/>
                <p:nvPr/>
              </p:nvSpPr>
              <p:spPr>
                <a:xfrm flipV="1">
                  <a:off x="3447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79" name="Freeform 1532" descr="深色竖线"/>
                <p:cNvSpPr/>
                <p:nvPr/>
              </p:nvSpPr>
              <p:spPr>
                <a:xfrm flipV="1">
                  <a:off x="3522" y="2492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0" name="Freeform 1533" descr="深色竖线"/>
                <p:cNvSpPr/>
                <p:nvPr/>
              </p:nvSpPr>
              <p:spPr>
                <a:xfrm flipV="1">
                  <a:off x="3147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1" name="Freeform 1534" descr="深色竖线"/>
                <p:cNvSpPr/>
                <p:nvPr/>
              </p:nvSpPr>
              <p:spPr>
                <a:xfrm>
                  <a:off x="3184" y="2323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2" name="Freeform 1535" descr="深色竖线"/>
                <p:cNvSpPr/>
                <p:nvPr/>
              </p:nvSpPr>
              <p:spPr>
                <a:xfrm>
                  <a:off x="3259" y="2322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3" name="Freeform 1536" descr="深色竖线"/>
                <p:cNvSpPr/>
                <p:nvPr/>
              </p:nvSpPr>
              <p:spPr>
                <a:xfrm>
                  <a:off x="3334" y="2323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4" name="Freeform 1537" descr="深色竖线"/>
                <p:cNvSpPr/>
                <p:nvPr/>
              </p:nvSpPr>
              <p:spPr>
                <a:xfrm flipV="1">
                  <a:off x="3222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5" name="Freeform 1538" descr="深色竖线"/>
                <p:cNvSpPr/>
                <p:nvPr/>
              </p:nvSpPr>
              <p:spPr>
                <a:xfrm flipV="1">
                  <a:off x="3297" y="2492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6" name="Freeform 1539" descr="深色竖线"/>
                <p:cNvSpPr/>
                <p:nvPr/>
              </p:nvSpPr>
              <p:spPr>
                <a:xfrm flipV="1">
                  <a:off x="2920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7" name="Freeform 1540" descr="深色竖线"/>
                <p:cNvSpPr/>
                <p:nvPr/>
              </p:nvSpPr>
              <p:spPr>
                <a:xfrm>
                  <a:off x="2957" y="2324"/>
                  <a:ext cx="38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8" name="Freeform 1541" descr="深色竖线"/>
                <p:cNvSpPr/>
                <p:nvPr/>
              </p:nvSpPr>
              <p:spPr>
                <a:xfrm>
                  <a:off x="3033" y="232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89" name="Freeform 1542" descr="深色竖线"/>
                <p:cNvSpPr/>
                <p:nvPr/>
              </p:nvSpPr>
              <p:spPr>
                <a:xfrm>
                  <a:off x="3108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90" name="Freeform 1543" descr="深色竖线"/>
                <p:cNvSpPr/>
                <p:nvPr/>
              </p:nvSpPr>
              <p:spPr>
                <a:xfrm flipV="1">
                  <a:off x="2995" y="2494"/>
                  <a:ext cx="38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291" name="Freeform 1544" descr="深色竖线"/>
                <p:cNvSpPr/>
                <p:nvPr/>
              </p:nvSpPr>
              <p:spPr>
                <a:xfrm flipV="1">
                  <a:off x="3070" y="249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8" name="Group 1545"/>
          <p:cNvGrpSpPr/>
          <p:nvPr/>
        </p:nvGrpSpPr>
        <p:grpSpPr>
          <a:xfrm>
            <a:off x="1922463" y="4486275"/>
            <a:ext cx="6530975" cy="554038"/>
            <a:chOff x="655" y="2760"/>
            <a:chExt cx="4114" cy="349"/>
          </a:xfrm>
        </p:grpSpPr>
        <p:sp>
          <p:nvSpPr>
            <p:cNvPr id="23093" name="Rectangle 1546"/>
            <p:cNvSpPr/>
            <p:nvPr/>
          </p:nvSpPr>
          <p:spPr>
            <a:xfrm>
              <a:off x="655" y="2762"/>
              <a:ext cx="4111" cy="33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3094" name="Group 1547"/>
            <p:cNvGrpSpPr/>
            <p:nvPr/>
          </p:nvGrpSpPr>
          <p:grpSpPr>
            <a:xfrm>
              <a:off x="657" y="2760"/>
              <a:ext cx="4112" cy="349"/>
              <a:chOff x="657" y="2760"/>
              <a:chExt cx="4112" cy="349"/>
            </a:xfrm>
          </p:grpSpPr>
          <p:grpSp>
            <p:nvGrpSpPr>
              <p:cNvPr id="23095" name="Group 1548"/>
              <p:cNvGrpSpPr/>
              <p:nvPr/>
            </p:nvGrpSpPr>
            <p:grpSpPr>
              <a:xfrm>
                <a:off x="657" y="2760"/>
                <a:ext cx="2532" cy="348"/>
                <a:chOff x="663" y="1835"/>
                <a:chExt cx="2532" cy="348"/>
              </a:xfrm>
            </p:grpSpPr>
            <p:sp>
              <p:nvSpPr>
                <p:cNvPr id="23139" name="Freeform 1549" descr="深色竖线"/>
                <p:cNvSpPr/>
                <p:nvPr/>
              </p:nvSpPr>
              <p:spPr>
                <a:xfrm flipV="1">
                  <a:off x="663" y="2007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0" name="Freeform 1550" descr="深色竖线"/>
                <p:cNvSpPr/>
                <p:nvPr/>
              </p:nvSpPr>
              <p:spPr>
                <a:xfrm>
                  <a:off x="679" y="1837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1" name="Freeform 1551" descr="深色竖线"/>
                <p:cNvSpPr/>
                <p:nvPr/>
              </p:nvSpPr>
              <p:spPr>
                <a:xfrm>
                  <a:off x="711" y="1836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2" name="Freeform 1552" descr="深色竖线"/>
                <p:cNvSpPr/>
                <p:nvPr/>
              </p:nvSpPr>
              <p:spPr>
                <a:xfrm>
                  <a:off x="743" y="1837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3" name="Freeform 1553" descr="深色竖线"/>
                <p:cNvSpPr/>
                <p:nvPr/>
              </p:nvSpPr>
              <p:spPr>
                <a:xfrm flipV="1">
                  <a:off x="695" y="2007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4" name="Freeform 1554" descr="深色竖线"/>
                <p:cNvSpPr/>
                <p:nvPr/>
              </p:nvSpPr>
              <p:spPr>
                <a:xfrm flipV="1">
                  <a:off x="727" y="2006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5" name="Freeform 1555" descr="深色竖线"/>
                <p:cNvSpPr/>
                <p:nvPr/>
              </p:nvSpPr>
              <p:spPr>
                <a:xfrm flipV="1">
                  <a:off x="1341" y="2009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6" name="Freeform 1556" descr="深色竖线"/>
                <p:cNvSpPr/>
                <p:nvPr/>
              </p:nvSpPr>
              <p:spPr>
                <a:xfrm>
                  <a:off x="1398" y="1838"/>
                  <a:ext cx="56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7" name="Freeform 1557" descr="深色竖线"/>
                <p:cNvSpPr/>
                <p:nvPr/>
              </p:nvSpPr>
              <p:spPr>
                <a:xfrm>
                  <a:off x="1511" y="1837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8" name="Freeform 1558" descr="深色竖线"/>
                <p:cNvSpPr/>
                <p:nvPr/>
              </p:nvSpPr>
              <p:spPr>
                <a:xfrm>
                  <a:off x="1625" y="1838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49" name="Freeform 1559" descr="深色竖线"/>
                <p:cNvSpPr/>
                <p:nvPr/>
              </p:nvSpPr>
              <p:spPr>
                <a:xfrm flipV="1">
                  <a:off x="1454" y="2008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0" name="Freeform 1560" descr="深色竖线"/>
                <p:cNvSpPr/>
                <p:nvPr/>
              </p:nvSpPr>
              <p:spPr>
                <a:xfrm flipV="1">
                  <a:off x="1568" y="2008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1" name="Freeform 1561" descr="深色竖线"/>
                <p:cNvSpPr/>
                <p:nvPr/>
              </p:nvSpPr>
              <p:spPr>
                <a:xfrm flipV="1">
                  <a:off x="1070" y="2010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2" name="Freeform 1562" descr="深色竖线"/>
                <p:cNvSpPr/>
                <p:nvPr/>
              </p:nvSpPr>
              <p:spPr>
                <a:xfrm>
                  <a:off x="1114" y="1840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3" name="Freeform 1563" descr="深色竖线"/>
                <p:cNvSpPr/>
                <p:nvPr/>
              </p:nvSpPr>
              <p:spPr>
                <a:xfrm>
                  <a:off x="1204" y="1839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4" name="Freeform 1564" descr="深色竖线"/>
                <p:cNvSpPr/>
                <p:nvPr/>
              </p:nvSpPr>
              <p:spPr>
                <a:xfrm>
                  <a:off x="1294" y="1840"/>
                  <a:ext cx="45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5" name="Freeform 1565" descr="深色竖线"/>
                <p:cNvSpPr/>
                <p:nvPr/>
              </p:nvSpPr>
              <p:spPr>
                <a:xfrm flipV="1">
                  <a:off x="1159" y="2010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6" name="Freeform 1566" descr="深色竖线"/>
                <p:cNvSpPr/>
                <p:nvPr/>
              </p:nvSpPr>
              <p:spPr>
                <a:xfrm flipV="1">
                  <a:off x="1249" y="2009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7" name="Freeform 1567" descr="深色竖线"/>
                <p:cNvSpPr/>
                <p:nvPr/>
              </p:nvSpPr>
              <p:spPr>
                <a:xfrm flipV="1">
                  <a:off x="887" y="2007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8" name="Freeform 1568" descr="深色竖线"/>
                <p:cNvSpPr/>
                <p:nvPr/>
              </p:nvSpPr>
              <p:spPr>
                <a:xfrm>
                  <a:off x="918" y="1837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59" name="Freeform 1569" descr="深色竖线"/>
                <p:cNvSpPr/>
                <p:nvPr/>
              </p:nvSpPr>
              <p:spPr>
                <a:xfrm>
                  <a:off x="980" y="1836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60" name="Freeform 1570" descr="深色竖线"/>
                <p:cNvSpPr/>
                <p:nvPr/>
              </p:nvSpPr>
              <p:spPr>
                <a:xfrm>
                  <a:off x="1041" y="1837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61" name="Freeform 1571" descr="深色竖线"/>
                <p:cNvSpPr/>
                <p:nvPr/>
              </p:nvSpPr>
              <p:spPr>
                <a:xfrm flipV="1">
                  <a:off x="949" y="2007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62" name="Freeform 1572" descr="深色竖线"/>
                <p:cNvSpPr/>
                <p:nvPr/>
              </p:nvSpPr>
              <p:spPr>
                <a:xfrm flipV="1">
                  <a:off x="1010" y="2006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63" name="Freeform 1573" descr="深色竖线"/>
                <p:cNvSpPr/>
                <p:nvPr/>
              </p:nvSpPr>
              <p:spPr>
                <a:xfrm flipV="1">
                  <a:off x="760" y="2008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64" name="Freeform 1574" descr="深色竖线"/>
                <p:cNvSpPr/>
                <p:nvPr/>
              </p:nvSpPr>
              <p:spPr>
                <a:xfrm>
                  <a:off x="782" y="183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65" name="Freeform 1575" descr="深色竖线"/>
                <p:cNvSpPr/>
                <p:nvPr/>
              </p:nvSpPr>
              <p:spPr>
                <a:xfrm>
                  <a:off x="824" y="1836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66" name="Freeform 1576" descr="深色竖线"/>
                <p:cNvSpPr/>
                <p:nvPr/>
              </p:nvSpPr>
              <p:spPr>
                <a:xfrm>
                  <a:off x="867" y="1837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67" name="Freeform 1577" descr="深色竖线"/>
                <p:cNvSpPr/>
                <p:nvPr/>
              </p:nvSpPr>
              <p:spPr>
                <a:xfrm flipV="1">
                  <a:off x="803" y="200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68" name="Freeform 1578" descr="深色竖线"/>
                <p:cNvSpPr/>
                <p:nvPr/>
              </p:nvSpPr>
              <p:spPr>
                <a:xfrm flipV="1">
                  <a:off x="845" y="2007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3169" name="Group 1579"/>
                <p:cNvGrpSpPr/>
                <p:nvPr/>
              </p:nvGrpSpPr>
              <p:grpSpPr>
                <a:xfrm>
                  <a:off x="1680" y="1835"/>
                  <a:ext cx="1515" cy="348"/>
                  <a:chOff x="1680" y="1835"/>
                  <a:chExt cx="1515" cy="348"/>
                </a:xfrm>
              </p:grpSpPr>
              <p:sp>
                <p:nvSpPr>
                  <p:cNvPr id="23170" name="Freeform 1580" descr="深色竖线"/>
                  <p:cNvSpPr/>
                  <p:nvPr/>
                </p:nvSpPr>
                <p:spPr>
                  <a:xfrm flipH="1">
                    <a:off x="1964" y="1836"/>
                    <a:ext cx="57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71" name="Freeform 1581" descr="深色竖线"/>
                  <p:cNvSpPr/>
                  <p:nvPr/>
                </p:nvSpPr>
                <p:spPr>
                  <a:xfrm flipH="1" flipV="1">
                    <a:off x="1908" y="2006"/>
                    <a:ext cx="56" cy="17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72" name="Freeform 1582" descr="深色竖线"/>
                  <p:cNvSpPr/>
                  <p:nvPr/>
                </p:nvSpPr>
                <p:spPr>
                  <a:xfrm flipH="1" flipV="1">
                    <a:off x="1794" y="2008"/>
                    <a:ext cx="57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73" name="Freeform 1583" descr="深色竖线"/>
                  <p:cNvSpPr/>
                  <p:nvPr/>
                </p:nvSpPr>
                <p:spPr>
                  <a:xfrm flipH="1" flipV="1">
                    <a:off x="1680" y="2007"/>
                    <a:ext cx="57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74" name="Freeform 1584" descr="深色竖线"/>
                  <p:cNvSpPr/>
                  <p:nvPr/>
                </p:nvSpPr>
                <p:spPr>
                  <a:xfrm flipH="1">
                    <a:off x="1851" y="1836"/>
                    <a:ext cx="57" cy="17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75" name="Freeform 1585" descr="深色竖线"/>
                  <p:cNvSpPr/>
                  <p:nvPr/>
                </p:nvSpPr>
                <p:spPr>
                  <a:xfrm flipH="1">
                    <a:off x="1737" y="1837"/>
                    <a:ext cx="57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76" name="Freeform 1586" descr="深色竖线"/>
                  <p:cNvSpPr/>
                  <p:nvPr/>
                </p:nvSpPr>
                <p:spPr>
                  <a:xfrm flipH="1">
                    <a:off x="2248" y="1835"/>
                    <a:ext cx="44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77" name="Freeform 1587" descr="深色竖线"/>
                  <p:cNvSpPr/>
                  <p:nvPr/>
                </p:nvSpPr>
                <p:spPr>
                  <a:xfrm flipH="1" flipV="1">
                    <a:off x="2203" y="2005"/>
                    <a:ext cx="45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78" name="Freeform 1588" descr="深色竖线"/>
                  <p:cNvSpPr/>
                  <p:nvPr/>
                </p:nvSpPr>
                <p:spPr>
                  <a:xfrm flipH="1" flipV="1">
                    <a:off x="2113" y="2006"/>
                    <a:ext cx="45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79" name="Freeform 1589" descr="深色竖线"/>
                  <p:cNvSpPr/>
                  <p:nvPr/>
                </p:nvSpPr>
                <p:spPr>
                  <a:xfrm flipH="1" flipV="1">
                    <a:off x="2023" y="2006"/>
                    <a:ext cx="45" cy="16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80" name="Freeform 1590" descr="深色竖线"/>
                  <p:cNvSpPr/>
                  <p:nvPr/>
                </p:nvSpPr>
                <p:spPr>
                  <a:xfrm flipH="1">
                    <a:off x="2158" y="1835"/>
                    <a:ext cx="45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81" name="Freeform 1591" descr="深色竖线"/>
                  <p:cNvSpPr/>
                  <p:nvPr/>
                </p:nvSpPr>
                <p:spPr>
                  <a:xfrm flipH="1">
                    <a:off x="2068" y="1836"/>
                    <a:ext cx="45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82" name="Freeform 1592" descr="深色竖线"/>
                  <p:cNvSpPr/>
                  <p:nvPr/>
                </p:nvSpPr>
                <p:spPr>
                  <a:xfrm flipH="1">
                    <a:off x="2444" y="1838"/>
                    <a:ext cx="3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83" name="Freeform 1593" descr="深色竖线"/>
                  <p:cNvSpPr/>
                  <p:nvPr/>
                </p:nvSpPr>
                <p:spPr>
                  <a:xfrm flipH="1" flipV="1">
                    <a:off x="2413" y="2008"/>
                    <a:ext cx="3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84" name="Freeform 1594" descr="深色竖线"/>
                  <p:cNvSpPr/>
                  <p:nvPr/>
                </p:nvSpPr>
                <p:spPr>
                  <a:xfrm flipH="1" flipV="1">
                    <a:off x="2352" y="2009"/>
                    <a:ext cx="30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85" name="Freeform 1595" descr="深色竖线"/>
                  <p:cNvSpPr/>
                  <p:nvPr/>
                </p:nvSpPr>
                <p:spPr>
                  <a:xfrm flipH="1" flipV="1">
                    <a:off x="2290" y="2009"/>
                    <a:ext cx="31" cy="16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86" name="Freeform 1596" descr="深色竖线"/>
                  <p:cNvSpPr/>
                  <p:nvPr/>
                </p:nvSpPr>
                <p:spPr>
                  <a:xfrm flipH="1">
                    <a:off x="2382" y="1838"/>
                    <a:ext cx="3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87" name="Freeform 1597" descr="深色竖线"/>
                  <p:cNvSpPr/>
                  <p:nvPr/>
                </p:nvSpPr>
                <p:spPr>
                  <a:xfrm flipH="1">
                    <a:off x="2321" y="1839"/>
                    <a:ext cx="3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88" name="Freeform 1598" descr="深色竖线"/>
                  <p:cNvSpPr/>
                  <p:nvPr/>
                </p:nvSpPr>
                <p:spPr>
                  <a:xfrm flipH="1" flipV="1">
                    <a:off x="2559" y="2007"/>
                    <a:ext cx="21" cy="17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89" name="Freeform 1599" descr="深色竖线"/>
                  <p:cNvSpPr/>
                  <p:nvPr/>
                </p:nvSpPr>
                <p:spPr>
                  <a:xfrm flipH="1" flipV="1">
                    <a:off x="2517" y="2009"/>
                    <a:ext cx="2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90" name="Freeform 1600" descr="深色竖线"/>
                  <p:cNvSpPr/>
                  <p:nvPr/>
                </p:nvSpPr>
                <p:spPr>
                  <a:xfrm flipH="1" flipV="1">
                    <a:off x="2474" y="2008"/>
                    <a:ext cx="2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91" name="Freeform 1601" descr="深色竖线"/>
                  <p:cNvSpPr/>
                  <p:nvPr/>
                </p:nvSpPr>
                <p:spPr>
                  <a:xfrm flipH="1">
                    <a:off x="2538" y="1837"/>
                    <a:ext cx="21" cy="17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92" name="Freeform 1602" descr="深色竖线"/>
                  <p:cNvSpPr/>
                  <p:nvPr/>
                </p:nvSpPr>
                <p:spPr>
                  <a:xfrm flipH="1">
                    <a:off x="2495" y="1838"/>
                    <a:ext cx="22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93" name="Freeform 1603" descr="深色竖线"/>
                  <p:cNvSpPr/>
                  <p:nvPr/>
                </p:nvSpPr>
                <p:spPr>
                  <a:xfrm flipH="1">
                    <a:off x="2683" y="1838"/>
                    <a:ext cx="16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94" name="Freeform 1604" descr="深色竖线"/>
                  <p:cNvSpPr/>
                  <p:nvPr/>
                </p:nvSpPr>
                <p:spPr>
                  <a:xfrm flipH="1" flipV="1">
                    <a:off x="2667" y="2008"/>
                    <a:ext cx="16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95" name="Freeform 1605" descr="深色竖线"/>
                  <p:cNvSpPr/>
                  <p:nvPr/>
                </p:nvSpPr>
                <p:spPr>
                  <a:xfrm flipH="1" flipV="1">
                    <a:off x="2635" y="2009"/>
                    <a:ext cx="16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96" name="Freeform 1606" descr="深色竖线"/>
                  <p:cNvSpPr/>
                  <p:nvPr/>
                </p:nvSpPr>
                <p:spPr>
                  <a:xfrm flipH="1" flipV="1">
                    <a:off x="2603" y="2009"/>
                    <a:ext cx="16" cy="16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97" name="Freeform 1607" descr="深色竖线"/>
                  <p:cNvSpPr/>
                  <p:nvPr/>
                </p:nvSpPr>
                <p:spPr>
                  <a:xfrm flipH="1">
                    <a:off x="2651" y="1838"/>
                    <a:ext cx="16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98" name="Freeform 1608" descr="深色竖线"/>
                  <p:cNvSpPr/>
                  <p:nvPr/>
                </p:nvSpPr>
                <p:spPr>
                  <a:xfrm flipH="1">
                    <a:off x="2619" y="1839"/>
                    <a:ext cx="16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99" name="Freeform 1609" descr="深色竖线"/>
                  <p:cNvSpPr/>
                  <p:nvPr/>
                </p:nvSpPr>
                <p:spPr>
                  <a:xfrm flipH="1">
                    <a:off x="2580" y="1837"/>
                    <a:ext cx="22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00" name="Freeform 1610" descr="深色竖线"/>
                  <p:cNvSpPr/>
                  <p:nvPr/>
                </p:nvSpPr>
                <p:spPr>
                  <a:xfrm flipV="1">
                    <a:off x="2699" y="2010"/>
                    <a:ext cx="16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01" name="Freeform 1611" descr="深色竖线"/>
                  <p:cNvSpPr/>
                  <p:nvPr/>
                </p:nvSpPr>
                <p:spPr>
                  <a:xfrm>
                    <a:off x="2715" y="1840"/>
                    <a:ext cx="16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02" name="Freeform 1612" descr="深色竖线"/>
                  <p:cNvSpPr/>
                  <p:nvPr/>
                </p:nvSpPr>
                <p:spPr>
                  <a:xfrm>
                    <a:off x="2747" y="1839"/>
                    <a:ext cx="16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03" name="Freeform 1613" descr="深色竖线"/>
                  <p:cNvSpPr/>
                  <p:nvPr/>
                </p:nvSpPr>
                <p:spPr>
                  <a:xfrm>
                    <a:off x="2779" y="1840"/>
                    <a:ext cx="16" cy="16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04" name="Freeform 1614" descr="深色竖线"/>
                  <p:cNvSpPr/>
                  <p:nvPr/>
                </p:nvSpPr>
                <p:spPr>
                  <a:xfrm flipV="1">
                    <a:off x="2731" y="2010"/>
                    <a:ext cx="16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05" name="Freeform 1615" descr="深色竖线"/>
                  <p:cNvSpPr/>
                  <p:nvPr/>
                </p:nvSpPr>
                <p:spPr>
                  <a:xfrm flipV="1">
                    <a:off x="2763" y="2009"/>
                    <a:ext cx="16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06" name="Freeform 1616" descr="深色竖线"/>
                  <p:cNvSpPr/>
                  <p:nvPr/>
                </p:nvSpPr>
                <p:spPr>
                  <a:xfrm flipV="1">
                    <a:off x="3106" y="2013"/>
                    <a:ext cx="44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07" name="Freeform 1617" descr="深色竖线"/>
                  <p:cNvSpPr/>
                  <p:nvPr/>
                </p:nvSpPr>
                <p:spPr>
                  <a:xfrm>
                    <a:off x="3150" y="1843"/>
                    <a:ext cx="45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08" name="Freeform 1618" descr="深色竖线"/>
                  <p:cNvSpPr/>
                  <p:nvPr/>
                </p:nvSpPr>
                <p:spPr>
                  <a:xfrm flipV="1">
                    <a:off x="2923" y="2010"/>
                    <a:ext cx="3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09" name="Freeform 1619" descr="深色竖线"/>
                  <p:cNvSpPr/>
                  <p:nvPr/>
                </p:nvSpPr>
                <p:spPr>
                  <a:xfrm>
                    <a:off x="2954" y="1840"/>
                    <a:ext cx="3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10" name="Freeform 1620" descr="深色竖线"/>
                  <p:cNvSpPr/>
                  <p:nvPr/>
                </p:nvSpPr>
                <p:spPr>
                  <a:xfrm>
                    <a:off x="3016" y="1839"/>
                    <a:ext cx="30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11" name="Freeform 1621" descr="深色竖线"/>
                  <p:cNvSpPr/>
                  <p:nvPr/>
                </p:nvSpPr>
                <p:spPr>
                  <a:xfrm>
                    <a:off x="3077" y="1840"/>
                    <a:ext cx="31" cy="169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12" name="Freeform 1622" descr="深色竖线"/>
                  <p:cNvSpPr/>
                  <p:nvPr/>
                </p:nvSpPr>
                <p:spPr>
                  <a:xfrm flipV="1">
                    <a:off x="2985" y="2010"/>
                    <a:ext cx="3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13" name="Freeform 1623" descr="深色竖线"/>
                  <p:cNvSpPr/>
                  <p:nvPr/>
                </p:nvSpPr>
                <p:spPr>
                  <a:xfrm flipV="1">
                    <a:off x="3046" y="2009"/>
                    <a:ext cx="3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14" name="Freeform 1624" descr="深色竖线"/>
                  <p:cNvSpPr/>
                  <p:nvPr/>
                </p:nvSpPr>
                <p:spPr>
                  <a:xfrm flipV="1">
                    <a:off x="2796" y="2011"/>
                    <a:ext cx="22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15" name="Freeform 1625" descr="深色竖线"/>
                  <p:cNvSpPr/>
                  <p:nvPr/>
                </p:nvSpPr>
                <p:spPr>
                  <a:xfrm>
                    <a:off x="2818" y="1840"/>
                    <a:ext cx="21" cy="17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16" name="Freeform 1626" descr="深色竖线"/>
                  <p:cNvSpPr/>
                  <p:nvPr/>
                </p:nvSpPr>
                <p:spPr>
                  <a:xfrm>
                    <a:off x="2860" y="1839"/>
                    <a:ext cx="2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17" name="Freeform 1627" descr="深色竖线"/>
                  <p:cNvSpPr/>
                  <p:nvPr/>
                </p:nvSpPr>
                <p:spPr>
                  <a:xfrm>
                    <a:off x="2903" y="1840"/>
                    <a:ext cx="21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18" name="Freeform 1628" descr="深色竖线"/>
                  <p:cNvSpPr/>
                  <p:nvPr/>
                </p:nvSpPr>
                <p:spPr>
                  <a:xfrm flipV="1">
                    <a:off x="2839" y="2010"/>
                    <a:ext cx="21" cy="171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19" name="Freeform 1629" descr="深色竖线"/>
                  <p:cNvSpPr/>
                  <p:nvPr/>
                </p:nvSpPr>
                <p:spPr>
                  <a:xfrm flipV="1">
                    <a:off x="2881" y="2010"/>
                    <a:ext cx="22" cy="17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0" t="0" r="0" b="0"/>
                    <a:pathLst>
                      <a:path w="587" h="1000">
                        <a:moveTo>
                          <a:pt x="0" y="1000"/>
                        </a:moveTo>
                        <a:cubicBezTo>
                          <a:pt x="98" y="500"/>
                          <a:pt x="196" y="0"/>
                          <a:pt x="294" y="0"/>
                        </a:cubicBezTo>
                        <a:cubicBezTo>
                          <a:pt x="392" y="0"/>
                          <a:pt x="489" y="500"/>
                          <a:pt x="587" y="1000"/>
                        </a:cubicBezTo>
                      </a:path>
                    </a:pathLst>
                  </a:custGeom>
                  <a:noFill/>
                  <a:ln w="9525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3096" name="Group 1630"/>
              <p:cNvGrpSpPr/>
              <p:nvPr/>
            </p:nvGrpSpPr>
            <p:grpSpPr>
              <a:xfrm>
                <a:off x="3187" y="2766"/>
                <a:ext cx="1582" cy="343"/>
                <a:chOff x="3147" y="2322"/>
                <a:chExt cx="1582" cy="343"/>
              </a:xfrm>
            </p:grpSpPr>
            <p:sp>
              <p:nvSpPr>
                <p:cNvPr id="23097" name="Freeform 1631" descr="深色竖线"/>
                <p:cNvSpPr/>
                <p:nvPr/>
              </p:nvSpPr>
              <p:spPr>
                <a:xfrm flipV="1">
                  <a:off x="4504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98" name="Freeform 1632" descr="深色竖线"/>
                <p:cNvSpPr/>
                <p:nvPr/>
              </p:nvSpPr>
              <p:spPr>
                <a:xfrm>
                  <a:off x="4541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99" name="Freeform 1633" descr="深色竖线"/>
                <p:cNvSpPr/>
                <p:nvPr/>
              </p:nvSpPr>
              <p:spPr>
                <a:xfrm>
                  <a:off x="4616" y="2323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0" name="Freeform 1634" descr="深色竖线"/>
                <p:cNvSpPr/>
                <p:nvPr/>
              </p:nvSpPr>
              <p:spPr>
                <a:xfrm>
                  <a:off x="4691" y="2324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1" name="Freeform 1635" descr="深色竖线"/>
                <p:cNvSpPr/>
                <p:nvPr/>
              </p:nvSpPr>
              <p:spPr>
                <a:xfrm flipV="1">
                  <a:off x="4579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2" name="Freeform 1636" descr="深色竖线"/>
                <p:cNvSpPr/>
                <p:nvPr/>
              </p:nvSpPr>
              <p:spPr>
                <a:xfrm flipV="1">
                  <a:off x="4654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3" name="Freeform 1637" descr="深色竖线"/>
                <p:cNvSpPr/>
                <p:nvPr/>
              </p:nvSpPr>
              <p:spPr>
                <a:xfrm flipV="1">
                  <a:off x="4277" y="2494"/>
                  <a:ext cx="37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4" name="Freeform 1638" descr="深色竖线"/>
                <p:cNvSpPr/>
                <p:nvPr/>
              </p:nvSpPr>
              <p:spPr>
                <a:xfrm>
                  <a:off x="4314" y="2325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5" name="Freeform 1639" descr="深色竖线"/>
                <p:cNvSpPr/>
                <p:nvPr/>
              </p:nvSpPr>
              <p:spPr>
                <a:xfrm>
                  <a:off x="4389" y="2324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6" name="Freeform 1640" descr="深色竖线"/>
                <p:cNvSpPr/>
                <p:nvPr/>
              </p:nvSpPr>
              <p:spPr>
                <a:xfrm>
                  <a:off x="4464" y="2325"/>
                  <a:ext cx="38" cy="16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7" name="Freeform 1641" descr="深色竖线"/>
                <p:cNvSpPr/>
                <p:nvPr/>
              </p:nvSpPr>
              <p:spPr>
                <a:xfrm flipV="1">
                  <a:off x="4352" y="2494"/>
                  <a:ext cx="37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8" name="Freeform 1642" descr="深色竖线"/>
                <p:cNvSpPr/>
                <p:nvPr/>
              </p:nvSpPr>
              <p:spPr>
                <a:xfrm flipV="1">
                  <a:off x="4427" y="2493"/>
                  <a:ext cx="37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09" name="Freeform 1643" descr="深色竖线"/>
                <p:cNvSpPr/>
                <p:nvPr/>
              </p:nvSpPr>
              <p:spPr>
                <a:xfrm flipV="1">
                  <a:off x="4051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0" name="Freeform 1644" descr="深色竖线"/>
                <p:cNvSpPr/>
                <p:nvPr/>
              </p:nvSpPr>
              <p:spPr>
                <a:xfrm>
                  <a:off x="4088" y="2325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1" name="Freeform 1645" descr="深色竖线"/>
                <p:cNvSpPr/>
                <p:nvPr/>
              </p:nvSpPr>
              <p:spPr>
                <a:xfrm>
                  <a:off x="4163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2" name="Freeform 1646" descr="深色竖线"/>
                <p:cNvSpPr/>
                <p:nvPr/>
              </p:nvSpPr>
              <p:spPr>
                <a:xfrm>
                  <a:off x="4238" y="2325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3" name="Freeform 1647" descr="深色竖线"/>
                <p:cNvSpPr/>
                <p:nvPr/>
              </p:nvSpPr>
              <p:spPr>
                <a:xfrm flipV="1">
                  <a:off x="4126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4" name="Freeform 1648" descr="深色竖线"/>
                <p:cNvSpPr/>
                <p:nvPr/>
              </p:nvSpPr>
              <p:spPr>
                <a:xfrm flipV="1">
                  <a:off x="4201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5" name="Freeform 1649" descr="深色竖线"/>
                <p:cNvSpPr/>
                <p:nvPr/>
              </p:nvSpPr>
              <p:spPr>
                <a:xfrm flipV="1">
                  <a:off x="3825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6" name="Freeform 1650" descr="深色竖线"/>
                <p:cNvSpPr/>
                <p:nvPr/>
              </p:nvSpPr>
              <p:spPr>
                <a:xfrm>
                  <a:off x="3862" y="2325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7" name="Freeform 1651" descr="深色竖线"/>
                <p:cNvSpPr/>
                <p:nvPr/>
              </p:nvSpPr>
              <p:spPr>
                <a:xfrm>
                  <a:off x="3937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8" name="Freeform 1652" descr="深色竖线"/>
                <p:cNvSpPr/>
                <p:nvPr/>
              </p:nvSpPr>
              <p:spPr>
                <a:xfrm>
                  <a:off x="4012" y="2325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19" name="Freeform 1653" descr="深色竖线"/>
                <p:cNvSpPr/>
                <p:nvPr/>
              </p:nvSpPr>
              <p:spPr>
                <a:xfrm flipV="1">
                  <a:off x="3900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0" name="Freeform 1654" descr="深色竖线"/>
                <p:cNvSpPr/>
                <p:nvPr/>
              </p:nvSpPr>
              <p:spPr>
                <a:xfrm flipV="1">
                  <a:off x="3975" y="2494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1" name="Freeform 1655" descr="深色竖线"/>
                <p:cNvSpPr/>
                <p:nvPr/>
              </p:nvSpPr>
              <p:spPr>
                <a:xfrm flipV="1">
                  <a:off x="3598" y="2495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2" name="Freeform 1656" descr="深色竖线"/>
                <p:cNvSpPr/>
                <p:nvPr/>
              </p:nvSpPr>
              <p:spPr>
                <a:xfrm>
                  <a:off x="3635" y="2324"/>
                  <a:ext cx="38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3" name="Freeform 1657" descr="深色竖线"/>
                <p:cNvSpPr/>
                <p:nvPr/>
              </p:nvSpPr>
              <p:spPr>
                <a:xfrm>
                  <a:off x="3711" y="232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4" name="Freeform 1658" descr="深色竖线"/>
                <p:cNvSpPr/>
                <p:nvPr/>
              </p:nvSpPr>
              <p:spPr>
                <a:xfrm>
                  <a:off x="3786" y="232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5" name="Freeform 1659" descr="深色竖线"/>
                <p:cNvSpPr/>
                <p:nvPr/>
              </p:nvSpPr>
              <p:spPr>
                <a:xfrm flipV="1">
                  <a:off x="3673" y="2494"/>
                  <a:ext cx="38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6" name="Freeform 1660" descr="深色竖线"/>
                <p:cNvSpPr/>
                <p:nvPr/>
              </p:nvSpPr>
              <p:spPr>
                <a:xfrm flipV="1">
                  <a:off x="3748" y="2494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7" name="Freeform 1661" descr="深色竖线"/>
                <p:cNvSpPr/>
                <p:nvPr/>
              </p:nvSpPr>
              <p:spPr>
                <a:xfrm flipV="1">
                  <a:off x="3372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8" name="Freeform 1662" descr="深色竖线"/>
                <p:cNvSpPr/>
                <p:nvPr/>
              </p:nvSpPr>
              <p:spPr>
                <a:xfrm>
                  <a:off x="3409" y="2323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29" name="Freeform 1663" descr="深色竖线"/>
                <p:cNvSpPr/>
                <p:nvPr/>
              </p:nvSpPr>
              <p:spPr>
                <a:xfrm>
                  <a:off x="3484" y="2322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30" name="Freeform 1664" descr="深色竖线"/>
                <p:cNvSpPr/>
                <p:nvPr/>
              </p:nvSpPr>
              <p:spPr>
                <a:xfrm>
                  <a:off x="3559" y="2323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31" name="Freeform 1665" descr="深色竖线"/>
                <p:cNvSpPr/>
                <p:nvPr/>
              </p:nvSpPr>
              <p:spPr>
                <a:xfrm flipV="1">
                  <a:off x="3447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32" name="Freeform 1666" descr="深色竖线"/>
                <p:cNvSpPr/>
                <p:nvPr/>
              </p:nvSpPr>
              <p:spPr>
                <a:xfrm flipV="1">
                  <a:off x="3522" y="2492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33" name="Freeform 1667" descr="深色竖线"/>
                <p:cNvSpPr/>
                <p:nvPr/>
              </p:nvSpPr>
              <p:spPr>
                <a:xfrm flipV="1">
                  <a:off x="3147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34" name="Freeform 1668" descr="深色竖线"/>
                <p:cNvSpPr/>
                <p:nvPr/>
              </p:nvSpPr>
              <p:spPr>
                <a:xfrm>
                  <a:off x="3184" y="2323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35" name="Freeform 1669" descr="深色竖线"/>
                <p:cNvSpPr/>
                <p:nvPr/>
              </p:nvSpPr>
              <p:spPr>
                <a:xfrm>
                  <a:off x="3259" y="2322"/>
                  <a:ext cx="38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36" name="Freeform 1670" descr="深色竖线"/>
                <p:cNvSpPr/>
                <p:nvPr/>
              </p:nvSpPr>
              <p:spPr>
                <a:xfrm>
                  <a:off x="3334" y="2323"/>
                  <a:ext cx="38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37" name="Freeform 1671" descr="深色竖线"/>
                <p:cNvSpPr/>
                <p:nvPr/>
              </p:nvSpPr>
              <p:spPr>
                <a:xfrm flipV="1">
                  <a:off x="3222" y="2493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138" name="Freeform 1672" descr="深色竖线"/>
                <p:cNvSpPr/>
                <p:nvPr/>
              </p:nvSpPr>
              <p:spPr>
                <a:xfrm flipV="1">
                  <a:off x="3297" y="2492"/>
                  <a:ext cx="3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4" name="Group 1673"/>
          <p:cNvGrpSpPr/>
          <p:nvPr/>
        </p:nvGrpSpPr>
        <p:grpSpPr>
          <a:xfrm>
            <a:off x="1933575" y="4487863"/>
            <a:ext cx="6513513" cy="555625"/>
            <a:chOff x="639" y="2736"/>
            <a:chExt cx="4103" cy="350"/>
          </a:xfrm>
        </p:grpSpPr>
        <p:sp>
          <p:nvSpPr>
            <p:cNvPr id="22965" name="Rectangle 1674"/>
            <p:cNvSpPr/>
            <p:nvPr/>
          </p:nvSpPr>
          <p:spPr>
            <a:xfrm>
              <a:off x="639" y="2738"/>
              <a:ext cx="4103" cy="339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2966" name="Group 1675"/>
            <p:cNvGrpSpPr/>
            <p:nvPr/>
          </p:nvGrpSpPr>
          <p:grpSpPr>
            <a:xfrm>
              <a:off x="639" y="2736"/>
              <a:ext cx="4103" cy="350"/>
              <a:chOff x="639" y="2736"/>
              <a:chExt cx="4103" cy="350"/>
            </a:xfrm>
          </p:grpSpPr>
          <p:grpSp>
            <p:nvGrpSpPr>
              <p:cNvPr id="22967" name="Group 1676"/>
              <p:cNvGrpSpPr/>
              <p:nvPr/>
            </p:nvGrpSpPr>
            <p:grpSpPr>
              <a:xfrm>
                <a:off x="1658" y="2736"/>
                <a:ext cx="2445" cy="346"/>
                <a:chOff x="663" y="1835"/>
                <a:chExt cx="2445" cy="346"/>
              </a:xfrm>
            </p:grpSpPr>
            <p:sp>
              <p:nvSpPr>
                <p:cNvPr id="23015" name="Freeform 1677" descr="深色竖线"/>
                <p:cNvSpPr/>
                <p:nvPr/>
              </p:nvSpPr>
              <p:spPr>
                <a:xfrm flipV="1">
                  <a:off x="663" y="2007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16" name="Freeform 1678" descr="深色竖线"/>
                <p:cNvSpPr/>
                <p:nvPr/>
              </p:nvSpPr>
              <p:spPr>
                <a:xfrm>
                  <a:off x="679" y="1837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17" name="Freeform 1679" descr="深色竖线"/>
                <p:cNvSpPr/>
                <p:nvPr/>
              </p:nvSpPr>
              <p:spPr>
                <a:xfrm>
                  <a:off x="711" y="1836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18" name="Freeform 1680" descr="深色竖线"/>
                <p:cNvSpPr/>
                <p:nvPr/>
              </p:nvSpPr>
              <p:spPr>
                <a:xfrm>
                  <a:off x="743" y="1837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19" name="Freeform 1681" descr="深色竖线"/>
                <p:cNvSpPr/>
                <p:nvPr/>
              </p:nvSpPr>
              <p:spPr>
                <a:xfrm flipV="1">
                  <a:off x="695" y="2007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0" name="Freeform 1682" descr="深色竖线"/>
                <p:cNvSpPr/>
                <p:nvPr/>
              </p:nvSpPr>
              <p:spPr>
                <a:xfrm flipV="1">
                  <a:off x="727" y="2006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1" name="Freeform 1683" descr="深色竖线"/>
                <p:cNvSpPr/>
                <p:nvPr/>
              </p:nvSpPr>
              <p:spPr>
                <a:xfrm flipV="1">
                  <a:off x="1341" y="2009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2" name="Freeform 1684" descr="深色竖线"/>
                <p:cNvSpPr/>
                <p:nvPr/>
              </p:nvSpPr>
              <p:spPr>
                <a:xfrm>
                  <a:off x="1398" y="1838"/>
                  <a:ext cx="56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3" name="Freeform 1685" descr="深色竖线"/>
                <p:cNvSpPr/>
                <p:nvPr/>
              </p:nvSpPr>
              <p:spPr>
                <a:xfrm>
                  <a:off x="1511" y="1837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4" name="Freeform 1686" descr="深色竖线"/>
                <p:cNvSpPr/>
                <p:nvPr/>
              </p:nvSpPr>
              <p:spPr>
                <a:xfrm>
                  <a:off x="1625" y="1838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5" name="Freeform 1687" descr="深色竖线"/>
                <p:cNvSpPr/>
                <p:nvPr/>
              </p:nvSpPr>
              <p:spPr>
                <a:xfrm flipV="1">
                  <a:off x="1454" y="2008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6" name="Freeform 1688" descr="深色竖线"/>
                <p:cNvSpPr/>
                <p:nvPr/>
              </p:nvSpPr>
              <p:spPr>
                <a:xfrm flipV="1">
                  <a:off x="1568" y="2008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7" name="Freeform 1689" descr="深色竖线"/>
                <p:cNvSpPr/>
                <p:nvPr/>
              </p:nvSpPr>
              <p:spPr>
                <a:xfrm flipV="1">
                  <a:off x="1070" y="2010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8" name="Freeform 1690" descr="深色竖线"/>
                <p:cNvSpPr/>
                <p:nvPr/>
              </p:nvSpPr>
              <p:spPr>
                <a:xfrm>
                  <a:off x="1114" y="1840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29" name="Freeform 1691" descr="深色竖线"/>
                <p:cNvSpPr/>
                <p:nvPr/>
              </p:nvSpPr>
              <p:spPr>
                <a:xfrm>
                  <a:off x="1204" y="1839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0" name="Freeform 1692" descr="深色竖线"/>
                <p:cNvSpPr/>
                <p:nvPr/>
              </p:nvSpPr>
              <p:spPr>
                <a:xfrm>
                  <a:off x="1294" y="1840"/>
                  <a:ext cx="45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1" name="Freeform 1693" descr="深色竖线"/>
                <p:cNvSpPr/>
                <p:nvPr/>
              </p:nvSpPr>
              <p:spPr>
                <a:xfrm flipV="1">
                  <a:off x="1159" y="2010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2" name="Freeform 1694" descr="深色竖线"/>
                <p:cNvSpPr/>
                <p:nvPr/>
              </p:nvSpPr>
              <p:spPr>
                <a:xfrm flipV="1">
                  <a:off x="1249" y="2009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3" name="Freeform 1695" descr="深色竖线"/>
                <p:cNvSpPr/>
                <p:nvPr/>
              </p:nvSpPr>
              <p:spPr>
                <a:xfrm flipV="1">
                  <a:off x="887" y="2007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4" name="Freeform 1696" descr="深色竖线"/>
                <p:cNvSpPr/>
                <p:nvPr/>
              </p:nvSpPr>
              <p:spPr>
                <a:xfrm>
                  <a:off x="918" y="1837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5" name="Freeform 1697" descr="深色竖线"/>
                <p:cNvSpPr/>
                <p:nvPr/>
              </p:nvSpPr>
              <p:spPr>
                <a:xfrm>
                  <a:off x="980" y="1836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6" name="Freeform 1698" descr="深色竖线"/>
                <p:cNvSpPr/>
                <p:nvPr/>
              </p:nvSpPr>
              <p:spPr>
                <a:xfrm>
                  <a:off x="1041" y="1837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7" name="Freeform 1699" descr="深色竖线"/>
                <p:cNvSpPr/>
                <p:nvPr/>
              </p:nvSpPr>
              <p:spPr>
                <a:xfrm flipV="1">
                  <a:off x="949" y="2007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8" name="Freeform 1700" descr="深色竖线"/>
                <p:cNvSpPr/>
                <p:nvPr/>
              </p:nvSpPr>
              <p:spPr>
                <a:xfrm flipV="1">
                  <a:off x="1010" y="2006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39" name="Freeform 1701" descr="深色竖线"/>
                <p:cNvSpPr/>
                <p:nvPr/>
              </p:nvSpPr>
              <p:spPr>
                <a:xfrm flipV="1">
                  <a:off x="760" y="2008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0" name="Freeform 1702" descr="深色竖线"/>
                <p:cNvSpPr/>
                <p:nvPr/>
              </p:nvSpPr>
              <p:spPr>
                <a:xfrm>
                  <a:off x="782" y="183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1" name="Freeform 1703" descr="深色竖线"/>
                <p:cNvSpPr/>
                <p:nvPr/>
              </p:nvSpPr>
              <p:spPr>
                <a:xfrm>
                  <a:off x="824" y="1836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2" name="Freeform 1704" descr="深色竖线"/>
                <p:cNvSpPr/>
                <p:nvPr/>
              </p:nvSpPr>
              <p:spPr>
                <a:xfrm>
                  <a:off x="867" y="1837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3" name="Freeform 1705" descr="深色竖线"/>
                <p:cNvSpPr/>
                <p:nvPr/>
              </p:nvSpPr>
              <p:spPr>
                <a:xfrm flipV="1">
                  <a:off x="803" y="200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4" name="Freeform 1706" descr="深色竖线"/>
                <p:cNvSpPr/>
                <p:nvPr/>
              </p:nvSpPr>
              <p:spPr>
                <a:xfrm flipV="1">
                  <a:off x="845" y="2007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5" name="Freeform 1707" descr="深色竖线"/>
                <p:cNvSpPr/>
                <p:nvPr/>
              </p:nvSpPr>
              <p:spPr>
                <a:xfrm flipH="1">
                  <a:off x="1964" y="1836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6" name="Freeform 1708" descr="深色竖线"/>
                <p:cNvSpPr/>
                <p:nvPr/>
              </p:nvSpPr>
              <p:spPr>
                <a:xfrm flipH="1" flipV="1">
                  <a:off x="1908" y="2006"/>
                  <a:ext cx="56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7" name="Freeform 1709" descr="深色竖线"/>
                <p:cNvSpPr/>
                <p:nvPr/>
              </p:nvSpPr>
              <p:spPr>
                <a:xfrm flipH="1" flipV="1">
                  <a:off x="1794" y="2008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8" name="Freeform 1710" descr="深色竖线"/>
                <p:cNvSpPr/>
                <p:nvPr/>
              </p:nvSpPr>
              <p:spPr>
                <a:xfrm flipH="1" flipV="1">
                  <a:off x="1680" y="2007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49" name="Freeform 1711" descr="深色竖线"/>
                <p:cNvSpPr/>
                <p:nvPr/>
              </p:nvSpPr>
              <p:spPr>
                <a:xfrm flipH="1">
                  <a:off x="1851" y="1836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0" name="Freeform 1712" descr="深色竖线"/>
                <p:cNvSpPr/>
                <p:nvPr/>
              </p:nvSpPr>
              <p:spPr>
                <a:xfrm flipH="1">
                  <a:off x="1737" y="1837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1" name="Freeform 1713" descr="深色竖线"/>
                <p:cNvSpPr/>
                <p:nvPr/>
              </p:nvSpPr>
              <p:spPr>
                <a:xfrm flipH="1">
                  <a:off x="2248" y="1835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2" name="Freeform 1714" descr="深色竖线"/>
                <p:cNvSpPr/>
                <p:nvPr/>
              </p:nvSpPr>
              <p:spPr>
                <a:xfrm flipH="1" flipV="1">
                  <a:off x="2203" y="2005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3" name="Freeform 1715" descr="深色竖线"/>
                <p:cNvSpPr/>
                <p:nvPr/>
              </p:nvSpPr>
              <p:spPr>
                <a:xfrm flipH="1" flipV="1">
                  <a:off x="2113" y="2006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4" name="Freeform 1716" descr="深色竖线"/>
                <p:cNvSpPr/>
                <p:nvPr/>
              </p:nvSpPr>
              <p:spPr>
                <a:xfrm flipH="1" flipV="1">
                  <a:off x="2023" y="2006"/>
                  <a:ext cx="45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5" name="Freeform 1717" descr="深色竖线"/>
                <p:cNvSpPr/>
                <p:nvPr/>
              </p:nvSpPr>
              <p:spPr>
                <a:xfrm flipH="1">
                  <a:off x="2158" y="1835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6" name="Freeform 1718" descr="深色竖线"/>
                <p:cNvSpPr/>
                <p:nvPr/>
              </p:nvSpPr>
              <p:spPr>
                <a:xfrm flipH="1">
                  <a:off x="2068" y="1836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7" name="Freeform 1719" descr="深色竖线"/>
                <p:cNvSpPr/>
                <p:nvPr/>
              </p:nvSpPr>
              <p:spPr>
                <a:xfrm flipH="1">
                  <a:off x="2444" y="1838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8" name="Freeform 1720" descr="深色竖线"/>
                <p:cNvSpPr/>
                <p:nvPr/>
              </p:nvSpPr>
              <p:spPr>
                <a:xfrm flipH="1" flipV="1">
                  <a:off x="2413" y="2008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59" name="Freeform 1721" descr="深色竖线"/>
                <p:cNvSpPr/>
                <p:nvPr/>
              </p:nvSpPr>
              <p:spPr>
                <a:xfrm flipH="1" flipV="1">
                  <a:off x="2352" y="2009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0" name="Freeform 1722" descr="深色竖线"/>
                <p:cNvSpPr/>
                <p:nvPr/>
              </p:nvSpPr>
              <p:spPr>
                <a:xfrm flipH="1" flipV="1">
                  <a:off x="2290" y="2009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1" name="Freeform 1723" descr="深色竖线"/>
                <p:cNvSpPr/>
                <p:nvPr/>
              </p:nvSpPr>
              <p:spPr>
                <a:xfrm flipH="1">
                  <a:off x="2382" y="1838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2" name="Freeform 1724" descr="深色竖线"/>
                <p:cNvSpPr/>
                <p:nvPr/>
              </p:nvSpPr>
              <p:spPr>
                <a:xfrm flipH="1">
                  <a:off x="2321" y="1839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3" name="Freeform 1725" descr="深色竖线"/>
                <p:cNvSpPr/>
                <p:nvPr/>
              </p:nvSpPr>
              <p:spPr>
                <a:xfrm flipH="1" flipV="1">
                  <a:off x="2559" y="200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4" name="Freeform 1726" descr="深色竖线"/>
                <p:cNvSpPr/>
                <p:nvPr/>
              </p:nvSpPr>
              <p:spPr>
                <a:xfrm flipH="1" flipV="1">
                  <a:off x="2517" y="2009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5" name="Freeform 1727" descr="深色竖线"/>
                <p:cNvSpPr/>
                <p:nvPr/>
              </p:nvSpPr>
              <p:spPr>
                <a:xfrm flipH="1" flipV="1">
                  <a:off x="2474" y="2008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6" name="Freeform 1728" descr="深色竖线"/>
                <p:cNvSpPr/>
                <p:nvPr/>
              </p:nvSpPr>
              <p:spPr>
                <a:xfrm flipH="1">
                  <a:off x="2538" y="183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7" name="Freeform 1729" descr="深色竖线"/>
                <p:cNvSpPr/>
                <p:nvPr/>
              </p:nvSpPr>
              <p:spPr>
                <a:xfrm flipH="1">
                  <a:off x="2495" y="1838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8" name="Freeform 1730" descr="深色竖线"/>
                <p:cNvSpPr/>
                <p:nvPr/>
              </p:nvSpPr>
              <p:spPr>
                <a:xfrm flipH="1">
                  <a:off x="2683" y="183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69" name="Freeform 1731" descr="深色竖线"/>
                <p:cNvSpPr/>
                <p:nvPr/>
              </p:nvSpPr>
              <p:spPr>
                <a:xfrm flipH="1" flipV="1">
                  <a:off x="2667" y="200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0" name="Freeform 1732" descr="深色竖线"/>
                <p:cNvSpPr/>
                <p:nvPr/>
              </p:nvSpPr>
              <p:spPr>
                <a:xfrm flipH="1" flipV="1">
                  <a:off x="2635" y="200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1" name="Freeform 1733" descr="深色竖线"/>
                <p:cNvSpPr/>
                <p:nvPr/>
              </p:nvSpPr>
              <p:spPr>
                <a:xfrm flipH="1" flipV="1">
                  <a:off x="2603" y="2009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2" name="Freeform 1734" descr="深色竖线"/>
                <p:cNvSpPr/>
                <p:nvPr/>
              </p:nvSpPr>
              <p:spPr>
                <a:xfrm flipH="1">
                  <a:off x="2651" y="183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3" name="Freeform 1735" descr="深色竖线"/>
                <p:cNvSpPr/>
                <p:nvPr/>
              </p:nvSpPr>
              <p:spPr>
                <a:xfrm flipH="1">
                  <a:off x="2619" y="183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4" name="Freeform 1736" descr="深色竖线"/>
                <p:cNvSpPr/>
                <p:nvPr/>
              </p:nvSpPr>
              <p:spPr>
                <a:xfrm flipH="1">
                  <a:off x="2580" y="1837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5" name="Freeform 1737" descr="深色竖线"/>
                <p:cNvSpPr/>
                <p:nvPr/>
              </p:nvSpPr>
              <p:spPr>
                <a:xfrm flipV="1">
                  <a:off x="2699" y="201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6" name="Freeform 1738" descr="深色竖线"/>
                <p:cNvSpPr/>
                <p:nvPr/>
              </p:nvSpPr>
              <p:spPr>
                <a:xfrm>
                  <a:off x="2715" y="184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7" name="Freeform 1739" descr="深色竖线"/>
                <p:cNvSpPr/>
                <p:nvPr/>
              </p:nvSpPr>
              <p:spPr>
                <a:xfrm>
                  <a:off x="2747" y="183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8" name="Freeform 1740" descr="深色竖线"/>
                <p:cNvSpPr/>
                <p:nvPr/>
              </p:nvSpPr>
              <p:spPr>
                <a:xfrm>
                  <a:off x="2779" y="1840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79" name="Freeform 1741" descr="深色竖线"/>
                <p:cNvSpPr/>
                <p:nvPr/>
              </p:nvSpPr>
              <p:spPr>
                <a:xfrm flipV="1">
                  <a:off x="2731" y="201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0" name="Freeform 1742" descr="深色竖线"/>
                <p:cNvSpPr/>
                <p:nvPr/>
              </p:nvSpPr>
              <p:spPr>
                <a:xfrm flipV="1">
                  <a:off x="2763" y="200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1" name="Freeform 1743" descr="深色竖线"/>
                <p:cNvSpPr/>
                <p:nvPr/>
              </p:nvSpPr>
              <p:spPr>
                <a:xfrm flipV="1">
                  <a:off x="2923" y="201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2" name="Freeform 1744" descr="深色竖线"/>
                <p:cNvSpPr/>
                <p:nvPr/>
              </p:nvSpPr>
              <p:spPr>
                <a:xfrm>
                  <a:off x="2954" y="184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3" name="Freeform 1745" descr="深色竖线"/>
                <p:cNvSpPr/>
                <p:nvPr/>
              </p:nvSpPr>
              <p:spPr>
                <a:xfrm>
                  <a:off x="3016" y="1839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4" name="Freeform 1746" descr="深色竖线"/>
                <p:cNvSpPr/>
                <p:nvPr/>
              </p:nvSpPr>
              <p:spPr>
                <a:xfrm>
                  <a:off x="3077" y="1840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5" name="Freeform 1747" descr="深色竖线"/>
                <p:cNvSpPr/>
                <p:nvPr/>
              </p:nvSpPr>
              <p:spPr>
                <a:xfrm flipV="1">
                  <a:off x="2985" y="201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6" name="Freeform 1748" descr="深色竖线"/>
                <p:cNvSpPr/>
                <p:nvPr/>
              </p:nvSpPr>
              <p:spPr>
                <a:xfrm flipV="1">
                  <a:off x="3046" y="2009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7" name="Freeform 1749" descr="深色竖线"/>
                <p:cNvSpPr/>
                <p:nvPr/>
              </p:nvSpPr>
              <p:spPr>
                <a:xfrm flipV="1">
                  <a:off x="2796" y="2011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8" name="Freeform 1750" descr="深色竖线"/>
                <p:cNvSpPr/>
                <p:nvPr/>
              </p:nvSpPr>
              <p:spPr>
                <a:xfrm>
                  <a:off x="2818" y="1840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89" name="Freeform 1751" descr="深色竖线"/>
                <p:cNvSpPr/>
                <p:nvPr/>
              </p:nvSpPr>
              <p:spPr>
                <a:xfrm>
                  <a:off x="2860" y="1839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90" name="Freeform 1752" descr="深色竖线"/>
                <p:cNvSpPr/>
                <p:nvPr/>
              </p:nvSpPr>
              <p:spPr>
                <a:xfrm>
                  <a:off x="2903" y="1840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91" name="Freeform 1753" descr="深色竖线"/>
                <p:cNvSpPr/>
                <p:nvPr/>
              </p:nvSpPr>
              <p:spPr>
                <a:xfrm flipV="1">
                  <a:off x="2839" y="2010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092" name="Freeform 1754" descr="深色竖线"/>
                <p:cNvSpPr/>
                <p:nvPr/>
              </p:nvSpPr>
              <p:spPr>
                <a:xfrm flipV="1">
                  <a:off x="2881" y="2010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2968" name="Freeform 1755" descr="深色竖线"/>
              <p:cNvSpPr/>
              <p:nvPr/>
            </p:nvSpPr>
            <p:spPr>
              <a:xfrm flipH="1">
                <a:off x="1642" y="2745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69" name="Freeform 1756" descr="深色竖线"/>
              <p:cNvSpPr/>
              <p:nvPr/>
            </p:nvSpPr>
            <p:spPr>
              <a:xfrm flipH="1" flipV="1">
                <a:off x="1626" y="2915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70" name="Freeform 1757" descr="深色竖线"/>
              <p:cNvSpPr/>
              <p:nvPr/>
            </p:nvSpPr>
            <p:spPr>
              <a:xfrm flipH="1" flipV="1">
                <a:off x="1594" y="2916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71" name="Freeform 1758" descr="深色竖线"/>
              <p:cNvSpPr/>
              <p:nvPr/>
            </p:nvSpPr>
            <p:spPr>
              <a:xfrm flipH="1" flipV="1">
                <a:off x="1562" y="2916"/>
                <a:ext cx="16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72" name="Freeform 1759" descr="深色竖线"/>
              <p:cNvSpPr/>
              <p:nvPr/>
            </p:nvSpPr>
            <p:spPr>
              <a:xfrm flipH="1">
                <a:off x="1610" y="2745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73" name="Freeform 1760" descr="深色竖线"/>
              <p:cNvSpPr/>
              <p:nvPr/>
            </p:nvSpPr>
            <p:spPr>
              <a:xfrm flipH="1">
                <a:off x="1578" y="2746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74" name="Freeform 1761" descr="深色竖线"/>
              <p:cNvSpPr/>
              <p:nvPr/>
            </p:nvSpPr>
            <p:spPr>
              <a:xfrm flipH="1">
                <a:off x="923" y="2743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75" name="Freeform 1762" descr="深色竖线"/>
              <p:cNvSpPr/>
              <p:nvPr/>
            </p:nvSpPr>
            <p:spPr>
              <a:xfrm flipH="1" flipV="1">
                <a:off x="867" y="2913"/>
                <a:ext cx="56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76" name="Freeform 1763" descr="深色竖线"/>
              <p:cNvSpPr/>
              <p:nvPr/>
            </p:nvSpPr>
            <p:spPr>
              <a:xfrm flipH="1" flipV="1">
                <a:off x="753" y="2915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77" name="Freeform 1764" descr="深色竖线"/>
              <p:cNvSpPr/>
              <p:nvPr/>
            </p:nvSpPr>
            <p:spPr>
              <a:xfrm flipH="1" flipV="1">
                <a:off x="639" y="2914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78" name="Freeform 1765" descr="深色竖线"/>
              <p:cNvSpPr/>
              <p:nvPr/>
            </p:nvSpPr>
            <p:spPr>
              <a:xfrm flipH="1">
                <a:off x="810" y="2743"/>
                <a:ext cx="57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79" name="Freeform 1766" descr="深色竖线"/>
              <p:cNvSpPr/>
              <p:nvPr/>
            </p:nvSpPr>
            <p:spPr>
              <a:xfrm flipH="1">
                <a:off x="696" y="2744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80" name="Freeform 1767" descr="深色竖线"/>
              <p:cNvSpPr/>
              <p:nvPr/>
            </p:nvSpPr>
            <p:spPr>
              <a:xfrm flipH="1">
                <a:off x="1207" y="2742"/>
                <a:ext cx="44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81" name="Freeform 1768" descr="深色竖线"/>
              <p:cNvSpPr/>
              <p:nvPr/>
            </p:nvSpPr>
            <p:spPr>
              <a:xfrm flipH="1" flipV="1">
                <a:off x="1162" y="2912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82" name="Freeform 1769" descr="深色竖线"/>
              <p:cNvSpPr/>
              <p:nvPr/>
            </p:nvSpPr>
            <p:spPr>
              <a:xfrm flipH="1" flipV="1">
                <a:off x="1072" y="2913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83" name="Freeform 1770" descr="深色竖线"/>
              <p:cNvSpPr/>
              <p:nvPr/>
            </p:nvSpPr>
            <p:spPr>
              <a:xfrm flipH="1" flipV="1">
                <a:off x="982" y="2913"/>
                <a:ext cx="45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84" name="Freeform 1771" descr="深色竖线"/>
              <p:cNvSpPr/>
              <p:nvPr/>
            </p:nvSpPr>
            <p:spPr>
              <a:xfrm flipH="1">
                <a:off x="1117" y="2742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85" name="Freeform 1772" descr="深色竖线"/>
              <p:cNvSpPr/>
              <p:nvPr/>
            </p:nvSpPr>
            <p:spPr>
              <a:xfrm flipH="1">
                <a:off x="1027" y="2743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86" name="Freeform 1773" descr="深色竖线"/>
              <p:cNvSpPr/>
              <p:nvPr/>
            </p:nvSpPr>
            <p:spPr>
              <a:xfrm flipH="1">
                <a:off x="1403" y="2745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87" name="Freeform 1774" descr="深色竖线"/>
              <p:cNvSpPr/>
              <p:nvPr/>
            </p:nvSpPr>
            <p:spPr>
              <a:xfrm flipH="1" flipV="1">
                <a:off x="1372" y="2915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88" name="Freeform 1775" descr="深色竖线"/>
              <p:cNvSpPr/>
              <p:nvPr/>
            </p:nvSpPr>
            <p:spPr>
              <a:xfrm flipH="1" flipV="1">
                <a:off x="1311" y="2916"/>
                <a:ext cx="30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89" name="Freeform 1776" descr="深色竖线"/>
              <p:cNvSpPr/>
              <p:nvPr/>
            </p:nvSpPr>
            <p:spPr>
              <a:xfrm flipH="1" flipV="1">
                <a:off x="1249" y="2916"/>
                <a:ext cx="31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90" name="Freeform 1777" descr="深色竖线"/>
              <p:cNvSpPr/>
              <p:nvPr/>
            </p:nvSpPr>
            <p:spPr>
              <a:xfrm flipH="1">
                <a:off x="1341" y="2745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91" name="Freeform 1778" descr="深色竖线"/>
              <p:cNvSpPr/>
              <p:nvPr/>
            </p:nvSpPr>
            <p:spPr>
              <a:xfrm flipH="1">
                <a:off x="1280" y="2746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92" name="Freeform 1779" descr="深色竖线"/>
              <p:cNvSpPr/>
              <p:nvPr/>
            </p:nvSpPr>
            <p:spPr>
              <a:xfrm flipH="1">
                <a:off x="1539" y="2744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93" name="Freeform 1780" descr="深色竖线"/>
              <p:cNvSpPr/>
              <p:nvPr/>
            </p:nvSpPr>
            <p:spPr>
              <a:xfrm flipH="1" flipV="1">
                <a:off x="1518" y="2914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94" name="Freeform 1781" descr="深色竖线"/>
              <p:cNvSpPr/>
              <p:nvPr/>
            </p:nvSpPr>
            <p:spPr>
              <a:xfrm flipH="1" flipV="1">
                <a:off x="1476" y="2916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95" name="Freeform 1782" descr="深色竖线"/>
              <p:cNvSpPr/>
              <p:nvPr/>
            </p:nvSpPr>
            <p:spPr>
              <a:xfrm flipH="1" flipV="1">
                <a:off x="1433" y="2915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96" name="Freeform 1783" descr="深色竖线"/>
              <p:cNvSpPr/>
              <p:nvPr/>
            </p:nvSpPr>
            <p:spPr>
              <a:xfrm flipH="1">
                <a:off x="1497" y="2744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97" name="Freeform 1784" descr="深色竖线"/>
              <p:cNvSpPr/>
              <p:nvPr/>
            </p:nvSpPr>
            <p:spPr>
              <a:xfrm flipH="1">
                <a:off x="1454" y="2745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98" name="Freeform 1785" descr="深色竖线"/>
              <p:cNvSpPr/>
              <p:nvPr/>
            </p:nvSpPr>
            <p:spPr>
              <a:xfrm flipV="1">
                <a:off x="4555" y="291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99" name="Freeform 1786" descr="深色竖线"/>
              <p:cNvSpPr/>
              <p:nvPr/>
            </p:nvSpPr>
            <p:spPr>
              <a:xfrm>
                <a:off x="4592" y="2740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00" name="Freeform 1787" descr="深色竖线"/>
              <p:cNvSpPr/>
              <p:nvPr/>
            </p:nvSpPr>
            <p:spPr>
              <a:xfrm>
                <a:off x="4667" y="2739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01" name="Freeform 1788" descr="深色竖线"/>
              <p:cNvSpPr/>
              <p:nvPr/>
            </p:nvSpPr>
            <p:spPr>
              <a:xfrm flipV="1">
                <a:off x="4630" y="291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02" name="Freeform 1789" descr="深色竖线"/>
              <p:cNvSpPr/>
              <p:nvPr/>
            </p:nvSpPr>
            <p:spPr>
              <a:xfrm flipV="1">
                <a:off x="4705" y="2909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03" name="Freeform 1790" descr="深色竖线"/>
              <p:cNvSpPr/>
              <p:nvPr/>
            </p:nvSpPr>
            <p:spPr>
              <a:xfrm flipV="1">
                <a:off x="4328" y="2910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04" name="Freeform 1791" descr="深色竖线"/>
              <p:cNvSpPr/>
              <p:nvPr/>
            </p:nvSpPr>
            <p:spPr>
              <a:xfrm>
                <a:off x="4365" y="2741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05" name="Freeform 1792" descr="深色竖线"/>
              <p:cNvSpPr/>
              <p:nvPr/>
            </p:nvSpPr>
            <p:spPr>
              <a:xfrm>
                <a:off x="4440" y="2740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06" name="Freeform 1793" descr="深色竖线"/>
              <p:cNvSpPr/>
              <p:nvPr/>
            </p:nvSpPr>
            <p:spPr>
              <a:xfrm>
                <a:off x="4515" y="2741"/>
                <a:ext cx="38" cy="16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07" name="Freeform 1794" descr="深色竖线"/>
              <p:cNvSpPr/>
              <p:nvPr/>
            </p:nvSpPr>
            <p:spPr>
              <a:xfrm flipV="1">
                <a:off x="4403" y="2910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08" name="Freeform 1795" descr="深色竖线"/>
              <p:cNvSpPr/>
              <p:nvPr/>
            </p:nvSpPr>
            <p:spPr>
              <a:xfrm flipV="1">
                <a:off x="4478" y="2909"/>
                <a:ext cx="37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09" name="Freeform 1796" descr="深色竖线"/>
              <p:cNvSpPr/>
              <p:nvPr/>
            </p:nvSpPr>
            <p:spPr>
              <a:xfrm flipV="1">
                <a:off x="4102" y="2911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10" name="Freeform 1797" descr="深色竖线"/>
              <p:cNvSpPr/>
              <p:nvPr/>
            </p:nvSpPr>
            <p:spPr>
              <a:xfrm>
                <a:off x="4139" y="2741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11" name="Freeform 1798" descr="深色竖线"/>
              <p:cNvSpPr/>
              <p:nvPr/>
            </p:nvSpPr>
            <p:spPr>
              <a:xfrm>
                <a:off x="4214" y="2740"/>
                <a:ext cx="38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12" name="Freeform 1799" descr="深色竖线"/>
              <p:cNvSpPr/>
              <p:nvPr/>
            </p:nvSpPr>
            <p:spPr>
              <a:xfrm>
                <a:off x="4289" y="2741"/>
                <a:ext cx="38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13" name="Freeform 1800" descr="深色竖线"/>
              <p:cNvSpPr/>
              <p:nvPr/>
            </p:nvSpPr>
            <p:spPr>
              <a:xfrm flipV="1">
                <a:off x="4177" y="2911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14" name="Freeform 1801" descr="深色竖线"/>
              <p:cNvSpPr/>
              <p:nvPr/>
            </p:nvSpPr>
            <p:spPr>
              <a:xfrm flipV="1">
                <a:off x="4252" y="2910"/>
                <a:ext cx="3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1802"/>
          <p:cNvGrpSpPr/>
          <p:nvPr/>
        </p:nvGrpSpPr>
        <p:grpSpPr>
          <a:xfrm>
            <a:off x="1954213" y="4484688"/>
            <a:ext cx="6472237" cy="555625"/>
            <a:chOff x="667" y="3553"/>
            <a:chExt cx="4077" cy="350"/>
          </a:xfrm>
        </p:grpSpPr>
        <p:sp>
          <p:nvSpPr>
            <p:cNvPr id="22841" name="Rectangle 1803"/>
            <p:cNvSpPr/>
            <p:nvPr/>
          </p:nvSpPr>
          <p:spPr>
            <a:xfrm>
              <a:off x="667" y="3555"/>
              <a:ext cx="4077" cy="34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2842" name="Group 1804"/>
            <p:cNvGrpSpPr/>
            <p:nvPr/>
          </p:nvGrpSpPr>
          <p:grpSpPr>
            <a:xfrm>
              <a:off x="668" y="3553"/>
              <a:ext cx="4076" cy="348"/>
              <a:chOff x="663" y="1835"/>
              <a:chExt cx="4076" cy="348"/>
            </a:xfrm>
          </p:grpSpPr>
          <p:sp>
            <p:nvSpPr>
              <p:cNvPr id="22843" name="Freeform 1805" descr="深色竖线"/>
              <p:cNvSpPr/>
              <p:nvPr/>
            </p:nvSpPr>
            <p:spPr>
              <a:xfrm flipV="1">
                <a:off x="3106" y="2013"/>
                <a:ext cx="44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844" name="Freeform 1806" descr="深色竖线"/>
              <p:cNvSpPr/>
              <p:nvPr/>
            </p:nvSpPr>
            <p:spPr>
              <a:xfrm>
                <a:off x="3150" y="1843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845" name="Group 1807"/>
              <p:cNvGrpSpPr/>
              <p:nvPr/>
            </p:nvGrpSpPr>
            <p:grpSpPr>
              <a:xfrm>
                <a:off x="663" y="1835"/>
                <a:ext cx="2445" cy="346"/>
                <a:chOff x="663" y="1835"/>
                <a:chExt cx="2445" cy="346"/>
              </a:xfrm>
            </p:grpSpPr>
            <p:sp>
              <p:nvSpPr>
                <p:cNvPr id="22887" name="Freeform 1808" descr="深色竖线"/>
                <p:cNvSpPr/>
                <p:nvPr/>
              </p:nvSpPr>
              <p:spPr>
                <a:xfrm flipV="1">
                  <a:off x="663" y="2007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88" name="Freeform 1809" descr="深色竖线"/>
                <p:cNvSpPr/>
                <p:nvPr/>
              </p:nvSpPr>
              <p:spPr>
                <a:xfrm>
                  <a:off x="679" y="1837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89" name="Freeform 1810" descr="深色竖线"/>
                <p:cNvSpPr/>
                <p:nvPr/>
              </p:nvSpPr>
              <p:spPr>
                <a:xfrm>
                  <a:off x="711" y="1836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0" name="Freeform 1811" descr="深色竖线"/>
                <p:cNvSpPr/>
                <p:nvPr/>
              </p:nvSpPr>
              <p:spPr>
                <a:xfrm>
                  <a:off x="743" y="1837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1" name="Freeform 1812" descr="深色竖线"/>
                <p:cNvSpPr/>
                <p:nvPr/>
              </p:nvSpPr>
              <p:spPr>
                <a:xfrm flipV="1">
                  <a:off x="695" y="2007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2" name="Freeform 1813" descr="深色竖线"/>
                <p:cNvSpPr/>
                <p:nvPr/>
              </p:nvSpPr>
              <p:spPr>
                <a:xfrm flipV="1">
                  <a:off x="727" y="2006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3" name="Freeform 1814" descr="深色竖线"/>
                <p:cNvSpPr/>
                <p:nvPr/>
              </p:nvSpPr>
              <p:spPr>
                <a:xfrm flipV="1">
                  <a:off x="1341" y="2009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4" name="Freeform 1815" descr="深色竖线"/>
                <p:cNvSpPr/>
                <p:nvPr/>
              </p:nvSpPr>
              <p:spPr>
                <a:xfrm>
                  <a:off x="1398" y="1838"/>
                  <a:ext cx="56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5" name="Freeform 1816" descr="深色竖线"/>
                <p:cNvSpPr/>
                <p:nvPr/>
              </p:nvSpPr>
              <p:spPr>
                <a:xfrm>
                  <a:off x="1511" y="1837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6" name="Freeform 1817" descr="深色竖线"/>
                <p:cNvSpPr/>
                <p:nvPr/>
              </p:nvSpPr>
              <p:spPr>
                <a:xfrm>
                  <a:off x="1625" y="1838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7" name="Freeform 1818" descr="深色竖线"/>
                <p:cNvSpPr/>
                <p:nvPr/>
              </p:nvSpPr>
              <p:spPr>
                <a:xfrm flipV="1">
                  <a:off x="1454" y="2008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8" name="Freeform 1819" descr="深色竖线"/>
                <p:cNvSpPr/>
                <p:nvPr/>
              </p:nvSpPr>
              <p:spPr>
                <a:xfrm flipV="1">
                  <a:off x="1568" y="2008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99" name="Freeform 1820" descr="深色竖线"/>
                <p:cNvSpPr/>
                <p:nvPr/>
              </p:nvSpPr>
              <p:spPr>
                <a:xfrm flipV="1">
                  <a:off x="1070" y="2010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0" name="Freeform 1821" descr="深色竖线"/>
                <p:cNvSpPr/>
                <p:nvPr/>
              </p:nvSpPr>
              <p:spPr>
                <a:xfrm>
                  <a:off x="1114" y="1840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1" name="Freeform 1822" descr="深色竖线"/>
                <p:cNvSpPr/>
                <p:nvPr/>
              </p:nvSpPr>
              <p:spPr>
                <a:xfrm>
                  <a:off x="1204" y="1839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2" name="Freeform 1823" descr="深色竖线"/>
                <p:cNvSpPr/>
                <p:nvPr/>
              </p:nvSpPr>
              <p:spPr>
                <a:xfrm>
                  <a:off x="1294" y="1840"/>
                  <a:ext cx="45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3" name="Freeform 1824" descr="深色竖线"/>
                <p:cNvSpPr/>
                <p:nvPr/>
              </p:nvSpPr>
              <p:spPr>
                <a:xfrm flipV="1">
                  <a:off x="1159" y="2010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4" name="Freeform 1825" descr="深色竖线"/>
                <p:cNvSpPr/>
                <p:nvPr/>
              </p:nvSpPr>
              <p:spPr>
                <a:xfrm flipV="1">
                  <a:off x="1249" y="2009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5" name="Freeform 1826" descr="深色竖线"/>
                <p:cNvSpPr/>
                <p:nvPr/>
              </p:nvSpPr>
              <p:spPr>
                <a:xfrm flipV="1">
                  <a:off x="887" y="2007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6" name="Freeform 1827" descr="深色竖线"/>
                <p:cNvSpPr/>
                <p:nvPr/>
              </p:nvSpPr>
              <p:spPr>
                <a:xfrm>
                  <a:off x="918" y="1837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7" name="Freeform 1828" descr="深色竖线"/>
                <p:cNvSpPr/>
                <p:nvPr/>
              </p:nvSpPr>
              <p:spPr>
                <a:xfrm>
                  <a:off x="980" y="1836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8" name="Freeform 1829" descr="深色竖线"/>
                <p:cNvSpPr/>
                <p:nvPr/>
              </p:nvSpPr>
              <p:spPr>
                <a:xfrm>
                  <a:off x="1041" y="1837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09" name="Freeform 1830" descr="深色竖线"/>
                <p:cNvSpPr/>
                <p:nvPr/>
              </p:nvSpPr>
              <p:spPr>
                <a:xfrm flipV="1">
                  <a:off x="949" y="2007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0" name="Freeform 1831" descr="深色竖线"/>
                <p:cNvSpPr/>
                <p:nvPr/>
              </p:nvSpPr>
              <p:spPr>
                <a:xfrm flipV="1">
                  <a:off x="1010" y="2006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1" name="Freeform 1832" descr="深色竖线"/>
                <p:cNvSpPr/>
                <p:nvPr/>
              </p:nvSpPr>
              <p:spPr>
                <a:xfrm flipV="1">
                  <a:off x="760" y="2008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2" name="Freeform 1833" descr="深色竖线"/>
                <p:cNvSpPr/>
                <p:nvPr/>
              </p:nvSpPr>
              <p:spPr>
                <a:xfrm>
                  <a:off x="782" y="183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3" name="Freeform 1834" descr="深色竖线"/>
                <p:cNvSpPr/>
                <p:nvPr/>
              </p:nvSpPr>
              <p:spPr>
                <a:xfrm>
                  <a:off x="824" y="1836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4" name="Freeform 1835" descr="深色竖线"/>
                <p:cNvSpPr/>
                <p:nvPr/>
              </p:nvSpPr>
              <p:spPr>
                <a:xfrm>
                  <a:off x="867" y="1837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5" name="Freeform 1836" descr="深色竖线"/>
                <p:cNvSpPr/>
                <p:nvPr/>
              </p:nvSpPr>
              <p:spPr>
                <a:xfrm flipV="1">
                  <a:off x="803" y="200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6" name="Freeform 1837" descr="深色竖线"/>
                <p:cNvSpPr/>
                <p:nvPr/>
              </p:nvSpPr>
              <p:spPr>
                <a:xfrm flipV="1">
                  <a:off x="845" y="2007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7" name="Freeform 1838" descr="深色竖线"/>
                <p:cNvSpPr/>
                <p:nvPr/>
              </p:nvSpPr>
              <p:spPr>
                <a:xfrm flipH="1">
                  <a:off x="1964" y="1836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8" name="Freeform 1839" descr="深色竖线"/>
                <p:cNvSpPr/>
                <p:nvPr/>
              </p:nvSpPr>
              <p:spPr>
                <a:xfrm flipH="1" flipV="1">
                  <a:off x="1908" y="2006"/>
                  <a:ext cx="56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19" name="Freeform 1840" descr="深色竖线"/>
                <p:cNvSpPr/>
                <p:nvPr/>
              </p:nvSpPr>
              <p:spPr>
                <a:xfrm flipH="1" flipV="1">
                  <a:off x="1794" y="2008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0" name="Freeform 1841" descr="深色竖线"/>
                <p:cNvSpPr/>
                <p:nvPr/>
              </p:nvSpPr>
              <p:spPr>
                <a:xfrm flipH="1" flipV="1">
                  <a:off x="1680" y="2007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1" name="Freeform 1842" descr="深色竖线"/>
                <p:cNvSpPr/>
                <p:nvPr/>
              </p:nvSpPr>
              <p:spPr>
                <a:xfrm flipH="1">
                  <a:off x="1851" y="1836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2" name="Freeform 1843" descr="深色竖线"/>
                <p:cNvSpPr/>
                <p:nvPr/>
              </p:nvSpPr>
              <p:spPr>
                <a:xfrm flipH="1">
                  <a:off x="1737" y="1837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3" name="Freeform 1844" descr="深色竖线"/>
                <p:cNvSpPr/>
                <p:nvPr/>
              </p:nvSpPr>
              <p:spPr>
                <a:xfrm flipH="1">
                  <a:off x="2248" y="1835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4" name="Freeform 1845" descr="深色竖线"/>
                <p:cNvSpPr/>
                <p:nvPr/>
              </p:nvSpPr>
              <p:spPr>
                <a:xfrm flipH="1" flipV="1">
                  <a:off x="2203" y="2005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5" name="Freeform 1846" descr="深色竖线"/>
                <p:cNvSpPr/>
                <p:nvPr/>
              </p:nvSpPr>
              <p:spPr>
                <a:xfrm flipH="1" flipV="1">
                  <a:off x="2113" y="2006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6" name="Freeform 1847" descr="深色竖线"/>
                <p:cNvSpPr/>
                <p:nvPr/>
              </p:nvSpPr>
              <p:spPr>
                <a:xfrm flipH="1" flipV="1">
                  <a:off x="2023" y="2006"/>
                  <a:ext cx="45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7" name="Freeform 1848" descr="深色竖线"/>
                <p:cNvSpPr/>
                <p:nvPr/>
              </p:nvSpPr>
              <p:spPr>
                <a:xfrm flipH="1">
                  <a:off x="2158" y="1835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8" name="Freeform 1849" descr="深色竖线"/>
                <p:cNvSpPr/>
                <p:nvPr/>
              </p:nvSpPr>
              <p:spPr>
                <a:xfrm flipH="1">
                  <a:off x="2068" y="1836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29" name="Freeform 1850" descr="深色竖线"/>
                <p:cNvSpPr/>
                <p:nvPr/>
              </p:nvSpPr>
              <p:spPr>
                <a:xfrm flipH="1">
                  <a:off x="2444" y="1838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0" name="Freeform 1851" descr="深色竖线"/>
                <p:cNvSpPr/>
                <p:nvPr/>
              </p:nvSpPr>
              <p:spPr>
                <a:xfrm flipH="1" flipV="1">
                  <a:off x="2413" y="2008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1" name="Freeform 1852" descr="深色竖线"/>
                <p:cNvSpPr/>
                <p:nvPr/>
              </p:nvSpPr>
              <p:spPr>
                <a:xfrm flipH="1" flipV="1">
                  <a:off x="2352" y="2009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2" name="Freeform 1853" descr="深色竖线"/>
                <p:cNvSpPr/>
                <p:nvPr/>
              </p:nvSpPr>
              <p:spPr>
                <a:xfrm flipH="1" flipV="1">
                  <a:off x="2290" y="2009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3" name="Freeform 1854" descr="深色竖线"/>
                <p:cNvSpPr/>
                <p:nvPr/>
              </p:nvSpPr>
              <p:spPr>
                <a:xfrm flipH="1">
                  <a:off x="2382" y="1838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4" name="Freeform 1855" descr="深色竖线"/>
                <p:cNvSpPr/>
                <p:nvPr/>
              </p:nvSpPr>
              <p:spPr>
                <a:xfrm flipH="1">
                  <a:off x="2321" y="1839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5" name="Freeform 1856" descr="深色竖线"/>
                <p:cNvSpPr/>
                <p:nvPr/>
              </p:nvSpPr>
              <p:spPr>
                <a:xfrm flipH="1" flipV="1">
                  <a:off x="2559" y="200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6" name="Freeform 1857" descr="深色竖线"/>
                <p:cNvSpPr/>
                <p:nvPr/>
              </p:nvSpPr>
              <p:spPr>
                <a:xfrm flipH="1" flipV="1">
                  <a:off x="2517" y="2009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7" name="Freeform 1858" descr="深色竖线"/>
                <p:cNvSpPr/>
                <p:nvPr/>
              </p:nvSpPr>
              <p:spPr>
                <a:xfrm flipH="1" flipV="1">
                  <a:off x="2474" y="2008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8" name="Freeform 1859" descr="深色竖线"/>
                <p:cNvSpPr/>
                <p:nvPr/>
              </p:nvSpPr>
              <p:spPr>
                <a:xfrm flipH="1">
                  <a:off x="2538" y="183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39" name="Freeform 1860" descr="深色竖线"/>
                <p:cNvSpPr/>
                <p:nvPr/>
              </p:nvSpPr>
              <p:spPr>
                <a:xfrm flipH="1">
                  <a:off x="2495" y="1838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0" name="Freeform 1861" descr="深色竖线"/>
                <p:cNvSpPr/>
                <p:nvPr/>
              </p:nvSpPr>
              <p:spPr>
                <a:xfrm flipH="1">
                  <a:off x="2683" y="183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1" name="Freeform 1862" descr="深色竖线"/>
                <p:cNvSpPr/>
                <p:nvPr/>
              </p:nvSpPr>
              <p:spPr>
                <a:xfrm flipH="1" flipV="1">
                  <a:off x="2667" y="200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2" name="Freeform 1863" descr="深色竖线"/>
                <p:cNvSpPr/>
                <p:nvPr/>
              </p:nvSpPr>
              <p:spPr>
                <a:xfrm flipH="1" flipV="1">
                  <a:off x="2635" y="200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3" name="Freeform 1864" descr="深色竖线"/>
                <p:cNvSpPr/>
                <p:nvPr/>
              </p:nvSpPr>
              <p:spPr>
                <a:xfrm flipH="1" flipV="1">
                  <a:off x="2603" y="2009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4" name="Freeform 1865" descr="深色竖线"/>
                <p:cNvSpPr/>
                <p:nvPr/>
              </p:nvSpPr>
              <p:spPr>
                <a:xfrm flipH="1">
                  <a:off x="2651" y="183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5" name="Freeform 1866" descr="深色竖线"/>
                <p:cNvSpPr/>
                <p:nvPr/>
              </p:nvSpPr>
              <p:spPr>
                <a:xfrm flipH="1">
                  <a:off x="2619" y="183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6" name="Freeform 1867" descr="深色竖线"/>
                <p:cNvSpPr/>
                <p:nvPr/>
              </p:nvSpPr>
              <p:spPr>
                <a:xfrm flipH="1">
                  <a:off x="2580" y="1837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7" name="Freeform 1868" descr="深色竖线"/>
                <p:cNvSpPr/>
                <p:nvPr/>
              </p:nvSpPr>
              <p:spPr>
                <a:xfrm flipV="1">
                  <a:off x="2699" y="201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8" name="Freeform 1869" descr="深色竖线"/>
                <p:cNvSpPr/>
                <p:nvPr/>
              </p:nvSpPr>
              <p:spPr>
                <a:xfrm>
                  <a:off x="2715" y="184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49" name="Freeform 1870" descr="深色竖线"/>
                <p:cNvSpPr/>
                <p:nvPr/>
              </p:nvSpPr>
              <p:spPr>
                <a:xfrm>
                  <a:off x="2747" y="183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0" name="Freeform 1871" descr="深色竖线"/>
                <p:cNvSpPr/>
                <p:nvPr/>
              </p:nvSpPr>
              <p:spPr>
                <a:xfrm>
                  <a:off x="2779" y="1840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1" name="Freeform 1872" descr="深色竖线"/>
                <p:cNvSpPr/>
                <p:nvPr/>
              </p:nvSpPr>
              <p:spPr>
                <a:xfrm flipV="1">
                  <a:off x="2731" y="201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2" name="Freeform 1873" descr="深色竖线"/>
                <p:cNvSpPr/>
                <p:nvPr/>
              </p:nvSpPr>
              <p:spPr>
                <a:xfrm flipV="1">
                  <a:off x="2763" y="200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3" name="Freeform 1874" descr="深色竖线"/>
                <p:cNvSpPr/>
                <p:nvPr/>
              </p:nvSpPr>
              <p:spPr>
                <a:xfrm flipV="1">
                  <a:off x="2923" y="201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4" name="Freeform 1875" descr="深色竖线"/>
                <p:cNvSpPr/>
                <p:nvPr/>
              </p:nvSpPr>
              <p:spPr>
                <a:xfrm>
                  <a:off x="2954" y="184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5" name="Freeform 1876" descr="深色竖线"/>
                <p:cNvSpPr/>
                <p:nvPr/>
              </p:nvSpPr>
              <p:spPr>
                <a:xfrm>
                  <a:off x="3016" y="1839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6" name="Freeform 1877" descr="深色竖线"/>
                <p:cNvSpPr/>
                <p:nvPr/>
              </p:nvSpPr>
              <p:spPr>
                <a:xfrm>
                  <a:off x="3077" y="1840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7" name="Freeform 1878" descr="深色竖线"/>
                <p:cNvSpPr/>
                <p:nvPr/>
              </p:nvSpPr>
              <p:spPr>
                <a:xfrm flipV="1">
                  <a:off x="2985" y="201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8" name="Freeform 1879" descr="深色竖线"/>
                <p:cNvSpPr/>
                <p:nvPr/>
              </p:nvSpPr>
              <p:spPr>
                <a:xfrm flipV="1">
                  <a:off x="3046" y="2009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59" name="Freeform 1880" descr="深色竖线"/>
                <p:cNvSpPr/>
                <p:nvPr/>
              </p:nvSpPr>
              <p:spPr>
                <a:xfrm flipV="1">
                  <a:off x="2796" y="2011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60" name="Freeform 1881" descr="深色竖线"/>
                <p:cNvSpPr/>
                <p:nvPr/>
              </p:nvSpPr>
              <p:spPr>
                <a:xfrm>
                  <a:off x="2818" y="1840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61" name="Freeform 1882" descr="深色竖线"/>
                <p:cNvSpPr/>
                <p:nvPr/>
              </p:nvSpPr>
              <p:spPr>
                <a:xfrm>
                  <a:off x="2860" y="1839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62" name="Freeform 1883" descr="深色竖线"/>
                <p:cNvSpPr/>
                <p:nvPr/>
              </p:nvSpPr>
              <p:spPr>
                <a:xfrm>
                  <a:off x="2903" y="1840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63" name="Freeform 1884" descr="深色竖线"/>
                <p:cNvSpPr/>
                <p:nvPr/>
              </p:nvSpPr>
              <p:spPr>
                <a:xfrm flipV="1">
                  <a:off x="2839" y="2010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964" name="Freeform 1885" descr="深色竖线"/>
                <p:cNvSpPr/>
                <p:nvPr/>
              </p:nvSpPr>
              <p:spPr>
                <a:xfrm flipV="1">
                  <a:off x="2881" y="2010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2846" name="Freeform 1886" descr="深色竖线"/>
              <p:cNvSpPr/>
              <p:nvPr/>
            </p:nvSpPr>
            <p:spPr>
              <a:xfrm>
                <a:off x="3434" y="1841"/>
                <a:ext cx="56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847" name="Freeform 1887" descr="深色竖线"/>
              <p:cNvSpPr/>
              <p:nvPr/>
            </p:nvSpPr>
            <p:spPr>
              <a:xfrm flipV="1">
                <a:off x="3377" y="2012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848" name="Freeform 1888" descr="深色竖线"/>
              <p:cNvSpPr/>
              <p:nvPr/>
            </p:nvSpPr>
            <p:spPr>
              <a:xfrm>
                <a:off x="3240" y="1842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849" name="Freeform 1889" descr="深色竖线"/>
              <p:cNvSpPr/>
              <p:nvPr/>
            </p:nvSpPr>
            <p:spPr>
              <a:xfrm>
                <a:off x="3330" y="1843"/>
                <a:ext cx="45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850" name="Freeform 1890" descr="深色竖线"/>
              <p:cNvSpPr/>
              <p:nvPr/>
            </p:nvSpPr>
            <p:spPr>
              <a:xfrm flipV="1">
                <a:off x="3195" y="2013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851" name="Freeform 1891" descr="深色竖线"/>
              <p:cNvSpPr/>
              <p:nvPr/>
            </p:nvSpPr>
            <p:spPr>
              <a:xfrm flipV="1">
                <a:off x="3285" y="2012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852" name="Group 1892"/>
              <p:cNvGrpSpPr/>
              <p:nvPr/>
            </p:nvGrpSpPr>
            <p:grpSpPr>
              <a:xfrm>
                <a:off x="3490" y="1839"/>
                <a:ext cx="1249" cy="344"/>
                <a:chOff x="3490" y="1839"/>
                <a:chExt cx="1249" cy="344"/>
              </a:xfrm>
            </p:grpSpPr>
            <p:sp>
              <p:nvSpPr>
                <p:cNvPr id="22853" name="Freeform 1893" descr="深色竖线"/>
                <p:cNvSpPr/>
                <p:nvPr/>
              </p:nvSpPr>
              <p:spPr>
                <a:xfrm>
                  <a:off x="3547" y="1840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54" name="Freeform 1894" descr="深色竖线"/>
                <p:cNvSpPr/>
                <p:nvPr/>
              </p:nvSpPr>
              <p:spPr>
                <a:xfrm>
                  <a:off x="3661" y="1841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55" name="Freeform 1895" descr="深色竖线"/>
                <p:cNvSpPr/>
                <p:nvPr/>
              </p:nvSpPr>
              <p:spPr>
                <a:xfrm flipV="1">
                  <a:off x="3490" y="2011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56" name="Freeform 1896" descr="深色竖线"/>
                <p:cNvSpPr/>
                <p:nvPr/>
              </p:nvSpPr>
              <p:spPr>
                <a:xfrm flipV="1">
                  <a:off x="3604" y="2011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57" name="Freeform 1897" descr="深色竖线"/>
                <p:cNvSpPr/>
                <p:nvPr/>
              </p:nvSpPr>
              <p:spPr>
                <a:xfrm flipH="1">
                  <a:off x="4723" y="1842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58" name="Freeform 1898" descr="深色竖线"/>
                <p:cNvSpPr/>
                <p:nvPr/>
              </p:nvSpPr>
              <p:spPr>
                <a:xfrm flipH="1" flipV="1">
                  <a:off x="4707" y="2012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59" name="Freeform 1899" descr="深色竖线"/>
                <p:cNvSpPr/>
                <p:nvPr/>
              </p:nvSpPr>
              <p:spPr>
                <a:xfrm flipH="1" flipV="1">
                  <a:off x="4675" y="2013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0" name="Freeform 1900" descr="深色竖线"/>
                <p:cNvSpPr/>
                <p:nvPr/>
              </p:nvSpPr>
              <p:spPr>
                <a:xfrm flipH="1" flipV="1">
                  <a:off x="4643" y="2013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1" name="Freeform 1901" descr="深色竖线"/>
                <p:cNvSpPr/>
                <p:nvPr/>
              </p:nvSpPr>
              <p:spPr>
                <a:xfrm flipH="1">
                  <a:off x="4691" y="1842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2" name="Freeform 1902" descr="深色竖线"/>
                <p:cNvSpPr/>
                <p:nvPr/>
              </p:nvSpPr>
              <p:spPr>
                <a:xfrm flipH="1">
                  <a:off x="4659" y="1843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3" name="Freeform 1903" descr="深色竖线"/>
                <p:cNvSpPr/>
                <p:nvPr/>
              </p:nvSpPr>
              <p:spPr>
                <a:xfrm flipH="1">
                  <a:off x="4004" y="1840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4" name="Freeform 1904" descr="深色竖线"/>
                <p:cNvSpPr/>
                <p:nvPr/>
              </p:nvSpPr>
              <p:spPr>
                <a:xfrm flipH="1" flipV="1">
                  <a:off x="3948" y="2010"/>
                  <a:ext cx="56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5" name="Freeform 1905" descr="深色竖线"/>
                <p:cNvSpPr/>
                <p:nvPr/>
              </p:nvSpPr>
              <p:spPr>
                <a:xfrm flipH="1" flipV="1">
                  <a:off x="3834" y="2012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6" name="Freeform 1906" descr="深色竖线"/>
                <p:cNvSpPr/>
                <p:nvPr/>
              </p:nvSpPr>
              <p:spPr>
                <a:xfrm flipH="1" flipV="1">
                  <a:off x="3720" y="2011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7" name="Freeform 1907" descr="深色竖线"/>
                <p:cNvSpPr/>
                <p:nvPr/>
              </p:nvSpPr>
              <p:spPr>
                <a:xfrm flipH="1">
                  <a:off x="3891" y="1840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8" name="Freeform 1908" descr="深色竖线"/>
                <p:cNvSpPr/>
                <p:nvPr/>
              </p:nvSpPr>
              <p:spPr>
                <a:xfrm flipH="1">
                  <a:off x="3777" y="1841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69" name="Freeform 1909" descr="深色竖线"/>
                <p:cNvSpPr/>
                <p:nvPr/>
              </p:nvSpPr>
              <p:spPr>
                <a:xfrm flipH="1">
                  <a:off x="4288" y="1839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0" name="Freeform 1910" descr="深色竖线"/>
                <p:cNvSpPr/>
                <p:nvPr/>
              </p:nvSpPr>
              <p:spPr>
                <a:xfrm flipH="1" flipV="1">
                  <a:off x="4243" y="2009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1" name="Freeform 1911" descr="深色竖线"/>
                <p:cNvSpPr/>
                <p:nvPr/>
              </p:nvSpPr>
              <p:spPr>
                <a:xfrm flipH="1" flipV="1">
                  <a:off x="4153" y="2010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2" name="Freeform 1912" descr="深色竖线"/>
                <p:cNvSpPr/>
                <p:nvPr/>
              </p:nvSpPr>
              <p:spPr>
                <a:xfrm flipH="1" flipV="1">
                  <a:off x="4063" y="2010"/>
                  <a:ext cx="45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3" name="Freeform 1913" descr="深色竖线"/>
                <p:cNvSpPr/>
                <p:nvPr/>
              </p:nvSpPr>
              <p:spPr>
                <a:xfrm flipH="1">
                  <a:off x="4198" y="1839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4" name="Freeform 1914" descr="深色竖线"/>
                <p:cNvSpPr/>
                <p:nvPr/>
              </p:nvSpPr>
              <p:spPr>
                <a:xfrm flipH="1">
                  <a:off x="4108" y="1840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5" name="Freeform 1915" descr="深色竖线"/>
                <p:cNvSpPr/>
                <p:nvPr/>
              </p:nvSpPr>
              <p:spPr>
                <a:xfrm flipH="1">
                  <a:off x="4484" y="1842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6" name="Freeform 1916" descr="深色竖线"/>
                <p:cNvSpPr/>
                <p:nvPr/>
              </p:nvSpPr>
              <p:spPr>
                <a:xfrm flipH="1" flipV="1">
                  <a:off x="4453" y="2012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7" name="Freeform 1917" descr="深色竖线"/>
                <p:cNvSpPr/>
                <p:nvPr/>
              </p:nvSpPr>
              <p:spPr>
                <a:xfrm flipH="1" flipV="1">
                  <a:off x="4392" y="2013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8" name="Freeform 1918" descr="深色竖线"/>
                <p:cNvSpPr/>
                <p:nvPr/>
              </p:nvSpPr>
              <p:spPr>
                <a:xfrm flipH="1" flipV="1">
                  <a:off x="4330" y="2013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79" name="Freeform 1919" descr="深色竖线"/>
                <p:cNvSpPr/>
                <p:nvPr/>
              </p:nvSpPr>
              <p:spPr>
                <a:xfrm flipH="1">
                  <a:off x="4422" y="1842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80" name="Freeform 1920" descr="深色竖线"/>
                <p:cNvSpPr/>
                <p:nvPr/>
              </p:nvSpPr>
              <p:spPr>
                <a:xfrm flipH="1">
                  <a:off x="4361" y="1843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81" name="Freeform 1921" descr="深色竖线"/>
                <p:cNvSpPr/>
                <p:nvPr/>
              </p:nvSpPr>
              <p:spPr>
                <a:xfrm flipH="1">
                  <a:off x="4620" y="1841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82" name="Freeform 1922" descr="深色竖线"/>
                <p:cNvSpPr/>
                <p:nvPr/>
              </p:nvSpPr>
              <p:spPr>
                <a:xfrm flipH="1" flipV="1">
                  <a:off x="4599" y="2011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83" name="Freeform 1923" descr="深色竖线"/>
                <p:cNvSpPr/>
                <p:nvPr/>
              </p:nvSpPr>
              <p:spPr>
                <a:xfrm flipH="1" flipV="1">
                  <a:off x="4557" y="2013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84" name="Freeform 1924" descr="深色竖线"/>
                <p:cNvSpPr/>
                <p:nvPr/>
              </p:nvSpPr>
              <p:spPr>
                <a:xfrm flipH="1" flipV="1">
                  <a:off x="4514" y="2012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85" name="Freeform 1925" descr="深色竖线"/>
                <p:cNvSpPr/>
                <p:nvPr/>
              </p:nvSpPr>
              <p:spPr>
                <a:xfrm flipH="1">
                  <a:off x="4578" y="1841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86" name="Freeform 1926" descr="深色竖线"/>
                <p:cNvSpPr/>
                <p:nvPr/>
              </p:nvSpPr>
              <p:spPr>
                <a:xfrm flipH="1">
                  <a:off x="4535" y="1842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6" name="Group 1927"/>
          <p:cNvGrpSpPr/>
          <p:nvPr/>
        </p:nvGrpSpPr>
        <p:grpSpPr>
          <a:xfrm>
            <a:off x="1962150" y="4475163"/>
            <a:ext cx="6477000" cy="552450"/>
            <a:chOff x="710" y="3100"/>
            <a:chExt cx="4080" cy="348"/>
          </a:xfrm>
        </p:grpSpPr>
        <p:sp>
          <p:nvSpPr>
            <p:cNvPr id="22717" name="Rectangle 1928"/>
            <p:cNvSpPr/>
            <p:nvPr/>
          </p:nvSpPr>
          <p:spPr>
            <a:xfrm>
              <a:off x="712" y="3100"/>
              <a:ext cx="4078" cy="34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2718" name="Group 1929"/>
            <p:cNvGrpSpPr/>
            <p:nvPr/>
          </p:nvGrpSpPr>
          <p:grpSpPr>
            <a:xfrm>
              <a:off x="710" y="3100"/>
              <a:ext cx="4078" cy="347"/>
              <a:chOff x="710" y="3100"/>
              <a:chExt cx="4078" cy="347"/>
            </a:xfrm>
          </p:grpSpPr>
          <p:grpSp>
            <p:nvGrpSpPr>
              <p:cNvPr id="22719" name="Group 1930"/>
              <p:cNvGrpSpPr/>
              <p:nvPr/>
            </p:nvGrpSpPr>
            <p:grpSpPr>
              <a:xfrm>
                <a:off x="1532" y="3100"/>
                <a:ext cx="2295" cy="346"/>
                <a:chOff x="2444" y="1837"/>
                <a:chExt cx="2295" cy="346"/>
              </a:xfrm>
            </p:grpSpPr>
            <p:sp>
              <p:nvSpPr>
                <p:cNvPr id="22768" name="Freeform 1931" descr="深色竖线"/>
                <p:cNvSpPr/>
                <p:nvPr/>
              </p:nvSpPr>
              <p:spPr>
                <a:xfrm flipV="1">
                  <a:off x="3106" y="2013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9" name="Freeform 1932" descr="深色竖线"/>
                <p:cNvSpPr/>
                <p:nvPr/>
              </p:nvSpPr>
              <p:spPr>
                <a:xfrm>
                  <a:off x="3150" y="1843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0" name="Freeform 1933" descr="深色竖线"/>
                <p:cNvSpPr/>
                <p:nvPr/>
              </p:nvSpPr>
              <p:spPr>
                <a:xfrm flipH="1">
                  <a:off x="2444" y="1838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1" name="Freeform 1934" descr="深色竖线"/>
                <p:cNvSpPr/>
                <p:nvPr/>
              </p:nvSpPr>
              <p:spPr>
                <a:xfrm flipH="1" flipV="1">
                  <a:off x="2559" y="200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2" name="Freeform 1935" descr="深色竖线"/>
                <p:cNvSpPr/>
                <p:nvPr/>
              </p:nvSpPr>
              <p:spPr>
                <a:xfrm flipH="1" flipV="1">
                  <a:off x="2517" y="2009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3" name="Freeform 1936" descr="深色竖线"/>
                <p:cNvSpPr/>
                <p:nvPr/>
              </p:nvSpPr>
              <p:spPr>
                <a:xfrm flipH="1" flipV="1">
                  <a:off x="2474" y="2008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4" name="Freeform 1937" descr="深色竖线"/>
                <p:cNvSpPr/>
                <p:nvPr/>
              </p:nvSpPr>
              <p:spPr>
                <a:xfrm flipH="1">
                  <a:off x="2538" y="1837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5" name="Freeform 1938" descr="深色竖线"/>
                <p:cNvSpPr/>
                <p:nvPr/>
              </p:nvSpPr>
              <p:spPr>
                <a:xfrm flipH="1">
                  <a:off x="2495" y="1838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6" name="Freeform 1939" descr="深色竖线"/>
                <p:cNvSpPr/>
                <p:nvPr/>
              </p:nvSpPr>
              <p:spPr>
                <a:xfrm flipH="1">
                  <a:off x="2683" y="183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7" name="Freeform 1940" descr="深色竖线"/>
                <p:cNvSpPr/>
                <p:nvPr/>
              </p:nvSpPr>
              <p:spPr>
                <a:xfrm flipH="1" flipV="1">
                  <a:off x="2667" y="200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8" name="Freeform 1941" descr="深色竖线"/>
                <p:cNvSpPr/>
                <p:nvPr/>
              </p:nvSpPr>
              <p:spPr>
                <a:xfrm flipH="1" flipV="1">
                  <a:off x="2635" y="200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79" name="Freeform 1942" descr="深色竖线"/>
                <p:cNvSpPr/>
                <p:nvPr/>
              </p:nvSpPr>
              <p:spPr>
                <a:xfrm flipH="1" flipV="1">
                  <a:off x="2603" y="2009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0" name="Freeform 1943" descr="深色竖线"/>
                <p:cNvSpPr/>
                <p:nvPr/>
              </p:nvSpPr>
              <p:spPr>
                <a:xfrm flipH="1">
                  <a:off x="2651" y="1838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1" name="Freeform 1944" descr="深色竖线"/>
                <p:cNvSpPr/>
                <p:nvPr/>
              </p:nvSpPr>
              <p:spPr>
                <a:xfrm flipH="1">
                  <a:off x="2619" y="183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2" name="Freeform 1945" descr="深色竖线"/>
                <p:cNvSpPr/>
                <p:nvPr/>
              </p:nvSpPr>
              <p:spPr>
                <a:xfrm flipH="1">
                  <a:off x="2580" y="1837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3" name="Freeform 1946" descr="深色竖线"/>
                <p:cNvSpPr/>
                <p:nvPr/>
              </p:nvSpPr>
              <p:spPr>
                <a:xfrm flipV="1">
                  <a:off x="2699" y="201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4" name="Freeform 1947" descr="深色竖线"/>
                <p:cNvSpPr/>
                <p:nvPr/>
              </p:nvSpPr>
              <p:spPr>
                <a:xfrm>
                  <a:off x="2715" y="184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5" name="Freeform 1948" descr="深色竖线"/>
                <p:cNvSpPr/>
                <p:nvPr/>
              </p:nvSpPr>
              <p:spPr>
                <a:xfrm>
                  <a:off x="2747" y="183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6" name="Freeform 1949" descr="深色竖线"/>
                <p:cNvSpPr/>
                <p:nvPr/>
              </p:nvSpPr>
              <p:spPr>
                <a:xfrm>
                  <a:off x="2779" y="1840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7" name="Freeform 1950" descr="深色竖线"/>
                <p:cNvSpPr/>
                <p:nvPr/>
              </p:nvSpPr>
              <p:spPr>
                <a:xfrm flipV="1">
                  <a:off x="2731" y="2010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8" name="Freeform 1951" descr="深色竖线"/>
                <p:cNvSpPr/>
                <p:nvPr/>
              </p:nvSpPr>
              <p:spPr>
                <a:xfrm flipV="1">
                  <a:off x="2763" y="2009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89" name="Freeform 1952" descr="深色竖线"/>
                <p:cNvSpPr/>
                <p:nvPr/>
              </p:nvSpPr>
              <p:spPr>
                <a:xfrm flipV="1">
                  <a:off x="2923" y="201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0" name="Freeform 1953" descr="深色竖线"/>
                <p:cNvSpPr/>
                <p:nvPr/>
              </p:nvSpPr>
              <p:spPr>
                <a:xfrm>
                  <a:off x="2954" y="184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1" name="Freeform 1954" descr="深色竖线"/>
                <p:cNvSpPr/>
                <p:nvPr/>
              </p:nvSpPr>
              <p:spPr>
                <a:xfrm>
                  <a:off x="3016" y="1839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2" name="Freeform 1955" descr="深色竖线"/>
                <p:cNvSpPr/>
                <p:nvPr/>
              </p:nvSpPr>
              <p:spPr>
                <a:xfrm>
                  <a:off x="3077" y="1840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3" name="Freeform 1956" descr="深色竖线"/>
                <p:cNvSpPr/>
                <p:nvPr/>
              </p:nvSpPr>
              <p:spPr>
                <a:xfrm flipV="1">
                  <a:off x="2985" y="2010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4" name="Freeform 1957" descr="深色竖线"/>
                <p:cNvSpPr/>
                <p:nvPr/>
              </p:nvSpPr>
              <p:spPr>
                <a:xfrm flipV="1">
                  <a:off x="3046" y="2009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5" name="Freeform 1958" descr="深色竖线"/>
                <p:cNvSpPr/>
                <p:nvPr/>
              </p:nvSpPr>
              <p:spPr>
                <a:xfrm flipV="1">
                  <a:off x="2796" y="2011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6" name="Freeform 1959" descr="深色竖线"/>
                <p:cNvSpPr/>
                <p:nvPr/>
              </p:nvSpPr>
              <p:spPr>
                <a:xfrm>
                  <a:off x="2818" y="1840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7" name="Freeform 1960" descr="深色竖线"/>
                <p:cNvSpPr/>
                <p:nvPr/>
              </p:nvSpPr>
              <p:spPr>
                <a:xfrm>
                  <a:off x="2860" y="1839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8" name="Freeform 1961" descr="深色竖线"/>
                <p:cNvSpPr/>
                <p:nvPr/>
              </p:nvSpPr>
              <p:spPr>
                <a:xfrm>
                  <a:off x="2903" y="1840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99" name="Freeform 1962" descr="深色竖线"/>
                <p:cNvSpPr/>
                <p:nvPr/>
              </p:nvSpPr>
              <p:spPr>
                <a:xfrm flipV="1">
                  <a:off x="2839" y="2010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0" name="Freeform 1963" descr="深色竖线"/>
                <p:cNvSpPr/>
                <p:nvPr/>
              </p:nvSpPr>
              <p:spPr>
                <a:xfrm flipV="1">
                  <a:off x="2881" y="2010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1" name="Freeform 1964" descr="深色竖线"/>
                <p:cNvSpPr/>
                <p:nvPr/>
              </p:nvSpPr>
              <p:spPr>
                <a:xfrm>
                  <a:off x="3434" y="1841"/>
                  <a:ext cx="56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2" name="Freeform 1965" descr="深色竖线"/>
                <p:cNvSpPr/>
                <p:nvPr/>
              </p:nvSpPr>
              <p:spPr>
                <a:xfrm flipV="1">
                  <a:off x="3377" y="2012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3" name="Freeform 1966" descr="深色竖线"/>
                <p:cNvSpPr/>
                <p:nvPr/>
              </p:nvSpPr>
              <p:spPr>
                <a:xfrm>
                  <a:off x="3240" y="1842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4" name="Freeform 1967" descr="深色竖线"/>
                <p:cNvSpPr/>
                <p:nvPr/>
              </p:nvSpPr>
              <p:spPr>
                <a:xfrm>
                  <a:off x="3330" y="1843"/>
                  <a:ext cx="45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5" name="Freeform 1968" descr="深色竖线"/>
                <p:cNvSpPr/>
                <p:nvPr/>
              </p:nvSpPr>
              <p:spPr>
                <a:xfrm flipV="1">
                  <a:off x="3195" y="2013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6" name="Freeform 1969" descr="深色竖线"/>
                <p:cNvSpPr/>
                <p:nvPr/>
              </p:nvSpPr>
              <p:spPr>
                <a:xfrm flipV="1">
                  <a:off x="3285" y="2012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7" name="Freeform 1970" descr="深色竖线"/>
                <p:cNvSpPr/>
                <p:nvPr/>
              </p:nvSpPr>
              <p:spPr>
                <a:xfrm>
                  <a:off x="3547" y="1840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8" name="Freeform 1971" descr="深色竖线"/>
                <p:cNvSpPr/>
                <p:nvPr/>
              </p:nvSpPr>
              <p:spPr>
                <a:xfrm>
                  <a:off x="3661" y="1841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09" name="Freeform 1972" descr="深色竖线"/>
                <p:cNvSpPr/>
                <p:nvPr/>
              </p:nvSpPr>
              <p:spPr>
                <a:xfrm flipV="1">
                  <a:off x="3490" y="2011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0" name="Freeform 1973" descr="深色竖线"/>
                <p:cNvSpPr/>
                <p:nvPr/>
              </p:nvSpPr>
              <p:spPr>
                <a:xfrm flipV="1">
                  <a:off x="3604" y="2011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1" name="Freeform 1974" descr="深色竖线"/>
                <p:cNvSpPr/>
                <p:nvPr/>
              </p:nvSpPr>
              <p:spPr>
                <a:xfrm flipH="1">
                  <a:off x="4723" y="1842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2" name="Freeform 1975" descr="深色竖线"/>
                <p:cNvSpPr/>
                <p:nvPr/>
              </p:nvSpPr>
              <p:spPr>
                <a:xfrm flipH="1" flipV="1">
                  <a:off x="4707" y="2012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3" name="Freeform 1976" descr="深色竖线"/>
                <p:cNvSpPr/>
                <p:nvPr/>
              </p:nvSpPr>
              <p:spPr>
                <a:xfrm flipH="1" flipV="1">
                  <a:off x="4675" y="2013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4" name="Freeform 1977" descr="深色竖线"/>
                <p:cNvSpPr/>
                <p:nvPr/>
              </p:nvSpPr>
              <p:spPr>
                <a:xfrm flipH="1" flipV="1">
                  <a:off x="4643" y="2013"/>
                  <a:ext cx="16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5" name="Freeform 1978" descr="深色竖线"/>
                <p:cNvSpPr/>
                <p:nvPr/>
              </p:nvSpPr>
              <p:spPr>
                <a:xfrm flipH="1">
                  <a:off x="4691" y="1842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6" name="Freeform 1979" descr="深色竖线"/>
                <p:cNvSpPr/>
                <p:nvPr/>
              </p:nvSpPr>
              <p:spPr>
                <a:xfrm flipH="1">
                  <a:off x="4659" y="1843"/>
                  <a:ext cx="16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7" name="Freeform 1980" descr="深色竖线"/>
                <p:cNvSpPr/>
                <p:nvPr/>
              </p:nvSpPr>
              <p:spPr>
                <a:xfrm flipH="1">
                  <a:off x="4004" y="1840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8" name="Freeform 1981" descr="深色竖线"/>
                <p:cNvSpPr/>
                <p:nvPr/>
              </p:nvSpPr>
              <p:spPr>
                <a:xfrm flipH="1" flipV="1">
                  <a:off x="3948" y="2010"/>
                  <a:ext cx="56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19" name="Freeform 1982" descr="深色竖线"/>
                <p:cNvSpPr/>
                <p:nvPr/>
              </p:nvSpPr>
              <p:spPr>
                <a:xfrm flipH="1" flipV="1">
                  <a:off x="3834" y="2012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0" name="Freeform 1983" descr="深色竖线"/>
                <p:cNvSpPr/>
                <p:nvPr/>
              </p:nvSpPr>
              <p:spPr>
                <a:xfrm flipH="1" flipV="1">
                  <a:off x="3720" y="2011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1" name="Freeform 1984" descr="深色竖线"/>
                <p:cNvSpPr/>
                <p:nvPr/>
              </p:nvSpPr>
              <p:spPr>
                <a:xfrm flipH="1">
                  <a:off x="3891" y="1840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2" name="Freeform 1985" descr="深色竖线"/>
                <p:cNvSpPr/>
                <p:nvPr/>
              </p:nvSpPr>
              <p:spPr>
                <a:xfrm flipH="1">
                  <a:off x="3777" y="1841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3" name="Freeform 1986" descr="深色竖线"/>
                <p:cNvSpPr/>
                <p:nvPr/>
              </p:nvSpPr>
              <p:spPr>
                <a:xfrm flipH="1">
                  <a:off x="4288" y="1839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4" name="Freeform 1987" descr="深色竖线"/>
                <p:cNvSpPr/>
                <p:nvPr/>
              </p:nvSpPr>
              <p:spPr>
                <a:xfrm flipH="1" flipV="1">
                  <a:off x="4243" y="2009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5" name="Freeform 1988" descr="深色竖线"/>
                <p:cNvSpPr/>
                <p:nvPr/>
              </p:nvSpPr>
              <p:spPr>
                <a:xfrm flipH="1" flipV="1">
                  <a:off x="4153" y="2010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6" name="Freeform 1989" descr="深色竖线"/>
                <p:cNvSpPr/>
                <p:nvPr/>
              </p:nvSpPr>
              <p:spPr>
                <a:xfrm flipH="1" flipV="1">
                  <a:off x="4063" y="2010"/>
                  <a:ext cx="45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7" name="Freeform 1990" descr="深色竖线"/>
                <p:cNvSpPr/>
                <p:nvPr/>
              </p:nvSpPr>
              <p:spPr>
                <a:xfrm flipH="1">
                  <a:off x="4198" y="1839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8" name="Freeform 1991" descr="深色竖线"/>
                <p:cNvSpPr/>
                <p:nvPr/>
              </p:nvSpPr>
              <p:spPr>
                <a:xfrm flipH="1">
                  <a:off x="4108" y="1840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29" name="Freeform 1992" descr="深色竖线"/>
                <p:cNvSpPr/>
                <p:nvPr/>
              </p:nvSpPr>
              <p:spPr>
                <a:xfrm flipH="1">
                  <a:off x="4484" y="1842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0" name="Freeform 1993" descr="深色竖线"/>
                <p:cNvSpPr/>
                <p:nvPr/>
              </p:nvSpPr>
              <p:spPr>
                <a:xfrm flipH="1" flipV="1">
                  <a:off x="4453" y="2012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1" name="Freeform 1994" descr="深色竖线"/>
                <p:cNvSpPr/>
                <p:nvPr/>
              </p:nvSpPr>
              <p:spPr>
                <a:xfrm flipH="1" flipV="1">
                  <a:off x="4392" y="2013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2" name="Freeform 1995" descr="深色竖线"/>
                <p:cNvSpPr/>
                <p:nvPr/>
              </p:nvSpPr>
              <p:spPr>
                <a:xfrm flipH="1" flipV="1">
                  <a:off x="4330" y="2013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3" name="Freeform 1996" descr="深色竖线"/>
                <p:cNvSpPr/>
                <p:nvPr/>
              </p:nvSpPr>
              <p:spPr>
                <a:xfrm flipH="1">
                  <a:off x="4422" y="1842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4" name="Freeform 1997" descr="深色竖线"/>
                <p:cNvSpPr/>
                <p:nvPr/>
              </p:nvSpPr>
              <p:spPr>
                <a:xfrm flipH="1">
                  <a:off x="4361" y="1843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5" name="Freeform 1998" descr="深色竖线"/>
                <p:cNvSpPr/>
                <p:nvPr/>
              </p:nvSpPr>
              <p:spPr>
                <a:xfrm flipH="1">
                  <a:off x="4620" y="1841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6" name="Freeform 1999" descr="深色竖线"/>
                <p:cNvSpPr/>
                <p:nvPr/>
              </p:nvSpPr>
              <p:spPr>
                <a:xfrm flipH="1" flipV="1">
                  <a:off x="4599" y="2011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7" name="Freeform 2000" descr="深色竖线"/>
                <p:cNvSpPr/>
                <p:nvPr/>
              </p:nvSpPr>
              <p:spPr>
                <a:xfrm flipH="1" flipV="1">
                  <a:off x="4557" y="2013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8" name="Freeform 2001" descr="深色竖线"/>
                <p:cNvSpPr/>
                <p:nvPr/>
              </p:nvSpPr>
              <p:spPr>
                <a:xfrm flipH="1" flipV="1">
                  <a:off x="4514" y="2012"/>
                  <a:ext cx="2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39" name="Freeform 2002" descr="深色竖线"/>
                <p:cNvSpPr/>
                <p:nvPr/>
              </p:nvSpPr>
              <p:spPr>
                <a:xfrm flipH="1">
                  <a:off x="4578" y="1841"/>
                  <a:ext cx="21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840" name="Freeform 2003" descr="深色竖线"/>
                <p:cNvSpPr/>
                <p:nvPr/>
              </p:nvSpPr>
              <p:spPr>
                <a:xfrm flipH="1">
                  <a:off x="4535" y="1842"/>
                  <a:ext cx="22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2720" name="Freeform 2004" descr="深色竖线"/>
              <p:cNvSpPr/>
              <p:nvPr/>
            </p:nvSpPr>
            <p:spPr>
              <a:xfrm flipV="1">
                <a:off x="3826" y="3274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21" name="Freeform 2005" descr="深色竖线"/>
              <p:cNvSpPr/>
              <p:nvPr/>
            </p:nvSpPr>
            <p:spPr>
              <a:xfrm>
                <a:off x="3842" y="3104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22" name="Freeform 2006" descr="深色竖线"/>
              <p:cNvSpPr/>
              <p:nvPr/>
            </p:nvSpPr>
            <p:spPr>
              <a:xfrm>
                <a:off x="3874" y="3103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23" name="Freeform 2007" descr="深色竖线"/>
              <p:cNvSpPr/>
              <p:nvPr/>
            </p:nvSpPr>
            <p:spPr>
              <a:xfrm>
                <a:off x="3906" y="3104"/>
                <a:ext cx="16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24" name="Freeform 2008" descr="深色竖线"/>
              <p:cNvSpPr/>
              <p:nvPr/>
            </p:nvSpPr>
            <p:spPr>
              <a:xfrm flipV="1">
                <a:off x="3858" y="3274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25" name="Freeform 2009" descr="深色竖线"/>
              <p:cNvSpPr/>
              <p:nvPr/>
            </p:nvSpPr>
            <p:spPr>
              <a:xfrm flipV="1">
                <a:off x="3890" y="3273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26" name="Freeform 2010" descr="深色竖线"/>
              <p:cNvSpPr/>
              <p:nvPr/>
            </p:nvSpPr>
            <p:spPr>
              <a:xfrm flipV="1">
                <a:off x="4504" y="3276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27" name="Freeform 2011" descr="深色竖线"/>
              <p:cNvSpPr/>
              <p:nvPr/>
            </p:nvSpPr>
            <p:spPr>
              <a:xfrm>
                <a:off x="4561" y="3105"/>
                <a:ext cx="56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28" name="Freeform 2012" descr="深色竖线"/>
              <p:cNvSpPr/>
              <p:nvPr/>
            </p:nvSpPr>
            <p:spPr>
              <a:xfrm>
                <a:off x="4674" y="3104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29" name="Freeform 2013" descr="深色竖线"/>
              <p:cNvSpPr/>
              <p:nvPr/>
            </p:nvSpPr>
            <p:spPr>
              <a:xfrm flipV="1">
                <a:off x="4617" y="3275"/>
                <a:ext cx="57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0" name="Freeform 2014" descr="深色竖线"/>
              <p:cNvSpPr/>
              <p:nvPr/>
            </p:nvSpPr>
            <p:spPr>
              <a:xfrm flipV="1">
                <a:off x="4731" y="3275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1" name="Freeform 2015" descr="深色竖线"/>
              <p:cNvSpPr/>
              <p:nvPr/>
            </p:nvSpPr>
            <p:spPr>
              <a:xfrm flipV="1">
                <a:off x="4233" y="3277"/>
                <a:ext cx="44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2" name="Freeform 2016" descr="深色竖线"/>
              <p:cNvSpPr/>
              <p:nvPr/>
            </p:nvSpPr>
            <p:spPr>
              <a:xfrm>
                <a:off x="4277" y="3107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3" name="Freeform 2017" descr="深色竖线"/>
              <p:cNvSpPr/>
              <p:nvPr/>
            </p:nvSpPr>
            <p:spPr>
              <a:xfrm>
                <a:off x="4367" y="3106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4" name="Freeform 2018" descr="深色竖线"/>
              <p:cNvSpPr/>
              <p:nvPr/>
            </p:nvSpPr>
            <p:spPr>
              <a:xfrm>
                <a:off x="4457" y="3107"/>
                <a:ext cx="45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5" name="Freeform 2019" descr="深色竖线"/>
              <p:cNvSpPr/>
              <p:nvPr/>
            </p:nvSpPr>
            <p:spPr>
              <a:xfrm flipV="1">
                <a:off x="4322" y="3277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6" name="Freeform 2020" descr="深色竖线"/>
              <p:cNvSpPr/>
              <p:nvPr/>
            </p:nvSpPr>
            <p:spPr>
              <a:xfrm flipV="1">
                <a:off x="4412" y="3276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7" name="Freeform 2021" descr="深色竖线"/>
              <p:cNvSpPr/>
              <p:nvPr/>
            </p:nvSpPr>
            <p:spPr>
              <a:xfrm flipV="1">
                <a:off x="4050" y="3274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8" name="Freeform 2022" descr="深色竖线"/>
              <p:cNvSpPr/>
              <p:nvPr/>
            </p:nvSpPr>
            <p:spPr>
              <a:xfrm>
                <a:off x="4081" y="3104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39" name="Freeform 2023" descr="深色竖线"/>
              <p:cNvSpPr/>
              <p:nvPr/>
            </p:nvSpPr>
            <p:spPr>
              <a:xfrm>
                <a:off x="4143" y="3103"/>
                <a:ext cx="30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40" name="Freeform 2024" descr="深色竖线"/>
              <p:cNvSpPr/>
              <p:nvPr/>
            </p:nvSpPr>
            <p:spPr>
              <a:xfrm>
                <a:off x="4204" y="3104"/>
                <a:ext cx="31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41" name="Freeform 2025" descr="深色竖线"/>
              <p:cNvSpPr/>
              <p:nvPr/>
            </p:nvSpPr>
            <p:spPr>
              <a:xfrm flipV="1">
                <a:off x="4112" y="3274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42" name="Freeform 2026" descr="深色竖线"/>
              <p:cNvSpPr/>
              <p:nvPr/>
            </p:nvSpPr>
            <p:spPr>
              <a:xfrm flipV="1">
                <a:off x="4173" y="3273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43" name="Freeform 2027" descr="深色竖线"/>
              <p:cNvSpPr/>
              <p:nvPr/>
            </p:nvSpPr>
            <p:spPr>
              <a:xfrm flipV="1">
                <a:off x="3923" y="3275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44" name="Freeform 2028" descr="深色竖线"/>
              <p:cNvSpPr/>
              <p:nvPr/>
            </p:nvSpPr>
            <p:spPr>
              <a:xfrm>
                <a:off x="3945" y="3104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45" name="Freeform 2029" descr="深色竖线"/>
              <p:cNvSpPr/>
              <p:nvPr/>
            </p:nvSpPr>
            <p:spPr>
              <a:xfrm>
                <a:off x="3987" y="3103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46" name="Freeform 2030" descr="深色竖线"/>
              <p:cNvSpPr/>
              <p:nvPr/>
            </p:nvSpPr>
            <p:spPr>
              <a:xfrm>
                <a:off x="4030" y="3104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47" name="Freeform 2031" descr="深色竖线"/>
              <p:cNvSpPr/>
              <p:nvPr/>
            </p:nvSpPr>
            <p:spPr>
              <a:xfrm flipV="1">
                <a:off x="3966" y="3274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48" name="Freeform 2032" descr="深色竖线"/>
              <p:cNvSpPr/>
              <p:nvPr/>
            </p:nvSpPr>
            <p:spPr>
              <a:xfrm flipV="1">
                <a:off x="4008" y="3274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749" name="Group 2033"/>
              <p:cNvGrpSpPr/>
              <p:nvPr/>
            </p:nvGrpSpPr>
            <p:grpSpPr>
              <a:xfrm>
                <a:off x="710" y="3101"/>
                <a:ext cx="819" cy="344"/>
                <a:chOff x="4788" y="3102"/>
                <a:chExt cx="819" cy="344"/>
              </a:xfrm>
            </p:grpSpPr>
            <p:sp>
              <p:nvSpPr>
                <p:cNvPr id="22750" name="Freeform 2034" descr="深色竖线"/>
                <p:cNvSpPr/>
                <p:nvPr/>
              </p:nvSpPr>
              <p:spPr>
                <a:xfrm>
                  <a:off x="4788" y="3105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1" name="Freeform 2035" descr="深色竖线"/>
                <p:cNvSpPr/>
                <p:nvPr/>
              </p:nvSpPr>
              <p:spPr>
                <a:xfrm flipH="1">
                  <a:off x="5127" y="3103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2" name="Freeform 2036" descr="深色竖线"/>
                <p:cNvSpPr/>
                <p:nvPr/>
              </p:nvSpPr>
              <p:spPr>
                <a:xfrm flipH="1" flipV="1">
                  <a:off x="5071" y="3273"/>
                  <a:ext cx="56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3" name="Freeform 2037" descr="深色竖线"/>
                <p:cNvSpPr/>
                <p:nvPr/>
              </p:nvSpPr>
              <p:spPr>
                <a:xfrm flipH="1" flipV="1">
                  <a:off x="4957" y="3275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4" name="Freeform 2038" descr="深色竖线"/>
                <p:cNvSpPr/>
                <p:nvPr/>
              </p:nvSpPr>
              <p:spPr>
                <a:xfrm flipH="1" flipV="1">
                  <a:off x="4843" y="3274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5" name="Freeform 2039" descr="深色竖线"/>
                <p:cNvSpPr/>
                <p:nvPr/>
              </p:nvSpPr>
              <p:spPr>
                <a:xfrm flipH="1">
                  <a:off x="5014" y="3103"/>
                  <a:ext cx="57" cy="17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6" name="Freeform 2040" descr="深色竖线"/>
                <p:cNvSpPr/>
                <p:nvPr/>
              </p:nvSpPr>
              <p:spPr>
                <a:xfrm flipH="1">
                  <a:off x="4900" y="3104"/>
                  <a:ext cx="57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7" name="Freeform 2041" descr="深色竖线"/>
                <p:cNvSpPr/>
                <p:nvPr/>
              </p:nvSpPr>
              <p:spPr>
                <a:xfrm flipH="1">
                  <a:off x="5411" y="3102"/>
                  <a:ext cx="44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8" name="Freeform 2042" descr="深色竖线"/>
                <p:cNvSpPr/>
                <p:nvPr/>
              </p:nvSpPr>
              <p:spPr>
                <a:xfrm flipH="1" flipV="1">
                  <a:off x="5366" y="3272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59" name="Freeform 2043" descr="深色竖线"/>
                <p:cNvSpPr/>
                <p:nvPr/>
              </p:nvSpPr>
              <p:spPr>
                <a:xfrm flipH="1" flipV="1">
                  <a:off x="5276" y="3273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0" name="Freeform 2044" descr="深色竖线"/>
                <p:cNvSpPr/>
                <p:nvPr/>
              </p:nvSpPr>
              <p:spPr>
                <a:xfrm flipH="1" flipV="1">
                  <a:off x="5186" y="3273"/>
                  <a:ext cx="45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1" name="Freeform 2045" descr="深色竖线"/>
                <p:cNvSpPr/>
                <p:nvPr/>
              </p:nvSpPr>
              <p:spPr>
                <a:xfrm flipH="1">
                  <a:off x="5321" y="3102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2" name="Freeform 2046" descr="深色竖线"/>
                <p:cNvSpPr/>
                <p:nvPr/>
              </p:nvSpPr>
              <p:spPr>
                <a:xfrm flipH="1">
                  <a:off x="5231" y="3103"/>
                  <a:ext cx="45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3" name="Freeform 2047" descr="深色竖线"/>
                <p:cNvSpPr/>
                <p:nvPr/>
              </p:nvSpPr>
              <p:spPr>
                <a:xfrm flipH="1" flipV="1">
                  <a:off x="5576" y="3275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4" name="Freeform 2048" descr="深色竖线"/>
                <p:cNvSpPr/>
                <p:nvPr/>
              </p:nvSpPr>
              <p:spPr>
                <a:xfrm flipH="1" flipV="1">
                  <a:off x="5515" y="3276"/>
                  <a:ext cx="30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5" name="Freeform 2049" descr="深色竖线"/>
                <p:cNvSpPr/>
                <p:nvPr/>
              </p:nvSpPr>
              <p:spPr>
                <a:xfrm flipH="1" flipV="1">
                  <a:off x="5453" y="3276"/>
                  <a:ext cx="31" cy="16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6" name="Freeform 2050" descr="深色竖线"/>
                <p:cNvSpPr/>
                <p:nvPr/>
              </p:nvSpPr>
              <p:spPr>
                <a:xfrm flipH="1">
                  <a:off x="5545" y="3105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67" name="Freeform 2051" descr="深色竖线"/>
                <p:cNvSpPr/>
                <p:nvPr/>
              </p:nvSpPr>
              <p:spPr>
                <a:xfrm flipH="1">
                  <a:off x="5484" y="3106"/>
                  <a:ext cx="31" cy="17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587" h="1000">
                      <a:moveTo>
                        <a:pt x="0" y="1000"/>
                      </a:moveTo>
                      <a:cubicBezTo>
                        <a:pt x="98" y="500"/>
                        <a:pt x="196" y="0"/>
                        <a:pt x="294" y="0"/>
                      </a:cubicBezTo>
                      <a:cubicBezTo>
                        <a:pt x="392" y="0"/>
                        <a:pt x="489" y="500"/>
                        <a:pt x="587" y="100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7" name="Group 2052"/>
          <p:cNvGrpSpPr/>
          <p:nvPr/>
        </p:nvGrpSpPr>
        <p:grpSpPr>
          <a:xfrm>
            <a:off x="1900238" y="4478338"/>
            <a:ext cx="6477000" cy="552450"/>
            <a:chOff x="748" y="815"/>
            <a:chExt cx="4080" cy="348"/>
          </a:xfrm>
        </p:grpSpPr>
        <p:sp>
          <p:nvSpPr>
            <p:cNvPr id="22595" name="Rectangle 2053"/>
            <p:cNvSpPr/>
            <p:nvPr/>
          </p:nvSpPr>
          <p:spPr>
            <a:xfrm>
              <a:off x="750" y="819"/>
              <a:ext cx="4078" cy="341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2596" name="Group 2054"/>
            <p:cNvGrpSpPr/>
            <p:nvPr/>
          </p:nvGrpSpPr>
          <p:grpSpPr>
            <a:xfrm>
              <a:off x="748" y="815"/>
              <a:ext cx="4076" cy="348"/>
              <a:chOff x="803" y="1210"/>
              <a:chExt cx="4076" cy="348"/>
            </a:xfrm>
          </p:grpSpPr>
          <p:sp>
            <p:nvSpPr>
              <p:cNvPr id="22597" name="Freeform 2055" descr="深色竖线"/>
              <p:cNvSpPr/>
              <p:nvPr/>
            </p:nvSpPr>
            <p:spPr>
              <a:xfrm flipV="1">
                <a:off x="803" y="1382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8" name="Freeform 2056" descr="深色竖线"/>
              <p:cNvSpPr/>
              <p:nvPr/>
            </p:nvSpPr>
            <p:spPr>
              <a:xfrm>
                <a:off x="819" y="1212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9" name="Freeform 2057" descr="深色竖线"/>
              <p:cNvSpPr/>
              <p:nvPr/>
            </p:nvSpPr>
            <p:spPr>
              <a:xfrm>
                <a:off x="851" y="1211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0" name="Freeform 2058" descr="深色竖线"/>
              <p:cNvSpPr/>
              <p:nvPr/>
            </p:nvSpPr>
            <p:spPr>
              <a:xfrm>
                <a:off x="883" y="1212"/>
                <a:ext cx="16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1" name="Freeform 2059" descr="深色竖线"/>
              <p:cNvSpPr/>
              <p:nvPr/>
            </p:nvSpPr>
            <p:spPr>
              <a:xfrm flipV="1">
                <a:off x="835" y="1382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2" name="Freeform 2060" descr="深色竖线"/>
              <p:cNvSpPr/>
              <p:nvPr/>
            </p:nvSpPr>
            <p:spPr>
              <a:xfrm flipV="1">
                <a:off x="867" y="1381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3" name="Freeform 2061" descr="深色竖线"/>
              <p:cNvSpPr/>
              <p:nvPr/>
            </p:nvSpPr>
            <p:spPr>
              <a:xfrm flipV="1">
                <a:off x="1481" y="1384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4" name="Freeform 2062" descr="深色竖线"/>
              <p:cNvSpPr/>
              <p:nvPr/>
            </p:nvSpPr>
            <p:spPr>
              <a:xfrm>
                <a:off x="1538" y="1213"/>
                <a:ext cx="56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5" name="Freeform 2063" descr="深色竖线"/>
              <p:cNvSpPr/>
              <p:nvPr/>
            </p:nvSpPr>
            <p:spPr>
              <a:xfrm>
                <a:off x="1651" y="1212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6" name="Freeform 2064" descr="深色竖线"/>
              <p:cNvSpPr/>
              <p:nvPr/>
            </p:nvSpPr>
            <p:spPr>
              <a:xfrm>
                <a:off x="1765" y="1213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7" name="Freeform 2065" descr="深色竖线"/>
              <p:cNvSpPr/>
              <p:nvPr/>
            </p:nvSpPr>
            <p:spPr>
              <a:xfrm flipV="1">
                <a:off x="1594" y="1383"/>
                <a:ext cx="57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8" name="Freeform 2066" descr="深色竖线"/>
              <p:cNvSpPr/>
              <p:nvPr/>
            </p:nvSpPr>
            <p:spPr>
              <a:xfrm flipV="1">
                <a:off x="1708" y="1383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9" name="Freeform 2067" descr="深色竖线"/>
              <p:cNvSpPr/>
              <p:nvPr/>
            </p:nvSpPr>
            <p:spPr>
              <a:xfrm flipV="1">
                <a:off x="1210" y="1385"/>
                <a:ext cx="44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0" name="Freeform 2068" descr="深色竖线"/>
              <p:cNvSpPr/>
              <p:nvPr/>
            </p:nvSpPr>
            <p:spPr>
              <a:xfrm>
                <a:off x="1254" y="1215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1" name="Freeform 2069" descr="深色竖线"/>
              <p:cNvSpPr/>
              <p:nvPr/>
            </p:nvSpPr>
            <p:spPr>
              <a:xfrm>
                <a:off x="1344" y="1214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2" name="Freeform 2070" descr="深色竖线"/>
              <p:cNvSpPr/>
              <p:nvPr/>
            </p:nvSpPr>
            <p:spPr>
              <a:xfrm>
                <a:off x="1434" y="1215"/>
                <a:ext cx="45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3" name="Freeform 2071" descr="深色竖线"/>
              <p:cNvSpPr/>
              <p:nvPr/>
            </p:nvSpPr>
            <p:spPr>
              <a:xfrm flipV="1">
                <a:off x="1299" y="1385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4" name="Freeform 2072" descr="深色竖线"/>
              <p:cNvSpPr/>
              <p:nvPr/>
            </p:nvSpPr>
            <p:spPr>
              <a:xfrm flipV="1">
                <a:off x="1389" y="1384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5" name="Freeform 2073" descr="深色竖线"/>
              <p:cNvSpPr/>
              <p:nvPr/>
            </p:nvSpPr>
            <p:spPr>
              <a:xfrm flipV="1">
                <a:off x="1027" y="1382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6" name="Freeform 2074" descr="深色竖线"/>
              <p:cNvSpPr/>
              <p:nvPr/>
            </p:nvSpPr>
            <p:spPr>
              <a:xfrm>
                <a:off x="1058" y="1212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7" name="Freeform 2075" descr="深色竖线"/>
              <p:cNvSpPr/>
              <p:nvPr/>
            </p:nvSpPr>
            <p:spPr>
              <a:xfrm>
                <a:off x="1120" y="1211"/>
                <a:ext cx="30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8" name="Freeform 2076" descr="深色竖线"/>
              <p:cNvSpPr/>
              <p:nvPr/>
            </p:nvSpPr>
            <p:spPr>
              <a:xfrm>
                <a:off x="1181" y="1212"/>
                <a:ext cx="31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9" name="Freeform 2077" descr="深色竖线"/>
              <p:cNvSpPr/>
              <p:nvPr/>
            </p:nvSpPr>
            <p:spPr>
              <a:xfrm flipV="1">
                <a:off x="1089" y="1382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0" name="Freeform 2078" descr="深色竖线"/>
              <p:cNvSpPr/>
              <p:nvPr/>
            </p:nvSpPr>
            <p:spPr>
              <a:xfrm flipV="1">
                <a:off x="1150" y="1381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1" name="Freeform 2079" descr="深色竖线"/>
              <p:cNvSpPr/>
              <p:nvPr/>
            </p:nvSpPr>
            <p:spPr>
              <a:xfrm flipV="1">
                <a:off x="900" y="1383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2" name="Freeform 2080" descr="深色竖线"/>
              <p:cNvSpPr/>
              <p:nvPr/>
            </p:nvSpPr>
            <p:spPr>
              <a:xfrm>
                <a:off x="922" y="1212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3" name="Freeform 2081" descr="深色竖线"/>
              <p:cNvSpPr/>
              <p:nvPr/>
            </p:nvSpPr>
            <p:spPr>
              <a:xfrm>
                <a:off x="964" y="1211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4" name="Freeform 2082" descr="深色竖线"/>
              <p:cNvSpPr/>
              <p:nvPr/>
            </p:nvSpPr>
            <p:spPr>
              <a:xfrm>
                <a:off x="1007" y="1212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5" name="Freeform 2083" descr="深色竖线"/>
              <p:cNvSpPr/>
              <p:nvPr/>
            </p:nvSpPr>
            <p:spPr>
              <a:xfrm flipV="1">
                <a:off x="943" y="1382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6" name="Freeform 2084" descr="深色竖线"/>
              <p:cNvSpPr/>
              <p:nvPr/>
            </p:nvSpPr>
            <p:spPr>
              <a:xfrm flipV="1">
                <a:off x="985" y="1382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7" name="Freeform 2085" descr="深色竖线"/>
              <p:cNvSpPr/>
              <p:nvPr/>
            </p:nvSpPr>
            <p:spPr>
              <a:xfrm flipH="1">
                <a:off x="2823" y="1213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8" name="Freeform 2086" descr="深色竖线"/>
              <p:cNvSpPr/>
              <p:nvPr/>
            </p:nvSpPr>
            <p:spPr>
              <a:xfrm flipH="1" flipV="1">
                <a:off x="2807" y="1383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29" name="Freeform 2087" descr="深色竖线"/>
              <p:cNvSpPr/>
              <p:nvPr/>
            </p:nvSpPr>
            <p:spPr>
              <a:xfrm flipH="1" flipV="1">
                <a:off x="2775" y="1384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0" name="Freeform 2088" descr="深色竖线"/>
              <p:cNvSpPr/>
              <p:nvPr/>
            </p:nvSpPr>
            <p:spPr>
              <a:xfrm flipH="1" flipV="1">
                <a:off x="2743" y="1384"/>
                <a:ext cx="16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1" name="Freeform 2089" descr="深色竖线"/>
              <p:cNvSpPr/>
              <p:nvPr/>
            </p:nvSpPr>
            <p:spPr>
              <a:xfrm flipH="1">
                <a:off x="2791" y="1213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2" name="Freeform 2090" descr="深色竖线"/>
              <p:cNvSpPr/>
              <p:nvPr/>
            </p:nvSpPr>
            <p:spPr>
              <a:xfrm flipH="1">
                <a:off x="2759" y="1214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3" name="Freeform 2091" descr="深色竖线"/>
              <p:cNvSpPr/>
              <p:nvPr/>
            </p:nvSpPr>
            <p:spPr>
              <a:xfrm flipH="1">
                <a:off x="2104" y="1211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4" name="Freeform 2092" descr="深色竖线"/>
              <p:cNvSpPr/>
              <p:nvPr/>
            </p:nvSpPr>
            <p:spPr>
              <a:xfrm flipH="1" flipV="1">
                <a:off x="2048" y="1381"/>
                <a:ext cx="56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5" name="Freeform 2093" descr="深色竖线"/>
              <p:cNvSpPr/>
              <p:nvPr/>
            </p:nvSpPr>
            <p:spPr>
              <a:xfrm flipH="1" flipV="1">
                <a:off x="1934" y="1383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6" name="Freeform 2094" descr="深色竖线"/>
              <p:cNvSpPr/>
              <p:nvPr/>
            </p:nvSpPr>
            <p:spPr>
              <a:xfrm flipH="1" flipV="1">
                <a:off x="1820" y="1382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7" name="Freeform 2095" descr="深色竖线"/>
              <p:cNvSpPr/>
              <p:nvPr/>
            </p:nvSpPr>
            <p:spPr>
              <a:xfrm flipH="1">
                <a:off x="1991" y="1211"/>
                <a:ext cx="57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8" name="Freeform 2096" descr="深色竖线"/>
              <p:cNvSpPr/>
              <p:nvPr/>
            </p:nvSpPr>
            <p:spPr>
              <a:xfrm flipH="1">
                <a:off x="1877" y="1212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39" name="Freeform 2097" descr="深色竖线"/>
              <p:cNvSpPr/>
              <p:nvPr/>
            </p:nvSpPr>
            <p:spPr>
              <a:xfrm flipH="1">
                <a:off x="2388" y="1210"/>
                <a:ext cx="44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0" name="Freeform 2098" descr="深色竖线"/>
              <p:cNvSpPr/>
              <p:nvPr/>
            </p:nvSpPr>
            <p:spPr>
              <a:xfrm flipH="1" flipV="1">
                <a:off x="2343" y="1380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1" name="Freeform 2099" descr="深色竖线"/>
              <p:cNvSpPr/>
              <p:nvPr/>
            </p:nvSpPr>
            <p:spPr>
              <a:xfrm flipH="1" flipV="1">
                <a:off x="2253" y="1381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2" name="Freeform 2100" descr="深色竖线"/>
              <p:cNvSpPr/>
              <p:nvPr/>
            </p:nvSpPr>
            <p:spPr>
              <a:xfrm flipH="1" flipV="1">
                <a:off x="2163" y="1381"/>
                <a:ext cx="45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3" name="Freeform 2101" descr="深色竖线"/>
              <p:cNvSpPr/>
              <p:nvPr/>
            </p:nvSpPr>
            <p:spPr>
              <a:xfrm flipH="1">
                <a:off x="2298" y="1210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4" name="Freeform 2102" descr="深色竖线"/>
              <p:cNvSpPr/>
              <p:nvPr/>
            </p:nvSpPr>
            <p:spPr>
              <a:xfrm flipH="1">
                <a:off x="2208" y="1211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5" name="Freeform 2103" descr="深色竖线"/>
              <p:cNvSpPr/>
              <p:nvPr/>
            </p:nvSpPr>
            <p:spPr>
              <a:xfrm flipH="1">
                <a:off x="2584" y="1213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6" name="Freeform 2104" descr="深色竖线"/>
              <p:cNvSpPr/>
              <p:nvPr/>
            </p:nvSpPr>
            <p:spPr>
              <a:xfrm flipH="1" flipV="1">
                <a:off x="2553" y="1383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7" name="Freeform 2105" descr="深色竖线"/>
              <p:cNvSpPr/>
              <p:nvPr/>
            </p:nvSpPr>
            <p:spPr>
              <a:xfrm flipH="1" flipV="1">
                <a:off x="2492" y="1384"/>
                <a:ext cx="30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8" name="Freeform 2106" descr="深色竖线"/>
              <p:cNvSpPr/>
              <p:nvPr/>
            </p:nvSpPr>
            <p:spPr>
              <a:xfrm flipH="1" flipV="1">
                <a:off x="2430" y="1384"/>
                <a:ext cx="31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49" name="Freeform 2107" descr="深色竖线"/>
              <p:cNvSpPr/>
              <p:nvPr/>
            </p:nvSpPr>
            <p:spPr>
              <a:xfrm flipH="1">
                <a:off x="2522" y="1213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0" name="Freeform 2108" descr="深色竖线"/>
              <p:cNvSpPr/>
              <p:nvPr/>
            </p:nvSpPr>
            <p:spPr>
              <a:xfrm flipH="1">
                <a:off x="2461" y="1214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1" name="Freeform 2109" descr="深色竖线"/>
              <p:cNvSpPr/>
              <p:nvPr/>
            </p:nvSpPr>
            <p:spPr>
              <a:xfrm flipH="1">
                <a:off x="2720" y="1212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2" name="Freeform 2110" descr="深色竖线"/>
              <p:cNvSpPr/>
              <p:nvPr/>
            </p:nvSpPr>
            <p:spPr>
              <a:xfrm flipH="1" flipV="1">
                <a:off x="2699" y="1382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3" name="Freeform 2111" descr="深色竖线"/>
              <p:cNvSpPr/>
              <p:nvPr/>
            </p:nvSpPr>
            <p:spPr>
              <a:xfrm flipH="1" flipV="1">
                <a:off x="2657" y="1384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4" name="Freeform 2112" descr="深色竖线"/>
              <p:cNvSpPr/>
              <p:nvPr/>
            </p:nvSpPr>
            <p:spPr>
              <a:xfrm flipH="1" flipV="1">
                <a:off x="2614" y="1383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5" name="Freeform 2113" descr="深色竖线"/>
              <p:cNvSpPr/>
              <p:nvPr/>
            </p:nvSpPr>
            <p:spPr>
              <a:xfrm flipH="1">
                <a:off x="2678" y="1212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6" name="Freeform 2114" descr="深色竖线"/>
              <p:cNvSpPr/>
              <p:nvPr/>
            </p:nvSpPr>
            <p:spPr>
              <a:xfrm flipH="1">
                <a:off x="2635" y="1213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7" name="Freeform 2115" descr="深色竖线"/>
              <p:cNvSpPr/>
              <p:nvPr/>
            </p:nvSpPr>
            <p:spPr>
              <a:xfrm flipV="1">
                <a:off x="2839" y="1385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8" name="Freeform 2116" descr="深色竖线"/>
              <p:cNvSpPr/>
              <p:nvPr/>
            </p:nvSpPr>
            <p:spPr>
              <a:xfrm>
                <a:off x="2855" y="1215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59" name="Freeform 2117" descr="深色竖线"/>
              <p:cNvSpPr/>
              <p:nvPr/>
            </p:nvSpPr>
            <p:spPr>
              <a:xfrm>
                <a:off x="2887" y="1214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0" name="Freeform 2118" descr="深色竖线"/>
              <p:cNvSpPr/>
              <p:nvPr/>
            </p:nvSpPr>
            <p:spPr>
              <a:xfrm>
                <a:off x="2919" y="1215"/>
                <a:ext cx="16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1" name="Freeform 2119" descr="深色竖线"/>
              <p:cNvSpPr/>
              <p:nvPr/>
            </p:nvSpPr>
            <p:spPr>
              <a:xfrm flipV="1">
                <a:off x="2871" y="1385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2" name="Freeform 2120" descr="深色竖线"/>
              <p:cNvSpPr/>
              <p:nvPr/>
            </p:nvSpPr>
            <p:spPr>
              <a:xfrm flipV="1">
                <a:off x="2903" y="1384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3" name="Freeform 2121" descr="深色竖线"/>
              <p:cNvSpPr/>
              <p:nvPr/>
            </p:nvSpPr>
            <p:spPr>
              <a:xfrm flipV="1">
                <a:off x="3517" y="1387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4" name="Freeform 2122" descr="深色竖线"/>
              <p:cNvSpPr/>
              <p:nvPr/>
            </p:nvSpPr>
            <p:spPr>
              <a:xfrm>
                <a:off x="3574" y="1216"/>
                <a:ext cx="56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5" name="Freeform 2123" descr="深色竖线"/>
              <p:cNvSpPr/>
              <p:nvPr/>
            </p:nvSpPr>
            <p:spPr>
              <a:xfrm>
                <a:off x="3687" y="1215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6" name="Freeform 2124" descr="深色竖线"/>
              <p:cNvSpPr/>
              <p:nvPr/>
            </p:nvSpPr>
            <p:spPr>
              <a:xfrm>
                <a:off x="3801" y="1216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7" name="Freeform 2125" descr="深色竖线"/>
              <p:cNvSpPr/>
              <p:nvPr/>
            </p:nvSpPr>
            <p:spPr>
              <a:xfrm flipV="1">
                <a:off x="3630" y="1386"/>
                <a:ext cx="57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8" name="Freeform 2126" descr="深色竖线"/>
              <p:cNvSpPr/>
              <p:nvPr/>
            </p:nvSpPr>
            <p:spPr>
              <a:xfrm flipV="1">
                <a:off x="3744" y="1386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9" name="Freeform 2127" descr="深色竖线"/>
              <p:cNvSpPr/>
              <p:nvPr/>
            </p:nvSpPr>
            <p:spPr>
              <a:xfrm flipV="1">
                <a:off x="3246" y="1388"/>
                <a:ext cx="44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0" name="Freeform 2128" descr="深色竖线"/>
              <p:cNvSpPr/>
              <p:nvPr/>
            </p:nvSpPr>
            <p:spPr>
              <a:xfrm>
                <a:off x="3290" y="1218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1" name="Freeform 2129" descr="深色竖线"/>
              <p:cNvSpPr/>
              <p:nvPr/>
            </p:nvSpPr>
            <p:spPr>
              <a:xfrm>
                <a:off x="3380" y="1217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2" name="Freeform 2130" descr="深色竖线"/>
              <p:cNvSpPr/>
              <p:nvPr/>
            </p:nvSpPr>
            <p:spPr>
              <a:xfrm>
                <a:off x="3470" y="1218"/>
                <a:ext cx="45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3" name="Freeform 2131" descr="深色竖线"/>
              <p:cNvSpPr/>
              <p:nvPr/>
            </p:nvSpPr>
            <p:spPr>
              <a:xfrm flipV="1">
                <a:off x="3335" y="1388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4" name="Freeform 2132" descr="深色竖线"/>
              <p:cNvSpPr/>
              <p:nvPr/>
            </p:nvSpPr>
            <p:spPr>
              <a:xfrm flipV="1">
                <a:off x="3425" y="1387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5" name="Freeform 2133" descr="深色竖线"/>
              <p:cNvSpPr/>
              <p:nvPr/>
            </p:nvSpPr>
            <p:spPr>
              <a:xfrm flipV="1">
                <a:off x="3063" y="1385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6" name="Freeform 2134" descr="深色竖线"/>
              <p:cNvSpPr/>
              <p:nvPr/>
            </p:nvSpPr>
            <p:spPr>
              <a:xfrm>
                <a:off x="3094" y="1215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7" name="Freeform 2135" descr="深色竖线"/>
              <p:cNvSpPr/>
              <p:nvPr/>
            </p:nvSpPr>
            <p:spPr>
              <a:xfrm>
                <a:off x="3156" y="1214"/>
                <a:ext cx="30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8" name="Freeform 2136" descr="深色竖线"/>
              <p:cNvSpPr/>
              <p:nvPr/>
            </p:nvSpPr>
            <p:spPr>
              <a:xfrm>
                <a:off x="3217" y="1215"/>
                <a:ext cx="31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9" name="Freeform 2137" descr="深色竖线"/>
              <p:cNvSpPr/>
              <p:nvPr/>
            </p:nvSpPr>
            <p:spPr>
              <a:xfrm flipV="1">
                <a:off x="3125" y="1385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0" name="Freeform 2138" descr="深色竖线"/>
              <p:cNvSpPr/>
              <p:nvPr/>
            </p:nvSpPr>
            <p:spPr>
              <a:xfrm flipV="1">
                <a:off x="3186" y="1384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1" name="Freeform 2139" descr="深色竖线"/>
              <p:cNvSpPr/>
              <p:nvPr/>
            </p:nvSpPr>
            <p:spPr>
              <a:xfrm flipV="1">
                <a:off x="2936" y="1386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2" name="Freeform 2140" descr="深色竖线"/>
              <p:cNvSpPr/>
              <p:nvPr/>
            </p:nvSpPr>
            <p:spPr>
              <a:xfrm>
                <a:off x="2958" y="1215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3" name="Freeform 2141" descr="深色竖线"/>
              <p:cNvSpPr/>
              <p:nvPr/>
            </p:nvSpPr>
            <p:spPr>
              <a:xfrm>
                <a:off x="3000" y="1214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4" name="Freeform 2142" descr="深色竖线"/>
              <p:cNvSpPr/>
              <p:nvPr/>
            </p:nvSpPr>
            <p:spPr>
              <a:xfrm>
                <a:off x="3043" y="1215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5" name="Freeform 2143" descr="深色竖线"/>
              <p:cNvSpPr/>
              <p:nvPr/>
            </p:nvSpPr>
            <p:spPr>
              <a:xfrm flipV="1">
                <a:off x="2979" y="1385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6" name="Freeform 2144" descr="深色竖线"/>
              <p:cNvSpPr/>
              <p:nvPr/>
            </p:nvSpPr>
            <p:spPr>
              <a:xfrm flipV="1">
                <a:off x="3021" y="1385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7" name="Freeform 2145" descr="深色竖线"/>
              <p:cNvSpPr/>
              <p:nvPr/>
            </p:nvSpPr>
            <p:spPr>
              <a:xfrm flipH="1">
                <a:off x="4863" y="1217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8" name="Freeform 2146" descr="深色竖线"/>
              <p:cNvSpPr/>
              <p:nvPr/>
            </p:nvSpPr>
            <p:spPr>
              <a:xfrm flipH="1" flipV="1">
                <a:off x="4847" y="1387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9" name="Freeform 2147" descr="深色竖线"/>
              <p:cNvSpPr/>
              <p:nvPr/>
            </p:nvSpPr>
            <p:spPr>
              <a:xfrm flipH="1" flipV="1">
                <a:off x="4815" y="1388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0" name="Freeform 2148" descr="深色竖线"/>
              <p:cNvSpPr/>
              <p:nvPr/>
            </p:nvSpPr>
            <p:spPr>
              <a:xfrm flipH="1" flipV="1">
                <a:off x="4783" y="1388"/>
                <a:ext cx="16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1" name="Freeform 2149" descr="深色竖线"/>
              <p:cNvSpPr/>
              <p:nvPr/>
            </p:nvSpPr>
            <p:spPr>
              <a:xfrm flipH="1">
                <a:off x="4831" y="1217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2" name="Freeform 2150" descr="深色竖线"/>
              <p:cNvSpPr/>
              <p:nvPr/>
            </p:nvSpPr>
            <p:spPr>
              <a:xfrm flipH="1">
                <a:off x="4799" y="1218"/>
                <a:ext cx="16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3" name="Freeform 2151" descr="深色竖线"/>
              <p:cNvSpPr/>
              <p:nvPr/>
            </p:nvSpPr>
            <p:spPr>
              <a:xfrm flipH="1">
                <a:off x="4144" y="1215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4" name="Freeform 2152" descr="深色竖线"/>
              <p:cNvSpPr/>
              <p:nvPr/>
            </p:nvSpPr>
            <p:spPr>
              <a:xfrm flipH="1" flipV="1">
                <a:off x="4088" y="1385"/>
                <a:ext cx="56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5" name="Freeform 2153" descr="深色竖线"/>
              <p:cNvSpPr/>
              <p:nvPr/>
            </p:nvSpPr>
            <p:spPr>
              <a:xfrm flipH="1" flipV="1">
                <a:off x="3974" y="1387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6" name="Freeform 2154" descr="深色竖线"/>
              <p:cNvSpPr/>
              <p:nvPr/>
            </p:nvSpPr>
            <p:spPr>
              <a:xfrm flipH="1" flipV="1">
                <a:off x="3860" y="1386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7" name="Freeform 2155" descr="深色竖线"/>
              <p:cNvSpPr/>
              <p:nvPr/>
            </p:nvSpPr>
            <p:spPr>
              <a:xfrm flipH="1">
                <a:off x="4031" y="1215"/>
                <a:ext cx="57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8" name="Freeform 2156" descr="深色竖线"/>
              <p:cNvSpPr/>
              <p:nvPr/>
            </p:nvSpPr>
            <p:spPr>
              <a:xfrm flipH="1">
                <a:off x="3917" y="1216"/>
                <a:ext cx="57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9" name="Freeform 2157" descr="深色竖线"/>
              <p:cNvSpPr/>
              <p:nvPr/>
            </p:nvSpPr>
            <p:spPr>
              <a:xfrm flipH="1">
                <a:off x="4428" y="1214"/>
                <a:ext cx="44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0" name="Freeform 2158" descr="深色竖线"/>
              <p:cNvSpPr/>
              <p:nvPr/>
            </p:nvSpPr>
            <p:spPr>
              <a:xfrm flipH="1" flipV="1">
                <a:off x="4383" y="1384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1" name="Freeform 2159" descr="深色竖线"/>
              <p:cNvSpPr/>
              <p:nvPr/>
            </p:nvSpPr>
            <p:spPr>
              <a:xfrm flipH="1" flipV="1">
                <a:off x="4293" y="1385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2" name="Freeform 2160" descr="深色竖线"/>
              <p:cNvSpPr/>
              <p:nvPr/>
            </p:nvSpPr>
            <p:spPr>
              <a:xfrm flipH="1" flipV="1">
                <a:off x="4203" y="1385"/>
                <a:ext cx="45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3" name="Freeform 2161" descr="深色竖线"/>
              <p:cNvSpPr/>
              <p:nvPr/>
            </p:nvSpPr>
            <p:spPr>
              <a:xfrm flipH="1">
                <a:off x="4338" y="1214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4" name="Freeform 2162" descr="深色竖线"/>
              <p:cNvSpPr/>
              <p:nvPr/>
            </p:nvSpPr>
            <p:spPr>
              <a:xfrm flipH="1">
                <a:off x="4248" y="1215"/>
                <a:ext cx="45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5" name="Freeform 2163" descr="深色竖线"/>
              <p:cNvSpPr/>
              <p:nvPr/>
            </p:nvSpPr>
            <p:spPr>
              <a:xfrm flipH="1">
                <a:off x="4624" y="1217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6" name="Freeform 2164" descr="深色竖线"/>
              <p:cNvSpPr/>
              <p:nvPr/>
            </p:nvSpPr>
            <p:spPr>
              <a:xfrm flipH="1" flipV="1">
                <a:off x="4593" y="1387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7" name="Freeform 2165" descr="深色竖线"/>
              <p:cNvSpPr/>
              <p:nvPr/>
            </p:nvSpPr>
            <p:spPr>
              <a:xfrm flipH="1" flipV="1">
                <a:off x="4532" y="1388"/>
                <a:ext cx="30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8" name="Freeform 2166" descr="深色竖线"/>
              <p:cNvSpPr/>
              <p:nvPr/>
            </p:nvSpPr>
            <p:spPr>
              <a:xfrm flipH="1" flipV="1">
                <a:off x="4470" y="1388"/>
                <a:ext cx="31" cy="16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9" name="Freeform 2167" descr="深色竖线"/>
              <p:cNvSpPr/>
              <p:nvPr/>
            </p:nvSpPr>
            <p:spPr>
              <a:xfrm flipH="1">
                <a:off x="4562" y="1217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10" name="Freeform 2168" descr="深色竖线"/>
              <p:cNvSpPr/>
              <p:nvPr/>
            </p:nvSpPr>
            <p:spPr>
              <a:xfrm flipH="1">
                <a:off x="4501" y="1218"/>
                <a:ext cx="3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11" name="Freeform 2169" descr="深色竖线"/>
              <p:cNvSpPr/>
              <p:nvPr/>
            </p:nvSpPr>
            <p:spPr>
              <a:xfrm flipH="1">
                <a:off x="4760" y="1216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12" name="Freeform 2170" descr="深色竖线"/>
              <p:cNvSpPr/>
              <p:nvPr/>
            </p:nvSpPr>
            <p:spPr>
              <a:xfrm flipH="1" flipV="1">
                <a:off x="4739" y="1386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13" name="Freeform 2171" descr="深色竖线"/>
              <p:cNvSpPr/>
              <p:nvPr/>
            </p:nvSpPr>
            <p:spPr>
              <a:xfrm flipH="1" flipV="1">
                <a:off x="4697" y="1388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14" name="Freeform 2172" descr="深色竖线"/>
              <p:cNvSpPr/>
              <p:nvPr/>
            </p:nvSpPr>
            <p:spPr>
              <a:xfrm flipH="1" flipV="1">
                <a:off x="4654" y="1387"/>
                <a:ext cx="21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15" name="Freeform 2173" descr="深色竖线"/>
              <p:cNvSpPr/>
              <p:nvPr/>
            </p:nvSpPr>
            <p:spPr>
              <a:xfrm flipH="1">
                <a:off x="4718" y="1216"/>
                <a:ext cx="21" cy="1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16" name="Freeform 2174" descr="深色竖线"/>
              <p:cNvSpPr/>
              <p:nvPr/>
            </p:nvSpPr>
            <p:spPr>
              <a:xfrm flipH="1">
                <a:off x="4675" y="1217"/>
                <a:ext cx="22" cy="17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0" b="0"/>
                <a:pathLst>
                  <a:path w="587" h="1000">
                    <a:moveTo>
                      <a:pt x="0" y="1000"/>
                    </a:moveTo>
                    <a:cubicBezTo>
                      <a:pt x="98" y="500"/>
                      <a:pt x="196" y="0"/>
                      <a:pt x="294" y="0"/>
                    </a:cubicBezTo>
                    <a:cubicBezTo>
                      <a:pt x="392" y="0"/>
                      <a:pt x="489" y="500"/>
                      <a:pt x="587" y="1000"/>
                    </a:cubicBez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2546" name="Group 2175"/>
          <p:cNvGrpSpPr/>
          <p:nvPr/>
        </p:nvGrpSpPr>
        <p:grpSpPr>
          <a:xfrm>
            <a:off x="933450" y="4225925"/>
            <a:ext cx="927100" cy="1330325"/>
            <a:chOff x="556" y="2760"/>
            <a:chExt cx="584" cy="838"/>
          </a:xfrm>
        </p:grpSpPr>
        <p:sp>
          <p:nvSpPr>
            <p:cNvPr id="22583" name="Line 2176"/>
            <p:cNvSpPr/>
            <p:nvPr/>
          </p:nvSpPr>
          <p:spPr>
            <a:xfrm rot="-5400000">
              <a:off x="852" y="2472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84" name="Line 2177"/>
            <p:cNvSpPr/>
            <p:nvPr/>
          </p:nvSpPr>
          <p:spPr>
            <a:xfrm rot="5400000" flipH="1">
              <a:off x="844" y="2546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585" name="Group 2178"/>
            <p:cNvGrpSpPr/>
            <p:nvPr/>
          </p:nvGrpSpPr>
          <p:grpSpPr>
            <a:xfrm>
              <a:off x="714" y="2889"/>
              <a:ext cx="311" cy="709"/>
              <a:chOff x="707" y="2898"/>
              <a:chExt cx="281" cy="746"/>
            </a:xfrm>
          </p:grpSpPr>
          <p:sp>
            <p:nvSpPr>
              <p:cNvPr id="22586" name="Freeform 2179"/>
              <p:cNvSpPr/>
              <p:nvPr/>
            </p:nvSpPr>
            <p:spPr>
              <a:xfrm>
                <a:off x="752" y="2898"/>
                <a:ext cx="216" cy="746"/>
              </a:xfrm>
              <a:custGeom>
                <a:avLst/>
                <a:gdLst/>
                <a:ahLst/>
                <a:cxnLst>
                  <a:cxn ang="0">
                    <a:pos x="102" y="0"/>
                  </a:cxn>
                  <a:cxn ang="0">
                    <a:pos x="120" y="33"/>
                  </a:cxn>
                  <a:cxn ang="0">
                    <a:pos x="115" y="72"/>
                  </a:cxn>
                  <a:cxn ang="0">
                    <a:pos x="133" y="51"/>
                  </a:cxn>
                  <a:cxn ang="0">
                    <a:pos x="142" y="44"/>
                  </a:cxn>
                  <a:cxn ang="0">
                    <a:pos x="153" y="83"/>
                  </a:cxn>
                  <a:cxn ang="0">
                    <a:pos x="133" y="176"/>
                  </a:cxn>
                  <a:cxn ang="0">
                    <a:pos x="130" y="233"/>
                  </a:cxn>
                  <a:cxn ang="0">
                    <a:pos x="148" y="266"/>
                  </a:cxn>
                  <a:cxn ang="0">
                    <a:pos x="157" y="281"/>
                  </a:cxn>
                  <a:cxn ang="0">
                    <a:pos x="163" y="233"/>
                  </a:cxn>
                  <a:cxn ang="0">
                    <a:pos x="171" y="191"/>
                  </a:cxn>
                  <a:cxn ang="0">
                    <a:pos x="183" y="171"/>
                  </a:cxn>
                  <a:cxn ang="0">
                    <a:pos x="196" y="171"/>
                  </a:cxn>
                  <a:cxn ang="0">
                    <a:pos x="208" y="194"/>
                  </a:cxn>
                  <a:cxn ang="0">
                    <a:pos x="214" y="242"/>
                  </a:cxn>
                  <a:cxn ang="0">
                    <a:pos x="210" y="302"/>
                  </a:cxn>
                  <a:cxn ang="0">
                    <a:pos x="201" y="332"/>
                  </a:cxn>
                  <a:cxn ang="0">
                    <a:pos x="211" y="407"/>
                  </a:cxn>
                  <a:cxn ang="0">
                    <a:pos x="216" y="465"/>
                  </a:cxn>
                  <a:cxn ang="0">
                    <a:pos x="193" y="522"/>
                  </a:cxn>
                  <a:cxn ang="0">
                    <a:pos x="187" y="546"/>
                  </a:cxn>
                  <a:cxn ang="0">
                    <a:pos x="186" y="600"/>
                  </a:cxn>
                  <a:cxn ang="0">
                    <a:pos x="172" y="672"/>
                  </a:cxn>
                  <a:cxn ang="0">
                    <a:pos x="142" y="735"/>
                  </a:cxn>
                  <a:cxn ang="0">
                    <a:pos x="129" y="746"/>
                  </a:cxn>
                  <a:cxn ang="0">
                    <a:pos x="85" y="731"/>
                  </a:cxn>
                  <a:cxn ang="0">
                    <a:pos x="46" y="699"/>
                  </a:cxn>
                  <a:cxn ang="0">
                    <a:pos x="21" y="657"/>
                  </a:cxn>
                  <a:cxn ang="0">
                    <a:pos x="18" y="636"/>
                  </a:cxn>
                  <a:cxn ang="0">
                    <a:pos x="64" y="548"/>
                  </a:cxn>
                  <a:cxn ang="0">
                    <a:pos x="67" y="498"/>
                  </a:cxn>
                  <a:cxn ang="0">
                    <a:pos x="42" y="395"/>
                  </a:cxn>
                  <a:cxn ang="0">
                    <a:pos x="21" y="353"/>
                  </a:cxn>
                  <a:cxn ang="0">
                    <a:pos x="0" y="303"/>
                  </a:cxn>
                  <a:cxn ang="0">
                    <a:pos x="0" y="201"/>
                  </a:cxn>
                  <a:cxn ang="0">
                    <a:pos x="9" y="173"/>
                  </a:cxn>
                  <a:cxn ang="0">
                    <a:pos x="24" y="131"/>
                  </a:cxn>
                  <a:cxn ang="0">
                    <a:pos x="36" y="122"/>
                  </a:cxn>
                  <a:cxn ang="0">
                    <a:pos x="63" y="51"/>
                  </a:cxn>
                  <a:cxn ang="0">
                    <a:pos x="75" y="51"/>
                  </a:cxn>
                  <a:cxn ang="0">
                    <a:pos x="87" y="30"/>
                  </a:cxn>
                  <a:cxn ang="0">
                    <a:pos x="102" y="0"/>
                  </a:cxn>
                </a:cxnLst>
                <a:rect l="0" t="0" r="0" b="0"/>
                <a:pathLst>
                  <a:path w="216" h="746">
                    <a:moveTo>
                      <a:pt x="102" y="0"/>
                    </a:moveTo>
                    <a:lnTo>
                      <a:pt x="120" y="33"/>
                    </a:lnTo>
                    <a:lnTo>
                      <a:pt x="115" y="72"/>
                    </a:lnTo>
                    <a:lnTo>
                      <a:pt x="133" y="51"/>
                    </a:lnTo>
                    <a:lnTo>
                      <a:pt x="142" y="44"/>
                    </a:lnTo>
                    <a:lnTo>
                      <a:pt x="153" y="83"/>
                    </a:lnTo>
                    <a:lnTo>
                      <a:pt x="133" y="176"/>
                    </a:lnTo>
                    <a:lnTo>
                      <a:pt x="130" y="233"/>
                    </a:lnTo>
                    <a:lnTo>
                      <a:pt x="148" y="266"/>
                    </a:lnTo>
                    <a:lnTo>
                      <a:pt x="157" y="281"/>
                    </a:lnTo>
                    <a:lnTo>
                      <a:pt x="163" y="233"/>
                    </a:lnTo>
                    <a:lnTo>
                      <a:pt x="171" y="191"/>
                    </a:lnTo>
                    <a:lnTo>
                      <a:pt x="183" y="171"/>
                    </a:lnTo>
                    <a:lnTo>
                      <a:pt x="196" y="171"/>
                    </a:lnTo>
                    <a:lnTo>
                      <a:pt x="208" y="194"/>
                    </a:lnTo>
                    <a:lnTo>
                      <a:pt x="214" y="242"/>
                    </a:lnTo>
                    <a:lnTo>
                      <a:pt x="210" y="302"/>
                    </a:lnTo>
                    <a:lnTo>
                      <a:pt x="201" y="332"/>
                    </a:lnTo>
                    <a:lnTo>
                      <a:pt x="211" y="407"/>
                    </a:lnTo>
                    <a:lnTo>
                      <a:pt x="216" y="465"/>
                    </a:lnTo>
                    <a:lnTo>
                      <a:pt x="193" y="522"/>
                    </a:lnTo>
                    <a:lnTo>
                      <a:pt x="187" y="546"/>
                    </a:lnTo>
                    <a:lnTo>
                      <a:pt x="186" y="600"/>
                    </a:lnTo>
                    <a:lnTo>
                      <a:pt x="172" y="672"/>
                    </a:lnTo>
                    <a:lnTo>
                      <a:pt x="142" y="735"/>
                    </a:lnTo>
                    <a:lnTo>
                      <a:pt x="129" y="746"/>
                    </a:lnTo>
                    <a:lnTo>
                      <a:pt x="85" y="731"/>
                    </a:lnTo>
                    <a:lnTo>
                      <a:pt x="46" y="699"/>
                    </a:lnTo>
                    <a:lnTo>
                      <a:pt x="21" y="657"/>
                    </a:lnTo>
                    <a:lnTo>
                      <a:pt x="18" y="636"/>
                    </a:lnTo>
                    <a:lnTo>
                      <a:pt x="64" y="548"/>
                    </a:lnTo>
                    <a:lnTo>
                      <a:pt x="67" y="498"/>
                    </a:lnTo>
                    <a:lnTo>
                      <a:pt x="42" y="395"/>
                    </a:lnTo>
                    <a:lnTo>
                      <a:pt x="21" y="353"/>
                    </a:lnTo>
                    <a:lnTo>
                      <a:pt x="0" y="303"/>
                    </a:lnTo>
                    <a:lnTo>
                      <a:pt x="0" y="201"/>
                    </a:lnTo>
                    <a:lnTo>
                      <a:pt x="9" y="173"/>
                    </a:lnTo>
                    <a:lnTo>
                      <a:pt x="24" y="131"/>
                    </a:lnTo>
                    <a:lnTo>
                      <a:pt x="36" y="122"/>
                    </a:lnTo>
                    <a:lnTo>
                      <a:pt x="63" y="51"/>
                    </a:lnTo>
                    <a:lnTo>
                      <a:pt x="75" y="51"/>
                    </a:lnTo>
                    <a:lnTo>
                      <a:pt x="87" y="30"/>
                    </a:lnTo>
                    <a:lnTo>
                      <a:pt x="10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DD9">
                      <a:alpha val="100000"/>
                    </a:srgbClr>
                  </a:gs>
                  <a:gs pos="100000">
                    <a:srgbClr val="FFB49F">
                      <a:alpha val="100000"/>
                    </a:srgb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587" name="Group 2180"/>
              <p:cNvGrpSpPr/>
              <p:nvPr/>
            </p:nvGrpSpPr>
            <p:grpSpPr>
              <a:xfrm rot="-715367">
                <a:off x="707" y="2906"/>
                <a:ext cx="281" cy="727"/>
                <a:chOff x="462" y="2325"/>
                <a:chExt cx="410" cy="957"/>
              </a:xfrm>
            </p:grpSpPr>
            <p:sp>
              <p:nvSpPr>
                <p:cNvPr id="22588" name="Freeform 2181"/>
                <p:cNvSpPr/>
                <p:nvPr/>
              </p:nvSpPr>
              <p:spPr>
                <a:xfrm rot="-105251">
                  <a:off x="462" y="2472"/>
                  <a:ext cx="184" cy="656"/>
                </a:xfrm>
                <a:custGeom>
                  <a:avLst/>
                  <a:gdLst/>
                  <a:ahLst/>
                  <a:cxnLst>
                    <a:cxn ang="0">
                      <a:pos x="184" y="0"/>
                    </a:cxn>
                    <a:cxn ang="0">
                      <a:pos x="166" y="30"/>
                    </a:cxn>
                    <a:cxn ang="0">
                      <a:pos x="142" y="58"/>
                    </a:cxn>
                    <a:cxn ang="0">
                      <a:pos x="130" y="76"/>
                    </a:cxn>
                    <a:cxn ang="0">
                      <a:pos x="114" y="134"/>
                    </a:cxn>
                    <a:cxn ang="0">
                      <a:pos x="98" y="188"/>
                    </a:cxn>
                    <a:cxn ang="0">
                      <a:pos x="88" y="232"/>
                    </a:cxn>
                    <a:cxn ang="0">
                      <a:pos x="104" y="288"/>
                    </a:cxn>
                    <a:cxn ang="0">
                      <a:pos x="122" y="332"/>
                    </a:cxn>
                    <a:cxn ang="0">
                      <a:pos x="124" y="386"/>
                    </a:cxn>
                    <a:cxn ang="0">
                      <a:pos x="122" y="424"/>
                    </a:cxn>
                    <a:cxn ang="0">
                      <a:pos x="124" y="474"/>
                    </a:cxn>
                    <a:cxn ang="0">
                      <a:pos x="122" y="496"/>
                    </a:cxn>
                    <a:cxn ang="0">
                      <a:pos x="108" y="516"/>
                    </a:cxn>
                    <a:cxn ang="0">
                      <a:pos x="100" y="542"/>
                    </a:cxn>
                    <a:cxn ang="0">
                      <a:pos x="96" y="558"/>
                    </a:cxn>
                    <a:cxn ang="0">
                      <a:pos x="68" y="590"/>
                    </a:cxn>
                    <a:cxn ang="0">
                      <a:pos x="0" y="656"/>
                    </a:cxn>
                  </a:cxnLst>
                  <a:rect l="0" t="0" r="0" b="0"/>
                  <a:pathLst>
                    <a:path w="184" h="656">
                      <a:moveTo>
                        <a:pt x="184" y="0"/>
                      </a:moveTo>
                      <a:lnTo>
                        <a:pt x="166" y="30"/>
                      </a:lnTo>
                      <a:lnTo>
                        <a:pt x="142" y="58"/>
                      </a:lnTo>
                      <a:lnTo>
                        <a:pt x="130" y="76"/>
                      </a:lnTo>
                      <a:lnTo>
                        <a:pt x="114" y="134"/>
                      </a:lnTo>
                      <a:lnTo>
                        <a:pt x="98" y="188"/>
                      </a:lnTo>
                      <a:lnTo>
                        <a:pt x="88" y="232"/>
                      </a:lnTo>
                      <a:lnTo>
                        <a:pt x="104" y="288"/>
                      </a:lnTo>
                      <a:lnTo>
                        <a:pt x="122" y="332"/>
                      </a:lnTo>
                      <a:lnTo>
                        <a:pt x="124" y="386"/>
                      </a:lnTo>
                      <a:lnTo>
                        <a:pt x="122" y="424"/>
                      </a:lnTo>
                      <a:lnTo>
                        <a:pt x="124" y="474"/>
                      </a:lnTo>
                      <a:lnTo>
                        <a:pt x="122" y="496"/>
                      </a:lnTo>
                      <a:lnTo>
                        <a:pt x="108" y="516"/>
                      </a:lnTo>
                      <a:lnTo>
                        <a:pt x="100" y="542"/>
                      </a:lnTo>
                      <a:lnTo>
                        <a:pt x="96" y="558"/>
                      </a:lnTo>
                      <a:lnTo>
                        <a:pt x="68" y="590"/>
                      </a:lnTo>
                      <a:lnTo>
                        <a:pt x="0" y="65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89" name="Freeform 2182"/>
                <p:cNvSpPr/>
                <p:nvPr/>
              </p:nvSpPr>
              <p:spPr>
                <a:xfrm>
                  <a:off x="654" y="2377"/>
                  <a:ext cx="74" cy="296"/>
                </a:xfrm>
                <a:custGeom>
                  <a:avLst/>
                  <a:gdLst/>
                  <a:ahLst/>
                  <a:cxnLst>
                    <a:cxn ang="0">
                      <a:pos x="0" y="86"/>
                    </a:cxn>
                    <a:cxn ang="0">
                      <a:pos x="36" y="32"/>
                    </a:cxn>
                    <a:cxn ang="0">
                      <a:pos x="62" y="0"/>
                    </a:cxn>
                    <a:cxn ang="0">
                      <a:pos x="74" y="6"/>
                    </a:cxn>
                    <a:cxn ang="0">
                      <a:pos x="74" y="36"/>
                    </a:cxn>
                    <a:cxn ang="0">
                      <a:pos x="72" y="66"/>
                    </a:cxn>
                    <a:cxn ang="0">
                      <a:pos x="62" y="92"/>
                    </a:cxn>
                    <a:cxn ang="0">
                      <a:pos x="42" y="118"/>
                    </a:cxn>
                    <a:cxn ang="0">
                      <a:pos x="34" y="134"/>
                    </a:cxn>
                    <a:cxn ang="0">
                      <a:pos x="24" y="182"/>
                    </a:cxn>
                    <a:cxn ang="0">
                      <a:pos x="12" y="220"/>
                    </a:cxn>
                    <a:cxn ang="0">
                      <a:pos x="8" y="236"/>
                    </a:cxn>
                    <a:cxn ang="0">
                      <a:pos x="12" y="268"/>
                    </a:cxn>
                    <a:cxn ang="0">
                      <a:pos x="16" y="296"/>
                    </a:cxn>
                  </a:cxnLst>
                  <a:rect l="0" t="0" r="0" b="0"/>
                  <a:pathLst>
                    <a:path w="74" h="296">
                      <a:moveTo>
                        <a:pt x="0" y="86"/>
                      </a:moveTo>
                      <a:lnTo>
                        <a:pt x="36" y="32"/>
                      </a:lnTo>
                      <a:lnTo>
                        <a:pt x="62" y="0"/>
                      </a:lnTo>
                      <a:lnTo>
                        <a:pt x="74" y="6"/>
                      </a:lnTo>
                      <a:lnTo>
                        <a:pt x="74" y="36"/>
                      </a:lnTo>
                      <a:lnTo>
                        <a:pt x="72" y="66"/>
                      </a:lnTo>
                      <a:lnTo>
                        <a:pt x="62" y="92"/>
                      </a:lnTo>
                      <a:lnTo>
                        <a:pt x="42" y="118"/>
                      </a:lnTo>
                      <a:lnTo>
                        <a:pt x="34" y="134"/>
                      </a:lnTo>
                      <a:lnTo>
                        <a:pt x="24" y="182"/>
                      </a:lnTo>
                      <a:lnTo>
                        <a:pt x="12" y="220"/>
                      </a:lnTo>
                      <a:lnTo>
                        <a:pt x="8" y="236"/>
                      </a:lnTo>
                      <a:lnTo>
                        <a:pt x="12" y="268"/>
                      </a:lnTo>
                      <a:lnTo>
                        <a:pt x="16" y="29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0" name="Freeform 2183"/>
                <p:cNvSpPr/>
                <p:nvPr/>
              </p:nvSpPr>
              <p:spPr>
                <a:xfrm>
                  <a:off x="624" y="2392"/>
                  <a:ext cx="248" cy="890"/>
                </a:xfrm>
                <a:custGeom>
                  <a:avLst/>
                  <a:gdLst/>
                  <a:ahLst/>
                  <a:cxnLst>
                    <a:cxn ang="0">
                      <a:pos x="168" y="26"/>
                    </a:cxn>
                    <a:cxn ang="0">
                      <a:pos x="194" y="0"/>
                    </a:cxn>
                    <a:cxn ang="0">
                      <a:pos x="206" y="4"/>
                    </a:cxn>
                    <a:cxn ang="0">
                      <a:pos x="212" y="26"/>
                    </a:cxn>
                    <a:cxn ang="0">
                      <a:pos x="212" y="52"/>
                    </a:cxn>
                    <a:cxn ang="0">
                      <a:pos x="200" y="84"/>
                    </a:cxn>
                    <a:cxn ang="0">
                      <a:pos x="182" y="122"/>
                    </a:cxn>
                    <a:cxn ang="0">
                      <a:pos x="164" y="152"/>
                    </a:cxn>
                    <a:cxn ang="0">
                      <a:pos x="140" y="186"/>
                    </a:cxn>
                    <a:cxn ang="0">
                      <a:pos x="128" y="254"/>
                    </a:cxn>
                    <a:cxn ang="0">
                      <a:pos x="136" y="292"/>
                    </a:cxn>
                    <a:cxn ang="0">
                      <a:pos x="144" y="316"/>
                    </a:cxn>
                    <a:cxn ang="0">
                      <a:pos x="154" y="324"/>
                    </a:cxn>
                    <a:cxn ang="0">
                      <a:pos x="170" y="294"/>
                    </a:cxn>
                    <a:cxn ang="0">
                      <a:pos x="178" y="256"/>
                    </a:cxn>
                    <a:cxn ang="0">
                      <a:pos x="198" y="210"/>
                    </a:cxn>
                    <a:cxn ang="0">
                      <a:pos x="220" y="190"/>
                    </a:cxn>
                    <a:cxn ang="0">
                      <a:pos x="232" y="188"/>
                    </a:cxn>
                    <a:cxn ang="0">
                      <a:pos x="240" y="198"/>
                    </a:cxn>
                    <a:cxn ang="0">
                      <a:pos x="248" y="224"/>
                    </a:cxn>
                    <a:cxn ang="0">
                      <a:pos x="246" y="282"/>
                    </a:cxn>
                    <a:cxn ang="0">
                      <a:pos x="232" y="328"/>
                    </a:cxn>
                    <a:cxn ang="0">
                      <a:pos x="208" y="368"/>
                    </a:cxn>
                    <a:cxn ang="0">
                      <a:pos x="196" y="394"/>
                    </a:cxn>
                    <a:cxn ang="0">
                      <a:pos x="192" y="464"/>
                    </a:cxn>
                    <a:cxn ang="0">
                      <a:pos x="194" y="514"/>
                    </a:cxn>
                    <a:cxn ang="0">
                      <a:pos x="190" y="552"/>
                    </a:cxn>
                    <a:cxn ang="0">
                      <a:pos x="176" y="578"/>
                    </a:cxn>
                    <a:cxn ang="0">
                      <a:pos x="154" y="594"/>
                    </a:cxn>
                    <a:cxn ang="0">
                      <a:pos x="130" y="626"/>
                    </a:cxn>
                    <a:cxn ang="0">
                      <a:pos x="106" y="686"/>
                    </a:cxn>
                    <a:cxn ang="0">
                      <a:pos x="92" y="744"/>
                    </a:cxn>
                    <a:cxn ang="0">
                      <a:pos x="56" y="808"/>
                    </a:cxn>
                    <a:cxn ang="0">
                      <a:pos x="14" y="868"/>
                    </a:cxn>
                    <a:cxn ang="0">
                      <a:pos x="0" y="890"/>
                    </a:cxn>
                  </a:cxnLst>
                  <a:rect l="0" t="0" r="0" b="0"/>
                  <a:pathLst>
                    <a:path w="248" h="890">
                      <a:moveTo>
                        <a:pt x="168" y="26"/>
                      </a:moveTo>
                      <a:lnTo>
                        <a:pt x="194" y="0"/>
                      </a:lnTo>
                      <a:lnTo>
                        <a:pt x="206" y="4"/>
                      </a:lnTo>
                      <a:lnTo>
                        <a:pt x="212" y="26"/>
                      </a:lnTo>
                      <a:lnTo>
                        <a:pt x="212" y="52"/>
                      </a:lnTo>
                      <a:lnTo>
                        <a:pt x="200" y="84"/>
                      </a:lnTo>
                      <a:lnTo>
                        <a:pt x="182" y="122"/>
                      </a:lnTo>
                      <a:lnTo>
                        <a:pt x="164" y="152"/>
                      </a:lnTo>
                      <a:lnTo>
                        <a:pt x="140" y="186"/>
                      </a:lnTo>
                      <a:lnTo>
                        <a:pt x="128" y="254"/>
                      </a:lnTo>
                      <a:lnTo>
                        <a:pt x="136" y="292"/>
                      </a:lnTo>
                      <a:lnTo>
                        <a:pt x="144" y="316"/>
                      </a:lnTo>
                      <a:lnTo>
                        <a:pt x="154" y="324"/>
                      </a:lnTo>
                      <a:lnTo>
                        <a:pt x="170" y="294"/>
                      </a:lnTo>
                      <a:lnTo>
                        <a:pt x="178" y="256"/>
                      </a:lnTo>
                      <a:lnTo>
                        <a:pt x="198" y="210"/>
                      </a:lnTo>
                      <a:lnTo>
                        <a:pt x="220" y="190"/>
                      </a:lnTo>
                      <a:lnTo>
                        <a:pt x="232" y="188"/>
                      </a:lnTo>
                      <a:lnTo>
                        <a:pt x="240" y="198"/>
                      </a:lnTo>
                      <a:lnTo>
                        <a:pt x="248" y="224"/>
                      </a:lnTo>
                      <a:lnTo>
                        <a:pt x="246" y="282"/>
                      </a:lnTo>
                      <a:lnTo>
                        <a:pt x="232" y="328"/>
                      </a:lnTo>
                      <a:lnTo>
                        <a:pt x="208" y="368"/>
                      </a:lnTo>
                      <a:lnTo>
                        <a:pt x="196" y="394"/>
                      </a:lnTo>
                      <a:lnTo>
                        <a:pt x="192" y="464"/>
                      </a:lnTo>
                      <a:lnTo>
                        <a:pt x="194" y="514"/>
                      </a:lnTo>
                      <a:lnTo>
                        <a:pt x="190" y="552"/>
                      </a:lnTo>
                      <a:lnTo>
                        <a:pt x="176" y="578"/>
                      </a:lnTo>
                      <a:lnTo>
                        <a:pt x="154" y="594"/>
                      </a:lnTo>
                      <a:lnTo>
                        <a:pt x="130" y="626"/>
                      </a:lnTo>
                      <a:lnTo>
                        <a:pt x="106" y="686"/>
                      </a:lnTo>
                      <a:lnTo>
                        <a:pt x="92" y="744"/>
                      </a:lnTo>
                      <a:lnTo>
                        <a:pt x="56" y="808"/>
                      </a:lnTo>
                      <a:lnTo>
                        <a:pt x="14" y="868"/>
                      </a:lnTo>
                      <a:lnTo>
                        <a:pt x="0" y="89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1" name="Freeform 2184"/>
                <p:cNvSpPr/>
                <p:nvPr/>
              </p:nvSpPr>
              <p:spPr>
                <a:xfrm>
                  <a:off x="620" y="2469"/>
                  <a:ext cx="45" cy="233"/>
                </a:xfrm>
                <a:custGeom>
                  <a:avLst/>
                  <a:gdLst/>
                  <a:ahLst/>
                  <a:cxnLst>
                    <a:cxn ang="0">
                      <a:pos x="27" y="0"/>
                    </a:cxn>
                    <a:cxn ang="0">
                      <a:pos x="37" y="8"/>
                    </a:cxn>
                    <a:cxn ang="0">
                      <a:pos x="45" y="32"/>
                    </a:cxn>
                    <a:cxn ang="0">
                      <a:pos x="42" y="65"/>
                    </a:cxn>
                    <a:cxn ang="0">
                      <a:pos x="21" y="98"/>
                    </a:cxn>
                    <a:cxn ang="0">
                      <a:pos x="0" y="155"/>
                    </a:cxn>
                    <a:cxn ang="0">
                      <a:pos x="1" y="180"/>
                    </a:cxn>
                    <a:cxn ang="0">
                      <a:pos x="12" y="209"/>
                    </a:cxn>
                    <a:cxn ang="0">
                      <a:pos x="4" y="233"/>
                    </a:cxn>
                  </a:cxnLst>
                  <a:rect l="0" t="0" r="0" b="0"/>
                  <a:pathLst>
                    <a:path w="45" h="233">
                      <a:moveTo>
                        <a:pt x="27" y="0"/>
                      </a:moveTo>
                      <a:lnTo>
                        <a:pt x="37" y="8"/>
                      </a:lnTo>
                      <a:lnTo>
                        <a:pt x="45" y="32"/>
                      </a:lnTo>
                      <a:lnTo>
                        <a:pt x="42" y="65"/>
                      </a:lnTo>
                      <a:lnTo>
                        <a:pt x="21" y="98"/>
                      </a:lnTo>
                      <a:lnTo>
                        <a:pt x="0" y="155"/>
                      </a:lnTo>
                      <a:lnTo>
                        <a:pt x="1" y="180"/>
                      </a:lnTo>
                      <a:lnTo>
                        <a:pt x="12" y="209"/>
                      </a:lnTo>
                      <a:lnTo>
                        <a:pt x="4" y="23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2" name="Freeform 2185"/>
                <p:cNvSpPr/>
                <p:nvPr/>
              </p:nvSpPr>
              <p:spPr>
                <a:xfrm>
                  <a:off x="640" y="2747"/>
                  <a:ext cx="60" cy="24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8" y="44"/>
                    </a:cxn>
                    <a:cxn ang="0">
                      <a:pos x="33" y="113"/>
                    </a:cxn>
                    <a:cxn ang="0">
                      <a:pos x="60" y="168"/>
                    </a:cxn>
                    <a:cxn ang="0">
                      <a:pos x="60" y="222"/>
                    </a:cxn>
                    <a:cxn ang="0">
                      <a:pos x="39" y="248"/>
                    </a:cxn>
                    <a:cxn ang="0">
                      <a:pos x="27" y="249"/>
                    </a:cxn>
                  </a:cxnLst>
                  <a:rect l="0" t="0" r="0" b="0"/>
                  <a:pathLst>
                    <a:path w="60" h="249">
                      <a:moveTo>
                        <a:pt x="0" y="0"/>
                      </a:moveTo>
                      <a:lnTo>
                        <a:pt x="18" y="44"/>
                      </a:lnTo>
                      <a:lnTo>
                        <a:pt x="33" y="113"/>
                      </a:lnTo>
                      <a:lnTo>
                        <a:pt x="60" y="168"/>
                      </a:lnTo>
                      <a:lnTo>
                        <a:pt x="60" y="222"/>
                      </a:lnTo>
                      <a:lnTo>
                        <a:pt x="39" y="248"/>
                      </a:lnTo>
                      <a:lnTo>
                        <a:pt x="27" y="249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3" name="Freeform 2186"/>
                <p:cNvSpPr/>
                <p:nvPr/>
              </p:nvSpPr>
              <p:spPr>
                <a:xfrm>
                  <a:off x="714" y="2328"/>
                  <a:ext cx="89" cy="284"/>
                </a:xfrm>
                <a:custGeom>
                  <a:avLst/>
                  <a:gdLst/>
                  <a:ahLst/>
                  <a:cxnLst>
                    <a:cxn ang="0">
                      <a:pos x="72" y="0"/>
                    </a:cxn>
                    <a:cxn ang="0">
                      <a:pos x="89" y="29"/>
                    </a:cxn>
                    <a:cxn ang="0">
                      <a:pos x="86" y="63"/>
                    </a:cxn>
                    <a:cxn ang="0">
                      <a:pos x="63" y="102"/>
                    </a:cxn>
                    <a:cxn ang="0">
                      <a:pos x="44" y="125"/>
                    </a:cxn>
                    <a:cxn ang="0">
                      <a:pos x="38" y="153"/>
                    </a:cxn>
                    <a:cxn ang="0">
                      <a:pos x="30" y="185"/>
                    </a:cxn>
                    <a:cxn ang="0">
                      <a:pos x="15" y="233"/>
                    </a:cxn>
                    <a:cxn ang="0">
                      <a:pos x="3" y="258"/>
                    </a:cxn>
                    <a:cxn ang="0">
                      <a:pos x="0" y="284"/>
                    </a:cxn>
                  </a:cxnLst>
                  <a:rect l="0" t="0" r="0" b="0"/>
                  <a:pathLst>
                    <a:path w="89" h="284">
                      <a:moveTo>
                        <a:pt x="72" y="0"/>
                      </a:moveTo>
                      <a:lnTo>
                        <a:pt x="89" y="29"/>
                      </a:lnTo>
                      <a:lnTo>
                        <a:pt x="86" y="63"/>
                      </a:lnTo>
                      <a:lnTo>
                        <a:pt x="63" y="102"/>
                      </a:lnTo>
                      <a:lnTo>
                        <a:pt x="44" y="125"/>
                      </a:lnTo>
                      <a:lnTo>
                        <a:pt x="38" y="153"/>
                      </a:lnTo>
                      <a:lnTo>
                        <a:pt x="30" y="185"/>
                      </a:lnTo>
                      <a:lnTo>
                        <a:pt x="15" y="233"/>
                      </a:lnTo>
                      <a:lnTo>
                        <a:pt x="3" y="258"/>
                      </a:lnTo>
                      <a:lnTo>
                        <a:pt x="0" y="28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94" name="Freeform 2187"/>
                <p:cNvSpPr/>
                <p:nvPr/>
              </p:nvSpPr>
              <p:spPr>
                <a:xfrm>
                  <a:off x="729" y="2325"/>
                  <a:ext cx="53" cy="77"/>
                </a:xfrm>
                <a:custGeom>
                  <a:avLst/>
                  <a:gdLst/>
                  <a:ahLst/>
                  <a:cxnLst>
                    <a:cxn ang="0">
                      <a:pos x="53" y="0"/>
                    </a:cxn>
                    <a:cxn ang="0">
                      <a:pos x="48" y="11"/>
                    </a:cxn>
                    <a:cxn ang="0">
                      <a:pos x="38" y="21"/>
                    </a:cxn>
                    <a:cxn ang="0">
                      <a:pos x="20" y="48"/>
                    </a:cxn>
                    <a:cxn ang="0">
                      <a:pos x="6" y="63"/>
                    </a:cxn>
                    <a:cxn ang="0">
                      <a:pos x="0" y="77"/>
                    </a:cxn>
                  </a:cxnLst>
                  <a:rect l="0" t="0" r="0" b="0"/>
                  <a:pathLst>
                    <a:path w="53" h="77">
                      <a:moveTo>
                        <a:pt x="53" y="0"/>
                      </a:moveTo>
                      <a:lnTo>
                        <a:pt x="48" y="11"/>
                      </a:lnTo>
                      <a:lnTo>
                        <a:pt x="38" y="21"/>
                      </a:lnTo>
                      <a:lnTo>
                        <a:pt x="20" y="48"/>
                      </a:lnTo>
                      <a:lnTo>
                        <a:pt x="6" y="63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2547" name="Text Box 2188"/>
          <p:cNvSpPr txBox="1"/>
          <p:nvPr/>
        </p:nvSpPr>
        <p:spPr>
          <a:xfrm>
            <a:off x="6196013" y="3990975"/>
            <a:ext cx="12747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软弹簧</a:t>
            </a:r>
          </a:p>
        </p:txBody>
      </p:sp>
      <p:grpSp>
        <p:nvGrpSpPr>
          <p:cNvPr id="18522" name="Group 2189"/>
          <p:cNvGrpSpPr/>
          <p:nvPr/>
        </p:nvGrpSpPr>
        <p:grpSpPr>
          <a:xfrm>
            <a:off x="2262188" y="2078038"/>
            <a:ext cx="5676900" cy="1711325"/>
            <a:chOff x="1425" y="1309"/>
            <a:chExt cx="3576" cy="1078"/>
          </a:xfrm>
        </p:grpSpPr>
        <p:grpSp>
          <p:nvGrpSpPr>
            <p:cNvPr id="22575" name="Group 2190"/>
            <p:cNvGrpSpPr/>
            <p:nvPr/>
          </p:nvGrpSpPr>
          <p:grpSpPr>
            <a:xfrm>
              <a:off x="1425" y="2099"/>
              <a:ext cx="3576" cy="288"/>
              <a:chOff x="1425" y="1601"/>
              <a:chExt cx="3576" cy="288"/>
            </a:xfrm>
          </p:grpSpPr>
          <p:sp>
            <p:nvSpPr>
              <p:cNvPr id="22581" name="Line 2191"/>
              <p:cNvSpPr/>
              <p:nvPr/>
            </p:nvSpPr>
            <p:spPr>
              <a:xfrm>
                <a:off x="2728" y="1751"/>
                <a:ext cx="2273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2" name="Text Box 2192"/>
              <p:cNvSpPr txBox="1"/>
              <p:nvPr/>
            </p:nvSpPr>
            <p:spPr>
              <a:xfrm>
                <a:off x="1425" y="1601"/>
                <a:ext cx="134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rgbClr val="99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22576" name="Group 2193"/>
            <p:cNvGrpSpPr/>
            <p:nvPr/>
          </p:nvGrpSpPr>
          <p:grpSpPr>
            <a:xfrm>
              <a:off x="2070" y="1309"/>
              <a:ext cx="1341" cy="625"/>
              <a:chOff x="2070" y="811"/>
              <a:chExt cx="1341" cy="625"/>
            </a:xfrm>
          </p:grpSpPr>
          <p:grpSp>
            <p:nvGrpSpPr>
              <p:cNvPr id="22577" name="Group 2194"/>
              <p:cNvGrpSpPr/>
              <p:nvPr/>
            </p:nvGrpSpPr>
            <p:grpSpPr>
              <a:xfrm>
                <a:off x="3148" y="840"/>
                <a:ext cx="71" cy="596"/>
                <a:chOff x="3429" y="3462"/>
                <a:chExt cx="71" cy="596"/>
              </a:xfrm>
            </p:grpSpPr>
            <p:sp>
              <p:nvSpPr>
                <p:cNvPr id="22579" name="Line 2195"/>
                <p:cNvSpPr/>
                <p:nvPr/>
              </p:nvSpPr>
              <p:spPr>
                <a:xfrm flipV="1">
                  <a:off x="3500" y="3462"/>
                  <a:ext cx="0" cy="57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80" name="Line 2196"/>
                <p:cNvSpPr/>
                <p:nvPr/>
              </p:nvSpPr>
              <p:spPr>
                <a:xfrm>
                  <a:off x="3429" y="3482"/>
                  <a:ext cx="0" cy="57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2578" name="Text Box 2197"/>
              <p:cNvSpPr txBox="1"/>
              <p:nvPr/>
            </p:nvSpPr>
            <p:spPr>
              <a:xfrm>
                <a:off x="2070" y="811"/>
                <a:ext cx="134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grpSp>
        <p:nvGrpSpPr>
          <p:cNvPr id="18526" name="Group 2198"/>
          <p:cNvGrpSpPr/>
          <p:nvPr/>
        </p:nvGrpSpPr>
        <p:grpSpPr>
          <a:xfrm>
            <a:off x="2260600" y="4014788"/>
            <a:ext cx="5689600" cy="1433512"/>
            <a:chOff x="1424" y="2529"/>
            <a:chExt cx="3584" cy="903"/>
          </a:xfrm>
        </p:grpSpPr>
        <p:grpSp>
          <p:nvGrpSpPr>
            <p:cNvPr id="22567" name="Group 2199"/>
            <p:cNvGrpSpPr/>
            <p:nvPr/>
          </p:nvGrpSpPr>
          <p:grpSpPr>
            <a:xfrm>
              <a:off x="1424" y="3144"/>
              <a:ext cx="3584" cy="288"/>
              <a:chOff x="1392" y="3228"/>
              <a:chExt cx="3584" cy="288"/>
            </a:xfrm>
          </p:grpSpPr>
          <p:sp>
            <p:nvSpPr>
              <p:cNvPr id="22573" name="Line 2200"/>
              <p:cNvSpPr/>
              <p:nvPr/>
            </p:nvSpPr>
            <p:spPr>
              <a:xfrm>
                <a:off x="2703" y="3385"/>
                <a:ext cx="2273" cy="0"/>
              </a:xfrm>
              <a:prstGeom prst="line">
                <a:avLst/>
              </a:prstGeom>
              <a:ln w="28575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4" name="Text Box 2201"/>
              <p:cNvSpPr txBox="1"/>
              <p:nvPr/>
            </p:nvSpPr>
            <p:spPr>
              <a:xfrm>
                <a:off x="1392" y="3228"/>
                <a:ext cx="134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rgbClr val="99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波的传播方向</a:t>
                </a:r>
              </a:p>
            </p:txBody>
          </p:sp>
        </p:grpSp>
        <p:grpSp>
          <p:nvGrpSpPr>
            <p:cNvPr id="22568" name="Group 2202"/>
            <p:cNvGrpSpPr/>
            <p:nvPr/>
          </p:nvGrpSpPr>
          <p:grpSpPr>
            <a:xfrm>
              <a:off x="1841" y="2529"/>
              <a:ext cx="1694" cy="250"/>
              <a:chOff x="1809" y="2613"/>
              <a:chExt cx="1694" cy="250"/>
            </a:xfrm>
          </p:grpSpPr>
          <p:grpSp>
            <p:nvGrpSpPr>
              <p:cNvPr id="22569" name="Group 2203"/>
              <p:cNvGrpSpPr/>
              <p:nvPr/>
            </p:nvGrpSpPr>
            <p:grpSpPr>
              <a:xfrm rot="5400000" flipH="1">
                <a:off x="3167" y="2473"/>
                <a:ext cx="71" cy="596"/>
                <a:chOff x="3429" y="3462"/>
                <a:chExt cx="71" cy="596"/>
              </a:xfrm>
            </p:grpSpPr>
            <p:sp>
              <p:nvSpPr>
                <p:cNvPr id="22571" name="Line 2204"/>
                <p:cNvSpPr/>
                <p:nvPr/>
              </p:nvSpPr>
              <p:spPr>
                <a:xfrm flipV="1">
                  <a:off x="3500" y="3462"/>
                  <a:ext cx="0" cy="57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72" name="Line 2205"/>
                <p:cNvSpPr/>
                <p:nvPr/>
              </p:nvSpPr>
              <p:spPr>
                <a:xfrm>
                  <a:off x="3429" y="3482"/>
                  <a:ext cx="0" cy="576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2570" name="Text Box 2206"/>
              <p:cNvSpPr txBox="1"/>
              <p:nvPr/>
            </p:nvSpPr>
            <p:spPr>
              <a:xfrm>
                <a:off x="1809" y="2613"/>
                <a:ext cx="148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质点振动方向</a:t>
                </a:r>
              </a:p>
            </p:txBody>
          </p:sp>
        </p:grpSp>
      </p:grpSp>
      <p:sp>
        <p:nvSpPr>
          <p:cNvPr id="22550" name="Rectangle 2207"/>
          <p:cNvSpPr/>
          <p:nvPr/>
        </p:nvSpPr>
        <p:spPr>
          <a:xfrm>
            <a:off x="0" y="1804988"/>
            <a:ext cx="1770063" cy="227488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22551" name="Group 2208"/>
          <p:cNvGrpSpPr/>
          <p:nvPr/>
        </p:nvGrpSpPr>
        <p:grpSpPr>
          <a:xfrm>
            <a:off x="504825" y="2320925"/>
            <a:ext cx="1068388" cy="946150"/>
            <a:chOff x="329" y="1205"/>
            <a:chExt cx="673" cy="596"/>
          </a:xfrm>
        </p:grpSpPr>
        <p:sp>
          <p:nvSpPr>
            <p:cNvPr id="22555" name="Line 2209"/>
            <p:cNvSpPr/>
            <p:nvPr/>
          </p:nvSpPr>
          <p:spPr>
            <a:xfrm flipV="1">
              <a:off x="1002" y="1205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6" name="Line 2210"/>
            <p:cNvSpPr/>
            <p:nvPr/>
          </p:nvSpPr>
          <p:spPr>
            <a:xfrm>
              <a:off x="931" y="1225"/>
              <a:ext cx="0" cy="5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557" name="Group 2211"/>
            <p:cNvGrpSpPr/>
            <p:nvPr/>
          </p:nvGrpSpPr>
          <p:grpSpPr>
            <a:xfrm>
              <a:off x="329" y="1433"/>
              <a:ext cx="567" cy="316"/>
              <a:chOff x="298" y="1410"/>
              <a:chExt cx="567" cy="316"/>
            </a:xfrm>
          </p:grpSpPr>
          <p:sp>
            <p:nvSpPr>
              <p:cNvPr id="22558" name="Freeform 2212"/>
              <p:cNvSpPr/>
              <p:nvPr/>
            </p:nvSpPr>
            <p:spPr>
              <a:xfrm>
                <a:off x="298" y="1410"/>
                <a:ext cx="567" cy="314"/>
              </a:xfrm>
              <a:custGeom>
                <a:avLst/>
                <a:gdLst/>
                <a:ahLst/>
                <a:cxnLst>
                  <a:cxn ang="0">
                    <a:pos x="19" y="92"/>
                  </a:cxn>
                  <a:cxn ang="0">
                    <a:pos x="7" y="108"/>
                  </a:cxn>
                  <a:cxn ang="0">
                    <a:pos x="0" y="137"/>
                  </a:cxn>
                  <a:cxn ang="0">
                    <a:pos x="3" y="176"/>
                  </a:cxn>
                  <a:cxn ang="0">
                    <a:pos x="7" y="222"/>
                  </a:cxn>
                  <a:cxn ang="0">
                    <a:pos x="3" y="254"/>
                  </a:cxn>
                  <a:cxn ang="0">
                    <a:pos x="15" y="285"/>
                  </a:cxn>
                  <a:cxn ang="0">
                    <a:pos x="42" y="278"/>
                  </a:cxn>
                  <a:cxn ang="0">
                    <a:pos x="96" y="272"/>
                  </a:cxn>
                  <a:cxn ang="0">
                    <a:pos x="136" y="258"/>
                  </a:cxn>
                  <a:cxn ang="0">
                    <a:pos x="172" y="269"/>
                  </a:cxn>
                  <a:cxn ang="0">
                    <a:pos x="208" y="261"/>
                  </a:cxn>
                  <a:cxn ang="0">
                    <a:pos x="268" y="284"/>
                  </a:cxn>
                  <a:cxn ang="0">
                    <a:pos x="334" y="297"/>
                  </a:cxn>
                  <a:cxn ang="0">
                    <a:pos x="357" y="309"/>
                  </a:cxn>
                  <a:cxn ang="0">
                    <a:pos x="376" y="314"/>
                  </a:cxn>
                  <a:cxn ang="0">
                    <a:pos x="402" y="309"/>
                  </a:cxn>
                  <a:cxn ang="0">
                    <a:pos x="444" y="291"/>
                  </a:cxn>
                  <a:cxn ang="0">
                    <a:pos x="472" y="287"/>
                  </a:cxn>
                  <a:cxn ang="0">
                    <a:pos x="484" y="269"/>
                  </a:cxn>
                  <a:cxn ang="0">
                    <a:pos x="483" y="249"/>
                  </a:cxn>
                  <a:cxn ang="0">
                    <a:pos x="510" y="240"/>
                  </a:cxn>
                  <a:cxn ang="0">
                    <a:pos x="508" y="210"/>
                  </a:cxn>
                  <a:cxn ang="0">
                    <a:pos x="504" y="201"/>
                  </a:cxn>
                  <a:cxn ang="0">
                    <a:pos x="528" y="183"/>
                  </a:cxn>
                  <a:cxn ang="0">
                    <a:pos x="534" y="164"/>
                  </a:cxn>
                  <a:cxn ang="0">
                    <a:pos x="522" y="144"/>
                  </a:cxn>
                  <a:cxn ang="0">
                    <a:pos x="546" y="138"/>
                  </a:cxn>
                  <a:cxn ang="0">
                    <a:pos x="567" y="113"/>
                  </a:cxn>
                  <a:cxn ang="0">
                    <a:pos x="559" y="87"/>
                  </a:cxn>
                  <a:cxn ang="0">
                    <a:pos x="549" y="77"/>
                  </a:cxn>
                  <a:cxn ang="0">
                    <a:pos x="546" y="60"/>
                  </a:cxn>
                  <a:cxn ang="0">
                    <a:pos x="526" y="54"/>
                  </a:cxn>
                  <a:cxn ang="0">
                    <a:pos x="498" y="26"/>
                  </a:cxn>
                  <a:cxn ang="0">
                    <a:pos x="466" y="12"/>
                  </a:cxn>
                  <a:cxn ang="0">
                    <a:pos x="423" y="11"/>
                  </a:cxn>
                  <a:cxn ang="0">
                    <a:pos x="393" y="11"/>
                  </a:cxn>
                  <a:cxn ang="0">
                    <a:pos x="334" y="0"/>
                  </a:cxn>
                  <a:cxn ang="0">
                    <a:pos x="259" y="12"/>
                  </a:cxn>
                  <a:cxn ang="0">
                    <a:pos x="229" y="18"/>
                  </a:cxn>
                  <a:cxn ang="0">
                    <a:pos x="184" y="44"/>
                  </a:cxn>
                  <a:cxn ang="0">
                    <a:pos x="157" y="60"/>
                  </a:cxn>
                  <a:cxn ang="0">
                    <a:pos x="118" y="62"/>
                  </a:cxn>
                  <a:cxn ang="0">
                    <a:pos x="70" y="74"/>
                  </a:cxn>
                  <a:cxn ang="0">
                    <a:pos x="33" y="87"/>
                  </a:cxn>
                  <a:cxn ang="0">
                    <a:pos x="19" y="92"/>
                  </a:cxn>
                </a:cxnLst>
                <a:rect l="0" t="0" r="0" b="0"/>
                <a:pathLst>
                  <a:path w="567" h="314">
                    <a:moveTo>
                      <a:pt x="19" y="92"/>
                    </a:moveTo>
                    <a:lnTo>
                      <a:pt x="7" y="108"/>
                    </a:lnTo>
                    <a:lnTo>
                      <a:pt x="0" y="137"/>
                    </a:lnTo>
                    <a:lnTo>
                      <a:pt x="3" y="176"/>
                    </a:lnTo>
                    <a:lnTo>
                      <a:pt x="7" y="222"/>
                    </a:lnTo>
                    <a:lnTo>
                      <a:pt x="3" y="254"/>
                    </a:lnTo>
                    <a:lnTo>
                      <a:pt x="15" y="285"/>
                    </a:lnTo>
                    <a:lnTo>
                      <a:pt x="42" y="278"/>
                    </a:lnTo>
                    <a:lnTo>
                      <a:pt x="96" y="272"/>
                    </a:lnTo>
                    <a:lnTo>
                      <a:pt x="136" y="258"/>
                    </a:lnTo>
                    <a:lnTo>
                      <a:pt x="172" y="269"/>
                    </a:lnTo>
                    <a:lnTo>
                      <a:pt x="208" y="261"/>
                    </a:lnTo>
                    <a:lnTo>
                      <a:pt x="268" y="284"/>
                    </a:lnTo>
                    <a:lnTo>
                      <a:pt x="334" y="297"/>
                    </a:lnTo>
                    <a:lnTo>
                      <a:pt x="357" y="309"/>
                    </a:lnTo>
                    <a:lnTo>
                      <a:pt x="376" y="314"/>
                    </a:lnTo>
                    <a:lnTo>
                      <a:pt x="402" y="309"/>
                    </a:lnTo>
                    <a:lnTo>
                      <a:pt x="444" y="291"/>
                    </a:lnTo>
                    <a:lnTo>
                      <a:pt x="472" y="287"/>
                    </a:lnTo>
                    <a:lnTo>
                      <a:pt x="484" y="269"/>
                    </a:lnTo>
                    <a:lnTo>
                      <a:pt x="483" y="249"/>
                    </a:lnTo>
                    <a:lnTo>
                      <a:pt x="510" y="240"/>
                    </a:lnTo>
                    <a:lnTo>
                      <a:pt x="508" y="210"/>
                    </a:lnTo>
                    <a:lnTo>
                      <a:pt x="504" y="201"/>
                    </a:lnTo>
                    <a:lnTo>
                      <a:pt x="528" y="183"/>
                    </a:lnTo>
                    <a:lnTo>
                      <a:pt x="534" y="164"/>
                    </a:lnTo>
                    <a:lnTo>
                      <a:pt x="522" y="144"/>
                    </a:lnTo>
                    <a:lnTo>
                      <a:pt x="546" y="138"/>
                    </a:lnTo>
                    <a:lnTo>
                      <a:pt x="567" y="113"/>
                    </a:lnTo>
                    <a:lnTo>
                      <a:pt x="559" y="87"/>
                    </a:lnTo>
                    <a:lnTo>
                      <a:pt x="549" y="77"/>
                    </a:lnTo>
                    <a:lnTo>
                      <a:pt x="546" y="60"/>
                    </a:lnTo>
                    <a:lnTo>
                      <a:pt x="526" y="54"/>
                    </a:lnTo>
                    <a:lnTo>
                      <a:pt x="498" y="26"/>
                    </a:lnTo>
                    <a:lnTo>
                      <a:pt x="466" y="12"/>
                    </a:lnTo>
                    <a:lnTo>
                      <a:pt x="423" y="11"/>
                    </a:lnTo>
                    <a:lnTo>
                      <a:pt x="393" y="11"/>
                    </a:lnTo>
                    <a:lnTo>
                      <a:pt x="334" y="0"/>
                    </a:lnTo>
                    <a:lnTo>
                      <a:pt x="259" y="12"/>
                    </a:lnTo>
                    <a:lnTo>
                      <a:pt x="229" y="18"/>
                    </a:lnTo>
                    <a:lnTo>
                      <a:pt x="184" y="44"/>
                    </a:lnTo>
                    <a:lnTo>
                      <a:pt x="157" y="60"/>
                    </a:lnTo>
                    <a:lnTo>
                      <a:pt x="118" y="62"/>
                    </a:lnTo>
                    <a:lnTo>
                      <a:pt x="70" y="74"/>
                    </a:lnTo>
                    <a:lnTo>
                      <a:pt x="33" y="87"/>
                    </a:lnTo>
                    <a:lnTo>
                      <a:pt x="19" y="9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DFD9">
                      <a:alpha val="100000"/>
                    </a:srgbClr>
                  </a:gs>
                  <a:gs pos="100000">
                    <a:srgbClr val="FEA78C">
                      <a:alpha val="100000"/>
                    </a:srgbClr>
                  </a:gs>
                </a:gsLst>
                <a:lin ang="27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559" name="Group 2213"/>
              <p:cNvGrpSpPr/>
              <p:nvPr/>
            </p:nvGrpSpPr>
            <p:grpSpPr>
              <a:xfrm>
                <a:off x="306" y="1415"/>
                <a:ext cx="549" cy="311"/>
                <a:chOff x="306" y="1415"/>
                <a:chExt cx="549" cy="311"/>
              </a:xfrm>
            </p:grpSpPr>
            <p:sp>
              <p:nvSpPr>
                <p:cNvPr id="22560" name="Freeform 2214"/>
                <p:cNvSpPr/>
                <p:nvPr/>
              </p:nvSpPr>
              <p:spPr>
                <a:xfrm>
                  <a:off x="313" y="1661"/>
                  <a:ext cx="464" cy="65"/>
                </a:xfrm>
                <a:custGeom>
                  <a:avLst/>
                  <a:gdLst/>
                  <a:ahLst/>
                  <a:cxnLst>
                    <a:cxn ang="0">
                      <a:pos x="24" y="0"/>
                    </a:cxn>
                    <a:cxn ang="0">
                      <a:pos x="24" y="2"/>
                    </a:cxn>
                    <a:cxn ang="0">
                      <a:pos x="23" y="4"/>
                    </a:cxn>
                    <a:cxn ang="0">
                      <a:pos x="22" y="5"/>
                    </a:cxn>
                    <a:cxn ang="0">
                      <a:pos x="21" y="6"/>
                    </a:cxn>
                    <a:cxn ang="0">
                      <a:pos x="19" y="6"/>
                    </a:cxn>
                    <a:cxn ang="0">
                      <a:pos x="19" y="8"/>
                    </a:cxn>
                    <a:cxn ang="0">
                      <a:pos x="17" y="6"/>
                    </a:cxn>
                    <a:cxn ang="0">
                      <a:pos x="15" y="5"/>
                    </a:cxn>
                    <a:cxn ang="0">
                      <a:pos x="12" y="4"/>
                    </a:cxn>
                    <a:cxn ang="0">
                      <a:pos x="10" y="2"/>
                    </a:cxn>
                    <a:cxn ang="0">
                      <a:pos x="9" y="2"/>
                    </a:cxn>
                    <a:cxn ang="0">
                      <a:pos x="8" y="2"/>
                    </a:cxn>
                    <a:cxn ang="0">
                      <a:pos x="6" y="2"/>
                    </a:cxn>
                    <a:cxn ang="0">
                      <a:pos x="6" y="2"/>
                    </a:cxn>
                    <a:cxn ang="0">
                      <a:pos x="5" y="2"/>
                    </a:cxn>
                    <a:cxn ang="0">
                      <a:pos x="3" y="3"/>
                    </a:cxn>
                    <a:cxn ang="0">
                      <a:pos x="1" y="4"/>
                    </a:cxn>
                    <a:cxn ang="0">
                      <a:pos x="0" y="4"/>
                    </a:cxn>
                  </a:cxnLst>
                  <a:rect l="0" t="0" r="0" b="0"/>
                  <a:pathLst>
                    <a:path w="672" h="85">
                      <a:moveTo>
                        <a:pt x="672" y="0"/>
                      </a:moveTo>
                      <a:lnTo>
                        <a:pt x="671" y="22"/>
                      </a:lnTo>
                      <a:lnTo>
                        <a:pt x="654" y="40"/>
                      </a:lnTo>
                      <a:lnTo>
                        <a:pt x="623" y="51"/>
                      </a:lnTo>
                      <a:lnTo>
                        <a:pt x="575" y="67"/>
                      </a:lnTo>
                      <a:lnTo>
                        <a:pt x="548" y="76"/>
                      </a:lnTo>
                      <a:lnTo>
                        <a:pt x="518" y="85"/>
                      </a:lnTo>
                      <a:lnTo>
                        <a:pt x="482" y="76"/>
                      </a:lnTo>
                      <a:lnTo>
                        <a:pt x="434" y="63"/>
                      </a:lnTo>
                      <a:lnTo>
                        <a:pt x="345" y="43"/>
                      </a:lnTo>
                      <a:lnTo>
                        <a:pt x="270" y="16"/>
                      </a:lnTo>
                      <a:lnTo>
                        <a:pt x="245" y="19"/>
                      </a:lnTo>
                      <a:lnTo>
                        <a:pt x="213" y="27"/>
                      </a:lnTo>
                      <a:lnTo>
                        <a:pt x="179" y="15"/>
                      </a:lnTo>
                      <a:lnTo>
                        <a:pt x="165" y="12"/>
                      </a:lnTo>
                      <a:lnTo>
                        <a:pt x="131" y="18"/>
                      </a:lnTo>
                      <a:lnTo>
                        <a:pt x="80" y="33"/>
                      </a:lnTo>
                      <a:lnTo>
                        <a:pt x="33" y="40"/>
                      </a:lnTo>
                      <a:lnTo>
                        <a:pt x="0" y="49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1" name="Freeform 2215"/>
                <p:cNvSpPr/>
                <p:nvPr/>
              </p:nvSpPr>
              <p:spPr>
                <a:xfrm>
                  <a:off x="719" y="1556"/>
                  <a:ext cx="105" cy="70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6" y="2"/>
                    </a:cxn>
                    <a:cxn ang="0">
                      <a:pos x="5" y="5"/>
                    </a:cxn>
                    <a:cxn ang="0">
                      <a:pos x="4" y="6"/>
                    </a:cxn>
                    <a:cxn ang="0">
                      <a:pos x="3" y="6"/>
                    </a:cxn>
                    <a:cxn ang="0">
                      <a:pos x="2" y="7"/>
                    </a:cxn>
                    <a:cxn ang="0">
                      <a:pos x="1" y="7"/>
                    </a:cxn>
                    <a:cxn ang="0">
                      <a:pos x="0" y="8"/>
                    </a:cxn>
                  </a:cxnLst>
                  <a:rect l="0" t="0" r="0" b="0"/>
                  <a:pathLst>
                    <a:path w="152" h="92">
                      <a:moveTo>
                        <a:pt x="135" y="0"/>
                      </a:moveTo>
                      <a:lnTo>
                        <a:pt x="152" y="24"/>
                      </a:lnTo>
                      <a:lnTo>
                        <a:pt x="138" y="54"/>
                      </a:lnTo>
                      <a:lnTo>
                        <a:pt x="113" y="69"/>
                      </a:lnTo>
                      <a:lnTo>
                        <a:pt x="99" y="77"/>
                      </a:lnTo>
                      <a:lnTo>
                        <a:pt x="51" y="83"/>
                      </a:lnTo>
                      <a:lnTo>
                        <a:pt x="20" y="86"/>
                      </a:lnTo>
                      <a:lnTo>
                        <a:pt x="0" y="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2" name="Freeform 2216"/>
                <p:cNvSpPr/>
                <p:nvPr/>
              </p:nvSpPr>
              <p:spPr>
                <a:xfrm>
                  <a:off x="711" y="1623"/>
                  <a:ext cx="92" cy="58"/>
                </a:xfrm>
                <a:custGeom>
                  <a:avLst/>
                  <a:gdLst/>
                  <a:ahLst/>
                  <a:cxnLst>
                    <a:cxn ang="0">
                      <a:pos x="4" y="0"/>
                    </a:cxn>
                    <a:cxn ang="0">
                      <a:pos x="5" y="2"/>
                    </a:cxn>
                    <a:cxn ang="0">
                      <a:pos x="4" y="4"/>
                    </a:cxn>
                    <a:cxn ang="0">
                      <a:pos x="3" y="5"/>
                    </a:cxn>
                    <a:cxn ang="0">
                      <a:pos x="1" y="5"/>
                    </a:cxn>
                    <a:cxn ang="0">
                      <a:pos x="1" y="6"/>
                    </a:cxn>
                    <a:cxn ang="0">
                      <a:pos x="0" y="6"/>
                    </a:cxn>
                  </a:cxnLst>
                  <a:rect l="0" t="0" r="0" b="0"/>
                  <a:pathLst>
                    <a:path w="134" h="77">
                      <a:moveTo>
                        <a:pt x="126" y="0"/>
                      </a:moveTo>
                      <a:lnTo>
                        <a:pt x="134" y="17"/>
                      </a:lnTo>
                      <a:lnTo>
                        <a:pt x="125" y="39"/>
                      </a:lnTo>
                      <a:lnTo>
                        <a:pt x="93" y="53"/>
                      </a:lnTo>
                      <a:lnTo>
                        <a:pt x="50" y="63"/>
                      </a:lnTo>
                      <a:lnTo>
                        <a:pt x="15" y="72"/>
                      </a:lnTo>
                      <a:lnTo>
                        <a:pt x="0" y="77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3" name="Freeform 2217"/>
                <p:cNvSpPr/>
                <p:nvPr/>
              </p:nvSpPr>
              <p:spPr>
                <a:xfrm>
                  <a:off x="793" y="1462"/>
                  <a:ext cx="38" cy="2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2" y="1"/>
                    </a:cxn>
                  </a:cxnLst>
                  <a:rect l="0" t="0" r="0" b="0"/>
                  <a:pathLst>
                    <a:path w="54" h="27">
                      <a:moveTo>
                        <a:pt x="6" y="0"/>
                      </a:moveTo>
                      <a:lnTo>
                        <a:pt x="0" y="14"/>
                      </a:lnTo>
                      <a:lnTo>
                        <a:pt x="23" y="24"/>
                      </a:lnTo>
                      <a:lnTo>
                        <a:pt x="38" y="27"/>
                      </a:lnTo>
                      <a:lnTo>
                        <a:pt x="54" y="24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4" name="Freeform 2218"/>
                <p:cNvSpPr/>
                <p:nvPr/>
              </p:nvSpPr>
              <p:spPr>
                <a:xfrm>
                  <a:off x="306" y="1415"/>
                  <a:ext cx="533" cy="91"/>
                </a:xfrm>
                <a:custGeom>
                  <a:avLst/>
                  <a:gdLst/>
                  <a:ahLst/>
                  <a:cxnLst>
                    <a:cxn ang="0">
                      <a:pos x="0" y="87"/>
                    </a:cxn>
                    <a:cxn ang="0">
                      <a:pos x="56" y="70"/>
                    </a:cxn>
                    <a:cxn ang="0">
                      <a:pos x="102" y="58"/>
                    </a:cxn>
                    <a:cxn ang="0">
                      <a:pos x="135" y="55"/>
                    </a:cxn>
                    <a:cxn ang="0">
                      <a:pos x="159" y="45"/>
                    </a:cxn>
                    <a:cxn ang="0">
                      <a:pos x="230" y="9"/>
                    </a:cxn>
                    <a:cxn ang="0">
                      <a:pos x="269" y="4"/>
                    </a:cxn>
                    <a:cxn ang="0">
                      <a:pos x="309" y="0"/>
                    </a:cxn>
                    <a:cxn ang="0">
                      <a:pos x="362" y="3"/>
                    </a:cxn>
                    <a:cxn ang="0">
                      <a:pos x="389" y="10"/>
                    </a:cxn>
                    <a:cxn ang="0">
                      <a:pos x="441" y="4"/>
                    </a:cxn>
                    <a:cxn ang="0">
                      <a:pos x="473" y="16"/>
                    </a:cxn>
                    <a:cxn ang="0">
                      <a:pos x="504" y="46"/>
                    </a:cxn>
                    <a:cxn ang="0">
                      <a:pos x="527" y="55"/>
                    </a:cxn>
                    <a:cxn ang="0">
                      <a:pos x="533" y="64"/>
                    </a:cxn>
                    <a:cxn ang="0">
                      <a:pos x="527" y="76"/>
                    </a:cxn>
                    <a:cxn ang="0">
                      <a:pos x="513" y="90"/>
                    </a:cxn>
                    <a:cxn ang="0">
                      <a:pos x="497" y="91"/>
                    </a:cxn>
                    <a:cxn ang="0">
                      <a:pos x="471" y="84"/>
                    </a:cxn>
                    <a:cxn ang="0">
                      <a:pos x="452" y="73"/>
                    </a:cxn>
                    <a:cxn ang="0">
                      <a:pos x="441" y="70"/>
                    </a:cxn>
                    <a:cxn ang="0">
                      <a:pos x="425" y="72"/>
                    </a:cxn>
                    <a:cxn ang="0">
                      <a:pos x="404" y="73"/>
                    </a:cxn>
                    <a:cxn ang="0">
                      <a:pos x="393" y="73"/>
                    </a:cxn>
                  </a:cxnLst>
                  <a:rect l="0" t="0" r="0" b="0"/>
                  <a:pathLst>
                    <a:path w="533" h="91">
                      <a:moveTo>
                        <a:pt x="0" y="87"/>
                      </a:moveTo>
                      <a:lnTo>
                        <a:pt x="56" y="70"/>
                      </a:lnTo>
                      <a:lnTo>
                        <a:pt x="102" y="58"/>
                      </a:lnTo>
                      <a:lnTo>
                        <a:pt x="135" y="55"/>
                      </a:lnTo>
                      <a:lnTo>
                        <a:pt x="159" y="45"/>
                      </a:lnTo>
                      <a:lnTo>
                        <a:pt x="230" y="9"/>
                      </a:lnTo>
                      <a:lnTo>
                        <a:pt x="269" y="4"/>
                      </a:lnTo>
                      <a:lnTo>
                        <a:pt x="309" y="0"/>
                      </a:lnTo>
                      <a:lnTo>
                        <a:pt x="362" y="3"/>
                      </a:lnTo>
                      <a:lnTo>
                        <a:pt x="389" y="10"/>
                      </a:lnTo>
                      <a:lnTo>
                        <a:pt x="441" y="4"/>
                      </a:lnTo>
                      <a:lnTo>
                        <a:pt x="473" y="16"/>
                      </a:lnTo>
                      <a:lnTo>
                        <a:pt x="504" y="46"/>
                      </a:lnTo>
                      <a:lnTo>
                        <a:pt x="527" y="55"/>
                      </a:lnTo>
                      <a:lnTo>
                        <a:pt x="533" y="64"/>
                      </a:lnTo>
                      <a:lnTo>
                        <a:pt x="527" y="76"/>
                      </a:lnTo>
                      <a:lnTo>
                        <a:pt x="513" y="90"/>
                      </a:lnTo>
                      <a:lnTo>
                        <a:pt x="497" y="91"/>
                      </a:lnTo>
                      <a:lnTo>
                        <a:pt x="471" y="84"/>
                      </a:lnTo>
                      <a:lnTo>
                        <a:pt x="452" y="73"/>
                      </a:lnTo>
                      <a:lnTo>
                        <a:pt x="441" y="70"/>
                      </a:lnTo>
                      <a:lnTo>
                        <a:pt x="425" y="72"/>
                      </a:lnTo>
                      <a:lnTo>
                        <a:pt x="404" y="73"/>
                      </a:lnTo>
                      <a:lnTo>
                        <a:pt x="393" y="73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5" name="Freeform 2219"/>
                <p:cNvSpPr/>
                <p:nvPr/>
              </p:nvSpPr>
              <p:spPr>
                <a:xfrm>
                  <a:off x="662" y="1476"/>
                  <a:ext cx="132" cy="2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1" y="3"/>
                    </a:cxn>
                    <a:cxn ang="0">
                      <a:pos x="81" y="23"/>
                    </a:cxn>
                    <a:cxn ang="0">
                      <a:pos x="103" y="21"/>
                    </a:cxn>
                    <a:cxn ang="0">
                      <a:pos x="121" y="27"/>
                    </a:cxn>
                    <a:cxn ang="0">
                      <a:pos x="132" y="29"/>
                    </a:cxn>
                  </a:cxnLst>
                  <a:rect l="0" t="0" r="0" b="0"/>
                  <a:pathLst>
                    <a:path w="132" h="29">
                      <a:moveTo>
                        <a:pt x="0" y="0"/>
                      </a:moveTo>
                      <a:lnTo>
                        <a:pt x="21" y="3"/>
                      </a:lnTo>
                      <a:lnTo>
                        <a:pt x="81" y="23"/>
                      </a:lnTo>
                      <a:lnTo>
                        <a:pt x="103" y="21"/>
                      </a:lnTo>
                      <a:lnTo>
                        <a:pt x="121" y="27"/>
                      </a:lnTo>
                      <a:lnTo>
                        <a:pt x="132" y="29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6" name="Freeform 2220"/>
                <p:cNvSpPr/>
                <p:nvPr/>
              </p:nvSpPr>
              <p:spPr>
                <a:xfrm>
                  <a:off x="717" y="1495"/>
                  <a:ext cx="138" cy="76"/>
                </a:xfrm>
                <a:custGeom>
                  <a:avLst/>
                  <a:gdLst/>
                  <a:ahLst/>
                  <a:cxnLst>
                    <a:cxn ang="0">
                      <a:pos x="123" y="0"/>
                    </a:cxn>
                    <a:cxn ang="0">
                      <a:pos x="132" y="4"/>
                    </a:cxn>
                    <a:cxn ang="0">
                      <a:pos x="138" y="13"/>
                    </a:cxn>
                    <a:cxn ang="0">
                      <a:pos x="137" y="30"/>
                    </a:cxn>
                    <a:cxn ang="0">
                      <a:pos x="126" y="45"/>
                    </a:cxn>
                    <a:cxn ang="0">
                      <a:pos x="113" y="57"/>
                    </a:cxn>
                    <a:cxn ang="0">
                      <a:pos x="77" y="67"/>
                    </a:cxn>
                    <a:cxn ang="0">
                      <a:pos x="62" y="69"/>
                    </a:cxn>
                    <a:cxn ang="0">
                      <a:pos x="36" y="67"/>
                    </a:cxn>
                    <a:cxn ang="0">
                      <a:pos x="8" y="70"/>
                    </a:cxn>
                    <a:cxn ang="0">
                      <a:pos x="0" y="76"/>
                    </a:cxn>
                  </a:cxnLst>
                  <a:rect l="0" t="0" r="0" b="0"/>
                  <a:pathLst>
                    <a:path w="138" h="76">
                      <a:moveTo>
                        <a:pt x="123" y="0"/>
                      </a:moveTo>
                      <a:lnTo>
                        <a:pt x="132" y="4"/>
                      </a:lnTo>
                      <a:lnTo>
                        <a:pt x="138" y="13"/>
                      </a:lnTo>
                      <a:lnTo>
                        <a:pt x="137" y="30"/>
                      </a:lnTo>
                      <a:lnTo>
                        <a:pt x="126" y="45"/>
                      </a:lnTo>
                      <a:lnTo>
                        <a:pt x="113" y="57"/>
                      </a:lnTo>
                      <a:lnTo>
                        <a:pt x="77" y="67"/>
                      </a:lnTo>
                      <a:lnTo>
                        <a:pt x="62" y="69"/>
                      </a:lnTo>
                      <a:lnTo>
                        <a:pt x="36" y="67"/>
                      </a:lnTo>
                      <a:lnTo>
                        <a:pt x="8" y="70"/>
                      </a:lnTo>
                      <a:lnTo>
                        <a:pt x="0" y="76"/>
                      </a:lnTo>
                    </a:path>
                  </a:pathLst>
                </a:custGeom>
                <a:noFill/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2552" name="Rectangle 2221"/>
          <p:cNvSpPr/>
          <p:nvPr/>
        </p:nvSpPr>
        <p:spPr>
          <a:xfrm>
            <a:off x="8350250" y="962025"/>
            <a:ext cx="793750" cy="56324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2553" name="Rectangle 2222" descr="球体"/>
          <p:cNvSpPr/>
          <p:nvPr/>
        </p:nvSpPr>
        <p:spPr>
          <a:xfrm>
            <a:off x="0" y="5651500"/>
            <a:ext cx="9144000" cy="120650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59567" name="Text Box 2223"/>
          <p:cNvSpPr txBox="1"/>
          <p:nvPr/>
        </p:nvSpPr>
        <p:spPr>
          <a:xfrm>
            <a:off x="276225" y="5856288"/>
            <a:ext cx="8867775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  在机械波中，横波只能在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固体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中出现；纵波可在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气体、液体和固体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中出现。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空气中的声波是纵波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。液体表面的波动情况较复杂，不是单纯的纵波或横波。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9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9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9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6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1219200" y="1916113"/>
            <a:ext cx="6737350" cy="2312987"/>
            <a:chOff x="725" y="818"/>
            <a:chExt cx="4244" cy="1457"/>
          </a:xfrm>
        </p:grpSpPr>
        <p:sp>
          <p:nvSpPr>
            <p:cNvPr id="24596" name="Oval 8"/>
            <p:cNvSpPr/>
            <p:nvPr/>
          </p:nvSpPr>
          <p:spPr>
            <a:xfrm>
              <a:off x="4041" y="1311"/>
              <a:ext cx="466" cy="46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7" name="Oval 9"/>
            <p:cNvSpPr/>
            <p:nvPr/>
          </p:nvSpPr>
          <p:spPr>
            <a:xfrm>
              <a:off x="3808" y="1074"/>
              <a:ext cx="933" cy="941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8" name="Oval 10"/>
            <p:cNvSpPr/>
            <p:nvPr/>
          </p:nvSpPr>
          <p:spPr>
            <a:xfrm>
              <a:off x="3575" y="845"/>
              <a:ext cx="1392" cy="1392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4599" name="Line 11"/>
            <p:cNvSpPr/>
            <p:nvPr/>
          </p:nvSpPr>
          <p:spPr>
            <a:xfrm>
              <a:off x="4274" y="845"/>
              <a:ext cx="0" cy="139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Line 12"/>
            <p:cNvSpPr/>
            <p:nvPr/>
          </p:nvSpPr>
          <p:spPr>
            <a:xfrm rot="5400000">
              <a:off x="4269" y="845"/>
              <a:ext cx="0" cy="139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1" name="Line 13"/>
            <p:cNvSpPr/>
            <p:nvPr/>
          </p:nvSpPr>
          <p:spPr>
            <a:xfrm flipV="1">
              <a:off x="3786" y="1045"/>
              <a:ext cx="980" cy="9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Line 14"/>
            <p:cNvSpPr/>
            <p:nvPr/>
          </p:nvSpPr>
          <p:spPr>
            <a:xfrm flipH="1" flipV="1">
              <a:off x="3770" y="1037"/>
              <a:ext cx="980" cy="9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03" name="Group 15"/>
            <p:cNvGrpSpPr/>
            <p:nvPr/>
          </p:nvGrpSpPr>
          <p:grpSpPr>
            <a:xfrm>
              <a:off x="1123" y="818"/>
              <a:ext cx="895" cy="1457"/>
              <a:chOff x="751" y="1022"/>
              <a:chExt cx="782" cy="1147"/>
            </a:xfrm>
          </p:grpSpPr>
          <p:sp>
            <p:nvSpPr>
              <p:cNvPr id="24617" name="Line 16"/>
              <p:cNvSpPr/>
              <p:nvPr/>
            </p:nvSpPr>
            <p:spPr>
              <a:xfrm>
                <a:off x="751" y="1022"/>
                <a:ext cx="0" cy="1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8" name="Line 17"/>
              <p:cNvSpPr/>
              <p:nvPr/>
            </p:nvSpPr>
            <p:spPr>
              <a:xfrm>
                <a:off x="1142" y="1028"/>
                <a:ext cx="0" cy="1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9" name="Line 18"/>
              <p:cNvSpPr/>
              <p:nvPr/>
            </p:nvSpPr>
            <p:spPr>
              <a:xfrm>
                <a:off x="1533" y="1032"/>
                <a:ext cx="0" cy="113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604" name="Group 19"/>
            <p:cNvGrpSpPr/>
            <p:nvPr/>
          </p:nvGrpSpPr>
          <p:grpSpPr>
            <a:xfrm>
              <a:off x="725" y="1003"/>
              <a:ext cx="1282" cy="1090"/>
              <a:chOff x="740" y="988"/>
              <a:chExt cx="1282" cy="1090"/>
            </a:xfrm>
          </p:grpSpPr>
          <p:sp>
            <p:nvSpPr>
              <p:cNvPr id="24614" name="Line 20"/>
              <p:cNvSpPr/>
              <p:nvPr/>
            </p:nvSpPr>
            <p:spPr>
              <a:xfrm>
                <a:off x="743" y="988"/>
                <a:ext cx="126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5" name="Line 21"/>
              <p:cNvSpPr/>
              <p:nvPr/>
            </p:nvSpPr>
            <p:spPr>
              <a:xfrm>
                <a:off x="756" y="2078"/>
                <a:ext cx="126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16" name="Line 22"/>
              <p:cNvSpPr/>
              <p:nvPr/>
            </p:nvSpPr>
            <p:spPr>
              <a:xfrm>
                <a:off x="740" y="1531"/>
                <a:ext cx="126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05" name="Text Box 23"/>
            <p:cNvSpPr txBox="1"/>
            <p:nvPr/>
          </p:nvSpPr>
          <p:spPr>
            <a:xfrm>
              <a:off x="2541" y="879"/>
              <a:ext cx="78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波 前</a:t>
              </a:r>
            </a:p>
          </p:txBody>
        </p:sp>
        <p:sp>
          <p:nvSpPr>
            <p:cNvPr id="24606" name="Text Box 24"/>
            <p:cNvSpPr txBox="1"/>
            <p:nvPr/>
          </p:nvSpPr>
          <p:spPr>
            <a:xfrm>
              <a:off x="2545" y="1226"/>
              <a:ext cx="78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波 面</a:t>
              </a:r>
            </a:p>
          </p:txBody>
        </p:sp>
        <p:sp>
          <p:nvSpPr>
            <p:cNvPr id="24607" name="Text Box 25"/>
            <p:cNvSpPr txBox="1"/>
            <p:nvPr/>
          </p:nvSpPr>
          <p:spPr>
            <a:xfrm>
              <a:off x="2559" y="1626"/>
              <a:ext cx="78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波 线</a:t>
              </a:r>
            </a:p>
          </p:txBody>
        </p:sp>
        <p:sp>
          <p:nvSpPr>
            <p:cNvPr id="24608" name="Line 26"/>
            <p:cNvSpPr/>
            <p:nvPr/>
          </p:nvSpPr>
          <p:spPr>
            <a:xfrm flipV="1">
              <a:off x="2046" y="1069"/>
              <a:ext cx="478" cy="10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9" name="Line 27"/>
            <p:cNvSpPr/>
            <p:nvPr/>
          </p:nvSpPr>
          <p:spPr>
            <a:xfrm flipH="1" flipV="1">
              <a:off x="3136" y="1066"/>
              <a:ext cx="500" cy="12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Line 28"/>
            <p:cNvSpPr/>
            <p:nvPr/>
          </p:nvSpPr>
          <p:spPr>
            <a:xfrm>
              <a:off x="1573" y="1286"/>
              <a:ext cx="955" cy="12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1" name="Line 29"/>
            <p:cNvSpPr/>
            <p:nvPr/>
          </p:nvSpPr>
          <p:spPr>
            <a:xfrm flipH="1">
              <a:off x="3154" y="1336"/>
              <a:ext cx="675" cy="9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2" name="Line 30"/>
            <p:cNvSpPr/>
            <p:nvPr/>
          </p:nvSpPr>
          <p:spPr>
            <a:xfrm flipV="1">
              <a:off x="1714" y="1812"/>
              <a:ext cx="827" cy="25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3" name="Line 31"/>
            <p:cNvSpPr/>
            <p:nvPr/>
          </p:nvSpPr>
          <p:spPr>
            <a:xfrm flipH="1" flipV="1">
              <a:off x="3152" y="1795"/>
              <a:ext cx="675" cy="12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2"/>
          <p:cNvGrpSpPr/>
          <p:nvPr/>
        </p:nvGrpSpPr>
        <p:grpSpPr>
          <a:xfrm>
            <a:off x="2008188" y="549275"/>
            <a:ext cx="5702300" cy="933450"/>
            <a:chOff x="1296" y="2320"/>
            <a:chExt cx="3592" cy="588"/>
          </a:xfrm>
        </p:grpSpPr>
        <p:sp>
          <p:nvSpPr>
            <p:cNvPr id="24589" name="Text Box 33"/>
            <p:cNvSpPr txBox="1"/>
            <p:nvPr/>
          </p:nvSpPr>
          <p:spPr>
            <a:xfrm>
              <a:off x="1296" y="2320"/>
              <a:ext cx="64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波面</a:t>
              </a:r>
            </a:p>
          </p:txBody>
        </p:sp>
        <p:sp>
          <p:nvSpPr>
            <p:cNvPr id="24590" name="Line 34"/>
            <p:cNvSpPr/>
            <p:nvPr/>
          </p:nvSpPr>
          <p:spPr>
            <a:xfrm>
              <a:off x="1796" y="2480"/>
              <a:ext cx="30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Text Box 35"/>
            <p:cNvSpPr txBox="1"/>
            <p:nvPr/>
          </p:nvSpPr>
          <p:spPr>
            <a:xfrm>
              <a:off x="2160" y="2327"/>
              <a:ext cx="27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振动相位相同的点连成的面。</a:t>
              </a:r>
            </a:p>
          </p:txBody>
        </p:sp>
        <p:grpSp>
          <p:nvGrpSpPr>
            <p:cNvPr id="24592" name="Group 36"/>
            <p:cNvGrpSpPr/>
            <p:nvPr/>
          </p:nvGrpSpPr>
          <p:grpSpPr>
            <a:xfrm>
              <a:off x="1301" y="2605"/>
              <a:ext cx="2477" cy="303"/>
              <a:chOff x="604" y="2764"/>
              <a:chExt cx="2477" cy="303"/>
            </a:xfrm>
          </p:grpSpPr>
          <p:sp>
            <p:nvSpPr>
              <p:cNvPr id="24593" name="Text Box 37"/>
              <p:cNvSpPr txBox="1"/>
              <p:nvPr/>
            </p:nvSpPr>
            <p:spPr>
              <a:xfrm>
                <a:off x="604" y="2764"/>
                <a:ext cx="64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波前</a:t>
                </a:r>
              </a:p>
            </p:txBody>
          </p:sp>
          <p:sp>
            <p:nvSpPr>
              <p:cNvPr id="24594" name="Line 38"/>
              <p:cNvSpPr/>
              <p:nvPr/>
            </p:nvSpPr>
            <p:spPr>
              <a:xfrm>
                <a:off x="1096" y="2922"/>
                <a:ext cx="30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95" name="Text Box 39"/>
              <p:cNvSpPr txBox="1"/>
              <p:nvPr/>
            </p:nvSpPr>
            <p:spPr>
              <a:xfrm>
                <a:off x="1444" y="2779"/>
                <a:ext cx="163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最前面的波面。</a:t>
                </a:r>
              </a:p>
            </p:txBody>
          </p:sp>
        </p:grpSp>
      </p:grpSp>
      <p:grpSp>
        <p:nvGrpSpPr>
          <p:cNvPr id="7" name="Group 40"/>
          <p:cNvGrpSpPr/>
          <p:nvPr/>
        </p:nvGrpSpPr>
        <p:grpSpPr>
          <a:xfrm>
            <a:off x="755650" y="4421188"/>
            <a:ext cx="7808913" cy="711200"/>
            <a:chOff x="463" y="2951"/>
            <a:chExt cx="4919" cy="448"/>
          </a:xfrm>
        </p:grpSpPr>
        <p:sp>
          <p:nvSpPr>
            <p:cNvPr id="24585" name="Text Box 41"/>
            <p:cNvSpPr txBox="1"/>
            <p:nvPr/>
          </p:nvSpPr>
          <p:spPr>
            <a:xfrm>
              <a:off x="463" y="2951"/>
              <a:ext cx="9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平面波</a:t>
              </a:r>
            </a:p>
          </p:txBody>
        </p:sp>
        <p:sp>
          <p:nvSpPr>
            <p:cNvPr id="24586" name="Text Box 42"/>
            <p:cNvSpPr txBox="1"/>
            <p:nvPr/>
          </p:nvSpPr>
          <p:spPr>
            <a:xfrm>
              <a:off x="978" y="2957"/>
              <a:ext cx="2031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marL="179705" indent="-179705"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（波面为平面的波）：          太阳光</a:t>
              </a:r>
            </a:p>
          </p:txBody>
        </p:sp>
        <p:sp>
          <p:nvSpPr>
            <p:cNvPr id="24587" name="Text Box 43"/>
            <p:cNvSpPr txBox="1"/>
            <p:nvPr/>
          </p:nvSpPr>
          <p:spPr>
            <a:xfrm>
              <a:off x="3107" y="2957"/>
              <a:ext cx="9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球面波</a:t>
              </a:r>
            </a:p>
          </p:txBody>
        </p:sp>
        <p:sp>
          <p:nvSpPr>
            <p:cNvPr id="24588" name="Text Box 44"/>
            <p:cNvSpPr txBox="1"/>
            <p:nvPr/>
          </p:nvSpPr>
          <p:spPr>
            <a:xfrm>
              <a:off x="3610" y="2957"/>
              <a:ext cx="1772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0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（波面为球面的波）：</a:t>
              </a:r>
            </a:p>
            <a:p>
              <a:pPr eaLnBrk="1" hangingPunct="1"/>
              <a:r>
                <a:rPr lang="zh-CN" altLang="en-US" sz="20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  点波源</a:t>
              </a:r>
            </a:p>
          </p:txBody>
        </p:sp>
      </p:grpSp>
      <p:grpSp>
        <p:nvGrpSpPr>
          <p:cNvPr id="8" name="Group 45"/>
          <p:cNvGrpSpPr/>
          <p:nvPr/>
        </p:nvGrpSpPr>
        <p:grpSpPr>
          <a:xfrm>
            <a:off x="873125" y="5407025"/>
            <a:ext cx="7618413" cy="830263"/>
            <a:chOff x="522" y="3459"/>
            <a:chExt cx="4799" cy="523"/>
          </a:xfrm>
        </p:grpSpPr>
        <p:sp>
          <p:nvSpPr>
            <p:cNvPr id="24582" name="Text Box 46"/>
            <p:cNvSpPr txBox="1"/>
            <p:nvPr/>
          </p:nvSpPr>
          <p:spPr>
            <a:xfrm>
              <a:off x="522" y="3459"/>
              <a:ext cx="178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波线（波射线）</a:t>
              </a:r>
            </a:p>
          </p:txBody>
        </p:sp>
        <p:sp>
          <p:nvSpPr>
            <p:cNvPr id="24583" name="Line 47"/>
            <p:cNvSpPr/>
            <p:nvPr/>
          </p:nvSpPr>
          <p:spPr>
            <a:xfrm>
              <a:off x="1856" y="3616"/>
              <a:ext cx="30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4" name="Text Box 48"/>
            <p:cNvSpPr txBox="1"/>
            <p:nvPr/>
          </p:nvSpPr>
          <p:spPr>
            <a:xfrm>
              <a:off x="2190" y="3464"/>
              <a:ext cx="3131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波的传播方向。</a:t>
              </a:r>
              <a:r>
                <a:rPr lang="zh-CN" altLang="en-US" sz="24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在各向同性媒质中，波线恒与波面垂直。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3"/>
          <p:cNvSpPr/>
          <p:nvPr/>
        </p:nvSpPr>
        <p:spPr>
          <a:xfrm flipV="1">
            <a:off x="742950" y="1754188"/>
            <a:ext cx="7867650" cy="0"/>
          </a:xfrm>
          <a:prstGeom prst="line">
            <a:avLst/>
          </a:prstGeom>
          <a:ln w="57150" cap="flat" cmpd="sng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603" name="Line 4"/>
          <p:cNvSpPr/>
          <p:nvPr/>
        </p:nvSpPr>
        <p:spPr>
          <a:xfrm flipV="1">
            <a:off x="896938" y="1754188"/>
            <a:ext cx="7843837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5"/>
          <p:cNvGrpSpPr/>
          <p:nvPr/>
        </p:nvGrpSpPr>
        <p:grpSpPr>
          <a:xfrm>
            <a:off x="409575" y="911225"/>
            <a:ext cx="8158163" cy="2020888"/>
            <a:chOff x="258" y="781"/>
            <a:chExt cx="5139" cy="1273"/>
          </a:xfrm>
        </p:grpSpPr>
        <p:sp>
          <p:nvSpPr>
            <p:cNvPr id="25740" name="Rectangle 6"/>
            <p:cNvSpPr/>
            <p:nvPr/>
          </p:nvSpPr>
          <p:spPr>
            <a:xfrm>
              <a:off x="258" y="781"/>
              <a:ext cx="5138" cy="127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5741" name="Freeform 7"/>
            <p:cNvSpPr/>
            <p:nvPr/>
          </p:nvSpPr>
          <p:spPr>
            <a:xfrm>
              <a:off x="275" y="1000"/>
              <a:ext cx="5122" cy="837"/>
            </a:xfrm>
            <a:custGeom>
              <a:avLst/>
              <a:gdLst/>
              <a:ahLst/>
              <a:cxnLst>
                <a:cxn ang="0">
                  <a:pos x="0" y="22"/>
                </a:cxn>
                <a:cxn ang="0">
                  <a:pos x="940" y="0"/>
                </a:cxn>
                <a:cxn ang="0">
                  <a:pos x="1886" y="22"/>
                </a:cxn>
                <a:cxn ang="0">
                  <a:pos x="2826" y="47"/>
                </a:cxn>
                <a:cxn ang="0">
                  <a:pos x="3769" y="22"/>
                </a:cxn>
                <a:cxn ang="0">
                  <a:pos x="4712" y="0"/>
                </a:cxn>
                <a:cxn ang="0">
                  <a:pos x="5657" y="22"/>
                </a:cxn>
                <a:cxn ang="0">
                  <a:pos x="6599" y="47"/>
                </a:cxn>
                <a:cxn ang="0">
                  <a:pos x="7539" y="22"/>
                </a:cxn>
                <a:cxn ang="0">
                  <a:pos x="8482" y="0"/>
                </a:cxn>
                <a:cxn ang="0">
                  <a:pos x="9330" y="22"/>
                </a:cxn>
              </a:cxnLst>
              <a:rect l="0" t="0" r="0" b="0"/>
              <a:pathLst>
                <a:path w="4752" h="1200">
                  <a:moveTo>
                    <a:pt x="0" y="576"/>
                  </a:moveTo>
                  <a:cubicBezTo>
                    <a:pt x="160" y="288"/>
                    <a:pt x="320" y="0"/>
                    <a:pt x="480" y="0"/>
                  </a:cubicBezTo>
                  <a:cubicBezTo>
                    <a:pt x="640" y="0"/>
                    <a:pt x="800" y="376"/>
                    <a:pt x="960" y="576"/>
                  </a:cubicBezTo>
                  <a:cubicBezTo>
                    <a:pt x="1120" y="776"/>
                    <a:pt x="1280" y="1200"/>
                    <a:pt x="1440" y="1200"/>
                  </a:cubicBezTo>
                  <a:cubicBezTo>
                    <a:pt x="1600" y="1200"/>
                    <a:pt x="1760" y="776"/>
                    <a:pt x="1920" y="576"/>
                  </a:cubicBezTo>
                  <a:cubicBezTo>
                    <a:pt x="2080" y="376"/>
                    <a:pt x="2240" y="0"/>
                    <a:pt x="2400" y="0"/>
                  </a:cubicBezTo>
                  <a:cubicBezTo>
                    <a:pt x="2560" y="0"/>
                    <a:pt x="2720" y="376"/>
                    <a:pt x="2880" y="576"/>
                  </a:cubicBezTo>
                  <a:cubicBezTo>
                    <a:pt x="3040" y="776"/>
                    <a:pt x="3200" y="1200"/>
                    <a:pt x="3360" y="1200"/>
                  </a:cubicBezTo>
                  <a:cubicBezTo>
                    <a:pt x="3520" y="1200"/>
                    <a:pt x="3680" y="776"/>
                    <a:pt x="3840" y="576"/>
                  </a:cubicBezTo>
                  <a:cubicBezTo>
                    <a:pt x="4000" y="376"/>
                    <a:pt x="4168" y="0"/>
                    <a:pt x="4320" y="0"/>
                  </a:cubicBezTo>
                  <a:cubicBezTo>
                    <a:pt x="4472" y="0"/>
                    <a:pt x="4612" y="288"/>
                    <a:pt x="4752" y="576"/>
                  </a:cubicBezTo>
                </a:path>
              </a:pathLst>
            </a:custGeom>
            <a:noFill/>
            <a:ln w="762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2141538" y="620713"/>
            <a:ext cx="2732087" cy="457200"/>
            <a:chOff x="1501" y="584"/>
            <a:chExt cx="1721" cy="288"/>
          </a:xfrm>
        </p:grpSpPr>
        <p:sp>
          <p:nvSpPr>
            <p:cNvPr id="25738" name="Line 9"/>
            <p:cNvSpPr/>
            <p:nvPr/>
          </p:nvSpPr>
          <p:spPr>
            <a:xfrm>
              <a:off x="2555" y="736"/>
              <a:ext cx="66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39" name="Text Box 10"/>
            <p:cNvSpPr txBox="1"/>
            <p:nvPr/>
          </p:nvSpPr>
          <p:spPr>
            <a:xfrm>
              <a:off x="1501" y="584"/>
              <a:ext cx="119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波传播方向</a:t>
              </a:r>
            </a:p>
          </p:txBody>
        </p:sp>
      </p:grpSp>
      <p:sp>
        <p:nvSpPr>
          <p:cNvPr id="56331" name="Freeform 11"/>
          <p:cNvSpPr/>
          <p:nvPr/>
        </p:nvSpPr>
        <p:spPr>
          <a:xfrm>
            <a:off x="685800" y="1079500"/>
            <a:ext cx="8154988" cy="13779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0" t="0" r="0" b="0"/>
            <a:pathLst>
              <a:path w="4752" h="1200">
                <a:moveTo>
                  <a:pt x="0" y="576"/>
                </a:moveTo>
                <a:cubicBezTo>
                  <a:pt x="160" y="288"/>
                  <a:pt x="320" y="0"/>
                  <a:pt x="480" y="0"/>
                </a:cubicBezTo>
                <a:cubicBezTo>
                  <a:pt x="640" y="0"/>
                  <a:pt x="800" y="376"/>
                  <a:pt x="960" y="576"/>
                </a:cubicBezTo>
                <a:cubicBezTo>
                  <a:pt x="1120" y="776"/>
                  <a:pt x="1280" y="1200"/>
                  <a:pt x="1440" y="1200"/>
                </a:cubicBezTo>
                <a:cubicBezTo>
                  <a:pt x="1600" y="1200"/>
                  <a:pt x="1760" y="776"/>
                  <a:pt x="1920" y="576"/>
                </a:cubicBezTo>
                <a:cubicBezTo>
                  <a:pt x="2080" y="376"/>
                  <a:pt x="2240" y="0"/>
                  <a:pt x="2400" y="0"/>
                </a:cubicBezTo>
                <a:cubicBezTo>
                  <a:pt x="2560" y="0"/>
                  <a:pt x="2720" y="376"/>
                  <a:pt x="2880" y="576"/>
                </a:cubicBezTo>
                <a:cubicBezTo>
                  <a:pt x="3040" y="776"/>
                  <a:pt x="3200" y="1200"/>
                  <a:pt x="3360" y="1200"/>
                </a:cubicBezTo>
                <a:cubicBezTo>
                  <a:pt x="3520" y="1200"/>
                  <a:pt x="3680" y="776"/>
                  <a:pt x="3840" y="576"/>
                </a:cubicBezTo>
                <a:cubicBezTo>
                  <a:pt x="4000" y="376"/>
                  <a:pt x="4168" y="0"/>
                  <a:pt x="4320" y="0"/>
                </a:cubicBezTo>
                <a:cubicBezTo>
                  <a:pt x="4472" y="0"/>
                  <a:pt x="4612" y="288"/>
                  <a:pt x="4752" y="576"/>
                </a:cubicBezTo>
              </a:path>
            </a:pathLst>
          </a:custGeom>
          <a:noFill/>
          <a:ln w="57150" cap="flat" cmpd="sng">
            <a:solidFill>
              <a:srgbClr val="C0C0C0">
                <a:alpha val="50195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5607" name="Group 15"/>
          <p:cNvGrpSpPr/>
          <p:nvPr/>
        </p:nvGrpSpPr>
        <p:grpSpPr>
          <a:xfrm>
            <a:off x="620713" y="992188"/>
            <a:ext cx="7667625" cy="1844675"/>
            <a:chOff x="672" y="768"/>
            <a:chExt cx="4512" cy="1392"/>
          </a:xfrm>
        </p:grpSpPr>
        <p:grpSp>
          <p:nvGrpSpPr>
            <p:cNvPr id="25676" name="Group 16"/>
            <p:cNvGrpSpPr/>
            <p:nvPr/>
          </p:nvGrpSpPr>
          <p:grpSpPr>
            <a:xfrm>
              <a:off x="672" y="768"/>
              <a:ext cx="2208" cy="1392"/>
              <a:chOff x="624" y="144"/>
              <a:chExt cx="2208" cy="3792"/>
            </a:xfrm>
          </p:grpSpPr>
          <p:grpSp>
            <p:nvGrpSpPr>
              <p:cNvPr id="25708" name="Group 17"/>
              <p:cNvGrpSpPr/>
              <p:nvPr/>
            </p:nvGrpSpPr>
            <p:grpSpPr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25724" name="Group 18"/>
                <p:cNvGrpSpPr/>
                <p:nvPr/>
              </p:nvGrpSpPr>
              <p:grpSpPr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5732" name="Line 19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33" name="Line 20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34" name="Line 21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35" name="Line 22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36" name="Line 23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37" name="Line 24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5725" name="Group 25"/>
                <p:cNvGrpSpPr/>
                <p:nvPr/>
              </p:nvGrpSpPr>
              <p:grpSpPr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5726" name="Line 26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27" name="Line 27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28" name="Line 28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29" name="Line 29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30" name="Line 30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31" name="Line 31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709" name="Group 32"/>
              <p:cNvGrpSpPr/>
              <p:nvPr/>
            </p:nvGrpSpPr>
            <p:grpSpPr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25710" name="Group 33"/>
                <p:cNvGrpSpPr/>
                <p:nvPr/>
              </p:nvGrpSpPr>
              <p:grpSpPr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5718" name="Line 34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19" name="Line 35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20" name="Line 36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21" name="Line 37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22" name="Line 38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23" name="Line 39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5711" name="Group 40"/>
                <p:cNvGrpSpPr/>
                <p:nvPr/>
              </p:nvGrpSpPr>
              <p:grpSpPr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5712" name="Line 41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13" name="Line 42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14" name="Line 43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15" name="Line 44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16" name="Line 45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17" name="Line 46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25677" name="Group 47"/>
            <p:cNvGrpSpPr/>
            <p:nvPr/>
          </p:nvGrpSpPr>
          <p:grpSpPr>
            <a:xfrm>
              <a:off x="2976" y="768"/>
              <a:ext cx="2208" cy="1392"/>
              <a:chOff x="624" y="144"/>
              <a:chExt cx="2208" cy="3792"/>
            </a:xfrm>
          </p:grpSpPr>
          <p:grpSp>
            <p:nvGrpSpPr>
              <p:cNvPr id="25678" name="Group 48"/>
              <p:cNvGrpSpPr/>
              <p:nvPr/>
            </p:nvGrpSpPr>
            <p:grpSpPr>
              <a:xfrm>
                <a:off x="624" y="144"/>
                <a:ext cx="1056" cy="3792"/>
                <a:chOff x="624" y="144"/>
                <a:chExt cx="1056" cy="3792"/>
              </a:xfrm>
            </p:grpSpPr>
            <p:grpSp>
              <p:nvGrpSpPr>
                <p:cNvPr id="25694" name="Group 49"/>
                <p:cNvGrpSpPr/>
                <p:nvPr/>
              </p:nvGrpSpPr>
              <p:grpSpPr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5702" name="Line 50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03" name="Line 51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04" name="Line 52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05" name="Line 53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06" name="Line 54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07" name="Line 55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5695" name="Group 56"/>
                <p:cNvGrpSpPr/>
                <p:nvPr/>
              </p:nvGrpSpPr>
              <p:grpSpPr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5696" name="Line 57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97" name="Line 58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98" name="Line 59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99" name="Line 60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00" name="Line 61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01" name="Line 62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679" name="Group 63"/>
              <p:cNvGrpSpPr/>
              <p:nvPr/>
            </p:nvGrpSpPr>
            <p:grpSpPr>
              <a:xfrm>
                <a:off x="1776" y="144"/>
                <a:ext cx="1056" cy="3792"/>
                <a:chOff x="624" y="144"/>
                <a:chExt cx="1056" cy="3792"/>
              </a:xfrm>
            </p:grpSpPr>
            <p:grpSp>
              <p:nvGrpSpPr>
                <p:cNvPr id="25680" name="Group 64"/>
                <p:cNvGrpSpPr/>
                <p:nvPr/>
              </p:nvGrpSpPr>
              <p:grpSpPr>
                <a:xfrm>
                  <a:off x="624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5688" name="Line 65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9" name="Line 66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90" name="Line 67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91" name="Line 68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92" name="Line 69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93" name="Line 70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5681" name="Group 71"/>
                <p:cNvGrpSpPr/>
                <p:nvPr/>
              </p:nvGrpSpPr>
              <p:grpSpPr>
                <a:xfrm>
                  <a:off x="1200" y="144"/>
                  <a:ext cx="480" cy="3792"/>
                  <a:chOff x="624" y="144"/>
                  <a:chExt cx="480" cy="3792"/>
                </a:xfrm>
              </p:grpSpPr>
              <p:sp>
                <p:nvSpPr>
                  <p:cNvPr id="25682" name="Line 72"/>
                  <p:cNvSpPr/>
                  <p:nvPr/>
                </p:nvSpPr>
                <p:spPr>
                  <a:xfrm>
                    <a:off x="62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3" name="Line 73"/>
                  <p:cNvSpPr/>
                  <p:nvPr/>
                </p:nvSpPr>
                <p:spPr>
                  <a:xfrm>
                    <a:off x="720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4" name="Line 74"/>
                  <p:cNvSpPr/>
                  <p:nvPr/>
                </p:nvSpPr>
                <p:spPr>
                  <a:xfrm>
                    <a:off x="816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5" name="Line 75"/>
                  <p:cNvSpPr/>
                  <p:nvPr/>
                </p:nvSpPr>
                <p:spPr>
                  <a:xfrm>
                    <a:off x="912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6" name="Line 76"/>
                  <p:cNvSpPr/>
                  <p:nvPr/>
                </p:nvSpPr>
                <p:spPr>
                  <a:xfrm>
                    <a:off x="1008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7" name="Line 77"/>
                  <p:cNvSpPr/>
                  <p:nvPr/>
                </p:nvSpPr>
                <p:spPr>
                  <a:xfrm>
                    <a:off x="1104" y="144"/>
                    <a:ext cx="0" cy="3792"/>
                  </a:xfrm>
                  <a:prstGeom prst="line">
                    <a:avLst/>
                  </a:prstGeom>
                  <a:ln w="76200" cap="flat" cmpd="sng">
                    <a:solidFill>
                      <a:schemeClr val="bg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19" name="Group 78"/>
          <p:cNvGrpSpPr/>
          <p:nvPr/>
        </p:nvGrpSpPr>
        <p:grpSpPr>
          <a:xfrm>
            <a:off x="1908175" y="1379538"/>
            <a:ext cx="3394075" cy="1474787"/>
            <a:chOff x="1299" y="1171"/>
            <a:chExt cx="2138" cy="929"/>
          </a:xfrm>
        </p:grpSpPr>
        <p:grpSp>
          <p:nvGrpSpPr>
            <p:cNvPr id="25662" name="Group 79"/>
            <p:cNvGrpSpPr/>
            <p:nvPr/>
          </p:nvGrpSpPr>
          <p:grpSpPr>
            <a:xfrm>
              <a:off x="1299" y="1171"/>
              <a:ext cx="2138" cy="431"/>
              <a:chOff x="1367" y="1321"/>
              <a:chExt cx="2138" cy="431"/>
            </a:xfrm>
          </p:grpSpPr>
          <p:sp>
            <p:nvSpPr>
              <p:cNvPr id="25670" name="Line 80"/>
              <p:cNvSpPr/>
              <p:nvPr/>
            </p:nvSpPr>
            <p:spPr>
              <a:xfrm flipV="1">
                <a:off x="1395" y="1321"/>
                <a:ext cx="0" cy="209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1" name="Oval 81"/>
              <p:cNvSpPr/>
              <p:nvPr/>
            </p:nvSpPr>
            <p:spPr>
              <a:xfrm>
                <a:off x="1367" y="1526"/>
                <a:ext cx="55" cy="55"/>
              </a:xfrm>
              <a:prstGeom prst="ellipse">
                <a:avLst/>
              </a:prstGeom>
              <a:solidFill>
                <a:schemeClr val="bg1"/>
              </a:solidFill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72" name="Oval 82"/>
              <p:cNvSpPr/>
              <p:nvPr/>
            </p:nvSpPr>
            <p:spPr>
              <a:xfrm>
                <a:off x="3450" y="1531"/>
                <a:ext cx="55" cy="55"/>
              </a:xfrm>
              <a:prstGeom prst="ellipse">
                <a:avLst/>
              </a:prstGeom>
              <a:solidFill>
                <a:schemeClr val="bg1"/>
              </a:solidFill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73" name="Line 83"/>
              <p:cNvSpPr/>
              <p:nvPr/>
            </p:nvSpPr>
            <p:spPr>
              <a:xfrm flipV="1">
                <a:off x="3468" y="1327"/>
                <a:ext cx="0" cy="209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4" name="Line 84"/>
              <p:cNvSpPr/>
              <p:nvPr/>
            </p:nvSpPr>
            <p:spPr>
              <a:xfrm>
                <a:off x="2427" y="1543"/>
                <a:ext cx="0" cy="209"/>
              </a:xfrm>
              <a:prstGeom prst="line">
                <a:avLst/>
              </a:prstGeom>
              <a:ln w="19050" cap="flat" cmpd="sng">
                <a:solidFill>
                  <a:schemeClr val="accent2"/>
                </a:solidFill>
                <a:prstDash val="solid"/>
                <a:headEnd type="none" w="med" len="med"/>
                <a:tailEnd type="triangle" w="sm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5" name="Oval 85"/>
              <p:cNvSpPr/>
              <p:nvPr/>
            </p:nvSpPr>
            <p:spPr>
              <a:xfrm>
                <a:off x="2396" y="1516"/>
                <a:ext cx="55" cy="55"/>
              </a:xfrm>
              <a:prstGeom prst="ellipse">
                <a:avLst/>
              </a:prstGeom>
              <a:solidFill>
                <a:schemeClr val="bg1"/>
              </a:solidFill>
              <a:ln w="38100" cap="flat" cmpd="sng">
                <a:solidFill>
                  <a:schemeClr val="accent2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63" name="Line 86"/>
            <p:cNvSpPr/>
            <p:nvPr/>
          </p:nvSpPr>
          <p:spPr>
            <a:xfrm>
              <a:off x="1319" y="1495"/>
              <a:ext cx="0" cy="5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4" name="Line 87"/>
            <p:cNvSpPr/>
            <p:nvPr/>
          </p:nvSpPr>
          <p:spPr>
            <a:xfrm>
              <a:off x="3409" y="1485"/>
              <a:ext cx="0" cy="59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65" name="Group 88"/>
            <p:cNvGrpSpPr/>
            <p:nvPr/>
          </p:nvGrpSpPr>
          <p:grpSpPr>
            <a:xfrm>
              <a:off x="1318" y="1850"/>
              <a:ext cx="2092" cy="250"/>
              <a:chOff x="1387" y="1917"/>
              <a:chExt cx="2092" cy="250"/>
            </a:xfrm>
          </p:grpSpPr>
          <p:sp>
            <p:nvSpPr>
              <p:cNvPr id="25666" name="Line 89"/>
              <p:cNvSpPr/>
              <p:nvPr/>
            </p:nvSpPr>
            <p:spPr>
              <a:xfrm>
                <a:off x="1387" y="2077"/>
                <a:ext cx="20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67" name="Group 90"/>
              <p:cNvGrpSpPr/>
              <p:nvPr/>
            </p:nvGrpSpPr>
            <p:grpSpPr>
              <a:xfrm>
                <a:off x="2258" y="1917"/>
                <a:ext cx="395" cy="250"/>
                <a:chOff x="1720" y="2880"/>
                <a:chExt cx="395" cy="250"/>
              </a:xfrm>
            </p:grpSpPr>
            <p:sp>
              <p:nvSpPr>
                <p:cNvPr id="25668" name="Rectangle 91"/>
                <p:cNvSpPr/>
                <p:nvPr/>
              </p:nvSpPr>
              <p:spPr>
                <a:xfrm>
                  <a:off x="1720" y="2880"/>
                  <a:ext cx="395" cy="25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669" name="WordArt 92"/>
                <p:cNvSpPr>
                  <a:spLocks noTextEdit="1"/>
                </p:cNvSpPr>
                <p:nvPr/>
              </p:nvSpPr>
              <p:spPr>
                <a:xfrm>
                  <a:off x="1839" y="2903"/>
                  <a:ext cx="139" cy="1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475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rgbClr val="00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</a:rPr>
                    <a:t>l</a:t>
                  </a:r>
                </a:p>
              </p:txBody>
            </p:sp>
          </p:grpSp>
        </p:grpSp>
      </p:grpSp>
      <p:grpSp>
        <p:nvGrpSpPr>
          <p:cNvPr id="23" name="Group 93"/>
          <p:cNvGrpSpPr/>
          <p:nvPr/>
        </p:nvGrpSpPr>
        <p:grpSpPr>
          <a:xfrm>
            <a:off x="5341938" y="620713"/>
            <a:ext cx="1636712" cy="457200"/>
            <a:chOff x="1750" y="3302"/>
            <a:chExt cx="1031" cy="288"/>
          </a:xfrm>
        </p:grpSpPr>
        <p:sp>
          <p:nvSpPr>
            <p:cNvPr id="25659" name="Text Box 94"/>
            <p:cNvSpPr txBox="1"/>
            <p:nvPr/>
          </p:nvSpPr>
          <p:spPr>
            <a:xfrm>
              <a:off x="1750" y="3302"/>
              <a:ext cx="54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波速</a:t>
              </a:r>
            </a:p>
          </p:txBody>
        </p:sp>
        <p:sp>
          <p:nvSpPr>
            <p:cNvPr id="25660" name="WordArt 95"/>
            <p:cNvSpPr>
              <a:spLocks noTextEdit="1"/>
            </p:cNvSpPr>
            <p:nvPr/>
          </p:nvSpPr>
          <p:spPr>
            <a:xfrm>
              <a:off x="2249" y="3379"/>
              <a:ext cx="139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25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5661" name="Line 96"/>
            <p:cNvSpPr/>
            <p:nvPr/>
          </p:nvSpPr>
          <p:spPr>
            <a:xfrm>
              <a:off x="2463" y="3456"/>
              <a:ext cx="31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147"/>
          <p:cNvGrpSpPr/>
          <p:nvPr/>
        </p:nvGrpSpPr>
        <p:grpSpPr>
          <a:xfrm>
            <a:off x="566738" y="3611563"/>
            <a:ext cx="8096250" cy="519112"/>
            <a:chOff x="357" y="2275"/>
            <a:chExt cx="5100" cy="327"/>
          </a:xfrm>
        </p:grpSpPr>
        <p:sp>
          <p:nvSpPr>
            <p:cNvPr id="25655" name="Text Box 100"/>
            <p:cNvSpPr txBox="1"/>
            <p:nvPr/>
          </p:nvSpPr>
          <p:spPr>
            <a:xfrm>
              <a:off x="357" y="2275"/>
              <a:ext cx="667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波长</a:t>
              </a:r>
            </a:p>
          </p:txBody>
        </p:sp>
        <p:sp>
          <p:nvSpPr>
            <p:cNvPr id="25656" name="WordArt 101"/>
            <p:cNvSpPr>
              <a:spLocks noTextEdit="1"/>
            </p:cNvSpPr>
            <p:nvPr/>
          </p:nvSpPr>
          <p:spPr>
            <a:xfrm>
              <a:off x="912" y="2341"/>
              <a:ext cx="139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75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sp>
          <p:nvSpPr>
            <p:cNvPr id="25657" name="Line 102"/>
            <p:cNvSpPr/>
            <p:nvPr/>
          </p:nvSpPr>
          <p:spPr>
            <a:xfrm>
              <a:off x="1153" y="2442"/>
              <a:ext cx="31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8" name="Text Box 103"/>
            <p:cNvSpPr txBox="1"/>
            <p:nvPr/>
          </p:nvSpPr>
          <p:spPr>
            <a:xfrm>
              <a:off x="1493" y="2306"/>
              <a:ext cx="396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振动状态完全相同的相邻两质点之间的距离。</a:t>
              </a:r>
            </a:p>
          </p:txBody>
        </p:sp>
      </p:grpSp>
      <p:grpSp>
        <p:nvGrpSpPr>
          <p:cNvPr id="25" name="Group 148"/>
          <p:cNvGrpSpPr/>
          <p:nvPr/>
        </p:nvGrpSpPr>
        <p:grpSpPr>
          <a:xfrm>
            <a:off x="557213" y="4119563"/>
            <a:ext cx="8191500" cy="519112"/>
            <a:chOff x="351" y="2595"/>
            <a:chExt cx="5160" cy="327"/>
          </a:xfrm>
        </p:grpSpPr>
        <p:sp>
          <p:nvSpPr>
            <p:cNvPr id="25651" name="Text Box 98"/>
            <p:cNvSpPr txBox="1"/>
            <p:nvPr/>
          </p:nvSpPr>
          <p:spPr>
            <a:xfrm>
              <a:off x="351" y="2595"/>
              <a:ext cx="61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周期</a:t>
              </a:r>
            </a:p>
          </p:txBody>
        </p:sp>
        <p:sp>
          <p:nvSpPr>
            <p:cNvPr id="25652" name="WordArt 99"/>
            <p:cNvSpPr>
              <a:spLocks noTextEdit="1"/>
            </p:cNvSpPr>
            <p:nvPr/>
          </p:nvSpPr>
          <p:spPr>
            <a:xfrm>
              <a:off x="897" y="2671"/>
              <a:ext cx="174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1991"/>
                </a:avLst>
              </a:prstTxWarp>
              <a:normAutofit fontScale="40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Bookman Old Style" panose="02050604050505020204" charset="0"/>
                  <a:ea typeface="Bookman Old Style" panose="02050604050505020204" charset="0"/>
                </a:rPr>
                <a:t>T</a:t>
              </a:r>
            </a:p>
          </p:txBody>
        </p:sp>
        <p:sp>
          <p:nvSpPr>
            <p:cNvPr id="25653" name="Line 104"/>
            <p:cNvSpPr/>
            <p:nvPr/>
          </p:nvSpPr>
          <p:spPr>
            <a:xfrm>
              <a:off x="1151" y="2759"/>
              <a:ext cx="31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4" name="Text Box 105"/>
            <p:cNvSpPr txBox="1"/>
            <p:nvPr/>
          </p:nvSpPr>
          <p:spPr>
            <a:xfrm>
              <a:off x="1486" y="2610"/>
              <a:ext cx="402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波形移过一个波长所需的时间</a:t>
              </a:r>
              <a:r>
                <a:rPr lang="en-US" altLang="zh-CN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  <a:r>
                <a:rPr lang="zh-CN" altLang="en-US" sz="18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等于波源的振动周期</a:t>
              </a:r>
              <a:r>
                <a:rPr lang="en-US" altLang="zh-CN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)</a:t>
              </a:r>
              <a:endPara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26" name="Group 149"/>
          <p:cNvGrpSpPr/>
          <p:nvPr/>
        </p:nvGrpSpPr>
        <p:grpSpPr>
          <a:xfrm>
            <a:off x="585788" y="4572000"/>
            <a:ext cx="5981700" cy="546100"/>
            <a:chOff x="369" y="2880"/>
            <a:chExt cx="3768" cy="344"/>
          </a:xfrm>
        </p:grpSpPr>
        <p:sp>
          <p:nvSpPr>
            <p:cNvPr id="25640" name="Text Box 106"/>
            <p:cNvSpPr txBox="1"/>
            <p:nvPr/>
          </p:nvSpPr>
          <p:spPr>
            <a:xfrm>
              <a:off x="369" y="2880"/>
              <a:ext cx="81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频率</a:t>
              </a:r>
            </a:p>
          </p:txBody>
        </p:sp>
        <p:sp>
          <p:nvSpPr>
            <p:cNvPr id="25641" name="WordArt 107"/>
            <p:cNvSpPr>
              <a:spLocks noTextEdit="1"/>
            </p:cNvSpPr>
            <p:nvPr/>
          </p:nvSpPr>
          <p:spPr>
            <a:xfrm>
              <a:off x="929" y="2995"/>
              <a:ext cx="135" cy="1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sp>
          <p:nvSpPr>
            <p:cNvPr id="25642" name="Line 108"/>
            <p:cNvSpPr/>
            <p:nvPr/>
          </p:nvSpPr>
          <p:spPr>
            <a:xfrm>
              <a:off x="1163" y="3075"/>
              <a:ext cx="31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3" name="Text Box 109"/>
            <p:cNvSpPr txBox="1"/>
            <p:nvPr/>
          </p:nvSpPr>
          <p:spPr>
            <a:xfrm>
              <a:off x="1477" y="2936"/>
              <a:ext cx="26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周期的倒数。</a:t>
              </a:r>
            </a:p>
          </p:txBody>
        </p:sp>
        <p:sp>
          <p:nvSpPr>
            <p:cNvPr id="25644" name="WordArt 110"/>
            <p:cNvSpPr>
              <a:spLocks noTextEdit="1"/>
            </p:cNvSpPr>
            <p:nvPr/>
          </p:nvSpPr>
          <p:spPr>
            <a:xfrm>
              <a:off x="2654" y="3022"/>
              <a:ext cx="135" cy="1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grpSp>
          <p:nvGrpSpPr>
            <p:cNvPr id="25645" name="Group 111"/>
            <p:cNvGrpSpPr/>
            <p:nvPr/>
          </p:nvGrpSpPr>
          <p:grpSpPr>
            <a:xfrm>
              <a:off x="2860" y="3047"/>
              <a:ext cx="151" cy="53"/>
              <a:chOff x="1260" y="2371"/>
              <a:chExt cx="151" cy="53"/>
            </a:xfrm>
          </p:grpSpPr>
          <p:sp>
            <p:nvSpPr>
              <p:cNvPr id="25649" name="Line 112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0" name="Line 113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46" name="WordArt 114"/>
            <p:cNvSpPr>
              <a:spLocks noTextEdit="1"/>
            </p:cNvSpPr>
            <p:nvPr/>
          </p:nvSpPr>
          <p:spPr>
            <a:xfrm>
              <a:off x="3076" y="2986"/>
              <a:ext cx="61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25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5647" name="Line 115"/>
            <p:cNvSpPr/>
            <p:nvPr/>
          </p:nvSpPr>
          <p:spPr>
            <a:xfrm flipH="1">
              <a:off x="3205" y="2958"/>
              <a:ext cx="114" cy="2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8" name="WordArt 116"/>
            <p:cNvSpPr>
              <a:spLocks noTextEdit="1"/>
            </p:cNvSpPr>
            <p:nvPr/>
          </p:nvSpPr>
          <p:spPr>
            <a:xfrm>
              <a:off x="3372" y="2978"/>
              <a:ext cx="174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1991"/>
                </a:avLst>
              </a:prstTxWarp>
              <a:normAutofit fontScale="40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Bookman Old Style" panose="02050604050505020204" charset="0"/>
                  <a:ea typeface="Bookman Old Style" panose="02050604050505020204" charset="0"/>
                </a:rPr>
                <a:t>T</a:t>
              </a:r>
            </a:p>
          </p:txBody>
        </p:sp>
      </p:grpSp>
      <p:grpSp>
        <p:nvGrpSpPr>
          <p:cNvPr id="29" name="Group 120"/>
          <p:cNvGrpSpPr/>
          <p:nvPr/>
        </p:nvGrpSpPr>
        <p:grpSpPr>
          <a:xfrm>
            <a:off x="539750" y="5102225"/>
            <a:ext cx="8361363" cy="1566863"/>
            <a:chOff x="358" y="3046"/>
            <a:chExt cx="5267" cy="987"/>
          </a:xfrm>
        </p:grpSpPr>
        <p:sp>
          <p:nvSpPr>
            <p:cNvPr id="25616" name="Text Box 121"/>
            <p:cNvSpPr txBox="1"/>
            <p:nvPr/>
          </p:nvSpPr>
          <p:spPr>
            <a:xfrm>
              <a:off x="358" y="3046"/>
              <a:ext cx="6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波速</a:t>
              </a:r>
            </a:p>
          </p:txBody>
        </p:sp>
        <p:sp>
          <p:nvSpPr>
            <p:cNvPr id="25617" name="WordArt 122"/>
            <p:cNvSpPr>
              <a:spLocks noTextEdit="1"/>
            </p:cNvSpPr>
            <p:nvPr/>
          </p:nvSpPr>
          <p:spPr>
            <a:xfrm>
              <a:off x="940" y="3145"/>
              <a:ext cx="139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25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5618" name="Line 123"/>
            <p:cNvSpPr/>
            <p:nvPr/>
          </p:nvSpPr>
          <p:spPr>
            <a:xfrm>
              <a:off x="1153" y="3230"/>
              <a:ext cx="31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Text Box 124"/>
            <p:cNvSpPr txBox="1"/>
            <p:nvPr/>
          </p:nvSpPr>
          <p:spPr>
            <a:xfrm>
              <a:off x="1455" y="3092"/>
              <a:ext cx="41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单位时间内振动状态（振动相位）的传播速度</a:t>
              </a:r>
            </a:p>
          </p:txBody>
        </p:sp>
        <p:sp>
          <p:nvSpPr>
            <p:cNvPr id="25620" name="Text Box 125"/>
            <p:cNvSpPr txBox="1"/>
            <p:nvPr/>
          </p:nvSpPr>
          <p:spPr>
            <a:xfrm>
              <a:off x="1259" y="3364"/>
              <a:ext cx="43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又称</a:t>
              </a:r>
              <a:r>
                <a:rPr lang="zh-CN" altLang="en-US" sz="24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相速</a:t>
              </a: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。机械波速取决于弹性媒质的物理性质。</a:t>
              </a:r>
            </a:p>
          </p:txBody>
        </p:sp>
        <p:sp>
          <p:nvSpPr>
            <p:cNvPr id="25621" name="WordArt 126"/>
            <p:cNvSpPr>
              <a:spLocks noTextEdit="1"/>
            </p:cNvSpPr>
            <p:nvPr/>
          </p:nvSpPr>
          <p:spPr>
            <a:xfrm>
              <a:off x="1234" y="3832"/>
              <a:ext cx="139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25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u</a:t>
              </a:r>
            </a:p>
          </p:txBody>
        </p:sp>
        <p:grpSp>
          <p:nvGrpSpPr>
            <p:cNvPr id="25622" name="Group 127"/>
            <p:cNvGrpSpPr/>
            <p:nvPr/>
          </p:nvGrpSpPr>
          <p:grpSpPr>
            <a:xfrm>
              <a:off x="1485" y="3899"/>
              <a:ext cx="151" cy="53"/>
              <a:chOff x="1260" y="2371"/>
              <a:chExt cx="151" cy="53"/>
            </a:xfrm>
          </p:grpSpPr>
          <p:sp>
            <p:nvSpPr>
              <p:cNvPr id="25638" name="Line 128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9" name="Line 129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23" name="WordArt 130"/>
            <p:cNvSpPr>
              <a:spLocks noTextEdit="1"/>
            </p:cNvSpPr>
            <p:nvPr/>
          </p:nvSpPr>
          <p:spPr>
            <a:xfrm>
              <a:off x="1698" y="3806"/>
              <a:ext cx="139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75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sp>
          <p:nvSpPr>
            <p:cNvPr id="25624" name="Line 131"/>
            <p:cNvSpPr/>
            <p:nvPr/>
          </p:nvSpPr>
          <p:spPr>
            <a:xfrm flipH="1">
              <a:off x="1877" y="3809"/>
              <a:ext cx="114" cy="2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5" name="WordArt 132"/>
            <p:cNvSpPr>
              <a:spLocks noTextEdit="1"/>
            </p:cNvSpPr>
            <p:nvPr/>
          </p:nvSpPr>
          <p:spPr>
            <a:xfrm>
              <a:off x="2043" y="3822"/>
              <a:ext cx="174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1991"/>
                </a:avLst>
              </a:prstTxWarp>
              <a:normAutofit fontScale="40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Bookman Old Style" panose="02050604050505020204" charset="0"/>
                  <a:ea typeface="Bookman Old Style" panose="02050604050505020204" charset="0"/>
                </a:rPr>
                <a:t>T</a:t>
              </a:r>
            </a:p>
          </p:txBody>
        </p:sp>
        <p:grpSp>
          <p:nvGrpSpPr>
            <p:cNvPr id="25626" name="Group 133"/>
            <p:cNvGrpSpPr/>
            <p:nvPr/>
          </p:nvGrpSpPr>
          <p:grpSpPr>
            <a:xfrm>
              <a:off x="2308" y="3889"/>
              <a:ext cx="151" cy="53"/>
              <a:chOff x="1260" y="2371"/>
              <a:chExt cx="151" cy="53"/>
            </a:xfrm>
          </p:grpSpPr>
          <p:sp>
            <p:nvSpPr>
              <p:cNvPr id="25636" name="Line 134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7" name="Line 135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27" name="WordArt 136"/>
            <p:cNvSpPr>
              <a:spLocks noTextEdit="1"/>
            </p:cNvSpPr>
            <p:nvPr/>
          </p:nvSpPr>
          <p:spPr>
            <a:xfrm>
              <a:off x="2508" y="3836"/>
              <a:ext cx="135" cy="1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Symbol" panose="05050102010706020507" charset="0"/>
                  <a:ea typeface="Symbol" panose="05050102010706020507" charset="0"/>
                </a:rPr>
                <a:t>n</a:t>
              </a:r>
            </a:p>
          </p:txBody>
        </p:sp>
        <p:sp>
          <p:nvSpPr>
            <p:cNvPr id="25628" name="WordArt 137"/>
            <p:cNvSpPr>
              <a:spLocks noTextEdit="1"/>
            </p:cNvSpPr>
            <p:nvPr/>
          </p:nvSpPr>
          <p:spPr>
            <a:xfrm>
              <a:off x="2689" y="3804"/>
              <a:ext cx="139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75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sp>
          <p:nvSpPr>
            <p:cNvPr id="25629" name="Text Box 138"/>
            <p:cNvSpPr txBox="1"/>
            <p:nvPr/>
          </p:nvSpPr>
          <p:spPr>
            <a:xfrm>
              <a:off x="3100" y="3745"/>
              <a:ext cx="40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或</a:t>
              </a:r>
            </a:p>
          </p:txBody>
        </p:sp>
        <p:sp>
          <p:nvSpPr>
            <p:cNvPr id="25630" name="WordArt 139"/>
            <p:cNvSpPr>
              <a:spLocks noTextEdit="1"/>
            </p:cNvSpPr>
            <p:nvPr/>
          </p:nvSpPr>
          <p:spPr>
            <a:xfrm>
              <a:off x="3618" y="3800"/>
              <a:ext cx="139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75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grpSp>
          <p:nvGrpSpPr>
            <p:cNvPr id="25631" name="Group 140"/>
            <p:cNvGrpSpPr/>
            <p:nvPr/>
          </p:nvGrpSpPr>
          <p:grpSpPr>
            <a:xfrm>
              <a:off x="3806" y="3864"/>
              <a:ext cx="151" cy="53"/>
              <a:chOff x="1260" y="2371"/>
              <a:chExt cx="151" cy="53"/>
            </a:xfrm>
          </p:grpSpPr>
          <p:sp>
            <p:nvSpPr>
              <p:cNvPr id="25634" name="Line 141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5" name="Line 142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32" name="WordArt 143"/>
            <p:cNvSpPr>
              <a:spLocks noTextEdit="1"/>
            </p:cNvSpPr>
            <p:nvPr/>
          </p:nvSpPr>
          <p:spPr>
            <a:xfrm>
              <a:off x="4006" y="3814"/>
              <a:ext cx="139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25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5633" name="WordArt 144"/>
            <p:cNvSpPr>
              <a:spLocks noTextEdit="1"/>
            </p:cNvSpPr>
            <p:nvPr/>
          </p:nvSpPr>
          <p:spPr>
            <a:xfrm>
              <a:off x="4192" y="3812"/>
              <a:ext cx="174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1991"/>
                </a:avLst>
              </a:prstTxWarp>
              <a:normAutofit fontScale="40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Bookman Old Style" panose="02050604050505020204" charset="0"/>
                  <a:ea typeface="Bookman Old Style" panose="02050604050505020204" charset="0"/>
                </a:rPr>
                <a:t>T</a:t>
              </a:r>
            </a:p>
          </p:txBody>
        </p:sp>
      </p:grpSp>
      <p:sp>
        <p:nvSpPr>
          <p:cNvPr id="25614" name="Line 145"/>
          <p:cNvSpPr/>
          <p:nvPr/>
        </p:nvSpPr>
        <p:spPr>
          <a:xfrm>
            <a:off x="684213" y="1755775"/>
            <a:ext cx="7991475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466" name="Text Box 146"/>
          <p:cNvSpPr txBox="1"/>
          <p:nvPr/>
        </p:nvSpPr>
        <p:spPr>
          <a:xfrm>
            <a:off x="652463" y="3035300"/>
            <a:ext cx="7345362" cy="45720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振动具有时间周期性，波动具有时间和空间周期性；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64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6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026"/>
          <p:cNvSpPr txBox="1"/>
          <p:nvPr/>
        </p:nvSpPr>
        <p:spPr>
          <a:xfrm>
            <a:off x="1676400" y="1993900"/>
            <a:ext cx="59991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6699"/>
                </a:solidFill>
                <a:latin typeface="Times New Roman" panose="02020603050405020304" pitchFamily="18" charset="0"/>
              </a:rPr>
              <a:t>可得波函数的几种不同形式：</a:t>
            </a:r>
            <a:endParaRPr lang="zh-CN" altLang="en-US" sz="3600" dirty="0">
              <a:solidFill>
                <a:srgbClr val="0066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Rectangle 1028"/>
          <p:cNvSpPr/>
          <p:nvPr/>
        </p:nvSpPr>
        <p:spPr>
          <a:xfrm>
            <a:off x="1651000" y="1249363"/>
            <a:ext cx="13112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6699"/>
                </a:solidFill>
                <a:latin typeface="Times New Roman" panose="02020603050405020304" pitchFamily="18" charset="0"/>
              </a:rPr>
              <a:t>利用</a:t>
            </a:r>
          </a:p>
        </p:txBody>
      </p:sp>
      <p:sp>
        <p:nvSpPr>
          <p:cNvPr id="26628" name="Rectangle 1029"/>
          <p:cNvSpPr/>
          <p:nvPr/>
        </p:nvSpPr>
        <p:spPr>
          <a:xfrm>
            <a:off x="628650" y="2441575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zh-CN" altLang="en-US" dirty="0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11302" name="Object 1030"/>
          <p:cNvGraphicFramePr>
            <a:graphicFrameLocks noChangeAspect="1"/>
          </p:cNvGraphicFramePr>
          <p:nvPr/>
        </p:nvGraphicFramePr>
        <p:xfrm>
          <a:off x="1736725" y="2698750"/>
          <a:ext cx="5611813" cy="369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r:id="rId3" imgW="1024890" imgH="925195" progId="Equation.3">
                  <p:embed/>
                </p:oleObj>
              </mc:Choice>
              <mc:Fallback>
                <p:oleObj r:id="rId3" imgW="1024890" imgH="925195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36725" y="2698750"/>
                        <a:ext cx="5611813" cy="3690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031"/>
          <p:cNvGraphicFramePr>
            <a:graphicFrameLocks noChangeAspect="1"/>
          </p:cNvGraphicFramePr>
          <p:nvPr/>
        </p:nvGraphicFramePr>
        <p:xfrm>
          <a:off x="2727325" y="1030288"/>
          <a:ext cx="227647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r:id="rId5" imgW="556895" imgH="236220" progId="Equation.3">
                  <p:embed/>
                </p:oleObj>
              </mc:Choice>
              <mc:Fallback>
                <p:oleObj r:id="rId5" imgW="556895" imgH="23622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27325" y="1030288"/>
                        <a:ext cx="2276475" cy="103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1032"/>
          <p:cNvGraphicFramePr>
            <a:graphicFrameLocks noChangeAspect="1"/>
          </p:cNvGraphicFramePr>
          <p:nvPr/>
        </p:nvGraphicFramePr>
        <p:xfrm>
          <a:off x="6022975" y="1289050"/>
          <a:ext cx="12700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r:id="rId7" imgW="288925" imgH="83820" progId="Equation.3">
                  <p:embed/>
                </p:oleObj>
              </mc:Choice>
              <mc:Fallback>
                <p:oleObj r:id="rId7" imgW="288925" imgH="8382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22975" y="1289050"/>
                        <a:ext cx="1270000" cy="481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Text Box 1033"/>
          <p:cNvSpPr txBox="1"/>
          <p:nvPr/>
        </p:nvSpPr>
        <p:spPr>
          <a:xfrm>
            <a:off x="5318125" y="1206500"/>
            <a:ext cx="592138" cy="579438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rgbClr val="006699"/>
                </a:solidFill>
                <a:latin typeface="Times New Roman" panose="02020603050405020304" pitchFamily="18" charset="0"/>
              </a:rPr>
              <a:t>和</a:t>
            </a:r>
          </a:p>
        </p:txBody>
      </p:sp>
      <p:sp>
        <p:nvSpPr>
          <p:cNvPr id="26633" name="Rectangle 1034"/>
          <p:cNvSpPr/>
          <p:nvPr/>
        </p:nvSpPr>
        <p:spPr>
          <a:xfrm>
            <a:off x="1787525" y="0"/>
            <a:ext cx="599916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dirty="0">
                <a:solidFill>
                  <a:srgbClr val="CC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平面简谐波的波函数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/>
          <p:nvPr/>
        </p:nvGrpSpPr>
        <p:grpSpPr>
          <a:xfrm>
            <a:off x="390525" y="188913"/>
            <a:ext cx="7277100" cy="3182937"/>
            <a:chOff x="158" y="164"/>
            <a:chExt cx="4584" cy="2005"/>
          </a:xfrm>
        </p:grpSpPr>
        <p:graphicFrame>
          <p:nvGraphicFramePr>
            <p:cNvPr id="27656" name="Object 4"/>
            <p:cNvGraphicFramePr/>
            <p:nvPr/>
          </p:nvGraphicFramePr>
          <p:xfrm>
            <a:off x="2018" y="164"/>
            <a:ext cx="2724" cy="20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2" r:id="rId3" imgW="1140460" imgH="888365" progId="Equation.3">
                    <p:embed/>
                  </p:oleObj>
                </mc:Choice>
                <mc:Fallback>
                  <p:oleObj r:id="rId3" imgW="1140460" imgH="888365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18" y="164"/>
                          <a:ext cx="2724" cy="2005"/>
                        </a:xfrm>
                        <a:prstGeom prst="rect">
                          <a:avLst/>
                        </a:prstGeom>
                        <a:solidFill>
                          <a:srgbClr val="99CCFF"/>
                        </a:solidFill>
                        <a:ln w="25400" cap="flat" cmpd="sng">
                          <a:solidFill>
                            <a:srgbClr val="FF0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7" name="Text Box 7"/>
            <p:cNvSpPr txBox="1"/>
            <p:nvPr/>
          </p:nvSpPr>
          <p:spPr>
            <a:xfrm>
              <a:off x="158" y="754"/>
              <a:ext cx="19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正向波的波动方程：</a:t>
              </a:r>
            </a:p>
          </p:txBody>
        </p:sp>
      </p:grpSp>
      <p:grpSp>
        <p:nvGrpSpPr>
          <p:cNvPr id="3" name="Group 10"/>
          <p:cNvGrpSpPr/>
          <p:nvPr/>
        </p:nvGrpSpPr>
        <p:grpSpPr>
          <a:xfrm>
            <a:off x="390525" y="3500438"/>
            <a:ext cx="7277100" cy="3182937"/>
            <a:chOff x="158" y="2315"/>
            <a:chExt cx="4584" cy="2005"/>
          </a:xfrm>
        </p:grpSpPr>
        <p:graphicFrame>
          <p:nvGraphicFramePr>
            <p:cNvPr id="27654" name="Object 6"/>
            <p:cNvGraphicFramePr/>
            <p:nvPr/>
          </p:nvGraphicFramePr>
          <p:xfrm>
            <a:off x="2018" y="2315"/>
            <a:ext cx="2724" cy="20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3" r:id="rId5" imgW="1140460" imgH="888365" progId="Equation.3">
                    <p:embed/>
                  </p:oleObj>
                </mc:Choice>
                <mc:Fallback>
                  <p:oleObj r:id="rId5" imgW="1140460" imgH="888365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18" y="2315"/>
                          <a:ext cx="2724" cy="200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25400" cap="flat" cmpd="sng">
                          <a:solidFill>
                            <a:srgbClr val="0000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5" name="Text Box 8"/>
            <p:cNvSpPr txBox="1"/>
            <p:nvPr/>
          </p:nvSpPr>
          <p:spPr>
            <a:xfrm>
              <a:off x="158" y="2886"/>
              <a:ext cx="19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00CC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反向波的波动方程：</a:t>
              </a:r>
            </a:p>
          </p:txBody>
        </p:sp>
      </p:grpSp>
      <p:sp>
        <p:nvSpPr>
          <p:cNvPr id="27652" name="文本框 3"/>
          <p:cNvSpPr txBox="1"/>
          <p:nvPr/>
        </p:nvSpPr>
        <p:spPr>
          <a:xfrm>
            <a:off x="430213" y="2052638"/>
            <a:ext cx="2286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0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轴正方向传播</a:t>
            </a:r>
            <a:endParaRPr lang="zh-CN" altLang="en-US" sz="2000" dirty="0">
              <a:solidFill>
                <a:srgbClr val="1C1C1C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7653" name="文本框 4"/>
          <p:cNvSpPr txBox="1"/>
          <p:nvPr/>
        </p:nvSpPr>
        <p:spPr>
          <a:xfrm>
            <a:off x="439738" y="5280025"/>
            <a:ext cx="22860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沿</a:t>
            </a:r>
            <a:r>
              <a:rPr lang="en-US" altLang="zh-CN" sz="2000" i="1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1C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轴负方向传播</a:t>
            </a:r>
            <a:endParaRPr lang="zh-CN" altLang="en-US" sz="2000" dirty="0">
              <a:solidFill>
                <a:srgbClr val="1C1C1C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11" name="Text Box 11"/>
          <p:cNvSpPr txBox="1">
            <a:spLocks noChangeArrowheads="1"/>
          </p:cNvSpPr>
          <p:nvPr/>
        </p:nvSpPr>
        <p:spPr bwMode="auto">
          <a:xfrm>
            <a:off x="1470025" y="1152525"/>
            <a:ext cx="1622425" cy="579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solidFill>
                  <a:srgbClr val="0066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波函数</a:t>
            </a:r>
            <a:endParaRPr kumimoji="0" lang="zh-CN" altLang="en-US" sz="2400" kern="1200" cap="none" spc="0" normalizeH="0" baseline="0" noProof="0">
              <a:solidFill>
                <a:srgbClr val="006699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8675" name="Object 38"/>
          <p:cNvGraphicFramePr>
            <a:graphicFrameLocks noChangeAspect="1"/>
          </p:cNvGraphicFramePr>
          <p:nvPr/>
        </p:nvGraphicFramePr>
        <p:xfrm>
          <a:off x="1485900" y="1717675"/>
          <a:ext cx="367030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r:id="rId3" imgW="1891665" imgH="462280" progId="Equation.3">
                  <p:embed/>
                </p:oleObj>
              </mc:Choice>
              <mc:Fallback>
                <p:oleObj r:id="rId3" imgW="1891665" imgH="46228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85900" y="1717675"/>
                        <a:ext cx="3670300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75" name="Text Box 75"/>
          <p:cNvSpPr txBox="1"/>
          <p:nvPr/>
        </p:nvSpPr>
        <p:spPr>
          <a:xfrm>
            <a:off x="1392238" y="2808288"/>
            <a:ext cx="5613400" cy="676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006699"/>
                </a:solidFill>
                <a:latin typeface="Times New Roman" panose="02020603050405020304" pitchFamily="18" charset="0"/>
              </a:rPr>
              <a:t>质点的振动速度，加速度</a:t>
            </a:r>
          </a:p>
        </p:txBody>
      </p:sp>
      <p:graphicFrame>
        <p:nvGraphicFramePr>
          <p:cNvPr id="281676" name="Object 76"/>
          <p:cNvGraphicFramePr>
            <a:graphicFrameLocks noChangeAspect="1"/>
          </p:cNvGraphicFramePr>
          <p:nvPr/>
        </p:nvGraphicFramePr>
        <p:xfrm>
          <a:off x="1493838" y="3559175"/>
          <a:ext cx="49720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r:id="rId5" imgW="2501265" imgH="462280" progId="Equation.3">
                  <p:embed/>
                </p:oleObj>
              </mc:Choice>
              <mc:Fallback>
                <p:oleObj r:id="rId5" imgW="2501265" imgH="46228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93838" y="3559175"/>
                        <a:ext cx="4972050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77" name="Object 77"/>
          <p:cNvGraphicFramePr>
            <a:graphicFrameLocks noChangeAspect="1"/>
          </p:cNvGraphicFramePr>
          <p:nvPr/>
        </p:nvGraphicFramePr>
        <p:xfrm>
          <a:off x="1509713" y="4633913"/>
          <a:ext cx="54610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r:id="rId7" imgW="2764155" imgH="488950" progId="Equation.3">
                  <p:embed/>
                </p:oleObj>
              </mc:Choice>
              <mc:Fallback>
                <p:oleObj r:id="rId7" imgW="2764155" imgH="48895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09713" y="4633913"/>
                        <a:ext cx="5461000" cy="1001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Rectangle 78"/>
          <p:cNvSpPr/>
          <p:nvPr/>
        </p:nvSpPr>
        <p:spPr>
          <a:xfrm>
            <a:off x="1660525" y="107950"/>
            <a:ext cx="63801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简谐波质点的速度和加速度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8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8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7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8" name="Text Box 1030"/>
          <p:cNvSpPr txBox="1"/>
          <p:nvPr/>
        </p:nvSpPr>
        <p:spPr>
          <a:xfrm>
            <a:off x="755650" y="1844675"/>
            <a:ext cx="7250113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Clr>
                <a:srgbClr val="3333FF"/>
              </a:buClr>
              <a:buSzPct val="125000"/>
              <a:buFont typeface="Webdings" panose="05030102010509060703" pitchFamily="18" charset="2"/>
            </a:pP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体积元在平衡位置时，动能、势能和总机械能均最大</a:t>
            </a:r>
            <a:r>
              <a:rPr lang="en-US" altLang="zh-CN" sz="2400" dirty="0">
                <a:solidFill>
                  <a:srgbClr val="006699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15399" name="Text Box 1031"/>
          <p:cNvSpPr txBox="1"/>
          <p:nvPr/>
        </p:nvSpPr>
        <p:spPr>
          <a:xfrm>
            <a:off x="769938" y="2349500"/>
            <a:ext cx="4954587" cy="492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3333FF"/>
              </a:buClr>
              <a:buSzPct val="125000"/>
              <a:buFont typeface="Webdings" panose="05030102010509060703" pitchFamily="18" charset="2"/>
            </a:pP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体积元的位移最大时，三者均为零</a:t>
            </a:r>
            <a:r>
              <a:rPr lang="en-US" altLang="zh-CN" sz="2400" dirty="0">
                <a:solidFill>
                  <a:srgbClr val="006699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9700" name="Text Box 1033"/>
          <p:cNvSpPr txBox="1"/>
          <p:nvPr/>
        </p:nvSpPr>
        <p:spPr>
          <a:xfrm>
            <a:off x="323850" y="908050"/>
            <a:ext cx="8820150" cy="936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006699"/>
                </a:solidFill>
                <a:latin typeface="宋体" panose="02010600030101010101" pitchFamily="2" charset="-122"/>
              </a:rPr>
              <a:t>    (</a:t>
            </a:r>
            <a:r>
              <a:rPr lang="en-US" altLang="zh-CN" sz="2400" dirty="0">
                <a:solidFill>
                  <a:srgbClr val="0066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0066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在波动传播的介质中，任一体积元的动能、势能、总机械能均随    作周期性变化，且变化是</a:t>
            </a:r>
            <a:r>
              <a:rPr lang="zh-CN" altLang="en-US" sz="2400" u="sng" dirty="0">
                <a:solidFill>
                  <a:srgbClr val="FF0000"/>
                </a:solidFill>
                <a:latin typeface="宋体" panose="02010600030101010101" pitchFamily="2" charset="-122"/>
              </a:rPr>
              <a:t>同相位</a:t>
            </a: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2400" dirty="0">
                <a:solidFill>
                  <a:srgbClr val="006699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29701" name="Object 1034"/>
          <p:cNvGraphicFramePr>
            <a:graphicFrameLocks noChangeAspect="1"/>
          </p:cNvGraphicFramePr>
          <p:nvPr/>
        </p:nvGraphicFramePr>
        <p:xfrm>
          <a:off x="1763713" y="1412875"/>
          <a:ext cx="5048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r:id="rId3" imgW="220980" imgH="147320" progId="Equation.3">
                  <p:embed/>
                </p:oleObj>
              </mc:Choice>
              <mc:Fallback>
                <p:oleObj r:id="rId3" imgW="220980" imgH="14732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3713" y="1412875"/>
                        <a:ext cx="504825" cy="374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1038"/>
          <p:cNvSpPr txBox="1"/>
          <p:nvPr/>
        </p:nvSpPr>
        <p:spPr>
          <a:xfrm>
            <a:off x="2843213" y="50800"/>
            <a:ext cx="2808287" cy="646113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波的能量</a:t>
            </a:r>
          </a:p>
        </p:txBody>
      </p:sp>
      <p:sp>
        <p:nvSpPr>
          <p:cNvPr id="2" name="Text Box 2"/>
          <p:cNvSpPr txBox="1"/>
          <p:nvPr/>
        </p:nvSpPr>
        <p:spPr>
          <a:xfrm>
            <a:off x="431800" y="2852738"/>
            <a:ext cx="8280400" cy="936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</a:rPr>
              <a:t>    (</a:t>
            </a:r>
            <a:r>
              <a:rPr lang="en-US" altLang="zh-CN" sz="2400" dirty="0">
                <a:solidFill>
                  <a:srgbClr val="00206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00206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任一体积元都在不断地传播能量</a:t>
            </a:r>
            <a:r>
              <a:rPr lang="en-US" altLang="zh-CN" sz="2400" dirty="0">
                <a:solidFill>
                  <a:srgbClr val="006699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机械能不守恒</a:t>
            </a:r>
            <a:r>
              <a:rPr lang="en-US" altLang="zh-CN" sz="2400" dirty="0">
                <a:solidFill>
                  <a:srgbClr val="006699"/>
                </a:solidFill>
                <a:latin typeface="Times New Roman" panose="02020603050405020304" pitchFamily="18" charset="0"/>
              </a:rPr>
              <a:t>.  </a:t>
            </a: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波动是能量传递的一种方式 </a:t>
            </a:r>
            <a:r>
              <a:rPr lang="en-US" altLang="zh-CN" sz="2400" dirty="0">
                <a:solidFill>
                  <a:srgbClr val="006699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" name="Text Box 29"/>
          <p:cNvSpPr txBox="1"/>
          <p:nvPr/>
        </p:nvSpPr>
        <p:spPr>
          <a:xfrm>
            <a:off x="519113" y="3852863"/>
            <a:ext cx="6716712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rgbClr val="CC0000"/>
                </a:solidFill>
                <a:latin typeface="宋体" panose="02010600030101010101" pitchFamily="2" charset="-122"/>
              </a:rPr>
              <a:t>平均</a:t>
            </a: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能量密度：能量密度在一个周期内的平均值</a:t>
            </a:r>
          </a:p>
        </p:txBody>
      </p:sp>
      <p:graphicFrame>
        <p:nvGraphicFramePr>
          <p:cNvPr id="4" name="Object 30"/>
          <p:cNvGraphicFramePr>
            <a:graphicFrameLocks noChangeAspect="1"/>
          </p:cNvGraphicFramePr>
          <p:nvPr/>
        </p:nvGraphicFramePr>
        <p:xfrm>
          <a:off x="2627313" y="4402138"/>
          <a:ext cx="36576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6" r:id="rId5" imgW="1981200" imgH="446405" progId="Equation.3">
                  <p:embed/>
                </p:oleObj>
              </mc:Choice>
              <mc:Fallback>
                <p:oleObj r:id="rId5" imgW="1981200" imgH="446405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27313" y="4402138"/>
                        <a:ext cx="3657600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/>
          <p:nvPr/>
        </p:nvSpPr>
        <p:spPr>
          <a:xfrm>
            <a:off x="611188" y="5545138"/>
            <a:ext cx="3889375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CC0000"/>
                </a:solidFill>
                <a:latin typeface="宋体" panose="02010600030101010101" pitchFamily="2" charset="-122"/>
              </a:rPr>
              <a:t>平均能流密度：</a:t>
            </a:r>
            <a:r>
              <a:rPr lang="en-US" altLang="zh-CN" sz="2400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400" dirty="0">
                <a:solidFill>
                  <a:srgbClr val="CC0000"/>
                </a:solidFill>
                <a:latin typeface="宋体" panose="02010600030101010101" pitchFamily="2" charset="-122"/>
              </a:rPr>
              <a:t>波的强度</a:t>
            </a:r>
            <a:r>
              <a:rPr lang="en-US" altLang="zh-CN" sz="2400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endParaRPr lang="zh-CN" altLang="en-US" sz="2400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665663" y="5446713"/>
          <a:ext cx="21177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r:id="rId7" imgW="1050925" imgH="446405" progId="Equation.3">
                  <p:embed/>
                </p:oleObj>
              </mc:Choice>
              <mc:Fallback>
                <p:oleObj r:id="rId7" imgW="1050925" imgH="446405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665663" y="5446713"/>
                        <a:ext cx="2117725" cy="8985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8" grpId="0"/>
      <p:bldP spid="315399" grpId="0"/>
      <p:bldP spid="2" grpId="0"/>
      <p:bldP spid="3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9" name="Rectangle 5"/>
          <p:cNvSpPr/>
          <p:nvPr/>
        </p:nvSpPr>
        <p:spPr>
          <a:xfrm>
            <a:off x="2627313" y="939800"/>
            <a:ext cx="5907087" cy="4270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eaLnBrk="1" hangingPunct="1">
              <a:lnSpc>
                <a:spcPct val="135000"/>
              </a:lnSpc>
            </a:pP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波频率相同，振动方向相同，位相差恒定  </a:t>
            </a:r>
          </a:p>
        </p:txBody>
      </p:sp>
      <p:sp>
        <p:nvSpPr>
          <p:cNvPr id="323591" name="Rectangle 7"/>
          <p:cNvSpPr/>
          <p:nvPr/>
        </p:nvSpPr>
        <p:spPr>
          <a:xfrm>
            <a:off x="827088" y="2668588"/>
            <a:ext cx="8066087" cy="4937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某些点振动始终加强，另一些点振动始终减弱或完全抵消</a:t>
            </a:r>
            <a:r>
              <a:rPr lang="en-US" altLang="zh-CN" sz="2400" dirty="0">
                <a:solidFill>
                  <a:srgbClr val="006699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400" dirty="0">
                <a:solidFill>
                  <a:srgbClr val="006699"/>
                </a:solidFill>
                <a:latin typeface="宋体" panose="02010600030101010101" pitchFamily="2" charset="-122"/>
              </a:rPr>
              <a:t>  </a:t>
            </a:r>
          </a:p>
        </p:txBody>
      </p:sp>
      <p:sp>
        <p:nvSpPr>
          <p:cNvPr id="323592" name="Rectangle 8"/>
          <p:cNvSpPr/>
          <p:nvPr/>
        </p:nvSpPr>
        <p:spPr>
          <a:xfrm>
            <a:off x="646113" y="2055813"/>
            <a:ext cx="1887537" cy="534987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35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solidFill>
                  <a:srgbClr val="CC0000"/>
                </a:solidFill>
                <a:latin typeface="宋体" panose="02010600030101010101" pitchFamily="2" charset="-122"/>
              </a:rPr>
              <a:t>干涉现象</a:t>
            </a:r>
          </a:p>
        </p:txBody>
      </p:sp>
      <p:sp>
        <p:nvSpPr>
          <p:cNvPr id="323593" name="Rectangle 9"/>
          <p:cNvSpPr/>
          <p:nvPr/>
        </p:nvSpPr>
        <p:spPr>
          <a:xfrm>
            <a:off x="1187450" y="1443038"/>
            <a:ext cx="3975100" cy="534987"/>
          </a:xfrm>
          <a:prstGeom prst="rect">
            <a:avLst/>
          </a:prstGeom>
          <a:noFill/>
          <a:ln w="19050">
            <a:noFill/>
          </a:ln>
        </p:spPr>
        <p:txBody>
          <a:bodyPr wrap="none">
            <a:spAutoFit/>
          </a:bodyPr>
          <a:lstStyle/>
          <a:p>
            <a:pPr algn="ctr" eaLnBrk="1" hangingPunct="1">
              <a:lnSpc>
                <a:spcPct val="135000"/>
              </a:lnSpc>
            </a:pPr>
            <a:r>
              <a:rPr lang="zh-CN" altLang="en-US" sz="2400" dirty="0">
                <a:solidFill>
                  <a:srgbClr val="006699"/>
                </a:solidFill>
                <a:latin typeface="宋体" panose="02010600030101010101" pitchFamily="2" charset="-122"/>
              </a:rPr>
              <a:t>满足干涉条件的波称相干波</a:t>
            </a:r>
            <a:r>
              <a:rPr lang="en-US" altLang="zh-CN" sz="2400" dirty="0">
                <a:solidFill>
                  <a:srgbClr val="006699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0726" name="Text Box 11"/>
          <p:cNvSpPr txBox="1"/>
          <p:nvPr/>
        </p:nvSpPr>
        <p:spPr>
          <a:xfrm>
            <a:off x="114300" y="885825"/>
            <a:ext cx="2951163" cy="534988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35000"/>
              </a:lnSpc>
            </a:pPr>
            <a:r>
              <a:rPr lang="en-US" altLang="zh-CN" sz="2400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相干条件</a:t>
            </a:r>
            <a:endParaRPr lang="zh-CN" altLang="en-US" sz="2400" dirty="0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7" name="Text Box 12"/>
          <p:cNvSpPr txBox="1"/>
          <p:nvPr/>
        </p:nvSpPr>
        <p:spPr>
          <a:xfrm>
            <a:off x="3276600" y="123825"/>
            <a:ext cx="4216400" cy="6413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波的干涉</a:t>
            </a:r>
          </a:p>
        </p:txBody>
      </p:sp>
      <p:sp>
        <p:nvSpPr>
          <p:cNvPr id="30728" name="Rectangle 30"/>
          <p:cNvSpPr/>
          <p:nvPr/>
        </p:nvSpPr>
        <p:spPr>
          <a:xfrm>
            <a:off x="687388" y="3238500"/>
            <a:ext cx="46783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CC0000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400" dirty="0">
                <a:solidFill>
                  <a:srgbClr val="CC0000"/>
                </a:solidFill>
                <a:latin typeface="宋体" panose="02010600030101010101" pitchFamily="2" charset="-122"/>
              </a:rPr>
              <a:t>干涉现象的定量讨论</a:t>
            </a:r>
          </a:p>
        </p:txBody>
      </p:sp>
      <p:grpSp>
        <p:nvGrpSpPr>
          <p:cNvPr id="3" name="Group 45"/>
          <p:cNvGrpSpPr/>
          <p:nvPr/>
        </p:nvGrpSpPr>
        <p:grpSpPr>
          <a:xfrm>
            <a:off x="827088" y="4043363"/>
            <a:ext cx="4819650" cy="1854200"/>
            <a:chOff x="476" y="2622"/>
            <a:chExt cx="3308" cy="1266"/>
          </a:xfrm>
        </p:grpSpPr>
        <p:grpSp>
          <p:nvGrpSpPr>
            <p:cNvPr id="30742" name="Group 4"/>
            <p:cNvGrpSpPr/>
            <p:nvPr/>
          </p:nvGrpSpPr>
          <p:grpSpPr>
            <a:xfrm>
              <a:off x="2680" y="2712"/>
              <a:ext cx="1104" cy="1176"/>
              <a:chOff x="4512" y="2952"/>
              <a:chExt cx="1104" cy="1176"/>
            </a:xfrm>
          </p:grpSpPr>
          <p:sp>
            <p:nvSpPr>
              <p:cNvPr id="30746" name="Rectangle 5"/>
              <p:cNvSpPr/>
              <p:nvPr/>
            </p:nvSpPr>
            <p:spPr>
              <a:xfrm>
                <a:off x="4512" y="3552"/>
                <a:ext cx="1104" cy="576"/>
              </a:xfrm>
              <a:prstGeom prst="rect">
                <a:avLst/>
              </a:prstGeom>
              <a:solidFill>
                <a:srgbClr val="FFFFCD"/>
              </a:solidFill>
              <a:ln w="12700" cap="flat" cmpd="sng">
                <a:solidFill>
                  <a:srgbClr val="99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sz="28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747" name="Rectangle 6"/>
              <p:cNvSpPr/>
              <p:nvPr/>
            </p:nvSpPr>
            <p:spPr>
              <a:xfrm>
                <a:off x="4512" y="2952"/>
                <a:ext cx="1104" cy="552"/>
              </a:xfrm>
              <a:prstGeom prst="rect">
                <a:avLst/>
              </a:prstGeom>
              <a:solidFill>
                <a:schemeClr val="accent2"/>
              </a:solidFill>
              <a:ln w="12700" cap="flat" cmpd="sng">
                <a:solidFill>
                  <a:srgbClr val="0066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algn="ctr" eaLnBrk="1" hangingPunct="1"/>
                <a:endParaRPr lang="zh-CN" altLang="en-US" sz="28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30743" name="Object 26"/>
            <p:cNvGraphicFramePr>
              <a:graphicFrameLocks noChangeAspect="1"/>
            </p:cNvGraphicFramePr>
            <p:nvPr/>
          </p:nvGraphicFramePr>
          <p:xfrm>
            <a:off x="620" y="2622"/>
            <a:ext cx="2976" cy="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69" r:id="rId3" imgW="1156335" imgH="236220" progId="Equation.3">
                    <p:embed/>
                  </p:oleObj>
                </mc:Choice>
                <mc:Fallback>
                  <p:oleObj r:id="rId3" imgW="1156335" imgH="23622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20" y="2622"/>
                          <a:ext cx="2976" cy="6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4" name="Object 27"/>
            <p:cNvGraphicFramePr>
              <a:graphicFrameLocks noChangeAspect="1"/>
            </p:cNvGraphicFramePr>
            <p:nvPr/>
          </p:nvGraphicFramePr>
          <p:xfrm>
            <a:off x="620" y="3198"/>
            <a:ext cx="2976" cy="6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0" r:id="rId5" imgW="1198245" imgH="236220" progId="Equation.3">
                    <p:embed/>
                  </p:oleObj>
                </mc:Choice>
                <mc:Fallback>
                  <p:oleObj r:id="rId5" imgW="1198245" imgH="23622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20" y="3198"/>
                          <a:ext cx="2976" cy="6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5" name="AutoShape 28"/>
            <p:cNvSpPr/>
            <p:nvPr/>
          </p:nvSpPr>
          <p:spPr>
            <a:xfrm flipH="1">
              <a:off x="476" y="2922"/>
              <a:ext cx="144" cy="708"/>
            </a:xfrm>
            <a:prstGeom prst="rightBrace">
              <a:avLst>
                <a:gd name="adj1" fmla="val 40972"/>
                <a:gd name="adj2" fmla="val 50000"/>
              </a:avLst>
            </a:prstGeom>
            <a:noFill/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730" name="Group 44"/>
          <p:cNvGrpSpPr/>
          <p:nvPr/>
        </p:nvGrpSpPr>
        <p:grpSpPr>
          <a:xfrm>
            <a:off x="6026150" y="4033838"/>
            <a:ext cx="2508250" cy="1990725"/>
            <a:chOff x="4001" y="2085"/>
            <a:chExt cx="1580" cy="1254"/>
          </a:xfrm>
        </p:grpSpPr>
        <p:sp>
          <p:nvSpPr>
            <p:cNvPr id="30731" name="Rectangle 33"/>
            <p:cNvSpPr/>
            <p:nvPr/>
          </p:nvSpPr>
          <p:spPr>
            <a:xfrm>
              <a:off x="4001" y="2085"/>
              <a:ext cx="1580" cy="125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32" name="Line 34"/>
            <p:cNvSpPr/>
            <p:nvPr/>
          </p:nvSpPr>
          <p:spPr>
            <a:xfrm flipV="1">
              <a:off x="4352" y="2419"/>
              <a:ext cx="1123" cy="11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3" name="Line 35"/>
            <p:cNvSpPr/>
            <p:nvPr/>
          </p:nvSpPr>
          <p:spPr>
            <a:xfrm flipV="1">
              <a:off x="4318" y="2210"/>
              <a:ext cx="1123" cy="96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34" name="Object 36"/>
            <p:cNvGraphicFramePr>
              <a:graphicFrameLocks noChangeAspect="1"/>
            </p:cNvGraphicFramePr>
            <p:nvPr/>
          </p:nvGraphicFramePr>
          <p:xfrm>
            <a:off x="4107" y="2287"/>
            <a:ext cx="204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1" r:id="rId7" imgW="105410" imgH="184150" progId="Equation.3">
                    <p:embed/>
                  </p:oleObj>
                </mc:Choice>
                <mc:Fallback>
                  <p:oleObj r:id="rId7" imgW="105410" imgH="18415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07" y="2287"/>
                          <a:ext cx="204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5" name="Object 37"/>
            <p:cNvGraphicFramePr>
              <a:graphicFrameLocks noChangeAspect="1"/>
            </p:cNvGraphicFramePr>
            <p:nvPr/>
          </p:nvGraphicFramePr>
          <p:xfrm>
            <a:off x="4072" y="2914"/>
            <a:ext cx="231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2" r:id="rId9" imgW="120650" imgH="184150" progId="Equation.3">
                    <p:embed/>
                  </p:oleObj>
                </mc:Choice>
                <mc:Fallback>
                  <p:oleObj r:id="rId9" imgW="120650" imgH="184150" progId="Equation.3">
                    <p:embed/>
                    <p:pic>
                      <p:nvPicPr>
                        <p:cNvPr id="0" name="图片 3143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72" y="2914"/>
                          <a:ext cx="231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6" name="Object 38"/>
            <p:cNvGraphicFramePr>
              <a:graphicFrameLocks noChangeAspect="1"/>
            </p:cNvGraphicFramePr>
            <p:nvPr/>
          </p:nvGraphicFramePr>
          <p:xfrm>
            <a:off x="5115" y="2461"/>
            <a:ext cx="22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3" r:id="rId11" imgW="68580" imgH="78740" progId="Equation.3">
                    <p:embed/>
                  </p:oleObj>
                </mc:Choice>
                <mc:Fallback>
                  <p:oleObj r:id="rId11" imgW="68580" imgH="7874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15" y="2461"/>
                          <a:ext cx="228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7" name="Text Box 39"/>
            <p:cNvSpPr txBox="1"/>
            <p:nvPr/>
          </p:nvSpPr>
          <p:spPr>
            <a:xfrm>
              <a:off x="5036" y="2299"/>
              <a:ext cx="2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38" name="Object 40"/>
            <p:cNvGraphicFramePr>
              <a:graphicFrameLocks noChangeAspect="1"/>
            </p:cNvGraphicFramePr>
            <p:nvPr/>
          </p:nvGraphicFramePr>
          <p:xfrm>
            <a:off x="4633" y="2120"/>
            <a:ext cx="178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4" r:id="rId13" imgW="83820" imgH="184150" progId="Equation.3">
                    <p:embed/>
                  </p:oleObj>
                </mc:Choice>
                <mc:Fallback>
                  <p:oleObj r:id="rId13" imgW="83820" imgH="18415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33" y="2120"/>
                          <a:ext cx="178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9" name="Object 41"/>
            <p:cNvGraphicFramePr>
              <a:graphicFrameLocks noChangeAspect="1"/>
            </p:cNvGraphicFramePr>
            <p:nvPr/>
          </p:nvGraphicFramePr>
          <p:xfrm>
            <a:off x="4739" y="2747"/>
            <a:ext cx="203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5" r:id="rId15" imgW="105410" imgH="184150" progId="Equation.3">
                    <p:embed/>
                  </p:oleObj>
                </mc:Choice>
                <mc:Fallback>
                  <p:oleObj r:id="rId15" imgW="105410" imgH="18415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39" y="2747"/>
                          <a:ext cx="203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0" name="Oval 42"/>
            <p:cNvSpPr/>
            <p:nvPr/>
          </p:nvSpPr>
          <p:spPr>
            <a:xfrm>
              <a:off x="4283" y="2503"/>
              <a:ext cx="69" cy="76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741" name="Oval 43"/>
            <p:cNvSpPr/>
            <p:nvPr/>
          </p:nvSpPr>
          <p:spPr>
            <a:xfrm>
              <a:off x="4283" y="3137"/>
              <a:ext cx="69" cy="76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9" grpId="0"/>
      <p:bldP spid="323591" grpId="0"/>
      <p:bldP spid="323592" grpId="0"/>
      <p:bldP spid="32359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636" name="Object 4"/>
          <p:cNvGraphicFramePr>
            <a:graphicFrameLocks noChangeAspect="1"/>
          </p:cNvGraphicFramePr>
          <p:nvPr/>
        </p:nvGraphicFramePr>
        <p:xfrm>
          <a:off x="381000" y="914400"/>
          <a:ext cx="554513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8" r:id="rId3" imgW="1250950" imgH="110490" progId="Equation.3">
                  <p:embed/>
                </p:oleObj>
              </mc:Choice>
              <mc:Fallback>
                <p:oleObj r:id="rId3" imgW="1250950" imgH="11049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1000" y="914400"/>
                        <a:ext cx="5545138" cy="58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8" name="Object 6"/>
          <p:cNvGraphicFramePr>
            <a:graphicFrameLocks noChangeAspect="1"/>
          </p:cNvGraphicFramePr>
          <p:nvPr/>
        </p:nvGraphicFramePr>
        <p:xfrm>
          <a:off x="592138" y="3573463"/>
          <a:ext cx="504666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9" r:id="rId5" imgW="2443480" imgH="267970" progId="Equation.3">
                  <p:embed/>
                </p:oleObj>
              </mc:Choice>
              <mc:Fallback>
                <p:oleObj r:id="rId5" imgW="2443480" imgH="26797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66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2138" y="3573463"/>
                        <a:ext cx="5046662" cy="576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5655" name="Group 23"/>
          <p:cNvGrpSpPr/>
          <p:nvPr/>
        </p:nvGrpSpPr>
        <p:grpSpPr>
          <a:xfrm>
            <a:off x="539750" y="4437063"/>
            <a:ext cx="5556250" cy="1049337"/>
            <a:chOff x="398" y="2931"/>
            <a:chExt cx="3538" cy="649"/>
          </a:xfrm>
        </p:grpSpPr>
        <p:graphicFrame>
          <p:nvGraphicFramePr>
            <p:cNvPr id="31763" name="Object 21"/>
            <p:cNvGraphicFramePr>
              <a:graphicFrameLocks noChangeAspect="1"/>
            </p:cNvGraphicFramePr>
            <p:nvPr/>
          </p:nvGraphicFramePr>
          <p:xfrm>
            <a:off x="398" y="2931"/>
            <a:ext cx="2448" cy="6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0" r:id="rId7" imgW="1003935" imgH="236220" progId="Equation.3">
                    <p:embed/>
                  </p:oleObj>
                </mc:Choice>
                <mc:Fallback>
                  <p:oleObj r:id="rId7" imgW="1003935" imgH="236220" progId="Equation.3">
                    <p:embed/>
                    <p:pic>
                      <p:nvPicPr>
                        <p:cNvPr id="0" name="图片 3149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8" y="2931"/>
                          <a:ext cx="2448" cy="6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4" name="Text Box 22"/>
            <p:cNvSpPr txBox="1"/>
            <p:nvPr/>
          </p:nvSpPr>
          <p:spPr>
            <a:xfrm>
              <a:off x="3120" y="3126"/>
              <a:ext cx="816" cy="365"/>
            </a:xfrm>
            <a:prstGeom prst="rect">
              <a:avLst/>
            </a:prstGeom>
            <a:gradFill rotWithShape="0">
              <a:gsLst>
                <a:gs pos="0">
                  <a:srgbClr val="FFD9FF"/>
                </a:gs>
                <a:gs pos="50000">
                  <a:srgbClr val="FFFFFF"/>
                </a:gs>
                <a:gs pos="100000">
                  <a:srgbClr val="FFD9FF"/>
                </a:gs>
              </a:gsLst>
              <a:lin ang="5400000" scaled="1"/>
              <a:tileRect/>
            </a:gradFill>
            <a:ln w="9525" cap="flat" cmpd="sng">
              <a:solidFill>
                <a:srgbClr val="CC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定值</a:t>
              </a:r>
              <a:endPara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49" name="Group 36"/>
          <p:cNvGrpSpPr/>
          <p:nvPr/>
        </p:nvGrpSpPr>
        <p:grpSpPr>
          <a:xfrm>
            <a:off x="6351588" y="3648075"/>
            <a:ext cx="2508250" cy="1990725"/>
            <a:chOff x="4001" y="2085"/>
            <a:chExt cx="1580" cy="1254"/>
          </a:xfrm>
        </p:grpSpPr>
        <p:sp>
          <p:nvSpPr>
            <p:cNvPr id="31752" name="Rectangle 37"/>
            <p:cNvSpPr/>
            <p:nvPr/>
          </p:nvSpPr>
          <p:spPr>
            <a:xfrm>
              <a:off x="4001" y="2085"/>
              <a:ext cx="1580" cy="125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753" name="Line 38"/>
            <p:cNvSpPr/>
            <p:nvPr/>
          </p:nvSpPr>
          <p:spPr>
            <a:xfrm flipV="1">
              <a:off x="4352" y="2419"/>
              <a:ext cx="1123" cy="119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4" name="Line 39"/>
            <p:cNvSpPr/>
            <p:nvPr/>
          </p:nvSpPr>
          <p:spPr>
            <a:xfrm flipV="1">
              <a:off x="4318" y="2210"/>
              <a:ext cx="1123" cy="96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755" name="Object 40"/>
            <p:cNvGraphicFramePr>
              <a:graphicFrameLocks noChangeAspect="1"/>
            </p:cNvGraphicFramePr>
            <p:nvPr/>
          </p:nvGraphicFramePr>
          <p:xfrm>
            <a:off x="4107" y="2287"/>
            <a:ext cx="204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1" r:id="rId9" imgW="105410" imgH="184150" progId="Equation.3">
                    <p:embed/>
                  </p:oleObj>
                </mc:Choice>
                <mc:Fallback>
                  <p:oleObj r:id="rId9" imgW="105410" imgH="18415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07" y="2287"/>
                          <a:ext cx="204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6" name="Object 41"/>
            <p:cNvGraphicFramePr>
              <a:graphicFrameLocks noChangeAspect="1"/>
            </p:cNvGraphicFramePr>
            <p:nvPr/>
          </p:nvGraphicFramePr>
          <p:xfrm>
            <a:off x="4072" y="2914"/>
            <a:ext cx="231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2" r:id="rId11" imgW="120650" imgH="184150" progId="Equation.3">
                    <p:embed/>
                  </p:oleObj>
                </mc:Choice>
                <mc:Fallback>
                  <p:oleObj r:id="rId11" imgW="120650" imgH="18415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72" y="2914"/>
                          <a:ext cx="231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7" name="Object 42"/>
            <p:cNvGraphicFramePr>
              <a:graphicFrameLocks noChangeAspect="1"/>
            </p:cNvGraphicFramePr>
            <p:nvPr/>
          </p:nvGraphicFramePr>
          <p:xfrm>
            <a:off x="5115" y="2461"/>
            <a:ext cx="22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3" r:id="rId13" imgW="68580" imgH="78740" progId="Equation.3">
                    <p:embed/>
                  </p:oleObj>
                </mc:Choice>
                <mc:Fallback>
                  <p:oleObj r:id="rId13" imgW="68580" imgH="7874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15" y="2461"/>
                          <a:ext cx="228" cy="2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8" name="Text Box 43"/>
            <p:cNvSpPr txBox="1"/>
            <p:nvPr/>
          </p:nvSpPr>
          <p:spPr>
            <a:xfrm>
              <a:off x="5036" y="2299"/>
              <a:ext cx="2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rgbClr val="FF3300"/>
                  </a:solidFill>
                  <a:latin typeface="Times New Roman" panose="02020603050405020304" pitchFamily="18" charset="0"/>
                </a:rPr>
                <a:t>*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759" name="Object 44"/>
            <p:cNvGraphicFramePr>
              <a:graphicFrameLocks noChangeAspect="1"/>
            </p:cNvGraphicFramePr>
            <p:nvPr/>
          </p:nvGraphicFramePr>
          <p:xfrm>
            <a:off x="4633" y="2120"/>
            <a:ext cx="178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4" r:id="rId15" imgW="83820" imgH="184150" progId="Equation.3">
                    <p:embed/>
                  </p:oleObj>
                </mc:Choice>
                <mc:Fallback>
                  <p:oleObj r:id="rId15" imgW="83820" imgH="18415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33" y="2120"/>
                          <a:ext cx="178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0" name="Object 45"/>
            <p:cNvGraphicFramePr>
              <a:graphicFrameLocks noChangeAspect="1"/>
            </p:cNvGraphicFramePr>
            <p:nvPr/>
          </p:nvGraphicFramePr>
          <p:xfrm>
            <a:off x="4739" y="2747"/>
            <a:ext cx="203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5" r:id="rId17" imgW="105410" imgH="184150" progId="Equation.3">
                    <p:embed/>
                  </p:oleObj>
                </mc:Choice>
                <mc:Fallback>
                  <p:oleObj r:id="rId17" imgW="105410" imgH="18415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66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39" y="2747"/>
                          <a:ext cx="203" cy="3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1" name="Oval 46"/>
            <p:cNvSpPr/>
            <p:nvPr/>
          </p:nvSpPr>
          <p:spPr>
            <a:xfrm>
              <a:off x="4283" y="2503"/>
              <a:ext cx="69" cy="76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762" name="Oval 47"/>
            <p:cNvSpPr/>
            <p:nvPr/>
          </p:nvSpPr>
          <p:spPr>
            <a:xfrm>
              <a:off x="4283" y="3137"/>
              <a:ext cx="69" cy="76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1750" name="Text Box 48"/>
          <p:cNvSpPr txBox="1"/>
          <p:nvPr/>
        </p:nvSpPr>
        <p:spPr>
          <a:xfrm>
            <a:off x="3276600" y="123825"/>
            <a:ext cx="4216400" cy="6413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波的干涉</a:t>
            </a:r>
          </a:p>
        </p:txBody>
      </p:sp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9313" y="1925501"/>
            <a:ext cx="7104980" cy="1173783"/>
          </a:xfrm>
          <a:prstGeom prst="rect">
            <a:avLst/>
          </a:prstGeom>
          <a:blipFill>
            <a:blip r:embed="rId19"/>
            <a:stretch>
              <a:fillRect l="-3002"/>
            </a:stretch>
          </a:blipFill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25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25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70" name="Group 3"/>
          <p:cNvGrpSpPr/>
          <p:nvPr/>
        </p:nvGrpSpPr>
        <p:grpSpPr>
          <a:xfrm>
            <a:off x="0" y="0"/>
            <a:ext cx="9144000" cy="1535113"/>
            <a:chOff x="0" y="0"/>
            <a:chExt cx="5760" cy="967"/>
          </a:xfrm>
        </p:grpSpPr>
        <p:sp>
          <p:nvSpPr>
            <p:cNvPr id="32953" name="Rectangle 4" descr="球体"/>
            <p:cNvSpPr/>
            <p:nvPr/>
          </p:nvSpPr>
          <p:spPr>
            <a:xfrm>
              <a:off x="0" y="0"/>
              <a:ext cx="5760" cy="105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2954" name="Text Box 5"/>
            <p:cNvSpPr txBox="1"/>
            <p:nvPr/>
          </p:nvSpPr>
          <p:spPr>
            <a:xfrm>
              <a:off x="340" y="326"/>
              <a:ext cx="48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A</a:t>
              </a:r>
            </a:p>
          </p:txBody>
        </p:sp>
        <p:grpSp>
          <p:nvGrpSpPr>
            <p:cNvPr id="32955" name="Group 6"/>
            <p:cNvGrpSpPr/>
            <p:nvPr/>
          </p:nvGrpSpPr>
          <p:grpSpPr>
            <a:xfrm>
              <a:off x="1002" y="310"/>
              <a:ext cx="477" cy="395"/>
              <a:chOff x="1213" y="2660"/>
              <a:chExt cx="477" cy="395"/>
            </a:xfrm>
          </p:grpSpPr>
          <p:sp>
            <p:nvSpPr>
              <p:cNvPr id="32982" name="Text Box 7"/>
              <p:cNvSpPr txBox="1"/>
              <p:nvPr/>
            </p:nvSpPr>
            <p:spPr>
              <a:xfrm>
                <a:off x="1213" y="2728"/>
                <a:ext cx="3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</a:p>
            </p:txBody>
          </p:sp>
          <p:sp>
            <p:nvSpPr>
              <p:cNvPr id="32983" name="Text Box 8"/>
              <p:cNvSpPr txBox="1"/>
              <p:nvPr/>
            </p:nvSpPr>
            <p:spPr>
              <a:xfrm>
                <a:off x="1379" y="2660"/>
                <a:ext cx="31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</a:p>
            </p:txBody>
          </p:sp>
        </p:grpSp>
        <p:grpSp>
          <p:nvGrpSpPr>
            <p:cNvPr id="32956" name="Group 9"/>
            <p:cNvGrpSpPr/>
            <p:nvPr/>
          </p:nvGrpSpPr>
          <p:grpSpPr>
            <a:xfrm>
              <a:off x="1517" y="337"/>
              <a:ext cx="553" cy="390"/>
              <a:chOff x="1751" y="2794"/>
              <a:chExt cx="553" cy="390"/>
            </a:xfrm>
          </p:grpSpPr>
          <p:sp>
            <p:nvSpPr>
              <p:cNvPr id="32980" name="Text Box 10"/>
              <p:cNvSpPr txBox="1"/>
              <p:nvPr/>
            </p:nvSpPr>
            <p:spPr>
              <a:xfrm>
                <a:off x="1751" y="2857"/>
                <a:ext cx="55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</a:p>
            </p:txBody>
          </p:sp>
          <p:sp>
            <p:nvSpPr>
              <p:cNvPr id="32981" name="Text Box 11"/>
              <p:cNvSpPr txBox="1"/>
              <p:nvPr/>
            </p:nvSpPr>
            <p:spPr>
              <a:xfrm>
                <a:off x="1937" y="2794"/>
                <a:ext cx="31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</a:p>
            </p:txBody>
          </p:sp>
        </p:grpSp>
        <p:grpSp>
          <p:nvGrpSpPr>
            <p:cNvPr id="32957" name="Group 12"/>
            <p:cNvGrpSpPr/>
            <p:nvPr/>
          </p:nvGrpSpPr>
          <p:grpSpPr>
            <a:xfrm>
              <a:off x="2097" y="371"/>
              <a:ext cx="1169" cy="335"/>
              <a:chOff x="2273" y="2804"/>
              <a:chExt cx="1169" cy="335"/>
            </a:xfrm>
          </p:grpSpPr>
          <p:sp>
            <p:nvSpPr>
              <p:cNvPr id="32978" name="Text Box 13"/>
              <p:cNvSpPr txBox="1"/>
              <p:nvPr/>
            </p:nvSpPr>
            <p:spPr>
              <a:xfrm>
                <a:off x="2426" y="2804"/>
                <a:ext cx="10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</a:t>
                </a:r>
                <a:r>
                  <a:rPr lang="en-US" altLang="zh-CN" sz="28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r>
                  <a:rPr lang="en-US" altLang="zh-CN" sz="2800" baseline="-25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 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cos</a:t>
                </a:r>
              </a:p>
            </p:txBody>
          </p:sp>
          <p:sp>
            <p:nvSpPr>
              <p:cNvPr id="32979" name="Text Box 14"/>
              <p:cNvSpPr txBox="1"/>
              <p:nvPr/>
            </p:nvSpPr>
            <p:spPr>
              <a:xfrm>
                <a:off x="2273" y="2812"/>
                <a:ext cx="34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</a:p>
            </p:txBody>
          </p:sp>
        </p:grpSp>
        <p:grpSp>
          <p:nvGrpSpPr>
            <p:cNvPr id="32958" name="Group 15"/>
            <p:cNvGrpSpPr/>
            <p:nvPr/>
          </p:nvGrpSpPr>
          <p:grpSpPr>
            <a:xfrm>
              <a:off x="655" y="460"/>
              <a:ext cx="151" cy="53"/>
              <a:chOff x="1260" y="2371"/>
              <a:chExt cx="151" cy="53"/>
            </a:xfrm>
          </p:grpSpPr>
          <p:sp>
            <p:nvSpPr>
              <p:cNvPr id="32976" name="Line 16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7" name="Line 17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959" name="Freeform 18"/>
            <p:cNvSpPr/>
            <p:nvPr/>
          </p:nvSpPr>
          <p:spPr>
            <a:xfrm>
              <a:off x="816" y="330"/>
              <a:ext cx="114" cy="346"/>
            </a:xfrm>
            <a:custGeom>
              <a:avLst/>
              <a:gdLst/>
              <a:ahLst/>
              <a:cxnLst>
                <a:cxn ang="0">
                  <a:pos x="0" y="45"/>
                </a:cxn>
                <a:cxn ang="0">
                  <a:pos x="2" y="31"/>
                </a:cxn>
                <a:cxn ang="0">
                  <a:pos x="7" y="54"/>
                </a:cxn>
                <a:cxn ang="0">
                  <a:pos x="7" y="0"/>
                </a:cxn>
              </a:cxnLst>
              <a:rect l="0" t="0" r="0" b="0"/>
              <a:pathLst>
                <a:path w="170" h="452">
                  <a:moveTo>
                    <a:pt x="0" y="384"/>
                  </a:moveTo>
                  <a:lnTo>
                    <a:pt x="57" y="260"/>
                  </a:lnTo>
                  <a:lnTo>
                    <a:pt x="170" y="452"/>
                  </a:lnTo>
                  <a:lnTo>
                    <a:pt x="170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60" name="Line 19"/>
            <p:cNvSpPr/>
            <p:nvPr/>
          </p:nvSpPr>
          <p:spPr>
            <a:xfrm flipV="1">
              <a:off x="933" y="338"/>
              <a:ext cx="4369" cy="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61" name="WordArt 20"/>
            <p:cNvSpPr>
              <a:spLocks noTextEdit="1"/>
            </p:cNvSpPr>
            <p:nvPr/>
          </p:nvSpPr>
          <p:spPr>
            <a:xfrm>
              <a:off x="1351" y="485"/>
              <a:ext cx="137" cy="13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>
                  <a:ln w="28575" cap="flat" cmpd="sng">
                    <a:solidFill>
                      <a:schemeClr val="tx2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2962" name="WordArt 21"/>
            <p:cNvSpPr>
              <a:spLocks noTextEdit="1"/>
            </p:cNvSpPr>
            <p:nvPr/>
          </p:nvSpPr>
          <p:spPr>
            <a:xfrm>
              <a:off x="1924" y="490"/>
              <a:ext cx="137" cy="13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>
                  <a:ln w="28575" cap="flat" cmpd="sng">
                    <a:solidFill>
                      <a:schemeClr val="tx2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2963" name="Text Box 22"/>
            <p:cNvSpPr txBox="1"/>
            <p:nvPr/>
          </p:nvSpPr>
          <p:spPr>
            <a:xfrm>
              <a:off x="3123" y="356"/>
              <a:ext cx="295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(</a:t>
              </a:r>
            </a:p>
          </p:txBody>
        </p:sp>
        <p:grpSp>
          <p:nvGrpSpPr>
            <p:cNvPr id="32964" name="Group 23"/>
            <p:cNvGrpSpPr/>
            <p:nvPr/>
          </p:nvGrpSpPr>
          <p:grpSpPr>
            <a:xfrm>
              <a:off x="3206" y="250"/>
              <a:ext cx="2206" cy="622"/>
              <a:chOff x="3221" y="159"/>
              <a:chExt cx="2206" cy="622"/>
            </a:xfrm>
          </p:grpSpPr>
          <p:sp>
            <p:nvSpPr>
              <p:cNvPr id="32966" name="Text Box 24"/>
              <p:cNvSpPr txBox="1"/>
              <p:nvPr/>
            </p:nvSpPr>
            <p:spPr>
              <a:xfrm>
                <a:off x="3221" y="251"/>
                <a:ext cx="56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1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j </a:t>
                </a:r>
                <a:r>
                  <a:rPr lang="en-US" altLang="zh-CN" sz="2800" baseline="-250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2</a:t>
                </a:r>
              </a:p>
            </p:txBody>
          </p:sp>
          <p:sp>
            <p:nvSpPr>
              <p:cNvPr id="32967" name="Text Box 25"/>
              <p:cNvSpPr txBox="1"/>
              <p:nvPr/>
            </p:nvSpPr>
            <p:spPr>
              <a:xfrm>
                <a:off x="3760" y="250"/>
                <a:ext cx="583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i="1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j </a:t>
                </a:r>
                <a:r>
                  <a:rPr lang="en-US" altLang="zh-CN" sz="2800" baseline="-250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1</a:t>
                </a:r>
                <a:endParaRPr lang="en-US" altLang="zh-CN" sz="2400" baseline="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2968" name="Text Box 26"/>
              <p:cNvSpPr txBox="1"/>
              <p:nvPr/>
            </p:nvSpPr>
            <p:spPr>
              <a:xfrm>
                <a:off x="4297" y="340"/>
                <a:ext cx="50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r>
                  <a:rPr lang="en-US" altLang="zh-CN" sz="28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p</a:t>
                </a:r>
                <a:endParaRPr lang="en-US" altLang="zh-CN" sz="2400" baseline="-25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2969" name="Line 27"/>
              <p:cNvSpPr/>
              <p:nvPr/>
            </p:nvSpPr>
            <p:spPr>
              <a:xfrm>
                <a:off x="3614" y="463"/>
                <a:ext cx="14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0" name="Text Box 28"/>
              <p:cNvSpPr txBox="1"/>
              <p:nvPr/>
            </p:nvSpPr>
            <p:spPr>
              <a:xfrm>
                <a:off x="5162" y="272"/>
                <a:ext cx="265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)</a:t>
                </a:r>
                <a:endParaRPr lang="en-US" altLang="zh-CN" sz="2400" baseline="30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2971" name="Text Box 29"/>
              <p:cNvSpPr txBox="1"/>
              <p:nvPr/>
            </p:nvSpPr>
            <p:spPr>
              <a:xfrm>
                <a:off x="4594" y="159"/>
                <a:ext cx="72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r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      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r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</a:t>
                </a:r>
              </a:p>
            </p:txBody>
          </p:sp>
          <p:sp>
            <p:nvSpPr>
              <p:cNvPr id="32972" name="Text Box 30"/>
              <p:cNvSpPr txBox="1"/>
              <p:nvPr/>
            </p:nvSpPr>
            <p:spPr>
              <a:xfrm>
                <a:off x="4753" y="454"/>
                <a:ext cx="3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32973" name="Line 31"/>
              <p:cNvSpPr/>
              <p:nvPr/>
            </p:nvSpPr>
            <p:spPr>
              <a:xfrm>
                <a:off x="4825" y="362"/>
                <a:ext cx="14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4" name="Line 32"/>
              <p:cNvSpPr/>
              <p:nvPr/>
            </p:nvSpPr>
            <p:spPr>
              <a:xfrm>
                <a:off x="4624" y="508"/>
                <a:ext cx="52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75" name="Line 33"/>
              <p:cNvSpPr/>
              <p:nvPr/>
            </p:nvSpPr>
            <p:spPr>
              <a:xfrm>
                <a:off x="4127" y="460"/>
                <a:ext cx="14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965" name="Rectangle 34" descr="球体"/>
            <p:cNvSpPr/>
            <p:nvPr/>
          </p:nvSpPr>
          <p:spPr>
            <a:xfrm>
              <a:off x="0" y="892"/>
              <a:ext cx="5760" cy="75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771" name="Rectangle 35" descr="球体"/>
          <p:cNvSpPr/>
          <p:nvPr/>
        </p:nvSpPr>
        <p:spPr>
          <a:xfrm>
            <a:off x="0" y="6691313"/>
            <a:ext cx="9144000" cy="166687"/>
          </a:xfrm>
          <a:prstGeom prst="rect">
            <a:avLst/>
          </a:prstGeom>
          <a:blipFill rotWithShape="0">
            <a:blip r:embed="rId2"/>
          </a:blip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2772" name="Text Box 36"/>
          <p:cNvSpPr txBox="1"/>
          <p:nvPr/>
        </p:nvSpPr>
        <p:spPr>
          <a:xfrm>
            <a:off x="708025" y="6122988"/>
            <a:ext cx="80740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zh-CN" altLang="zh-CN" sz="2400" baseline="300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8" name="Group 37"/>
          <p:cNvGrpSpPr/>
          <p:nvPr/>
        </p:nvGrpSpPr>
        <p:grpSpPr>
          <a:xfrm>
            <a:off x="0" y="1493838"/>
            <a:ext cx="9144000" cy="1368425"/>
            <a:chOff x="0" y="941"/>
            <a:chExt cx="5760" cy="862"/>
          </a:xfrm>
        </p:grpSpPr>
        <p:grpSp>
          <p:nvGrpSpPr>
            <p:cNvPr id="32927" name="Group 38"/>
            <p:cNvGrpSpPr/>
            <p:nvPr/>
          </p:nvGrpSpPr>
          <p:grpSpPr>
            <a:xfrm>
              <a:off x="757" y="941"/>
              <a:ext cx="4159" cy="357"/>
              <a:chOff x="834" y="993"/>
              <a:chExt cx="4159" cy="357"/>
            </a:xfrm>
          </p:grpSpPr>
          <p:grpSp>
            <p:nvGrpSpPr>
              <p:cNvPr id="32945" name="Group 39"/>
              <p:cNvGrpSpPr/>
              <p:nvPr/>
            </p:nvGrpSpPr>
            <p:grpSpPr>
              <a:xfrm>
                <a:off x="834" y="993"/>
                <a:ext cx="1423" cy="349"/>
                <a:chOff x="478" y="1008"/>
                <a:chExt cx="1423" cy="349"/>
              </a:xfrm>
            </p:grpSpPr>
            <p:sp>
              <p:nvSpPr>
                <p:cNvPr id="9396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478" y="1069"/>
                  <a:ext cx="439" cy="2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2">
                          <a:lumMod val="25000"/>
                        </a:schemeClr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中宋" panose="02010600040101010101" pitchFamily="2" charset="-122"/>
                      <a:cs typeface="+mn-cs"/>
                    </a:rPr>
                    <a:t>若</a:t>
                  </a:r>
                </a:p>
              </p:txBody>
            </p:sp>
            <p:sp>
              <p:nvSpPr>
                <p:cNvPr id="32948" name="Text Box 41"/>
                <p:cNvSpPr txBox="1"/>
                <p:nvPr/>
              </p:nvSpPr>
              <p:spPr>
                <a:xfrm>
                  <a:off x="841" y="1008"/>
                  <a:ext cx="690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i="1" dirty="0">
                      <a:latin typeface="Symbol" panose="05050102010706020507" pitchFamily="18" charset="2"/>
                      <a:ea typeface="华文中宋" panose="02010600040101010101" pitchFamily="2" charset="-122"/>
                    </a:rPr>
                    <a:t>j </a:t>
                  </a:r>
                  <a:r>
                    <a:rPr lang="en-US" altLang="zh-CN" sz="2800" baseline="-25000" dirty="0">
                      <a:latin typeface="Symbol" panose="05050102010706020507" pitchFamily="18" charset="2"/>
                      <a:ea typeface="华文中宋" panose="02010600040101010101" pitchFamily="2" charset="-122"/>
                    </a:rPr>
                    <a:t>2</a:t>
                  </a:r>
                  <a:endParaRPr lang="en-US" altLang="zh-CN" sz="2400" baseline="30000" dirty="0">
                    <a:latin typeface="Times New Roman" panose="02020603050405020304" pitchFamily="18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32949" name="Text Box 42"/>
                <p:cNvSpPr txBox="1"/>
                <p:nvPr/>
              </p:nvSpPr>
              <p:spPr>
                <a:xfrm>
                  <a:off x="1386" y="1016"/>
                  <a:ext cx="515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i="1" dirty="0">
                      <a:latin typeface="Symbol" panose="05050102010706020507" pitchFamily="18" charset="2"/>
                      <a:ea typeface="华文中宋" panose="02010600040101010101" pitchFamily="2" charset="-122"/>
                    </a:rPr>
                    <a:t>j </a:t>
                  </a:r>
                  <a:r>
                    <a:rPr lang="en-US" altLang="zh-CN" sz="2800" baseline="-25000" dirty="0">
                      <a:latin typeface="Symbol" panose="05050102010706020507" pitchFamily="18" charset="2"/>
                      <a:ea typeface="华文中宋" panose="02010600040101010101" pitchFamily="2" charset="-122"/>
                    </a:rPr>
                    <a:t>1</a:t>
                  </a:r>
                  <a:endParaRPr lang="en-US" altLang="zh-CN" sz="2400" baseline="30000" dirty="0">
                    <a:latin typeface="Times New Roman" panose="02020603050405020304" pitchFamily="18" charset="0"/>
                    <a:ea typeface="华文中宋" panose="02010600040101010101" pitchFamily="2" charset="-122"/>
                  </a:endParaRPr>
                </a:p>
              </p:txBody>
            </p:sp>
            <p:grpSp>
              <p:nvGrpSpPr>
                <p:cNvPr id="32950" name="Group 43"/>
                <p:cNvGrpSpPr/>
                <p:nvPr/>
              </p:nvGrpSpPr>
              <p:grpSpPr>
                <a:xfrm>
                  <a:off x="1239" y="1187"/>
                  <a:ext cx="151" cy="53"/>
                  <a:chOff x="1260" y="2371"/>
                  <a:chExt cx="151" cy="53"/>
                </a:xfrm>
              </p:grpSpPr>
              <p:sp>
                <p:nvSpPr>
                  <p:cNvPr id="32951" name="Line 44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952" name="Line 45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9395" name="Text Box 46"/>
              <p:cNvSpPr txBox="1">
                <a:spLocks noChangeArrowheads="1"/>
              </p:cNvSpPr>
              <p:nvPr/>
            </p:nvSpPr>
            <p:spPr bwMode="auto">
              <a:xfrm>
                <a:off x="2228" y="1062"/>
                <a:ext cx="276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2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  <a:cs typeface="+mn-cs"/>
                  </a:rPr>
                  <a:t>即两分振动具有相同的初相位</a:t>
                </a:r>
              </a:p>
            </p:txBody>
          </p:sp>
        </p:grpSp>
        <p:sp>
          <p:nvSpPr>
            <p:cNvPr id="32928" name="Rectangle 47" descr="球体"/>
            <p:cNvSpPr/>
            <p:nvPr/>
          </p:nvSpPr>
          <p:spPr>
            <a:xfrm>
              <a:off x="0" y="1721"/>
              <a:ext cx="5760" cy="82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2929" name="Group 48"/>
            <p:cNvGrpSpPr/>
            <p:nvPr/>
          </p:nvGrpSpPr>
          <p:grpSpPr>
            <a:xfrm>
              <a:off x="204" y="1326"/>
              <a:ext cx="5556" cy="288"/>
              <a:chOff x="204" y="1296"/>
              <a:chExt cx="5556" cy="288"/>
            </a:xfrm>
          </p:grpSpPr>
          <p:sp>
            <p:nvSpPr>
              <p:cNvPr id="9379" name="Text Box 49"/>
              <p:cNvSpPr txBox="1">
                <a:spLocks noChangeArrowheads="1"/>
              </p:cNvSpPr>
              <p:nvPr/>
            </p:nvSpPr>
            <p:spPr bwMode="auto">
              <a:xfrm>
                <a:off x="204" y="1296"/>
                <a:ext cx="5556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2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  <a:cs typeface="+mn-cs"/>
                  </a:rPr>
                  <a:t>则        取决于两波源到</a:t>
                </a:r>
                <a:r>
                  <a:rPr kumimoji="0" lang="en-US" altLang="zh-CN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2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  <a:cs typeface="+mn-cs"/>
                  </a:rPr>
                  <a:t>P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25000"/>
                      </a:schemeClr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  <a:cs typeface="+mn-cs"/>
                  </a:rPr>
                  <a:t>点的路程差                    ，   称为波程差</a:t>
                </a:r>
              </a:p>
            </p:txBody>
          </p:sp>
          <p:sp>
            <p:nvSpPr>
              <p:cNvPr id="32931" name="WordArt 50"/>
              <p:cNvSpPr>
                <a:spLocks noTextEdit="1"/>
              </p:cNvSpPr>
              <p:nvPr/>
            </p:nvSpPr>
            <p:spPr>
              <a:xfrm>
                <a:off x="3272" y="1375"/>
                <a:ext cx="146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75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d</a:t>
                </a:r>
              </a:p>
            </p:txBody>
          </p:sp>
          <p:grpSp>
            <p:nvGrpSpPr>
              <p:cNvPr id="32932" name="Group 51"/>
              <p:cNvGrpSpPr/>
              <p:nvPr/>
            </p:nvGrpSpPr>
            <p:grpSpPr>
              <a:xfrm>
                <a:off x="502" y="1383"/>
                <a:ext cx="286" cy="181"/>
                <a:chOff x="560" y="3284"/>
                <a:chExt cx="409" cy="259"/>
              </a:xfrm>
            </p:grpSpPr>
            <p:sp>
              <p:nvSpPr>
                <p:cNvPr id="32943" name="WordArt 52"/>
                <p:cNvSpPr>
                  <a:spLocks noTextEdit="1"/>
                </p:cNvSpPr>
                <p:nvPr/>
              </p:nvSpPr>
              <p:spPr>
                <a:xfrm>
                  <a:off x="782" y="3284"/>
                  <a:ext cx="187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400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</a:rPr>
                    <a:t>j</a:t>
                  </a:r>
                </a:p>
              </p:txBody>
            </p:sp>
            <p:sp>
              <p:nvSpPr>
                <p:cNvPr id="32944" name="WordArt 53"/>
                <p:cNvSpPr>
                  <a:spLocks noTextEdit="1"/>
                </p:cNvSpPr>
                <p:nvPr/>
              </p:nvSpPr>
              <p:spPr>
                <a:xfrm>
                  <a:off x="560" y="3295"/>
                  <a:ext cx="198" cy="18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Wingdings 3" panose="05040102010807070707" charset="0"/>
                      <a:ea typeface="Wingdings 3" panose="05040102010807070707" charset="0"/>
                    </a:rPr>
                    <a:t>r</a:t>
                  </a:r>
                </a:p>
              </p:txBody>
            </p:sp>
          </p:grpSp>
          <p:grpSp>
            <p:nvGrpSpPr>
              <p:cNvPr id="32933" name="Group 54"/>
              <p:cNvGrpSpPr/>
              <p:nvPr/>
            </p:nvGrpSpPr>
            <p:grpSpPr>
              <a:xfrm>
                <a:off x="3462" y="1436"/>
                <a:ext cx="150" cy="54"/>
                <a:chOff x="1260" y="2371"/>
                <a:chExt cx="151" cy="53"/>
              </a:xfrm>
            </p:grpSpPr>
            <p:sp>
              <p:nvSpPr>
                <p:cNvPr id="32941" name="Line 55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942" name="Line 56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934" name="Group 57"/>
              <p:cNvGrpSpPr/>
              <p:nvPr/>
            </p:nvGrpSpPr>
            <p:grpSpPr>
              <a:xfrm>
                <a:off x="3682" y="1375"/>
                <a:ext cx="495" cy="198"/>
                <a:chOff x="1193" y="2206"/>
                <a:chExt cx="467" cy="184"/>
              </a:xfrm>
            </p:grpSpPr>
            <p:sp>
              <p:nvSpPr>
                <p:cNvPr id="32936" name="Line 58"/>
                <p:cNvSpPr/>
                <p:nvPr/>
              </p:nvSpPr>
              <p:spPr>
                <a:xfrm>
                  <a:off x="1370" y="2283"/>
                  <a:ext cx="123" cy="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937" name="WordArt 59"/>
                <p:cNvSpPr>
                  <a:spLocks noTextEdit="1"/>
                </p:cNvSpPr>
                <p:nvPr/>
              </p:nvSpPr>
              <p:spPr>
                <a:xfrm>
                  <a:off x="1616" y="2287"/>
                  <a:ext cx="44" cy="9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2938" name="WordArt 60"/>
                <p:cNvSpPr>
                  <a:spLocks noTextEdit="1"/>
                </p:cNvSpPr>
                <p:nvPr/>
              </p:nvSpPr>
              <p:spPr>
                <a:xfrm>
                  <a:off x="1266" y="2293"/>
                  <a:ext cx="61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2939" name="WordArt 61"/>
                <p:cNvSpPr>
                  <a:spLocks noTextEdit="1"/>
                </p:cNvSpPr>
                <p:nvPr/>
              </p:nvSpPr>
              <p:spPr>
                <a:xfrm>
                  <a:off x="1522" y="2216"/>
                  <a:ext cx="76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325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</a:p>
              </p:txBody>
            </p:sp>
            <p:sp>
              <p:nvSpPr>
                <p:cNvPr id="32940" name="WordArt 62"/>
                <p:cNvSpPr>
                  <a:spLocks noTextEdit="1"/>
                </p:cNvSpPr>
                <p:nvPr/>
              </p:nvSpPr>
              <p:spPr>
                <a:xfrm>
                  <a:off x="1193" y="2206"/>
                  <a:ext cx="76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325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</a:p>
              </p:txBody>
            </p:sp>
          </p:grpSp>
          <p:sp>
            <p:nvSpPr>
              <p:cNvPr id="32935" name="WordArt 63"/>
              <p:cNvSpPr>
                <a:spLocks noTextEdit="1"/>
              </p:cNvSpPr>
              <p:nvPr/>
            </p:nvSpPr>
            <p:spPr>
              <a:xfrm>
                <a:off x="4347" y="1366"/>
                <a:ext cx="146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75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d</a:t>
                </a:r>
              </a:p>
            </p:txBody>
          </p:sp>
        </p:grpSp>
      </p:grpSp>
      <p:grpSp>
        <p:nvGrpSpPr>
          <p:cNvPr id="16" name="Group 64"/>
          <p:cNvGrpSpPr/>
          <p:nvPr/>
        </p:nvGrpSpPr>
        <p:grpSpPr>
          <a:xfrm>
            <a:off x="171450" y="2741613"/>
            <a:ext cx="4387850" cy="3959225"/>
            <a:chOff x="108" y="1727"/>
            <a:chExt cx="2764" cy="2494"/>
          </a:xfrm>
        </p:grpSpPr>
        <p:grpSp>
          <p:nvGrpSpPr>
            <p:cNvPr id="32857" name="Group 65"/>
            <p:cNvGrpSpPr/>
            <p:nvPr/>
          </p:nvGrpSpPr>
          <p:grpSpPr>
            <a:xfrm>
              <a:off x="946" y="1758"/>
              <a:ext cx="1025" cy="629"/>
              <a:chOff x="1862" y="824"/>
              <a:chExt cx="1025" cy="629"/>
            </a:xfrm>
          </p:grpSpPr>
          <p:sp>
            <p:nvSpPr>
              <p:cNvPr id="32922" name="Text Box 66"/>
              <p:cNvSpPr txBox="1"/>
              <p:nvPr/>
            </p:nvSpPr>
            <p:spPr>
              <a:xfrm>
                <a:off x="2167" y="824"/>
                <a:ext cx="72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r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      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r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</a:t>
                </a:r>
              </a:p>
            </p:txBody>
          </p:sp>
          <p:sp>
            <p:nvSpPr>
              <p:cNvPr id="32923" name="Text Box 67"/>
              <p:cNvSpPr txBox="1"/>
              <p:nvPr/>
            </p:nvSpPr>
            <p:spPr>
              <a:xfrm>
                <a:off x="1862" y="1012"/>
                <a:ext cx="50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r>
                  <a:rPr lang="en-US" altLang="zh-CN" sz="28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p</a:t>
                </a:r>
                <a:endParaRPr lang="en-US" altLang="zh-CN" sz="2400" baseline="-25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2924" name="Text Box 68"/>
              <p:cNvSpPr txBox="1"/>
              <p:nvPr/>
            </p:nvSpPr>
            <p:spPr>
              <a:xfrm>
                <a:off x="2318" y="1126"/>
                <a:ext cx="3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32925" name="Line 69"/>
              <p:cNvSpPr/>
              <p:nvPr/>
            </p:nvSpPr>
            <p:spPr>
              <a:xfrm>
                <a:off x="2390" y="1034"/>
                <a:ext cx="14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26" name="Line 70"/>
              <p:cNvSpPr/>
              <p:nvPr/>
            </p:nvSpPr>
            <p:spPr>
              <a:xfrm>
                <a:off x="2189" y="1180"/>
                <a:ext cx="52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858" name="Group 71"/>
            <p:cNvGrpSpPr/>
            <p:nvPr/>
          </p:nvGrpSpPr>
          <p:grpSpPr>
            <a:xfrm>
              <a:off x="1865" y="2084"/>
              <a:ext cx="152" cy="58"/>
              <a:chOff x="1260" y="2371"/>
              <a:chExt cx="151" cy="53"/>
            </a:xfrm>
          </p:grpSpPr>
          <p:sp>
            <p:nvSpPr>
              <p:cNvPr id="32920" name="Line 72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21" name="Line 73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859" name="Group 74"/>
            <p:cNvGrpSpPr/>
            <p:nvPr/>
          </p:nvGrpSpPr>
          <p:grpSpPr>
            <a:xfrm>
              <a:off x="2067" y="2043"/>
              <a:ext cx="125" cy="146"/>
              <a:chOff x="2500" y="3297"/>
              <a:chExt cx="123" cy="137"/>
            </a:xfrm>
          </p:grpSpPr>
          <p:sp>
            <p:nvSpPr>
              <p:cNvPr id="32918" name="WordArt 75"/>
              <p:cNvSpPr>
                <a:spLocks noTextEdit="1"/>
              </p:cNvSpPr>
              <p:nvPr/>
            </p:nvSpPr>
            <p:spPr>
              <a:xfrm>
                <a:off x="2502" y="3297"/>
                <a:ext cx="116" cy="10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19050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32919" name="Line 76"/>
              <p:cNvSpPr/>
              <p:nvPr/>
            </p:nvSpPr>
            <p:spPr>
              <a:xfrm>
                <a:off x="2500" y="3434"/>
                <a:ext cx="12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860" name="Group 77"/>
            <p:cNvGrpSpPr/>
            <p:nvPr/>
          </p:nvGrpSpPr>
          <p:grpSpPr>
            <a:xfrm>
              <a:off x="2253" y="2004"/>
              <a:ext cx="382" cy="189"/>
              <a:chOff x="3484" y="1232"/>
              <a:chExt cx="419" cy="187"/>
            </a:xfrm>
          </p:grpSpPr>
          <p:sp>
            <p:nvSpPr>
              <p:cNvPr id="32915" name="WordArt 78"/>
              <p:cNvSpPr>
                <a:spLocks noTextEdit="1"/>
              </p:cNvSpPr>
              <p:nvPr/>
            </p:nvSpPr>
            <p:spPr>
              <a:xfrm>
                <a:off x="3484" y="1258"/>
                <a:ext cx="102" cy="1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916" name="WordArt 79"/>
              <p:cNvSpPr>
                <a:spLocks noTextEdit="1"/>
              </p:cNvSpPr>
              <p:nvPr/>
            </p:nvSpPr>
            <p:spPr>
              <a:xfrm>
                <a:off x="3758" y="1296"/>
                <a:ext cx="145" cy="12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556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000000"/>
                    </a:solidFill>
                    <a:latin typeface="Symbol" panose="05050102010706020507" charset="0"/>
                    <a:ea typeface="Symbol" panose="05050102010706020507" charset="0"/>
                  </a:rPr>
                  <a:t>p</a:t>
                </a:r>
              </a:p>
            </p:txBody>
          </p:sp>
          <p:sp>
            <p:nvSpPr>
              <p:cNvPr id="32917" name="WordArt 80"/>
              <p:cNvSpPr>
                <a:spLocks noTextEdit="1"/>
              </p:cNvSpPr>
              <p:nvPr/>
            </p:nvSpPr>
            <p:spPr>
              <a:xfrm>
                <a:off x="3625" y="1232"/>
                <a:ext cx="109" cy="17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0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Garamond" panose="02020404030301010803" charset="0"/>
                    <a:ea typeface="Garamond" panose="02020404030301010803" charset="0"/>
                  </a:rPr>
                  <a:t>k</a:t>
                </a:r>
              </a:p>
            </p:txBody>
          </p:sp>
        </p:grpSp>
        <p:grpSp>
          <p:nvGrpSpPr>
            <p:cNvPr id="32861" name="Group 81"/>
            <p:cNvGrpSpPr/>
            <p:nvPr/>
          </p:nvGrpSpPr>
          <p:grpSpPr>
            <a:xfrm>
              <a:off x="416" y="2046"/>
              <a:ext cx="533" cy="176"/>
              <a:chOff x="426" y="1606"/>
              <a:chExt cx="585" cy="198"/>
            </a:xfrm>
          </p:grpSpPr>
          <p:grpSp>
            <p:nvGrpSpPr>
              <p:cNvPr id="32909" name="Group 82"/>
              <p:cNvGrpSpPr/>
              <p:nvPr/>
            </p:nvGrpSpPr>
            <p:grpSpPr>
              <a:xfrm>
                <a:off x="426" y="1606"/>
                <a:ext cx="348" cy="198"/>
                <a:chOff x="560" y="3284"/>
                <a:chExt cx="409" cy="259"/>
              </a:xfrm>
            </p:grpSpPr>
            <p:sp>
              <p:nvSpPr>
                <p:cNvPr id="32913" name="WordArt 83"/>
                <p:cNvSpPr>
                  <a:spLocks noTextEdit="1"/>
                </p:cNvSpPr>
                <p:nvPr/>
              </p:nvSpPr>
              <p:spPr>
                <a:xfrm>
                  <a:off x="782" y="3284"/>
                  <a:ext cx="187" cy="25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400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Symbol" panose="05050102010706020507" charset="0"/>
                      <a:ea typeface="Symbol" panose="05050102010706020507" charset="0"/>
                    </a:rPr>
                    <a:t>j</a:t>
                  </a:r>
                </a:p>
              </p:txBody>
            </p:sp>
            <p:sp>
              <p:nvSpPr>
                <p:cNvPr id="32914" name="WordArt 84"/>
                <p:cNvSpPr>
                  <a:spLocks noTextEdit="1"/>
                </p:cNvSpPr>
                <p:nvPr/>
              </p:nvSpPr>
              <p:spPr>
                <a:xfrm>
                  <a:off x="560" y="3295"/>
                  <a:ext cx="198" cy="18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Wingdings 3" panose="05040102010807070707" charset="0"/>
                      <a:ea typeface="Wingdings 3" panose="05040102010807070707" charset="0"/>
                    </a:rPr>
                    <a:t>r</a:t>
                  </a:r>
                </a:p>
              </p:txBody>
            </p:sp>
          </p:grpSp>
          <p:grpSp>
            <p:nvGrpSpPr>
              <p:cNvPr id="32910" name="Group 85"/>
              <p:cNvGrpSpPr/>
              <p:nvPr/>
            </p:nvGrpSpPr>
            <p:grpSpPr>
              <a:xfrm>
                <a:off x="837" y="1642"/>
                <a:ext cx="174" cy="68"/>
                <a:chOff x="1260" y="2371"/>
                <a:chExt cx="151" cy="53"/>
              </a:xfrm>
            </p:grpSpPr>
            <p:sp>
              <p:nvSpPr>
                <p:cNvPr id="32911" name="Line 86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912" name="Line 87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2862" name="Group 88"/>
            <p:cNvGrpSpPr/>
            <p:nvPr/>
          </p:nvGrpSpPr>
          <p:grpSpPr>
            <a:xfrm>
              <a:off x="531" y="2600"/>
              <a:ext cx="1698" cy="327"/>
              <a:chOff x="3895" y="1153"/>
              <a:chExt cx="1698" cy="327"/>
            </a:xfrm>
          </p:grpSpPr>
          <p:sp>
            <p:nvSpPr>
              <p:cNvPr id="32899" name="Text Box 89"/>
              <p:cNvSpPr txBox="1"/>
              <p:nvPr/>
            </p:nvSpPr>
            <p:spPr>
              <a:xfrm>
                <a:off x="3895" y="1153"/>
                <a:ext cx="169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（       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0,1,2,     )</a:t>
                </a:r>
              </a:p>
            </p:txBody>
          </p:sp>
          <p:grpSp>
            <p:nvGrpSpPr>
              <p:cNvPr id="32900" name="Group 90"/>
              <p:cNvGrpSpPr/>
              <p:nvPr/>
            </p:nvGrpSpPr>
            <p:grpSpPr>
              <a:xfrm>
                <a:off x="4227" y="1231"/>
                <a:ext cx="302" cy="172"/>
                <a:chOff x="1795" y="2936"/>
                <a:chExt cx="302" cy="172"/>
              </a:xfrm>
            </p:grpSpPr>
            <p:grpSp>
              <p:nvGrpSpPr>
                <p:cNvPr id="32905" name="Group 91"/>
                <p:cNvGrpSpPr/>
                <p:nvPr/>
              </p:nvGrpSpPr>
              <p:grpSpPr>
                <a:xfrm>
                  <a:off x="1946" y="3002"/>
                  <a:ext cx="151" cy="61"/>
                  <a:chOff x="1260" y="2371"/>
                  <a:chExt cx="151" cy="53"/>
                </a:xfrm>
              </p:grpSpPr>
              <p:sp>
                <p:nvSpPr>
                  <p:cNvPr id="32907" name="Line 92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908" name="Line 93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906" name="WordArt 94"/>
                <p:cNvSpPr>
                  <a:spLocks noTextEdit="1"/>
                </p:cNvSpPr>
                <p:nvPr/>
              </p:nvSpPr>
              <p:spPr>
                <a:xfrm>
                  <a:off x="1795" y="2936"/>
                  <a:ext cx="109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400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Garamond" panose="02020404030301010803" charset="0"/>
                      <a:ea typeface="Garamond" panose="02020404030301010803" charset="0"/>
                    </a:rPr>
                    <a:t>k</a:t>
                  </a:r>
                </a:p>
              </p:txBody>
            </p:sp>
          </p:grpSp>
          <p:grpSp>
            <p:nvGrpSpPr>
              <p:cNvPr id="32901" name="Group 95"/>
              <p:cNvGrpSpPr/>
              <p:nvPr/>
            </p:nvGrpSpPr>
            <p:grpSpPr>
              <a:xfrm>
                <a:off x="5103" y="1296"/>
                <a:ext cx="213" cy="32"/>
                <a:chOff x="2458" y="2267"/>
                <a:chExt cx="213" cy="32"/>
              </a:xfrm>
            </p:grpSpPr>
            <p:sp>
              <p:nvSpPr>
                <p:cNvPr id="32902" name="WordArt 96"/>
                <p:cNvSpPr>
                  <a:spLocks noTextEdit="1"/>
                </p:cNvSpPr>
                <p:nvPr/>
              </p:nvSpPr>
              <p:spPr>
                <a:xfrm>
                  <a:off x="2458" y="2272"/>
                  <a:ext cx="27" cy="2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.</a:t>
                  </a:r>
                </a:p>
              </p:txBody>
            </p:sp>
            <p:sp>
              <p:nvSpPr>
                <p:cNvPr id="32903" name="WordArt 97"/>
                <p:cNvSpPr>
                  <a:spLocks noTextEdit="1"/>
                </p:cNvSpPr>
                <p:nvPr/>
              </p:nvSpPr>
              <p:spPr>
                <a:xfrm>
                  <a:off x="2554" y="2269"/>
                  <a:ext cx="27" cy="2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.</a:t>
                  </a:r>
                </a:p>
              </p:txBody>
            </p:sp>
            <p:sp>
              <p:nvSpPr>
                <p:cNvPr id="32904" name="WordArt 98"/>
                <p:cNvSpPr>
                  <a:spLocks noTextEdit="1"/>
                </p:cNvSpPr>
                <p:nvPr/>
              </p:nvSpPr>
              <p:spPr>
                <a:xfrm>
                  <a:off x="2644" y="2267"/>
                  <a:ext cx="27" cy="2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.</a:t>
                  </a:r>
                </a:p>
              </p:txBody>
            </p:sp>
          </p:grpSp>
        </p:grpSp>
        <p:sp>
          <p:nvSpPr>
            <p:cNvPr id="32863" name="Rectangle 99" descr="球体"/>
            <p:cNvSpPr/>
            <p:nvPr/>
          </p:nvSpPr>
          <p:spPr>
            <a:xfrm>
              <a:off x="2781" y="1727"/>
              <a:ext cx="91" cy="2494"/>
            </a:xfrm>
            <a:prstGeom prst="rect">
              <a:avLst/>
            </a:prstGeom>
            <a:blipFill rotWithShape="0">
              <a:blip r:embed="rId2"/>
            </a:blip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2864" name="Text Box 100"/>
            <p:cNvSpPr txBox="1"/>
            <p:nvPr/>
          </p:nvSpPr>
          <p:spPr>
            <a:xfrm>
              <a:off x="108" y="1961"/>
              <a:ext cx="4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当</a:t>
              </a:r>
            </a:p>
          </p:txBody>
        </p:sp>
        <p:sp>
          <p:nvSpPr>
            <p:cNvPr id="32865" name="Text Box 101"/>
            <p:cNvSpPr txBox="1"/>
            <p:nvPr/>
          </p:nvSpPr>
          <p:spPr>
            <a:xfrm>
              <a:off x="2212" y="2596"/>
              <a:ext cx="4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时</a:t>
              </a:r>
            </a:p>
          </p:txBody>
        </p:sp>
        <p:sp>
          <p:nvSpPr>
            <p:cNvPr id="32866" name="Text Box 102"/>
            <p:cNvSpPr txBox="1"/>
            <p:nvPr/>
          </p:nvSpPr>
          <p:spPr>
            <a:xfrm>
              <a:off x="310" y="2934"/>
              <a:ext cx="94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则合成振动的振幅最大</a:t>
              </a:r>
            </a:p>
          </p:txBody>
        </p:sp>
        <p:grpSp>
          <p:nvGrpSpPr>
            <p:cNvPr id="32867" name="Group 103"/>
            <p:cNvGrpSpPr/>
            <p:nvPr/>
          </p:nvGrpSpPr>
          <p:grpSpPr>
            <a:xfrm>
              <a:off x="1248" y="3062"/>
              <a:ext cx="1256" cy="192"/>
              <a:chOff x="738" y="2735"/>
              <a:chExt cx="1256" cy="192"/>
            </a:xfrm>
          </p:grpSpPr>
          <p:sp>
            <p:nvSpPr>
              <p:cNvPr id="32889" name="WordArt 104"/>
              <p:cNvSpPr>
                <a:spLocks noTextEdit="1"/>
              </p:cNvSpPr>
              <p:nvPr/>
            </p:nvSpPr>
            <p:spPr>
              <a:xfrm>
                <a:off x="923" y="2840"/>
                <a:ext cx="208" cy="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max</a:t>
                </a:r>
              </a:p>
            </p:txBody>
          </p:sp>
          <p:grpSp>
            <p:nvGrpSpPr>
              <p:cNvPr id="32890" name="Group 105"/>
              <p:cNvGrpSpPr/>
              <p:nvPr/>
            </p:nvGrpSpPr>
            <p:grpSpPr>
              <a:xfrm>
                <a:off x="1174" y="2801"/>
                <a:ext cx="125" cy="51"/>
                <a:chOff x="1260" y="2371"/>
                <a:chExt cx="151" cy="53"/>
              </a:xfrm>
            </p:grpSpPr>
            <p:sp>
              <p:nvSpPr>
                <p:cNvPr id="32897" name="Line 106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98" name="Line 107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2891" name="WordArt 108"/>
              <p:cNvSpPr>
                <a:spLocks noTextEdit="1"/>
              </p:cNvSpPr>
              <p:nvPr/>
            </p:nvSpPr>
            <p:spPr>
              <a:xfrm>
                <a:off x="738" y="2735"/>
                <a:ext cx="174" cy="1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088"/>
                  </a:avLst>
                </a:prstTxWarp>
                <a:normAutofit fontScale="40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2892" name="WordArt 109"/>
              <p:cNvSpPr>
                <a:spLocks noTextEdit="1"/>
              </p:cNvSpPr>
              <p:nvPr/>
            </p:nvSpPr>
            <p:spPr>
              <a:xfrm>
                <a:off x="1536" y="2842"/>
                <a:ext cx="42" cy="8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893" name="WordArt 110"/>
              <p:cNvSpPr>
                <a:spLocks noTextEdit="1"/>
              </p:cNvSpPr>
              <p:nvPr/>
            </p:nvSpPr>
            <p:spPr>
              <a:xfrm>
                <a:off x="1931" y="2831"/>
                <a:ext cx="63" cy="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894" name="WordArt 111"/>
              <p:cNvSpPr>
                <a:spLocks noTextEdit="1"/>
              </p:cNvSpPr>
              <p:nvPr/>
            </p:nvSpPr>
            <p:spPr>
              <a:xfrm>
                <a:off x="1341" y="2749"/>
                <a:ext cx="174" cy="1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088"/>
                  </a:avLst>
                </a:prstTxWarp>
                <a:normAutofit fontScale="325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2895" name="WordArt 112"/>
              <p:cNvSpPr>
                <a:spLocks noTextEdit="1"/>
              </p:cNvSpPr>
              <p:nvPr/>
            </p:nvSpPr>
            <p:spPr>
              <a:xfrm>
                <a:off x="1603" y="2793"/>
                <a:ext cx="111" cy="10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28575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32896" name="WordArt 113"/>
              <p:cNvSpPr>
                <a:spLocks noTextEdit="1"/>
              </p:cNvSpPr>
              <p:nvPr/>
            </p:nvSpPr>
            <p:spPr>
              <a:xfrm>
                <a:off x="1731" y="2742"/>
                <a:ext cx="174" cy="1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088"/>
                  </a:avLst>
                </a:prstTxWarp>
                <a:normAutofit fontScale="325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</p:grpSp>
        <p:sp>
          <p:nvSpPr>
            <p:cNvPr id="32868" name="Text Box 114"/>
            <p:cNvSpPr txBox="1"/>
            <p:nvPr/>
          </p:nvSpPr>
          <p:spPr>
            <a:xfrm>
              <a:off x="113" y="2301"/>
              <a:ext cx="3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即</a:t>
              </a:r>
            </a:p>
          </p:txBody>
        </p:sp>
        <p:grpSp>
          <p:nvGrpSpPr>
            <p:cNvPr id="32869" name="Group 115"/>
            <p:cNvGrpSpPr/>
            <p:nvPr/>
          </p:nvGrpSpPr>
          <p:grpSpPr>
            <a:xfrm>
              <a:off x="520" y="2365"/>
              <a:ext cx="1697" cy="223"/>
              <a:chOff x="642" y="1970"/>
              <a:chExt cx="1697" cy="223"/>
            </a:xfrm>
          </p:grpSpPr>
          <p:sp>
            <p:nvSpPr>
              <p:cNvPr id="32871" name="WordArt 116"/>
              <p:cNvSpPr>
                <a:spLocks noTextEdit="1"/>
              </p:cNvSpPr>
              <p:nvPr/>
            </p:nvSpPr>
            <p:spPr>
              <a:xfrm>
                <a:off x="642" y="1997"/>
                <a:ext cx="136" cy="19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75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d</a:t>
                </a:r>
              </a:p>
            </p:txBody>
          </p:sp>
          <p:grpSp>
            <p:nvGrpSpPr>
              <p:cNvPr id="32872" name="Group 117"/>
              <p:cNvGrpSpPr/>
              <p:nvPr/>
            </p:nvGrpSpPr>
            <p:grpSpPr>
              <a:xfrm>
                <a:off x="844" y="2053"/>
                <a:ext cx="151" cy="53"/>
                <a:chOff x="1260" y="2371"/>
                <a:chExt cx="151" cy="53"/>
              </a:xfrm>
            </p:grpSpPr>
            <p:sp>
              <p:nvSpPr>
                <p:cNvPr id="32887" name="Line 118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88" name="Line 119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873" name="Group 120"/>
              <p:cNvGrpSpPr/>
              <p:nvPr/>
            </p:nvGrpSpPr>
            <p:grpSpPr>
              <a:xfrm>
                <a:off x="1064" y="2009"/>
                <a:ext cx="467" cy="184"/>
                <a:chOff x="1193" y="2206"/>
                <a:chExt cx="467" cy="184"/>
              </a:xfrm>
            </p:grpSpPr>
            <p:sp>
              <p:nvSpPr>
                <p:cNvPr id="32882" name="Line 121"/>
                <p:cNvSpPr/>
                <p:nvPr/>
              </p:nvSpPr>
              <p:spPr>
                <a:xfrm>
                  <a:off x="1370" y="2283"/>
                  <a:ext cx="123" cy="7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83" name="WordArt 122"/>
                <p:cNvSpPr>
                  <a:spLocks noTextEdit="1"/>
                </p:cNvSpPr>
                <p:nvPr/>
              </p:nvSpPr>
              <p:spPr>
                <a:xfrm>
                  <a:off x="1616" y="2287"/>
                  <a:ext cx="44" cy="9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2884" name="WordArt 123"/>
                <p:cNvSpPr>
                  <a:spLocks noTextEdit="1"/>
                </p:cNvSpPr>
                <p:nvPr/>
              </p:nvSpPr>
              <p:spPr>
                <a:xfrm>
                  <a:off x="1266" y="2293"/>
                  <a:ext cx="61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2885" name="WordArt 124"/>
                <p:cNvSpPr>
                  <a:spLocks noTextEdit="1"/>
                </p:cNvSpPr>
                <p:nvPr/>
              </p:nvSpPr>
              <p:spPr>
                <a:xfrm>
                  <a:off x="1522" y="2216"/>
                  <a:ext cx="76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</a:p>
              </p:txBody>
            </p:sp>
            <p:sp>
              <p:nvSpPr>
                <p:cNvPr id="32886" name="WordArt 125"/>
                <p:cNvSpPr>
                  <a:spLocks noTextEdit="1"/>
                </p:cNvSpPr>
                <p:nvPr/>
              </p:nvSpPr>
              <p:spPr>
                <a:xfrm>
                  <a:off x="1193" y="2206"/>
                  <a:ext cx="76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</a:p>
              </p:txBody>
            </p:sp>
          </p:grpSp>
          <p:grpSp>
            <p:nvGrpSpPr>
              <p:cNvPr id="32874" name="Group 126"/>
              <p:cNvGrpSpPr/>
              <p:nvPr/>
            </p:nvGrpSpPr>
            <p:grpSpPr>
              <a:xfrm>
                <a:off x="1851" y="1987"/>
                <a:ext cx="125" cy="146"/>
                <a:chOff x="2500" y="3297"/>
                <a:chExt cx="123" cy="137"/>
              </a:xfrm>
            </p:grpSpPr>
            <p:sp>
              <p:nvSpPr>
                <p:cNvPr id="32880" name="WordArt 127"/>
                <p:cNvSpPr>
                  <a:spLocks noTextEdit="1"/>
                </p:cNvSpPr>
                <p:nvPr/>
              </p:nvSpPr>
              <p:spPr>
                <a:xfrm>
                  <a:off x="2502" y="3297"/>
                  <a:ext cx="116" cy="10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19050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32881" name="Line 128"/>
                <p:cNvSpPr/>
                <p:nvPr/>
              </p:nvSpPr>
              <p:spPr>
                <a:xfrm>
                  <a:off x="2500" y="3434"/>
                  <a:ext cx="123" cy="0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875" name="Group 129"/>
              <p:cNvGrpSpPr/>
              <p:nvPr/>
            </p:nvGrpSpPr>
            <p:grpSpPr>
              <a:xfrm>
                <a:off x="1615" y="2050"/>
                <a:ext cx="151" cy="53"/>
                <a:chOff x="1260" y="2371"/>
                <a:chExt cx="151" cy="53"/>
              </a:xfrm>
            </p:grpSpPr>
            <p:sp>
              <p:nvSpPr>
                <p:cNvPr id="32878" name="Line 130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79" name="Line 131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2876" name="WordArt 132"/>
              <p:cNvSpPr>
                <a:spLocks noTextEdit="1"/>
              </p:cNvSpPr>
              <p:nvPr/>
            </p:nvSpPr>
            <p:spPr>
              <a:xfrm>
                <a:off x="2045" y="1970"/>
                <a:ext cx="99" cy="1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0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Garamond" panose="02020404030301010803" charset="0"/>
                    <a:ea typeface="Garamond" panose="02020404030301010803" charset="0"/>
                  </a:rPr>
                  <a:t>k</a:t>
                </a:r>
              </a:p>
            </p:txBody>
          </p:sp>
          <p:sp>
            <p:nvSpPr>
              <p:cNvPr id="32877" name="WordArt 133"/>
              <p:cNvSpPr>
                <a:spLocks noTextEdit="1"/>
              </p:cNvSpPr>
              <p:nvPr/>
            </p:nvSpPr>
            <p:spPr>
              <a:xfrm>
                <a:off x="2192" y="1977"/>
                <a:ext cx="147" cy="1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0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CC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</p:grpSp>
        <p:sp>
          <p:nvSpPr>
            <p:cNvPr id="32870" name="Text Box 134"/>
            <p:cNvSpPr txBox="1"/>
            <p:nvPr/>
          </p:nvSpPr>
          <p:spPr>
            <a:xfrm>
              <a:off x="159" y="3539"/>
              <a:ext cx="2562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波程差为零或为波长的整数倍时，各质点的振幅最大，干涉相长。</a:t>
              </a:r>
            </a:p>
          </p:txBody>
        </p:sp>
      </p:grpSp>
      <p:grpSp>
        <p:nvGrpSpPr>
          <p:cNvPr id="34958" name="Group 135"/>
          <p:cNvGrpSpPr/>
          <p:nvPr/>
        </p:nvGrpSpPr>
        <p:grpSpPr>
          <a:xfrm>
            <a:off x="4575175" y="2760663"/>
            <a:ext cx="4337050" cy="3541712"/>
            <a:chOff x="2882" y="1739"/>
            <a:chExt cx="2732" cy="2231"/>
          </a:xfrm>
        </p:grpSpPr>
        <p:grpSp>
          <p:nvGrpSpPr>
            <p:cNvPr id="32776" name="Group 136"/>
            <p:cNvGrpSpPr/>
            <p:nvPr/>
          </p:nvGrpSpPr>
          <p:grpSpPr>
            <a:xfrm>
              <a:off x="3591" y="1739"/>
              <a:ext cx="1025" cy="629"/>
              <a:chOff x="1862" y="824"/>
              <a:chExt cx="1025" cy="629"/>
            </a:xfrm>
          </p:grpSpPr>
          <p:sp>
            <p:nvSpPr>
              <p:cNvPr id="32852" name="Text Box 137"/>
              <p:cNvSpPr txBox="1"/>
              <p:nvPr/>
            </p:nvSpPr>
            <p:spPr>
              <a:xfrm>
                <a:off x="2167" y="824"/>
                <a:ext cx="720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r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      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r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 </a:t>
                </a:r>
              </a:p>
            </p:txBody>
          </p:sp>
          <p:sp>
            <p:nvSpPr>
              <p:cNvPr id="32853" name="Text Box 138"/>
              <p:cNvSpPr txBox="1"/>
              <p:nvPr/>
            </p:nvSpPr>
            <p:spPr>
              <a:xfrm>
                <a:off x="1862" y="1012"/>
                <a:ext cx="50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r>
                  <a:rPr lang="en-US" altLang="zh-CN" sz="28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p</a:t>
                </a:r>
                <a:endParaRPr lang="en-US" altLang="zh-CN" sz="2400" baseline="-25000" dirty="0"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32854" name="Text Box 139"/>
              <p:cNvSpPr txBox="1"/>
              <p:nvPr/>
            </p:nvSpPr>
            <p:spPr>
              <a:xfrm>
                <a:off x="2318" y="1126"/>
                <a:ext cx="34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32855" name="Line 140"/>
              <p:cNvSpPr/>
              <p:nvPr/>
            </p:nvSpPr>
            <p:spPr>
              <a:xfrm>
                <a:off x="2390" y="1034"/>
                <a:ext cx="14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56" name="Line 141"/>
              <p:cNvSpPr/>
              <p:nvPr/>
            </p:nvSpPr>
            <p:spPr>
              <a:xfrm>
                <a:off x="2189" y="1180"/>
                <a:ext cx="52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777" name="Group 142"/>
            <p:cNvGrpSpPr/>
            <p:nvPr/>
          </p:nvGrpSpPr>
          <p:grpSpPr>
            <a:xfrm>
              <a:off x="4511" y="2074"/>
              <a:ext cx="129" cy="58"/>
              <a:chOff x="1260" y="2371"/>
              <a:chExt cx="151" cy="53"/>
            </a:xfrm>
          </p:grpSpPr>
          <p:sp>
            <p:nvSpPr>
              <p:cNvPr id="32850" name="Line 143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51" name="Line 144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778" name="Group 145"/>
            <p:cNvGrpSpPr/>
            <p:nvPr/>
          </p:nvGrpSpPr>
          <p:grpSpPr>
            <a:xfrm>
              <a:off x="4665" y="2025"/>
              <a:ext cx="125" cy="146"/>
              <a:chOff x="2500" y="3297"/>
              <a:chExt cx="123" cy="137"/>
            </a:xfrm>
          </p:grpSpPr>
          <p:sp>
            <p:nvSpPr>
              <p:cNvPr id="32848" name="WordArt 146"/>
              <p:cNvSpPr>
                <a:spLocks noTextEdit="1"/>
              </p:cNvSpPr>
              <p:nvPr/>
            </p:nvSpPr>
            <p:spPr>
              <a:xfrm>
                <a:off x="2502" y="3297"/>
                <a:ext cx="116" cy="10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19050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32849" name="Line 147"/>
              <p:cNvSpPr/>
              <p:nvPr/>
            </p:nvSpPr>
            <p:spPr>
              <a:xfrm>
                <a:off x="2500" y="3434"/>
                <a:ext cx="12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779" name="WordArt 148"/>
            <p:cNvSpPr>
              <a:spLocks noTextEdit="1"/>
            </p:cNvSpPr>
            <p:nvPr/>
          </p:nvSpPr>
          <p:spPr>
            <a:xfrm>
              <a:off x="5443" y="2051"/>
              <a:ext cx="132" cy="12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556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000000"/>
                  </a:solidFill>
                  <a:latin typeface="Symbol" panose="05050102010706020507" charset="0"/>
                  <a:ea typeface="Symbol" panose="05050102010706020507" charset="0"/>
                </a:rPr>
                <a:t>p</a:t>
              </a:r>
            </a:p>
          </p:txBody>
        </p:sp>
        <p:grpSp>
          <p:nvGrpSpPr>
            <p:cNvPr id="32780" name="Group 149"/>
            <p:cNvGrpSpPr/>
            <p:nvPr/>
          </p:nvGrpSpPr>
          <p:grpSpPr>
            <a:xfrm>
              <a:off x="3129" y="2035"/>
              <a:ext cx="317" cy="176"/>
              <a:chOff x="560" y="3284"/>
              <a:chExt cx="409" cy="259"/>
            </a:xfrm>
          </p:grpSpPr>
          <p:sp>
            <p:nvSpPr>
              <p:cNvPr id="32846" name="WordArt 150"/>
              <p:cNvSpPr>
                <a:spLocks noTextEdit="1"/>
              </p:cNvSpPr>
              <p:nvPr/>
            </p:nvSpPr>
            <p:spPr>
              <a:xfrm>
                <a:off x="782" y="3284"/>
                <a:ext cx="187" cy="25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0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j</a:t>
                </a:r>
              </a:p>
            </p:txBody>
          </p:sp>
          <p:sp>
            <p:nvSpPr>
              <p:cNvPr id="32847" name="WordArt 151"/>
              <p:cNvSpPr>
                <a:spLocks noTextEdit="1"/>
              </p:cNvSpPr>
              <p:nvPr/>
            </p:nvSpPr>
            <p:spPr>
              <a:xfrm>
                <a:off x="560" y="3295"/>
                <a:ext cx="198" cy="1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Wingdings 3" panose="05040102010807070707" charset="0"/>
                    <a:ea typeface="Wingdings 3" panose="05040102010807070707" charset="0"/>
                  </a:rPr>
                  <a:t>r</a:t>
                </a:r>
              </a:p>
            </p:txBody>
          </p:sp>
        </p:grpSp>
        <p:grpSp>
          <p:nvGrpSpPr>
            <p:cNvPr id="32781" name="Group 152"/>
            <p:cNvGrpSpPr/>
            <p:nvPr/>
          </p:nvGrpSpPr>
          <p:grpSpPr>
            <a:xfrm>
              <a:off x="3496" y="2088"/>
              <a:ext cx="128" cy="53"/>
              <a:chOff x="1260" y="2371"/>
              <a:chExt cx="151" cy="53"/>
            </a:xfrm>
          </p:grpSpPr>
          <p:sp>
            <p:nvSpPr>
              <p:cNvPr id="32844" name="Line 153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45" name="Line 154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782" name="Group 155"/>
            <p:cNvGrpSpPr/>
            <p:nvPr/>
          </p:nvGrpSpPr>
          <p:grpSpPr>
            <a:xfrm>
              <a:off x="3343" y="2597"/>
              <a:ext cx="1698" cy="327"/>
              <a:chOff x="3895" y="1153"/>
              <a:chExt cx="1698" cy="327"/>
            </a:xfrm>
          </p:grpSpPr>
          <p:sp>
            <p:nvSpPr>
              <p:cNvPr id="32834" name="Text Box 156"/>
              <p:cNvSpPr txBox="1"/>
              <p:nvPr/>
            </p:nvSpPr>
            <p:spPr>
              <a:xfrm>
                <a:off x="3895" y="1153"/>
                <a:ext cx="1698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（       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0,1,2,     )</a:t>
                </a:r>
              </a:p>
            </p:txBody>
          </p:sp>
          <p:grpSp>
            <p:nvGrpSpPr>
              <p:cNvPr id="32835" name="Group 157"/>
              <p:cNvGrpSpPr/>
              <p:nvPr/>
            </p:nvGrpSpPr>
            <p:grpSpPr>
              <a:xfrm>
                <a:off x="4227" y="1231"/>
                <a:ext cx="302" cy="172"/>
                <a:chOff x="1795" y="2936"/>
                <a:chExt cx="302" cy="172"/>
              </a:xfrm>
            </p:grpSpPr>
            <p:grpSp>
              <p:nvGrpSpPr>
                <p:cNvPr id="32840" name="Group 158"/>
                <p:cNvGrpSpPr/>
                <p:nvPr/>
              </p:nvGrpSpPr>
              <p:grpSpPr>
                <a:xfrm>
                  <a:off x="1946" y="3002"/>
                  <a:ext cx="151" cy="61"/>
                  <a:chOff x="1260" y="2371"/>
                  <a:chExt cx="151" cy="53"/>
                </a:xfrm>
              </p:grpSpPr>
              <p:sp>
                <p:nvSpPr>
                  <p:cNvPr id="32842" name="Line 159"/>
                  <p:cNvSpPr/>
                  <p:nvPr/>
                </p:nvSpPr>
                <p:spPr>
                  <a:xfrm>
                    <a:off x="1260" y="2371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43" name="Line 160"/>
                  <p:cNvSpPr/>
                  <p:nvPr/>
                </p:nvSpPr>
                <p:spPr>
                  <a:xfrm>
                    <a:off x="1260" y="2424"/>
                    <a:ext cx="15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841" name="WordArt 161"/>
                <p:cNvSpPr>
                  <a:spLocks noTextEdit="1"/>
                </p:cNvSpPr>
                <p:nvPr/>
              </p:nvSpPr>
              <p:spPr>
                <a:xfrm>
                  <a:off x="1795" y="2936"/>
                  <a:ext cx="109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400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Garamond" panose="02020404030301010803" charset="0"/>
                      <a:ea typeface="Garamond" panose="02020404030301010803" charset="0"/>
                    </a:rPr>
                    <a:t>k</a:t>
                  </a:r>
                </a:p>
              </p:txBody>
            </p:sp>
          </p:grpSp>
          <p:grpSp>
            <p:nvGrpSpPr>
              <p:cNvPr id="32836" name="Group 162"/>
              <p:cNvGrpSpPr/>
              <p:nvPr/>
            </p:nvGrpSpPr>
            <p:grpSpPr>
              <a:xfrm>
                <a:off x="5103" y="1296"/>
                <a:ext cx="213" cy="32"/>
                <a:chOff x="2458" y="2267"/>
                <a:chExt cx="213" cy="32"/>
              </a:xfrm>
            </p:grpSpPr>
            <p:sp>
              <p:nvSpPr>
                <p:cNvPr id="32837" name="WordArt 163"/>
                <p:cNvSpPr>
                  <a:spLocks noTextEdit="1"/>
                </p:cNvSpPr>
                <p:nvPr/>
              </p:nvSpPr>
              <p:spPr>
                <a:xfrm>
                  <a:off x="2458" y="2272"/>
                  <a:ext cx="27" cy="2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.</a:t>
                  </a:r>
                </a:p>
              </p:txBody>
            </p:sp>
            <p:sp>
              <p:nvSpPr>
                <p:cNvPr id="32838" name="WordArt 164"/>
                <p:cNvSpPr>
                  <a:spLocks noTextEdit="1"/>
                </p:cNvSpPr>
                <p:nvPr/>
              </p:nvSpPr>
              <p:spPr>
                <a:xfrm>
                  <a:off x="2554" y="2269"/>
                  <a:ext cx="27" cy="2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.</a:t>
                  </a:r>
                </a:p>
              </p:txBody>
            </p:sp>
            <p:sp>
              <p:nvSpPr>
                <p:cNvPr id="32839" name="WordArt 165"/>
                <p:cNvSpPr>
                  <a:spLocks noTextEdit="1"/>
                </p:cNvSpPr>
                <p:nvPr/>
              </p:nvSpPr>
              <p:spPr>
                <a:xfrm>
                  <a:off x="2644" y="2267"/>
                  <a:ext cx="27" cy="2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.</a:t>
                  </a:r>
                </a:p>
              </p:txBody>
            </p:sp>
          </p:grpSp>
        </p:grpSp>
        <p:sp>
          <p:nvSpPr>
            <p:cNvPr id="32783" name="Text Box 166"/>
            <p:cNvSpPr txBox="1"/>
            <p:nvPr/>
          </p:nvSpPr>
          <p:spPr>
            <a:xfrm>
              <a:off x="2882" y="1950"/>
              <a:ext cx="4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当</a:t>
              </a:r>
            </a:p>
          </p:txBody>
        </p:sp>
        <p:sp>
          <p:nvSpPr>
            <p:cNvPr id="32784" name="Text Box 167"/>
            <p:cNvSpPr txBox="1"/>
            <p:nvPr/>
          </p:nvSpPr>
          <p:spPr>
            <a:xfrm>
              <a:off x="5009" y="2608"/>
              <a:ext cx="4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时</a:t>
              </a:r>
            </a:p>
          </p:txBody>
        </p:sp>
        <p:sp>
          <p:nvSpPr>
            <p:cNvPr id="32785" name="Text Box 168"/>
            <p:cNvSpPr txBox="1"/>
            <p:nvPr/>
          </p:nvSpPr>
          <p:spPr>
            <a:xfrm>
              <a:off x="2956" y="2946"/>
              <a:ext cx="1002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则合成振动的振幅最小</a:t>
              </a:r>
            </a:p>
          </p:txBody>
        </p:sp>
        <p:sp>
          <p:nvSpPr>
            <p:cNvPr id="32786" name="Text Box 169"/>
            <p:cNvSpPr txBox="1"/>
            <p:nvPr/>
          </p:nvSpPr>
          <p:spPr>
            <a:xfrm>
              <a:off x="2909" y="2320"/>
              <a:ext cx="3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即</a:t>
              </a:r>
            </a:p>
          </p:txBody>
        </p:sp>
        <p:grpSp>
          <p:nvGrpSpPr>
            <p:cNvPr id="32787" name="Group 170"/>
            <p:cNvGrpSpPr/>
            <p:nvPr/>
          </p:nvGrpSpPr>
          <p:grpSpPr>
            <a:xfrm>
              <a:off x="4803" y="2015"/>
              <a:ext cx="601" cy="193"/>
              <a:chOff x="4803" y="1614"/>
              <a:chExt cx="601" cy="193"/>
            </a:xfrm>
          </p:grpSpPr>
          <p:sp>
            <p:nvSpPr>
              <p:cNvPr id="32828" name="WordArt 171"/>
              <p:cNvSpPr>
                <a:spLocks noTextEdit="1"/>
              </p:cNvSpPr>
              <p:nvPr/>
            </p:nvSpPr>
            <p:spPr>
              <a:xfrm>
                <a:off x="4875" y="1633"/>
                <a:ext cx="93" cy="14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829" name="WordArt 172"/>
              <p:cNvSpPr>
                <a:spLocks noTextEdit="1"/>
              </p:cNvSpPr>
              <p:nvPr/>
            </p:nvSpPr>
            <p:spPr>
              <a:xfrm>
                <a:off x="5003" y="1614"/>
                <a:ext cx="99" cy="17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0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Garamond" panose="02020404030301010803" charset="0"/>
                    <a:ea typeface="Garamond" panose="02020404030301010803" charset="0"/>
                  </a:rPr>
                  <a:t>k</a:t>
                </a:r>
              </a:p>
            </p:txBody>
          </p:sp>
          <p:sp>
            <p:nvSpPr>
              <p:cNvPr id="32830" name="WordArt 173"/>
              <p:cNvSpPr>
                <a:spLocks noTextEdit="1"/>
              </p:cNvSpPr>
              <p:nvPr/>
            </p:nvSpPr>
            <p:spPr>
              <a:xfrm>
                <a:off x="4803" y="1618"/>
                <a:ext cx="54" cy="1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0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32831" name="WordArt 174"/>
              <p:cNvSpPr>
                <a:spLocks noTextEdit="1"/>
              </p:cNvSpPr>
              <p:nvPr/>
            </p:nvSpPr>
            <p:spPr>
              <a:xfrm>
                <a:off x="5350" y="1625"/>
                <a:ext cx="54" cy="1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0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32832" name="WordArt 175"/>
              <p:cNvSpPr>
                <a:spLocks noTextEdit="1"/>
              </p:cNvSpPr>
              <p:nvPr/>
            </p:nvSpPr>
            <p:spPr>
              <a:xfrm>
                <a:off x="5152" y="1674"/>
                <a:ext cx="93" cy="9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19050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32833" name="WordArt 176"/>
              <p:cNvSpPr>
                <a:spLocks noTextEdit="1"/>
              </p:cNvSpPr>
              <p:nvPr/>
            </p:nvSpPr>
            <p:spPr>
              <a:xfrm>
                <a:off x="5282" y="1648"/>
                <a:ext cx="53" cy="14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32788" name="WordArt 177"/>
            <p:cNvSpPr>
              <a:spLocks noTextEdit="1"/>
            </p:cNvSpPr>
            <p:nvPr/>
          </p:nvSpPr>
          <p:spPr>
            <a:xfrm>
              <a:off x="5227" y="2487"/>
              <a:ext cx="85" cy="1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789" name="Line 178"/>
            <p:cNvSpPr/>
            <p:nvPr/>
          </p:nvSpPr>
          <p:spPr>
            <a:xfrm>
              <a:off x="5170" y="2463"/>
              <a:ext cx="233" cy="1"/>
            </a:xfrm>
            <a:prstGeom prst="line">
              <a:avLst/>
            </a:prstGeom>
            <a:ln w="28575" cap="flat" cmpd="sng">
              <a:solidFill>
                <a:srgbClr val="CC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0" name="WordArt 179"/>
            <p:cNvSpPr>
              <a:spLocks noTextEdit="1"/>
            </p:cNvSpPr>
            <p:nvPr/>
          </p:nvSpPr>
          <p:spPr>
            <a:xfrm>
              <a:off x="3227" y="2358"/>
              <a:ext cx="136" cy="1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75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CC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Symbol" panose="05050102010706020507" charset="0"/>
                  <a:ea typeface="Symbol" panose="05050102010706020507" charset="0"/>
                </a:rPr>
                <a:t>d</a:t>
              </a:r>
            </a:p>
          </p:txBody>
        </p:sp>
        <p:grpSp>
          <p:nvGrpSpPr>
            <p:cNvPr id="32791" name="Group 180"/>
            <p:cNvGrpSpPr/>
            <p:nvPr/>
          </p:nvGrpSpPr>
          <p:grpSpPr>
            <a:xfrm>
              <a:off x="3406" y="2370"/>
              <a:ext cx="680" cy="184"/>
              <a:chOff x="3406" y="2370"/>
              <a:chExt cx="680" cy="184"/>
            </a:xfrm>
          </p:grpSpPr>
          <p:grpSp>
            <p:nvGrpSpPr>
              <p:cNvPr id="32819" name="Group 181"/>
              <p:cNvGrpSpPr/>
              <p:nvPr/>
            </p:nvGrpSpPr>
            <p:grpSpPr>
              <a:xfrm>
                <a:off x="3406" y="2421"/>
                <a:ext cx="151" cy="53"/>
                <a:chOff x="1260" y="2371"/>
                <a:chExt cx="151" cy="53"/>
              </a:xfrm>
            </p:grpSpPr>
            <p:sp>
              <p:nvSpPr>
                <p:cNvPr id="32826" name="Line 182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27" name="Line 183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820" name="Group 184"/>
              <p:cNvGrpSpPr/>
              <p:nvPr/>
            </p:nvGrpSpPr>
            <p:grpSpPr>
              <a:xfrm>
                <a:off x="3619" y="2370"/>
                <a:ext cx="467" cy="184"/>
                <a:chOff x="1193" y="2206"/>
                <a:chExt cx="467" cy="184"/>
              </a:xfrm>
            </p:grpSpPr>
            <p:sp>
              <p:nvSpPr>
                <p:cNvPr id="32821" name="Line 185"/>
                <p:cNvSpPr/>
                <p:nvPr/>
              </p:nvSpPr>
              <p:spPr>
                <a:xfrm>
                  <a:off x="1370" y="2283"/>
                  <a:ext cx="123" cy="7"/>
                </a:xfrm>
                <a:prstGeom prst="line">
                  <a:avLst/>
                </a:prstGeom>
                <a:ln w="38100" cap="flat" cmpd="sng">
                  <a:solidFill>
                    <a:srgbClr val="CC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22" name="WordArt 186"/>
                <p:cNvSpPr>
                  <a:spLocks noTextEdit="1"/>
                </p:cNvSpPr>
                <p:nvPr/>
              </p:nvSpPr>
              <p:spPr>
                <a:xfrm>
                  <a:off x="1616" y="2287"/>
                  <a:ext cx="44" cy="9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32823" name="WordArt 187"/>
                <p:cNvSpPr>
                  <a:spLocks noTextEdit="1"/>
                </p:cNvSpPr>
                <p:nvPr/>
              </p:nvSpPr>
              <p:spPr>
                <a:xfrm>
                  <a:off x="1266" y="2293"/>
                  <a:ext cx="61" cy="9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2824" name="WordArt 188"/>
                <p:cNvSpPr>
                  <a:spLocks noTextEdit="1"/>
                </p:cNvSpPr>
                <p:nvPr/>
              </p:nvSpPr>
              <p:spPr>
                <a:xfrm>
                  <a:off x="1522" y="2216"/>
                  <a:ext cx="76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</a:p>
              </p:txBody>
            </p:sp>
            <p:sp>
              <p:nvSpPr>
                <p:cNvPr id="32825" name="WordArt 189"/>
                <p:cNvSpPr>
                  <a:spLocks noTextEdit="1"/>
                </p:cNvSpPr>
                <p:nvPr/>
              </p:nvSpPr>
              <p:spPr>
                <a:xfrm>
                  <a:off x="1193" y="2206"/>
                  <a:ext cx="76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</a:p>
              </p:txBody>
            </p:sp>
          </p:grpSp>
        </p:grpSp>
        <p:grpSp>
          <p:nvGrpSpPr>
            <p:cNvPr id="32792" name="Group 190"/>
            <p:cNvGrpSpPr/>
            <p:nvPr/>
          </p:nvGrpSpPr>
          <p:grpSpPr>
            <a:xfrm>
              <a:off x="4353" y="2355"/>
              <a:ext cx="125" cy="146"/>
              <a:chOff x="2500" y="3297"/>
              <a:chExt cx="123" cy="137"/>
            </a:xfrm>
          </p:grpSpPr>
          <p:sp>
            <p:nvSpPr>
              <p:cNvPr id="32817" name="WordArt 191"/>
              <p:cNvSpPr>
                <a:spLocks noTextEdit="1"/>
              </p:cNvSpPr>
              <p:nvPr/>
            </p:nvSpPr>
            <p:spPr>
              <a:xfrm>
                <a:off x="2502" y="3297"/>
                <a:ext cx="116" cy="10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19050" cap="flat" cmpd="sng">
                      <a:solidFill>
                        <a:srgbClr val="CC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32818" name="Line 192"/>
              <p:cNvSpPr/>
              <p:nvPr/>
            </p:nvSpPr>
            <p:spPr>
              <a:xfrm>
                <a:off x="2500" y="3434"/>
                <a:ext cx="123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793" name="Group 193"/>
            <p:cNvGrpSpPr/>
            <p:nvPr/>
          </p:nvGrpSpPr>
          <p:grpSpPr>
            <a:xfrm>
              <a:off x="4147" y="2418"/>
              <a:ext cx="151" cy="53"/>
              <a:chOff x="1260" y="2371"/>
              <a:chExt cx="151" cy="53"/>
            </a:xfrm>
          </p:grpSpPr>
          <p:sp>
            <p:nvSpPr>
              <p:cNvPr id="32815" name="Line 194"/>
              <p:cNvSpPr/>
              <p:nvPr/>
            </p:nvSpPr>
            <p:spPr>
              <a:xfrm>
                <a:off x="1260" y="2371"/>
                <a:ext cx="151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6" name="Line 195"/>
              <p:cNvSpPr/>
              <p:nvPr/>
            </p:nvSpPr>
            <p:spPr>
              <a:xfrm>
                <a:off x="1260" y="2424"/>
                <a:ext cx="151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794" name="WordArt 196"/>
            <p:cNvSpPr>
              <a:spLocks noTextEdit="1"/>
            </p:cNvSpPr>
            <p:nvPr/>
          </p:nvSpPr>
          <p:spPr>
            <a:xfrm>
              <a:off x="5209" y="2277"/>
              <a:ext cx="139" cy="14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sp>
          <p:nvSpPr>
            <p:cNvPr id="32795" name="WordArt 197"/>
            <p:cNvSpPr>
              <a:spLocks noTextEdit="1"/>
            </p:cNvSpPr>
            <p:nvPr/>
          </p:nvSpPr>
          <p:spPr>
            <a:xfrm>
              <a:off x="4608" y="2350"/>
              <a:ext cx="93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2796" name="WordArt 198"/>
            <p:cNvSpPr>
              <a:spLocks noTextEdit="1"/>
            </p:cNvSpPr>
            <p:nvPr/>
          </p:nvSpPr>
          <p:spPr>
            <a:xfrm>
              <a:off x="4736" y="2331"/>
              <a:ext cx="99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00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CC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Garamond" panose="02020404030301010803" charset="0"/>
                  <a:ea typeface="Garamond" panose="02020404030301010803" charset="0"/>
                </a:rPr>
                <a:t>k</a:t>
              </a:r>
            </a:p>
          </p:txBody>
        </p:sp>
        <p:sp>
          <p:nvSpPr>
            <p:cNvPr id="32797" name="WordArt 199"/>
            <p:cNvSpPr>
              <a:spLocks noTextEdit="1"/>
            </p:cNvSpPr>
            <p:nvPr/>
          </p:nvSpPr>
          <p:spPr>
            <a:xfrm>
              <a:off x="4536" y="2335"/>
              <a:ext cx="54" cy="18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0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32798" name="WordArt 200"/>
            <p:cNvSpPr>
              <a:spLocks noTextEdit="1"/>
            </p:cNvSpPr>
            <p:nvPr/>
          </p:nvSpPr>
          <p:spPr>
            <a:xfrm>
              <a:off x="5083" y="2342"/>
              <a:ext cx="54" cy="18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0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32799" name="WordArt 201"/>
            <p:cNvSpPr>
              <a:spLocks noTextEdit="1"/>
            </p:cNvSpPr>
            <p:nvPr/>
          </p:nvSpPr>
          <p:spPr>
            <a:xfrm>
              <a:off x="4885" y="2391"/>
              <a:ext cx="93" cy="9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>
                  <a:ln w="19050" cap="flat" cmpd="sng">
                    <a:solidFill>
                      <a:srgbClr val="CC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32800" name="WordArt 202"/>
            <p:cNvSpPr>
              <a:spLocks noTextEdit="1"/>
            </p:cNvSpPr>
            <p:nvPr/>
          </p:nvSpPr>
          <p:spPr>
            <a:xfrm>
              <a:off x="5015" y="2365"/>
              <a:ext cx="53" cy="14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25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1</a:t>
              </a:r>
            </a:p>
          </p:txBody>
        </p:sp>
        <p:grpSp>
          <p:nvGrpSpPr>
            <p:cNvPr id="32801" name="Group 203"/>
            <p:cNvGrpSpPr/>
            <p:nvPr/>
          </p:nvGrpSpPr>
          <p:grpSpPr>
            <a:xfrm>
              <a:off x="3954" y="3035"/>
              <a:ext cx="1524" cy="269"/>
              <a:chOff x="3400" y="3308"/>
              <a:chExt cx="1524" cy="269"/>
            </a:xfrm>
          </p:grpSpPr>
          <p:sp>
            <p:nvSpPr>
              <p:cNvPr id="32803" name="WordArt 204"/>
              <p:cNvSpPr>
                <a:spLocks noTextEdit="1"/>
              </p:cNvSpPr>
              <p:nvPr/>
            </p:nvSpPr>
            <p:spPr>
              <a:xfrm>
                <a:off x="3608" y="3423"/>
                <a:ext cx="238" cy="11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min</a:t>
                </a:r>
              </a:p>
            </p:txBody>
          </p:sp>
          <p:grpSp>
            <p:nvGrpSpPr>
              <p:cNvPr id="32804" name="Group 205"/>
              <p:cNvGrpSpPr/>
              <p:nvPr/>
            </p:nvGrpSpPr>
            <p:grpSpPr>
              <a:xfrm>
                <a:off x="3889" y="3421"/>
                <a:ext cx="125" cy="51"/>
                <a:chOff x="1260" y="2371"/>
                <a:chExt cx="151" cy="53"/>
              </a:xfrm>
            </p:grpSpPr>
            <p:sp>
              <p:nvSpPr>
                <p:cNvPr id="32813" name="Line 206"/>
                <p:cNvSpPr/>
                <p:nvPr/>
              </p:nvSpPr>
              <p:spPr>
                <a:xfrm>
                  <a:off x="1260" y="2371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814" name="Line 207"/>
                <p:cNvSpPr/>
                <p:nvPr/>
              </p:nvSpPr>
              <p:spPr>
                <a:xfrm>
                  <a:off x="1260" y="2424"/>
                  <a:ext cx="15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2805" name="WordArt 208"/>
              <p:cNvSpPr>
                <a:spLocks noTextEdit="1"/>
              </p:cNvSpPr>
              <p:nvPr/>
            </p:nvSpPr>
            <p:spPr>
              <a:xfrm>
                <a:off x="3400" y="3363"/>
                <a:ext cx="174" cy="16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088"/>
                  </a:avLst>
                </a:prstTxWarp>
                <a:normAutofit fontScale="40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2806" name="WordArt 209"/>
              <p:cNvSpPr>
                <a:spLocks noTextEdit="1"/>
              </p:cNvSpPr>
              <p:nvPr/>
            </p:nvSpPr>
            <p:spPr>
              <a:xfrm>
                <a:off x="4373" y="3462"/>
                <a:ext cx="42" cy="8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32807" name="WordArt 210"/>
              <p:cNvSpPr>
                <a:spLocks noTextEdit="1"/>
              </p:cNvSpPr>
              <p:nvPr/>
            </p:nvSpPr>
            <p:spPr>
              <a:xfrm>
                <a:off x="4768" y="3451"/>
                <a:ext cx="63" cy="8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32808" name="WordArt 211"/>
              <p:cNvSpPr>
                <a:spLocks noTextEdit="1"/>
              </p:cNvSpPr>
              <p:nvPr/>
            </p:nvSpPr>
            <p:spPr>
              <a:xfrm>
                <a:off x="4178" y="3369"/>
                <a:ext cx="174" cy="1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088"/>
                  </a:avLst>
                </a:prstTxWarp>
                <a:normAutofit fontScale="325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2809" name="WordArt 212"/>
              <p:cNvSpPr>
                <a:spLocks noTextEdit="1"/>
              </p:cNvSpPr>
              <p:nvPr/>
            </p:nvSpPr>
            <p:spPr>
              <a:xfrm>
                <a:off x="4568" y="3362"/>
                <a:ext cx="174" cy="16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5088"/>
                  </a:avLst>
                </a:prstTxWarp>
                <a:normAutofit fontScale="325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2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32810" name="Line 213"/>
              <p:cNvSpPr/>
              <p:nvPr/>
            </p:nvSpPr>
            <p:spPr>
              <a:xfrm>
                <a:off x="4449" y="3448"/>
                <a:ext cx="12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1" name="Line 214"/>
              <p:cNvSpPr/>
              <p:nvPr/>
            </p:nvSpPr>
            <p:spPr>
              <a:xfrm>
                <a:off x="4131" y="3326"/>
                <a:ext cx="0" cy="25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2" name="Line 215"/>
              <p:cNvSpPr/>
              <p:nvPr/>
            </p:nvSpPr>
            <p:spPr>
              <a:xfrm>
                <a:off x="4924" y="3308"/>
                <a:ext cx="0" cy="25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802" name="Text Box 216"/>
            <p:cNvSpPr txBox="1"/>
            <p:nvPr/>
          </p:nvSpPr>
          <p:spPr>
            <a:xfrm>
              <a:off x="3052" y="3490"/>
              <a:ext cx="2562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     </a:t>
              </a:r>
              <a:r>
                <a:rPr lang="zh-CN" altLang="en-US" sz="2000" dirty="0">
                  <a:solidFill>
                    <a:srgbClr val="0000FF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波程差为半波长的奇数倍时，各质点的振幅最小，干涉相消。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4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ext Box 2"/>
          <p:cNvSpPr txBox="1"/>
          <p:nvPr/>
        </p:nvSpPr>
        <p:spPr>
          <a:xfrm>
            <a:off x="322263" y="638175"/>
            <a:ext cx="4533900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在两相干波的交叠区域内，有的地方振动始终加强，有的地方振动始终削弱，而其它位置的振动的强弱介乎二者之间，形成</a:t>
            </a:r>
            <a:r>
              <a:rPr lang="zh-CN" altLang="en-US" sz="2000" dirty="0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振动强弱稳定分布的叠加</a:t>
            </a: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现象，称为</a:t>
            </a:r>
            <a:r>
              <a:rPr lang="zh-CN" altLang="en-US" sz="2000" u="sng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波的干涉现象</a:t>
            </a:r>
            <a:r>
              <a:rPr lang="zh-CN" altLang="en-US" sz="20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3795" name="Text Box 18"/>
          <p:cNvSpPr txBox="1"/>
          <p:nvPr/>
        </p:nvSpPr>
        <p:spPr>
          <a:xfrm>
            <a:off x="425450" y="161925"/>
            <a:ext cx="35147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波的干涉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103443" name="Text Box 19"/>
          <p:cNvSpPr txBox="1"/>
          <p:nvPr/>
        </p:nvSpPr>
        <p:spPr>
          <a:xfrm>
            <a:off x="250825" y="2879725"/>
            <a:ext cx="35433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总结：波的干涉</a:t>
            </a:r>
          </a:p>
        </p:txBody>
      </p:sp>
      <p:sp>
        <p:nvSpPr>
          <p:cNvPr id="103444" name="Text Box 20"/>
          <p:cNvSpPr txBox="1"/>
          <p:nvPr/>
        </p:nvSpPr>
        <p:spPr>
          <a:xfrm>
            <a:off x="450850" y="3543300"/>
            <a:ext cx="3660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相干波源的条件</a:t>
            </a:r>
          </a:p>
        </p:txBody>
      </p:sp>
      <p:grpSp>
        <p:nvGrpSpPr>
          <p:cNvPr id="2" name="Group 21"/>
          <p:cNvGrpSpPr/>
          <p:nvPr/>
        </p:nvGrpSpPr>
        <p:grpSpPr>
          <a:xfrm>
            <a:off x="736600" y="3927475"/>
            <a:ext cx="6705600" cy="530225"/>
            <a:chOff x="288" y="482"/>
            <a:chExt cx="4224" cy="334"/>
          </a:xfrm>
        </p:grpSpPr>
        <p:sp>
          <p:nvSpPr>
            <p:cNvPr id="33807" name="Text Box 22"/>
            <p:cNvSpPr txBox="1"/>
            <p:nvPr/>
          </p:nvSpPr>
          <p:spPr>
            <a:xfrm>
              <a:off x="288" y="528"/>
              <a:ext cx="14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①</a:t>
              </a:r>
              <a:r>
                <a:rPr lang="zh-CN" altLang="en-US" sz="2400" u="sng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频率相同</a:t>
              </a:r>
              <a:r>
                <a:rPr lang="en-US" altLang="zh-CN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;</a:t>
              </a:r>
            </a:p>
          </p:txBody>
        </p:sp>
        <p:sp>
          <p:nvSpPr>
            <p:cNvPr id="33808" name="Text Box 23"/>
            <p:cNvSpPr txBox="1"/>
            <p:nvPr/>
          </p:nvSpPr>
          <p:spPr>
            <a:xfrm>
              <a:off x="1392" y="528"/>
              <a:ext cx="16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②</a:t>
              </a:r>
              <a:r>
                <a:rPr lang="zh-CN" altLang="en-US" sz="2400" u="sng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振动方向相同</a:t>
              </a:r>
              <a:r>
                <a:rPr lang="en-US" altLang="zh-CN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;</a:t>
              </a:r>
            </a:p>
          </p:txBody>
        </p:sp>
        <p:sp>
          <p:nvSpPr>
            <p:cNvPr id="33809" name="Text Box 24"/>
            <p:cNvSpPr txBox="1"/>
            <p:nvPr/>
          </p:nvSpPr>
          <p:spPr>
            <a:xfrm>
              <a:off x="2880" y="482"/>
              <a:ext cx="1632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400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③</a:t>
              </a:r>
              <a:r>
                <a:rPr lang="zh-CN" altLang="en-US" sz="2400" u="sng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相位差恒定</a:t>
              </a:r>
              <a:r>
                <a:rPr lang="zh-CN" altLang="en-US" sz="2400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。</a:t>
              </a:r>
            </a:p>
          </p:txBody>
        </p:sp>
      </p:grpSp>
      <p:sp>
        <p:nvSpPr>
          <p:cNvPr id="103449" name="Text Box 25"/>
          <p:cNvSpPr txBox="1"/>
          <p:nvPr/>
        </p:nvSpPr>
        <p:spPr>
          <a:xfrm>
            <a:off x="438150" y="4533900"/>
            <a:ext cx="57229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/>
            <a:r>
              <a:rPr lang="en-US" altLang="zh-CN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(2) </a:t>
            </a:r>
            <a:r>
              <a:rPr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干涉条件</a:t>
            </a:r>
            <a:r>
              <a:rPr lang="en-US" altLang="zh-CN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400" baseline="-250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= </a:t>
            </a:r>
            <a:r>
              <a:rPr lang="en-US" altLang="zh-CN" sz="2400" baseline="-250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时，</a:t>
            </a:r>
            <a:endParaRPr lang="zh-CN" altLang="en-US" sz="2400" baseline="-25000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3" name="Group 26"/>
          <p:cNvGrpSpPr/>
          <p:nvPr/>
        </p:nvGrpSpPr>
        <p:grpSpPr>
          <a:xfrm>
            <a:off x="715963" y="5143500"/>
            <a:ext cx="7259637" cy="482600"/>
            <a:chOff x="467" y="2016"/>
            <a:chExt cx="4573" cy="304"/>
          </a:xfrm>
        </p:grpSpPr>
        <p:graphicFrame>
          <p:nvGraphicFramePr>
            <p:cNvPr id="33805" name="Object 27"/>
            <p:cNvGraphicFramePr/>
            <p:nvPr/>
          </p:nvGraphicFramePr>
          <p:xfrm>
            <a:off x="467" y="2016"/>
            <a:ext cx="274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2" r:id="rId3" imgW="1492250" imgH="110490" progId="Equation.3">
                    <p:embed/>
                  </p:oleObj>
                </mc:Choice>
                <mc:Fallback>
                  <p:oleObj r:id="rId3" imgW="1492250" imgH="11049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7" y="2016"/>
                          <a:ext cx="2749" cy="288"/>
                        </a:xfrm>
                        <a:prstGeom prst="rect">
                          <a:avLst/>
                        </a:prstGeom>
                        <a:noFill/>
                        <a:ln w="25400" cap="flat" cmpd="sng">
                          <a:solidFill>
                            <a:srgbClr val="FF00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6" name="Text Box 28"/>
            <p:cNvSpPr txBox="1"/>
            <p:nvPr/>
          </p:nvSpPr>
          <p:spPr>
            <a:xfrm>
              <a:off x="3812" y="2016"/>
              <a:ext cx="1228" cy="304"/>
            </a:xfrm>
            <a:prstGeom prst="rect">
              <a:avLst/>
            </a:prstGeom>
            <a:noFill/>
            <a:ln w="254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solidFill>
                    <a:srgbClr val="0033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干涉加强</a:t>
              </a:r>
            </a:p>
          </p:txBody>
        </p:sp>
      </p:grpSp>
      <p:grpSp>
        <p:nvGrpSpPr>
          <p:cNvPr id="4" name="Group 29"/>
          <p:cNvGrpSpPr/>
          <p:nvPr/>
        </p:nvGrpSpPr>
        <p:grpSpPr>
          <a:xfrm>
            <a:off x="660400" y="5743575"/>
            <a:ext cx="7086600" cy="838200"/>
            <a:chOff x="336" y="3360"/>
            <a:chExt cx="4464" cy="528"/>
          </a:xfrm>
        </p:grpSpPr>
        <p:graphicFrame>
          <p:nvGraphicFramePr>
            <p:cNvPr id="33803" name="Object 30"/>
            <p:cNvGraphicFramePr/>
            <p:nvPr/>
          </p:nvGraphicFramePr>
          <p:xfrm>
            <a:off x="336" y="3360"/>
            <a:ext cx="324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3" r:id="rId5" imgW="1844675" imgH="241935" progId="Equation.3">
                    <p:embed/>
                  </p:oleObj>
                </mc:Choice>
                <mc:Fallback>
                  <p:oleObj r:id="rId5" imgW="1844675" imgH="241935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CC33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6" y="3360"/>
                          <a:ext cx="3244" cy="528"/>
                        </a:xfrm>
                        <a:prstGeom prst="rect">
                          <a:avLst/>
                        </a:prstGeom>
                        <a:noFill/>
                        <a:ln w="25400" cap="flat" cmpd="sng">
                          <a:solidFill>
                            <a:srgbClr val="FF00FF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4" name="Text Box 31"/>
            <p:cNvSpPr txBox="1"/>
            <p:nvPr/>
          </p:nvSpPr>
          <p:spPr>
            <a:xfrm>
              <a:off x="3744" y="3504"/>
              <a:ext cx="1056" cy="304"/>
            </a:xfrm>
            <a:prstGeom prst="rect">
              <a:avLst/>
            </a:prstGeom>
            <a:noFill/>
            <a:ln w="2540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r>
                <a:rPr lang="zh-CN" altLang="en-US" sz="2400" dirty="0">
                  <a:solidFill>
                    <a:srgbClr val="0033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干涉减弱</a:t>
              </a:r>
            </a:p>
          </p:txBody>
        </p:sp>
      </p:grpSp>
      <p:pic>
        <p:nvPicPr>
          <p:cNvPr id="103456" name="Picture 32" descr="d24_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3650" y="627063"/>
            <a:ext cx="3543300" cy="2447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3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 build="p"/>
      <p:bldP spid="103443" grpId="0" build="p"/>
      <p:bldP spid="103444" grpId="0" build="p"/>
      <p:bldP spid="103449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/>
          <p:nvPr/>
        </p:nvSpPr>
        <p:spPr>
          <a:xfrm>
            <a:off x="3132138" y="115888"/>
            <a:ext cx="2043112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总  结：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71011" name="Text Box 3"/>
          <p:cNvSpPr txBox="1"/>
          <p:nvPr/>
        </p:nvSpPr>
        <p:spPr>
          <a:xfrm>
            <a:off x="381000" y="908050"/>
            <a:ext cx="8534400" cy="5818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驻波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：振幅、频率、传播速度都相同的两列相干波，在同一直线上沿</a:t>
            </a:r>
            <a:r>
              <a:rPr lang="zh-CN" altLang="en-US" sz="2400" dirty="0">
                <a:solidFill>
                  <a:srgbClr val="CC0000"/>
                </a:solidFill>
                <a:latin typeface="Times New Roman" panose="02020603050405020304" pitchFamily="18" charset="0"/>
              </a:rPr>
              <a:t>相反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方向传播时叠加而形成的一种特殊的干涉现象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marL="457200" indent="-457200" eaLnBrk="1" hangingPunct="1">
              <a:spcBef>
                <a:spcPct val="50000"/>
              </a:spcBef>
              <a:buAutoNum type="arabicPeriod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形成驻波时，介质中某些点始终静止不动，另一些点的振幅具有最大值，而其他各点的 振幅在零和最大值之间，使介质直线上各点作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分段振动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  <a:p>
            <a:pPr marL="457200" indent="-457200" eaLnBrk="1" hangingPunct="1">
              <a:spcBef>
                <a:spcPct val="50000"/>
              </a:spcBef>
              <a:buAutoNum type="arabicPeriod"/>
            </a:pP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相邻两波节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之间的所有点具有相同的振动相位，而</a:t>
            </a: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波节两边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的点振动相位相反。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457200" eaLnBrk="1" hangingPunct="1">
              <a:spcBef>
                <a:spcPct val="50000"/>
              </a:spcBef>
              <a:buAutoNum type="arabicPeriod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驻波的能量在相邻的波腹和波节间往复变化，在相邻的波节间发生动能和势能间的转换，动能主要集中在波腹，势能主要集中在波节，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无能量的定向传播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</a:p>
          <a:p>
            <a:pPr marL="457200" indent="-457200" eaLnBrk="1" hangingPunct="1">
              <a:spcBef>
                <a:spcPct val="50000"/>
              </a:spcBef>
              <a:buAutoNum type="arabicPeriod"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驻波中没有振动相位的逐点传播。</a:t>
            </a:r>
          </a:p>
          <a:p>
            <a:pPr marL="457200" indent="-45720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     行波：振动相位逐点传播；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7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51457" y="980728"/>
            <a:ext cx="8641085" cy="2232086"/>
          </a:xfrm>
          <a:prstGeom prst="rect">
            <a:avLst/>
          </a:prstGeom>
          <a:blipFill>
            <a:blip r:embed="rId2"/>
            <a:stretch>
              <a:fillRect l="-1058" t="-3005" b="-1639"/>
            </a:stretch>
          </a:blipFill>
          <a:ln>
            <a:noFill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sp>
        <p:nvSpPr>
          <p:cNvPr id="35843" name="文本框 2"/>
          <p:cNvSpPr txBox="1"/>
          <p:nvPr/>
        </p:nvSpPr>
        <p:spPr>
          <a:xfrm>
            <a:off x="3276600" y="95250"/>
            <a:ext cx="23749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典型例题</a:t>
            </a:r>
          </a:p>
        </p:txBody>
      </p:sp>
      <p:sp>
        <p:nvSpPr>
          <p:cNvPr id="2" name="文本框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51457" y="3501008"/>
            <a:ext cx="8641085" cy="2122376"/>
          </a:xfrm>
          <a:prstGeom prst="rect">
            <a:avLst/>
          </a:prstGeom>
          <a:blipFill>
            <a:blip r:embed="rId3"/>
            <a:stretch>
              <a:fillRect l="-1058" r="-353" b="-5747"/>
            </a:stretch>
          </a:blipFill>
          <a:ln>
            <a:noFill/>
          </a:ln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 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11863" y="5883275"/>
            <a:ext cx="266382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答案：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文本框 99"/>
          <p:cNvSpPr txBox="1"/>
          <p:nvPr/>
        </p:nvSpPr>
        <p:spPr>
          <a:xfrm>
            <a:off x="394970" y="1268730"/>
            <a:ext cx="8372475" cy="421259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eaLnBrk="0" hangingPunct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</a:rPr>
              <a:t>1</a:t>
            </a:r>
            <a:r>
              <a:rPr lang="zh-CN" altLang="zh-CN" sz="2400" dirty="0">
                <a:latin typeface="Times New Roman" panose="02020603050405020304" pitchFamily="18" charset="0"/>
              </a:rPr>
              <a:t>. </a:t>
            </a: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zh-CN" altLang="zh-CN" sz="2400" dirty="0">
                <a:latin typeface="Times New Roman" panose="02020603050405020304" pitchFamily="18" charset="0"/>
              </a:rPr>
              <a:t>波动就是振动在所有空间中的运动。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2</a:t>
            </a:r>
            <a:r>
              <a:rPr lang="zh-CN" altLang="zh-CN" sz="2400" dirty="0">
                <a:latin typeface="Times New Roman" panose="02020603050405020304" pitchFamily="18" charset="0"/>
              </a:rPr>
              <a:t>.</a:t>
            </a:r>
            <a:r>
              <a:rPr lang="en-US" altLang="zh-CN" sz="2400" dirty="0">
                <a:latin typeface="Times New Roman" panose="02020603050405020304" pitchFamily="18" charset="0"/>
              </a:rPr>
              <a:t>   </a:t>
            </a:r>
            <a:r>
              <a:rPr lang="zh-CN" altLang="zh-CN" sz="2400" dirty="0">
                <a:latin typeface="Times New Roman" panose="02020603050405020304" pitchFamily="18" charset="0"/>
              </a:rPr>
              <a:t>水的表面波是纵波。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3.   </a:t>
            </a:r>
            <a:r>
              <a:rPr lang="zh-CN" altLang="zh-CN" sz="2400" dirty="0">
                <a:latin typeface="Times New Roman" panose="02020603050405020304" pitchFamily="18" charset="0"/>
              </a:rPr>
              <a:t>机械波的传播速度既与波源有关也与介质有关。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4.   </a:t>
            </a:r>
            <a:r>
              <a:rPr lang="zh-CN" altLang="zh-CN" sz="2400" dirty="0">
                <a:latin typeface="Times New Roman" panose="02020603050405020304" pitchFamily="18" charset="0"/>
              </a:rPr>
              <a:t>机械波通过不同的媒质时，其频率不发生变化。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5.   </a:t>
            </a:r>
            <a:r>
              <a:rPr lang="zh-CN" altLang="zh-CN" sz="2400" dirty="0">
                <a:latin typeface="Times New Roman" panose="02020603050405020304" pitchFamily="18" charset="0"/>
              </a:rPr>
              <a:t>平面简谐波中，传播方向上质点的动能和势能同相变化。</a:t>
            </a:r>
          </a:p>
          <a:p>
            <a:pPr eaLnBrk="0" hangingPunct="0"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6.   </a:t>
            </a:r>
            <a:r>
              <a:rPr lang="zh-CN" altLang="zh-CN" sz="2400" dirty="0">
                <a:latin typeface="Times New Roman" panose="02020603050405020304" pitchFamily="18" charset="0"/>
              </a:rPr>
              <a:t>两个波源必须满足振动</a:t>
            </a:r>
            <a:r>
              <a:rPr lang="zh-CN" altLang="zh-CN" sz="2400" dirty="0" smtClean="0">
                <a:latin typeface="Times New Roman" panose="02020603050405020304" pitchFamily="18" charset="0"/>
              </a:rPr>
              <a:t>方向</a:t>
            </a:r>
            <a:r>
              <a:rPr lang="zh-CN" altLang="en-US" sz="2400" dirty="0" smtClean="0">
                <a:latin typeface="Times New Roman" panose="02020603050405020304" pitchFamily="18" charset="0"/>
              </a:rPr>
              <a:t>平行</a:t>
            </a:r>
            <a:r>
              <a:rPr lang="zh-CN" altLang="zh-CN" sz="2400" dirty="0" smtClean="0">
                <a:latin typeface="Times New Roman" panose="02020603050405020304" pitchFamily="18" charset="0"/>
              </a:rPr>
              <a:t>、</a:t>
            </a:r>
            <a:r>
              <a:rPr lang="zh-CN" altLang="zh-CN" sz="2400" dirty="0">
                <a:latin typeface="Times New Roman" panose="02020603050405020304" pitchFamily="18" charset="0"/>
              </a:rPr>
              <a:t>频率相同、相位差恒定三个条件才相干。 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8194" name="文本框 1"/>
          <p:cNvSpPr txBox="1"/>
          <p:nvPr/>
        </p:nvSpPr>
        <p:spPr>
          <a:xfrm>
            <a:off x="3419475" y="117475"/>
            <a:ext cx="2316163" cy="5826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  <a:latin typeface="Times New Roman" panose="02020603050405020304" pitchFamily="18" charset="0"/>
              </a:rPr>
              <a:t>判断正误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4"/>
          <p:cNvGrpSpPr/>
          <p:nvPr/>
        </p:nvGrpSpPr>
        <p:grpSpPr>
          <a:xfrm>
            <a:off x="0" y="-49212"/>
            <a:ext cx="9144000" cy="795337"/>
            <a:chOff x="0" y="0"/>
            <a:chExt cx="5760" cy="501"/>
          </a:xfrm>
        </p:grpSpPr>
        <p:sp>
          <p:nvSpPr>
            <p:cNvPr id="36881" name="Rectangle 5"/>
            <p:cNvSpPr/>
            <p:nvPr/>
          </p:nvSpPr>
          <p:spPr>
            <a:xfrm>
              <a:off x="0" y="453"/>
              <a:ext cx="5760" cy="48"/>
            </a:xfrm>
            <a:prstGeom prst="rect">
              <a:avLst/>
            </a:prstGeom>
            <a:solidFill>
              <a:srgbClr val="CC33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zh-CN" sz="2400" dirty="0">
                <a:solidFill>
                  <a:srgbClr val="02084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882" name="Rectangle 6"/>
            <p:cNvSpPr/>
            <p:nvPr/>
          </p:nvSpPr>
          <p:spPr>
            <a:xfrm>
              <a:off x="0" y="0"/>
              <a:ext cx="5760" cy="480"/>
            </a:xfrm>
            <a:prstGeom prst="rect">
              <a:avLst/>
            </a:prstGeom>
            <a:solidFill>
              <a:srgbClr val="00467A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zh-CN" sz="2400" dirty="0">
                <a:solidFill>
                  <a:srgbClr val="020844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6867" name="Rectangle 20"/>
          <p:cNvSpPr/>
          <p:nvPr/>
        </p:nvSpPr>
        <p:spPr>
          <a:xfrm>
            <a:off x="2355850" y="47625"/>
            <a:ext cx="41751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第十一章主要内容</a:t>
            </a:r>
          </a:p>
        </p:txBody>
      </p:sp>
      <p:sp>
        <p:nvSpPr>
          <p:cNvPr id="36868" name="Text Box 8"/>
          <p:cNvSpPr txBox="1"/>
          <p:nvPr/>
        </p:nvSpPr>
        <p:spPr>
          <a:xfrm>
            <a:off x="2317750" y="869950"/>
            <a:ext cx="4824413" cy="2122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相干光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杨氏双缝干涉、劳埃德镜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薄膜干涉   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劈尖、牛顿环</a:t>
            </a:r>
          </a:p>
        </p:txBody>
      </p:sp>
      <p:sp>
        <p:nvSpPr>
          <p:cNvPr id="36869" name="Text Box 9"/>
          <p:cNvSpPr txBox="1"/>
          <p:nvPr/>
        </p:nvSpPr>
        <p:spPr>
          <a:xfrm>
            <a:off x="2217738" y="3616325"/>
            <a:ext cx="5256212" cy="21228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惠更斯</a:t>
            </a:r>
            <a:r>
              <a:rPr lang="en-US" altLang="zh-CN" sz="2400" dirty="0">
                <a:solidFill>
                  <a:srgbClr val="003366"/>
                </a:solidFill>
                <a:latin typeface="Arial" panose="020B0604020202020204" pitchFamily="34" charset="0"/>
              </a:rPr>
              <a:t>-</a:t>
            </a: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菲涅尔原理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单缝衍射</a:t>
            </a:r>
            <a:endParaRPr lang="en-US" altLang="zh-CN" sz="2400" dirty="0">
              <a:solidFill>
                <a:srgbClr val="003366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         光栅衍射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          偏振</a:t>
            </a:r>
          </a:p>
        </p:txBody>
      </p:sp>
      <p:sp>
        <p:nvSpPr>
          <p:cNvPr id="36870" name="Rectangle 12"/>
          <p:cNvSpPr/>
          <p:nvPr/>
        </p:nvSpPr>
        <p:spPr>
          <a:xfrm>
            <a:off x="323850" y="1555750"/>
            <a:ext cx="17303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66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光的干涉</a:t>
            </a:r>
          </a:p>
        </p:txBody>
      </p:sp>
      <p:sp>
        <p:nvSpPr>
          <p:cNvPr id="36871" name="AutoShape 13"/>
          <p:cNvSpPr/>
          <p:nvPr/>
        </p:nvSpPr>
        <p:spPr>
          <a:xfrm>
            <a:off x="2124075" y="836613"/>
            <a:ext cx="215900" cy="2305050"/>
          </a:xfrm>
          <a:prstGeom prst="leftBrace">
            <a:avLst>
              <a:gd name="adj1" fmla="val 88970"/>
              <a:gd name="adj2" fmla="val 50000"/>
            </a:avLst>
          </a:prstGeom>
          <a:noFill/>
          <a:ln w="9525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6872" name="Rectangle 15"/>
          <p:cNvSpPr/>
          <p:nvPr/>
        </p:nvSpPr>
        <p:spPr>
          <a:xfrm>
            <a:off x="323850" y="3886200"/>
            <a:ext cx="17303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66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dirty="0">
                <a:solidFill>
                  <a:srgbClr val="003366"/>
                </a:solidFill>
                <a:latin typeface="Arial" panose="020B0604020202020204" pitchFamily="34" charset="0"/>
              </a:rPr>
              <a:t>光的衍射</a:t>
            </a:r>
          </a:p>
        </p:txBody>
      </p:sp>
      <p:sp>
        <p:nvSpPr>
          <p:cNvPr id="36873" name="AutoShape 16"/>
          <p:cNvSpPr/>
          <p:nvPr/>
        </p:nvSpPr>
        <p:spPr>
          <a:xfrm>
            <a:off x="2122488" y="3619500"/>
            <a:ext cx="73025" cy="1727200"/>
          </a:xfrm>
          <a:prstGeom prst="leftBrace">
            <a:avLst>
              <a:gd name="adj1" fmla="val 197101"/>
              <a:gd name="adj2" fmla="val 50000"/>
            </a:avLst>
          </a:prstGeom>
          <a:noFill/>
          <a:ln w="9525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星形: 五角 4"/>
          <p:cNvSpPr/>
          <p:nvPr/>
        </p:nvSpPr>
        <p:spPr>
          <a:xfrm>
            <a:off x="2365375" y="4824413"/>
            <a:ext cx="287338" cy="287338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星形: 五角 5"/>
          <p:cNvSpPr/>
          <p:nvPr/>
        </p:nvSpPr>
        <p:spPr>
          <a:xfrm>
            <a:off x="2627313" y="4824413"/>
            <a:ext cx="287338" cy="287338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星形: 五角 6"/>
          <p:cNvSpPr/>
          <p:nvPr/>
        </p:nvSpPr>
        <p:spPr>
          <a:xfrm>
            <a:off x="2339975" y="5373688"/>
            <a:ext cx="287338" cy="287338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星形: 五角 7"/>
          <p:cNvSpPr/>
          <p:nvPr/>
        </p:nvSpPr>
        <p:spPr>
          <a:xfrm>
            <a:off x="2627313" y="5373688"/>
            <a:ext cx="287338" cy="287338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4"/>
          <p:cNvGrpSpPr/>
          <p:nvPr/>
        </p:nvGrpSpPr>
        <p:grpSpPr>
          <a:xfrm>
            <a:off x="0" y="-49212"/>
            <a:ext cx="9144000" cy="795337"/>
            <a:chOff x="0" y="0"/>
            <a:chExt cx="5760" cy="501"/>
          </a:xfrm>
        </p:grpSpPr>
        <p:sp>
          <p:nvSpPr>
            <p:cNvPr id="37905" name="Rectangle 5"/>
            <p:cNvSpPr/>
            <p:nvPr/>
          </p:nvSpPr>
          <p:spPr>
            <a:xfrm>
              <a:off x="0" y="453"/>
              <a:ext cx="5760" cy="48"/>
            </a:xfrm>
            <a:prstGeom prst="rect">
              <a:avLst/>
            </a:prstGeom>
            <a:solidFill>
              <a:srgbClr val="CC33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zh-CN" sz="2800" dirty="0">
                <a:solidFill>
                  <a:srgbClr val="02084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06" name="Rectangle 6"/>
            <p:cNvSpPr/>
            <p:nvPr/>
          </p:nvSpPr>
          <p:spPr>
            <a:xfrm>
              <a:off x="0" y="0"/>
              <a:ext cx="5760" cy="480"/>
            </a:xfrm>
            <a:prstGeom prst="rect">
              <a:avLst/>
            </a:prstGeom>
            <a:solidFill>
              <a:srgbClr val="00467A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zh-CN" sz="2800" dirty="0">
                <a:solidFill>
                  <a:srgbClr val="020844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7891" name="Text Box 49"/>
          <p:cNvSpPr txBox="1"/>
          <p:nvPr/>
        </p:nvSpPr>
        <p:spPr>
          <a:xfrm>
            <a:off x="250825" y="836613"/>
            <a:ext cx="8353425" cy="1150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03366"/>
                </a:solidFill>
                <a:latin typeface="Arial" panose="020B0604020202020204" pitchFamily="34" charset="0"/>
              </a:rPr>
              <a:t>光是一种电磁波，是横波。对光波来说，振动的是电场强度    和磁场强度    。</a:t>
            </a:r>
          </a:p>
        </p:txBody>
      </p:sp>
      <p:graphicFrame>
        <p:nvGraphicFramePr>
          <p:cNvPr id="37892" name="Object 50"/>
          <p:cNvGraphicFramePr>
            <a:graphicFrameLocks noGrp="1" noChangeAspect="1"/>
          </p:cNvGraphicFramePr>
          <p:nvPr>
            <p:ph sz="half" idx="1"/>
          </p:nvPr>
        </p:nvGraphicFramePr>
        <p:xfrm>
          <a:off x="1784350" y="1503363"/>
          <a:ext cx="3667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r:id="rId3" imgW="78740" imgH="105410" progId="Equation.3">
                  <p:embed/>
                </p:oleObj>
              </mc:Choice>
              <mc:Fallback>
                <p:oleObj r:id="rId3" imgW="78740" imgH="10541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84350" y="1503363"/>
                        <a:ext cx="366713" cy="458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3" name="Object 5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911600" y="1412875"/>
          <a:ext cx="43497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r:id="rId5" imgW="94615" imgH="105410" progId="Equation.3">
                  <p:embed/>
                </p:oleObj>
              </mc:Choice>
              <mc:Fallback>
                <p:oleObj r:id="rId5" imgW="94615" imgH="10541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11600" y="1412875"/>
                        <a:ext cx="434975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Text Box 55"/>
          <p:cNvSpPr txBox="1"/>
          <p:nvPr/>
        </p:nvSpPr>
        <p:spPr>
          <a:xfrm>
            <a:off x="260350" y="2060575"/>
            <a:ext cx="8497888" cy="11509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03366"/>
                </a:solidFill>
                <a:latin typeface="Arial" panose="020B0604020202020204" pitchFamily="34" charset="0"/>
              </a:rPr>
              <a:t>能引起人眼视觉和底片感光的是     ，故把电场强度矢量叫做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光矢量。</a:t>
            </a:r>
          </a:p>
        </p:txBody>
      </p:sp>
      <p:graphicFrame>
        <p:nvGraphicFramePr>
          <p:cNvPr id="37895" name="Object 5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435600" y="2133600"/>
          <a:ext cx="3175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r:id="rId7" imgW="78740" imgH="105410" progId="Equation.3">
                  <p:embed/>
                </p:oleObj>
              </mc:Choice>
              <mc:Fallback>
                <p:oleObj r:id="rId7" imgW="78740" imgH="10541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35600" y="2133600"/>
                        <a:ext cx="317500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Text Box 59"/>
          <p:cNvSpPr txBox="1"/>
          <p:nvPr/>
        </p:nvSpPr>
        <p:spPr>
          <a:xfrm>
            <a:off x="3563938" y="50800"/>
            <a:ext cx="295275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光的基本特性</a:t>
            </a:r>
          </a:p>
        </p:txBody>
      </p:sp>
      <p:sp>
        <p:nvSpPr>
          <p:cNvPr id="37897" name="Text Box 60"/>
          <p:cNvSpPr txBox="1"/>
          <p:nvPr/>
        </p:nvSpPr>
        <p:spPr>
          <a:xfrm>
            <a:off x="550863" y="4365625"/>
            <a:ext cx="32004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3366"/>
                </a:solidFill>
                <a:latin typeface="Times New Roman" panose="02020603050405020304" pitchFamily="18" charset="0"/>
              </a:rPr>
              <a:t>可见光的范围</a:t>
            </a:r>
          </a:p>
        </p:txBody>
      </p:sp>
      <p:graphicFrame>
        <p:nvGraphicFramePr>
          <p:cNvPr id="37898" name="Object 61"/>
          <p:cNvGraphicFramePr>
            <a:graphicFrameLocks noChangeAspect="1"/>
          </p:cNvGraphicFramePr>
          <p:nvPr/>
        </p:nvGraphicFramePr>
        <p:xfrm>
          <a:off x="3817938" y="4149725"/>
          <a:ext cx="3895725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r:id="rId9" imgW="1129665" imgH="273050" progId="Equation.3">
                  <p:embed/>
                </p:oleObj>
              </mc:Choice>
              <mc:Fallback>
                <p:oleObj r:id="rId9" imgW="1129665" imgH="27305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17938" y="4149725"/>
                        <a:ext cx="3895725" cy="1065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9" name="Group 65"/>
          <p:cNvGrpSpPr/>
          <p:nvPr/>
        </p:nvGrpSpPr>
        <p:grpSpPr>
          <a:xfrm>
            <a:off x="827088" y="3068638"/>
            <a:ext cx="4938712" cy="973137"/>
            <a:chOff x="204" y="2432"/>
            <a:chExt cx="3187" cy="671"/>
          </a:xfrm>
        </p:grpSpPr>
        <p:graphicFrame>
          <p:nvGraphicFramePr>
            <p:cNvPr id="37903" name="Object 63"/>
            <p:cNvGraphicFramePr>
              <a:graphicFrameLocks noChangeAspect="1"/>
            </p:cNvGraphicFramePr>
            <p:nvPr/>
          </p:nvGraphicFramePr>
          <p:xfrm>
            <a:off x="2336" y="2432"/>
            <a:ext cx="1055" cy="6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35" r:id="rId11" imgW="462280" imgH="299720" progId="Equation.3">
                    <p:embed/>
                  </p:oleObj>
                </mc:Choice>
                <mc:Fallback>
                  <p:oleObj r:id="rId11" imgW="462280" imgH="299720" progId="Equation.3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36" y="2432"/>
                          <a:ext cx="1055" cy="671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accent1"/>
                            </a:gs>
                            <a:gs pos="50000">
                              <a:srgbClr val="FFFFFF"/>
                            </a:gs>
                            <a:gs pos="100000">
                              <a:schemeClr val="accent1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4" name="Text Box 64"/>
            <p:cNvSpPr txBox="1"/>
            <p:nvPr/>
          </p:nvSpPr>
          <p:spPr>
            <a:xfrm>
              <a:off x="204" y="2624"/>
              <a:ext cx="225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l"/>
              </a:pPr>
              <a:r>
                <a:rPr lang="en-US" altLang="zh-CN" sz="28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真空中的光速</a:t>
              </a:r>
            </a:p>
          </p:txBody>
        </p:sp>
      </p:grpSp>
      <p:sp>
        <p:nvSpPr>
          <p:cNvPr id="37900" name="AutoShape 66"/>
          <p:cNvSpPr/>
          <p:nvPr/>
        </p:nvSpPr>
        <p:spPr>
          <a:xfrm>
            <a:off x="3567113" y="4292600"/>
            <a:ext cx="71437" cy="792163"/>
          </a:xfrm>
          <a:prstGeom prst="leftBrace">
            <a:avLst>
              <a:gd name="adj1" fmla="val 92408"/>
              <a:gd name="adj2" fmla="val 50000"/>
            </a:avLst>
          </a:prstGeom>
          <a:noFill/>
          <a:ln w="9525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901" name="文本框 1"/>
          <p:cNvSpPr txBox="1"/>
          <p:nvPr/>
        </p:nvSpPr>
        <p:spPr>
          <a:xfrm>
            <a:off x="287338" y="5373688"/>
            <a:ext cx="856932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3366"/>
                </a:solidFill>
                <a:latin typeface="Arial" panose="020B0604020202020204" pitchFamily="34" charset="0"/>
              </a:rPr>
              <a:t>光从真空或空气进入其他介质，波速变慢，波长变短</a:t>
            </a:r>
          </a:p>
        </p:txBody>
      </p:sp>
      <p:sp>
        <p:nvSpPr>
          <p:cNvPr id="3" name="文本框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34937" y="5928103"/>
            <a:ext cx="3059909" cy="702372"/>
          </a:xfrm>
          <a:prstGeom prst="rect">
            <a:avLst/>
          </a:pr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4"/>
          <p:cNvGrpSpPr/>
          <p:nvPr/>
        </p:nvGrpSpPr>
        <p:grpSpPr>
          <a:xfrm>
            <a:off x="0" y="-26987"/>
            <a:ext cx="9144000" cy="795337"/>
            <a:chOff x="0" y="0"/>
            <a:chExt cx="5760" cy="501"/>
          </a:xfrm>
        </p:grpSpPr>
        <p:sp>
          <p:nvSpPr>
            <p:cNvPr id="38920" name="Rectangle 5"/>
            <p:cNvSpPr/>
            <p:nvPr/>
          </p:nvSpPr>
          <p:spPr>
            <a:xfrm>
              <a:off x="0" y="453"/>
              <a:ext cx="5760" cy="48"/>
            </a:xfrm>
            <a:prstGeom prst="rect">
              <a:avLst/>
            </a:prstGeom>
            <a:solidFill>
              <a:srgbClr val="CC33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zh-CN" sz="2800" dirty="0">
                <a:solidFill>
                  <a:srgbClr val="02084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21" name="Rectangle 6"/>
            <p:cNvSpPr/>
            <p:nvPr/>
          </p:nvSpPr>
          <p:spPr>
            <a:xfrm>
              <a:off x="0" y="0"/>
              <a:ext cx="5760" cy="480"/>
            </a:xfrm>
            <a:prstGeom prst="rect">
              <a:avLst/>
            </a:prstGeom>
            <a:solidFill>
              <a:srgbClr val="00467A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zh-CN" sz="2800" dirty="0">
                <a:solidFill>
                  <a:srgbClr val="020844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8915" name="Text Box 7"/>
          <p:cNvSpPr txBox="1"/>
          <p:nvPr/>
        </p:nvSpPr>
        <p:spPr>
          <a:xfrm>
            <a:off x="179388" y="1196975"/>
            <a:ext cx="8785225" cy="1238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相干条件</a:t>
            </a:r>
            <a:r>
              <a:rPr lang="en-US" altLang="zh-CN" dirty="0">
                <a:solidFill>
                  <a:srgbClr val="003366"/>
                </a:solidFill>
                <a:latin typeface="宋体" panose="02010600030101010101" pitchFamily="2" charset="-122"/>
              </a:rPr>
              <a:t>: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rgbClr val="003366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dirty="0">
                <a:solidFill>
                  <a:srgbClr val="003366"/>
                </a:solidFill>
                <a:latin typeface="宋体" panose="02010600030101010101" pitchFamily="2" charset="-122"/>
              </a:rPr>
              <a:t>频率相同  </a:t>
            </a:r>
            <a:r>
              <a:rPr lang="en-US" altLang="zh-CN" dirty="0">
                <a:solidFill>
                  <a:srgbClr val="003366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dirty="0">
                <a:solidFill>
                  <a:srgbClr val="003366"/>
                </a:solidFill>
                <a:latin typeface="宋体" panose="02010600030101010101" pitchFamily="2" charset="-122"/>
              </a:rPr>
              <a:t>相位差恒定 </a:t>
            </a:r>
            <a:r>
              <a:rPr lang="en-US" altLang="zh-CN" dirty="0">
                <a:solidFill>
                  <a:srgbClr val="003366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dirty="0">
                <a:solidFill>
                  <a:srgbClr val="003366"/>
                </a:solidFill>
                <a:latin typeface="宋体" panose="02010600030101010101" pitchFamily="2" charset="-122"/>
              </a:rPr>
              <a:t>振动方向平行</a:t>
            </a:r>
          </a:p>
        </p:txBody>
      </p:sp>
      <p:sp>
        <p:nvSpPr>
          <p:cNvPr id="38916" name="Rectangle 10"/>
          <p:cNvSpPr/>
          <p:nvPr/>
        </p:nvSpPr>
        <p:spPr>
          <a:xfrm>
            <a:off x="3779838" y="50800"/>
            <a:ext cx="1560512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相干光</a:t>
            </a:r>
          </a:p>
        </p:txBody>
      </p:sp>
      <p:sp>
        <p:nvSpPr>
          <p:cNvPr id="38917" name="Text Box 11"/>
          <p:cNvSpPr txBox="1"/>
          <p:nvPr/>
        </p:nvSpPr>
        <p:spPr>
          <a:xfrm>
            <a:off x="274638" y="2879725"/>
            <a:ext cx="85709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3366"/>
                </a:solidFill>
                <a:latin typeface="Arial" panose="020B0604020202020204" pitchFamily="34" charset="0"/>
              </a:rPr>
              <a:t>若两束光的光矢量满足相干条件，则它们是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相干光</a:t>
            </a:r>
          </a:p>
        </p:txBody>
      </p:sp>
      <p:sp>
        <p:nvSpPr>
          <p:cNvPr id="38918" name="Text Box 12"/>
          <p:cNvSpPr txBox="1"/>
          <p:nvPr/>
        </p:nvSpPr>
        <p:spPr>
          <a:xfrm>
            <a:off x="179388" y="3716338"/>
            <a:ext cx="76342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3366"/>
                </a:solidFill>
                <a:latin typeface="Arial" panose="020B0604020202020204" pitchFamily="34" charset="0"/>
              </a:rPr>
              <a:t>相应的光源叫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相干光源</a:t>
            </a:r>
            <a:r>
              <a:rPr lang="zh-CN" altLang="en-US" dirty="0">
                <a:solidFill>
                  <a:srgbClr val="003366"/>
                </a:solidFill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38919" name="文本框 1"/>
          <p:cNvSpPr txBox="1"/>
          <p:nvPr/>
        </p:nvSpPr>
        <p:spPr>
          <a:xfrm>
            <a:off x="935038" y="4699000"/>
            <a:ext cx="7273925" cy="13017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</a:rPr>
              <a:t>干涉和衍射实质上都是光的相干叠加：</a:t>
            </a:r>
            <a:endParaRPr lang="en-US" altLang="zh-CN" sz="2800" dirty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2060"/>
                </a:solidFill>
                <a:latin typeface="Times New Roman" panose="02020603050405020304" pitchFamily="18" charset="0"/>
              </a:rPr>
              <a:t>干涉为有限子波源，衍射为无限子波源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/>
          <p:nvPr/>
        </p:nvSpPr>
        <p:spPr>
          <a:xfrm>
            <a:off x="304800" y="981075"/>
            <a:ext cx="8686800" cy="2244725"/>
          </a:xfrm>
          <a:prstGeom prst="rect">
            <a:avLst/>
          </a:prstGeom>
          <a:noFill/>
          <a:ln w="19050" cap="flat" cmpd="sng">
            <a:solidFill>
              <a:srgbClr val="66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03366"/>
                </a:solidFill>
                <a:latin typeface="Times New Roman" panose="02020603050405020304" pitchFamily="18" charset="0"/>
                <a:ea typeface="楷体_GB2312" pitchFamily="49" charset="-122"/>
              </a:rPr>
              <a:t>光程是一个折合量，在传播时间相同或相位改变相同的条件下，把光在介质中传播的路程折合为光在真空中传播的相应路程。在数值上，光程等于介质折射率乘以光在介质中传播的路程。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1116013" y="5297488"/>
            <a:ext cx="1992312" cy="723900"/>
            <a:chOff x="1248" y="2712"/>
            <a:chExt cx="1255" cy="456"/>
          </a:xfrm>
        </p:grpSpPr>
        <p:sp>
          <p:nvSpPr>
            <p:cNvPr id="39969" name="Text Box 4"/>
            <p:cNvSpPr txBox="1"/>
            <p:nvPr/>
          </p:nvSpPr>
          <p:spPr>
            <a:xfrm>
              <a:off x="1248" y="2724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光程 </a:t>
              </a:r>
            </a:p>
          </p:txBody>
        </p:sp>
        <p:graphicFrame>
          <p:nvGraphicFramePr>
            <p:cNvPr id="39970" name="Object 5"/>
            <p:cNvGraphicFramePr/>
            <p:nvPr/>
          </p:nvGraphicFramePr>
          <p:xfrm>
            <a:off x="1759" y="2712"/>
            <a:ext cx="74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5" r:id="rId3" imgW="746125" imgH="431165" progId="Equation.3">
                    <p:embed/>
                  </p:oleObj>
                </mc:Choice>
                <mc:Fallback>
                  <p:oleObj r:id="rId3" imgW="746125" imgH="431165" progId="Equation.3">
                    <p:embed/>
                    <p:pic>
                      <p:nvPicPr>
                        <p:cNvPr id="0" name="图片 3162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59" y="2712"/>
                          <a:ext cx="744" cy="4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/>
          <p:nvPr/>
        </p:nvGrpSpPr>
        <p:grpSpPr>
          <a:xfrm>
            <a:off x="304800" y="4556125"/>
            <a:ext cx="8458200" cy="1389063"/>
            <a:chOff x="192" y="1983"/>
            <a:chExt cx="5328" cy="875"/>
          </a:xfrm>
        </p:grpSpPr>
        <p:grpSp>
          <p:nvGrpSpPr>
            <p:cNvPr id="39945" name="Group 7"/>
            <p:cNvGrpSpPr/>
            <p:nvPr/>
          </p:nvGrpSpPr>
          <p:grpSpPr>
            <a:xfrm>
              <a:off x="3354" y="2016"/>
              <a:ext cx="2166" cy="842"/>
              <a:chOff x="3073" y="1894"/>
              <a:chExt cx="2166" cy="842"/>
            </a:xfrm>
          </p:grpSpPr>
          <p:sp>
            <p:nvSpPr>
              <p:cNvPr id="39947" name="Line 8"/>
              <p:cNvSpPr/>
              <p:nvPr/>
            </p:nvSpPr>
            <p:spPr>
              <a:xfrm>
                <a:off x="4533" y="2394"/>
                <a:ext cx="0" cy="160"/>
              </a:xfrm>
              <a:prstGeom prst="line">
                <a:avLst/>
              </a:prstGeom>
              <a:ln w="12700" cap="flat" cmpd="sng">
                <a:solidFill>
                  <a:srgbClr val="66FF33"/>
                </a:solidFill>
                <a:prstDash val="solid"/>
                <a:headEnd type="none" w="med" len="sm"/>
                <a:tailEnd type="none" w="med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8" name="Line 9"/>
              <p:cNvSpPr/>
              <p:nvPr/>
            </p:nvSpPr>
            <p:spPr>
              <a:xfrm>
                <a:off x="4991" y="2394"/>
                <a:ext cx="0" cy="160"/>
              </a:xfrm>
              <a:prstGeom prst="line">
                <a:avLst/>
              </a:prstGeom>
              <a:ln w="12700" cap="flat" cmpd="sng">
                <a:solidFill>
                  <a:srgbClr val="66FF33"/>
                </a:solidFill>
                <a:prstDash val="solid"/>
                <a:headEnd type="none" w="med" len="sm"/>
                <a:tailEnd type="none" w="med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9" name="Rectangle 10"/>
              <p:cNvSpPr/>
              <p:nvPr/>
            </p:nvSpPr>
            <p:spPr>
              <a:xfrm>
                <a:off x="4535" y="1972"/>
                <a:ext cx="456" cy="432"/>
              </a:xfrm>
              <a:prstGeom prst="rect">
                <a:avLst/>
              </a:prstGeom>
              <a:solidFill>
                <a:srgbClr val="FFCCFF"/>
              </a:solidFill>
              <a:ln w="2540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950" name="Line 11"/>
              <p:cNvSpPr/>
              <p:nvPr/>
            </p:nvSpPr>
            <p:spPr>
              <a:xfrm>
                <a:off x="3103" y="2187"/>
                <a:ext cx="2136" cy="1"/>
              </a:xfrm>
              <a:prstGeom prst="line">
                <a:avLst/>
              </a:prstGeom>
              <a:ln w="38100" cap="flat" cmpd="sng">
                <a:solidFill>
                  <a:srgbClr val="FFCC99"/>
                </a:solidFill>
                <a:prstDash val="solid"/>
                <a:headEnd type="none" w="med" len="sm"/>
                <a:tailEnd type="triangle" w="med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1" name="Rectangle 12"/>
              <p:cNvSpPr/>
              <p:nvPr/>
            </p:nvSpPr>
            <p:spPr>
              <a:xfrm>
                <a:off x="4187" y="1894"/>
                <a:ext cx="392" cy="208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lIns="12700" tIns="12700" rIns="12700" bIns="12700"/>
              <a:lstStyle/>
              <a:p>
                <a:pPr algn="just" eaLnBrk="1" hangingPunct="1"/>
                <a:r>
                  <a:rPr lang="en-US" altLang="zh-CN" sz="2400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……</a:t>
                </a:r>
              </a:p>
            </p:txBody>
          </p:sp>
          <p:sp>
            <p:nvSpPr>
              <p:cNvPr id="39952" name="Line 13"/>
              <p:cNvSpPr/>
              <p:nvPr/>
            </p:nvSpPr>
            <p:spPr>
              <a:xfrm>
                <a:off x="3287" y="2394"/>
                <a:ext cx="0" cy="161"/>
              </a:xfrm>
              <a:prstGeom prst="line">
                <a:avLst/>
              </a:prstGeom>
              <a:ln w="12700" cap="flat" cmpd="sng">
                <a:solidFill>
                  <a:srgbClr val="66FF33"/>
                </a:solidFill>
                <a:prstDash val="solid"/>
                <a:headEnd type="none" w="med" len="sm"/>
                <a:tailEnd type="none" w="med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3" name="Line 14"/>
              <p:cNvSpPr/>
              <p:nvPr/>
            </p:nvSpPr>
            <p:spPr>
              <a:xfrm>
                <a:off x="3695" y="2402"/>
                <a:ext cx="0" cy="161"/>
              </a:xfrm>
              <a:prstGeom prst="line">
                <a:avLst/>
              </a:prstGeom>
              <a:ln w="12700" cap="flat" cmpd="sng">
                <a:solidFill>
                  <a:srgbClr val="66FF33"/>
                </a:solidFill>
                <a:prstDash val="solid"/>
                <a:headEnd type="none" w="med" len="sm"/>
                <a:tailEnd type="none" w="med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4" name="Line 15"/>
              <p:cNvSpPr/>
              <p:nvPr/>
            </p:nvSpPr>
            <p:spPr>
              <a:xfrm>
                <a:off x="3999" y="2402"/>
                <a:ext cx="0" cy="161"/>
              </a:xfrm>
              <a:prstGeom prst="line">
                <a:avLst/>
              </a:prstGeom>
              <a:ln w="12700" cap="flat" cmpd="sng">
                <a:solidFill>
                  <a:srgbClr val="66FF33"/>
                </a:solidFill>
                <a:prstDash val="solid"/>
                <a:headEnd type="none" w="med" len="sm"/>
                <a:tailEnd type="none" w="med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5" name="Line 16"/>
              <p:cNvSpPr/>
              <p:nvPr/>
            </p:nvSpPr>
            <p:spPr>
              <a:xfrm>
                <a:off x="3289" y="2506"/>
                <a:ext cx="400" cy="1"/>
              </a:xfrm>
              <a:prstGeom prst="line">
                <a:avLst/>
              </a:prstGeom>
              <a:ln w="9525" cap="flat" cmpd="sng">
                <a:solidFill>
                  <a:srgbClr val="66FF33"/>
                </a:solidFill>
                <a:prstDash val="solid"/>
                <a:headEnd type="triangle" w="med" len="sm"/>
                <a:tailEnd type="triangle" w="med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6" name="Line 17"/>
              <p:cNvSpPr/>
              <p:nvPr/>
            </p:nvSpPr>
            <p:spPr>
              <a:xfrm>
                <a:off x="4533" y="2506"/>
                <a:ext cx="458" cy="0"/>
              </a:xfrm>
              <a:prstGeom prst="line">
                <a:avLst/>
              </a:prstGeom>
              <a:ln w="9525" cap="flat" cmpd="sng">
                <a:solidFill>
                  <a:srgbClr val="66FF33"/>
                </a:solidFill>
                <a:prstDash val="solid"/>
                <a:headEnd type="triangle" w="med" len="sm"/>
                <a:tailEnd type="triangle" w="med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7" name="Rectangle 18"/>
              <p:cNvSpPr/>
              <p:nvPr/>
            </p:nvSpPr>
            <p:spPr>
              <a:xfrm>
                <a:off x="3073" y="1931"/>
                <a:ext cx="22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2700" tIns="12700" rIns="12700" bIns="12700"/>
              <a:lstStyle/>
              <a:p>
                <a:pPr algn="just" eaLnBrk="1" hangingPunct="1"/>
                <a:r>
                  <a:rPr lang="en-US" altLang="zh-CN" sz="2400" i="1" dirty="0">
                    <a:solidFill>
                      <a:srgbClr val="003366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</a:t>
                </a:r>
                <a:endParaRPr lang="en-US" altLang="zh-CN" sz="2400" i="1" dirty="0">
                  <a:solidFill>
                    <a:srgbClr val="003366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39958" name="Object 19"/>
              <p:cNvGraphicFramePr/>
              <p:nvPr/>
            </p:nvGraphicFramePr>
            <p:xfrm>
              <a:off x="3404" y="2130"/>
              <a:ext cx="177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576" r:id="rId5" imgW="126365" imgH="220980" progId="Equation.3">
                      <p:embed/>
                    </p:oleObj>
                  </mc:Choice>
                  <mc:Fallback>
                    <p:oleObj r:id="rId5" imgW="126365" imgH="220980" progId="Equation.3">
                      <p:embed/>
                      <p:pic>
                        <p:nvPicPr>
                          <p:cNvPr id="0" name="图片 3163"/>
                          <p:cNvPicPr/>
                          <p:nvPr/>
                        </p:nvPicPr>
                        <p:blipFill>
                          <a:blip r:embed="rId6">
                            <a:clrChange>
                              <a:clrFrom>
                                <a:srgbClr val="000000"/>
                              </a:clrFrom>
                              <a:clrTo>
                                <a:srgbClr val="0066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404" y="2130"/>
                            <a:ext cx="177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59" name="Object 20"/>
              <p:cNvGraphicFramePr/>
              <p:nvPr/>
            </p:nvGraphicFramePr>
            <p:xfrm>
              <a:off x="3730" y="2130"/>
              <a:ext cx="199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577" r:id="rId7" imgW="152400" imgH="220980" progId="Equation.3">
                      <p:embed/>
                    </p:oleObj>
                  </mc:Choice>
                  <mc:Fallback>
                    <p:oleObj r:id="rId7" imgW="152400" imgH="220980" progId="Equation.3">
                      <p:embed/>
                      <p:pic>
                        <p:nvPicPr>
                          <p:cNvPr id="0" name="图片 3164"/>
                          <p:cNvPicPr/>
                          <p:nvPr/>
                        </p:nvPicPr>
                        <p:blipFill>
                          <a:blip r:embed="rId8">
                            <a:clrChange>
                              <a:clrFrom>
                                <a:srgbClr val="000000"/>
                              </a:clrFrom>
                              <a:clrTo>
                                <a:srgbClr val="0066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730" y="2130"/>
                            <a:ext cx="199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0" name="Object 21"/>
              <p:cNvGraphicFramePr/>
              <p:nvPr/>
            </p:nvGraphicFramePr>
            <p:xfrm>
              <a:off x="4674" y="2139"/>
              <a:ext cx="177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578" r:id="rId9" imgW="126365" imgH="231140" progId="Equation.3">
                      <p:embed/>
                    </p:oleObj>
                  </mc:Choice>
                  <mc:Fallback>
                    <p:oleObj r:id="rId9" imgW="126365" imgH="231140" progId="Equation.3">
                      <p:embed/>
                      <p:pic>
                        <p:nvPicPr>
                          <p:cNvPr id="0" name="图片 3165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0066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674" y="2139"/>
                            <a:ext cx="177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1" name="Object 22"/>
              <p:cNvGraphicFramePr/>
              <p:nvPr/>
            </p:nvGraphicFramePr>
            <p:xfrm>
              <a:off x="3399" y="2459"/>
              <a:ext cx="136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579" r:id="rId11" imgW="89535" imgH="220980" progId="Equation.3">
                      <p:embed/>
                    </p:oleObj>
                  </mc:Choice>
                  <mc:Fallback>
                    <p:oleObj r:id="rId11" imgW="89535" imgH="220980" progId="Equation.3">
                      <p:embed/>
                      <p:pic>
                        <p:nvPicPr>
                          <p:cNvPr id="0" name="图片 3166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66FF33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399" y="2459"/>
                            <a:ext cx="136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2" name="Object 23"/>
              <p:cNvGraphicFramePr/>
              <p:nvPr/>
            </p:nvGraphicFramePr>
            <p:xfrm>
              <a:off x="3783" y="2469"/>
              <a:ext cx="161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580" r:id="rId13" imgW="115570" imgH="220980" progId="Equation.3">
                      <p:embed/>
                    </p:oleObj>
                  </mc:Choice>
                  <mc:Fallback>
                    <p:oleObj r:id="rId13" imgW="115570" imgH="220980" progId="Equation.3">
                      <p:embed/>
                      <p:pic>
                        <p:nvPicPr>
                          <p:cNvPr id="0" name="图片 3167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66FF33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783" y="2469"/>
                            <a:ext cx="161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3" name="Object 24"/>
              <p:cNvGraphicFramePr/>
              <p:nvPr/>
            </p:nvGraphicFramePr>
            <p:xfrm>
              <a:off x="4691" y="2464"/>
              <a:ext cx="129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581" r:id="rId15" imgW="73660" imgH="231140" progId="Equation.3">
                      <p:embed/>
                    </p:oleObj>
                  </mc:Choice>
                  <mc:Fallback>
                    <p:oleObj r:id="rId15" imgW="73660" imgH="231140" progId="Equation.3">
                      <p:embed/>
                      <p:pic>
                        <p:nvPicPr>
                          <p:cNvPr id="0" name="图片 3168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66FF33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691" y="2464"/>
                            <a:ext cx="129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4" name="Rectangle 25"/>
              <p:cNvSpPr/>
              <p:nvPr/>
            </p:nvSpPr>
            <p:spPr>
              <a:xfrm>
                <a:off x="3273" y="1957"/>
                <a:ext cx="400" cy="432"/>
              </a:xfrm>
              <a:prstGeom prst="rect">
                <a:avLst/>
              </a:prstGeom>
              <a:solidFill>
                <a:srgbClr val="FFFF00"/>
              </a:solidFill>
              <a:ln w="25400" cap="flat" cmpd="sng">
                <a:solidFill>
                  <a:srgbClr val="FF99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9965" name="Rectangle 26"/>
              <p:cNvSpPr/>
              <p:nvPr/>
            </p:nvSpPr>
            <p:spPr>
              <a:xfrm>
                <a:off x="3688" y="1952"/>
                <a:ext cx="336" cy="432"/>
              </a:xfrm>
              <a:prstGeom prst="rect">
                <a:avLst/>
              </a:prstGeom>
              <a:solidFill>
                <a:srgbClr val="00FFFF"/>
              </a:solidFill>
              <a:ln w="2540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39966" name="Object 27"/>
              <p:cNvGraphicFramePr/>
              <p:nvPr/>
            </p:nvGraphicFramePr>
            <p:xfrm>
              <a:off x="3404" y="2041"/>
              <a:ext cx="177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582" r:id="rId17" imgW="126365" imgH="220980" progId="Equation.3">
                      <p:embed/>
                    </p:oleObj>
                  </mc:Choice>
                  <mc:Fallback>
                    <p:oleObj r:id="rId17" imgW="126365" imgH="220980" progId="Equation.3">
                      <p:embed/>
                      <p:pic>
                        <p:nvPicPr>
                          <p:cNvPr id="0" name="图片 3169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0066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404" y="2041"/>
                            <a:ext cx="177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967" name="Object 28"/>
              <p:cNvGraphicFramePr/>
              <p:nvPr/>
            </p:nvGraphicFramePr>
            <p:xfrm>
              <a:off x="3730" y="2041"/>
              <a:ext cx="199" cy="2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583" r:id="rId19" imgW="152400" imgH="220980" progId="Equation.3">
                      <p:embed/>
                    </p:oleObj>
                  </mc:Choice>
                  <mc:Fallback>
                    <p:oleObj r:id="rId19" imgW="152400" imgH="220980" progId="Equation.3">
                      <p:embed/>
                      <p:pic>
                        <p:nvPicPr>
                          <p:cNvPr id="0" name="图片 3170"/>
                          <p:cNvPicPr/>
                          <p:nvPr/>
                        </p:nvPicPr>
                        <p:blipFill>
                          <a:blip r:embed="rId20">
                            <a:clrChange>
                              <a:clrFrom>
                                <a:srgbClr val="000000"/>
                              </a:clrFrom>
                              <a:clrTo>
                                <a:srgbClr val="006699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730" y="2041"/>
                            <a:ext cx="199" cy="26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968" name="Line 29"/>
              <p:cNvSpPr/>
              <p:nvPr/>
            </p:nvSpPr>
            <p:spPr>
              <a:xfrm>
                <a:off x="3691" y="2496"/>
                <a:ext cx="311" cy="0"/>
              </a:xfrm>
              <a:prstGeom prst="line">
                <a:avLst/>
              </a:prstGeom>
              <a:ln w="9525" cap="flat" cmpd="sng">
                <a:solidFill>
                  <a:srgbClr val="66FF33"/>
                </a:solidFill>
                <a:prstDash val="solid"/>
                <a:headEnd type="triangle" w="med" len="sm"/>
                <a:tailEnd type="triangle" w="med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46" name="Rectangle 30"/>
            <p:cNvSpPr/>
            <p:nvPr/>
          </p:nvSpPr>
          <p:spPr>
            <a:xfrm>
              <a:off x="192" y="1983"/>
              <a:ext cx="326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800" dirty="0">
                  <a:solidFill>
                    <a:srgbClr val="0033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当一束光连续通过几种介质时，</a:t>
              </a:r>
            </a:p>
          </p:txBody>
        </p:sp>
      </p:grpSp>
      <p:grpSp>
        <p:nvGrpSpPr>
          <p:cNvPr id="5" name="Group 31"/>
          <p:cNvGrpSpPr/>
          <p:nvPr/>
        </p:nvGrpSpPr>
        <p:grpSpPr>
          <a:xfrm>
            <a:off x="2684463" y="3494088"/>
            <a:ext cx="5181600" cy="609600"/>
            <a:chOff x="1152" y="1488"/>
            <a:chExt cx="3264" cy="384"/>
          </a:xfrm>
        </p:grpSpPr>
        <p:sp>
          <p:nvSpPr>
            <p:cNvPr id="39943" name="Text Box 32"/>
            <p:cNvSpPr txBox="1"/>
            <p:nvPr/>
          </p:nvSpPr>
          <p:spPr>
            <a:xfrm>
              <a:off x="1248" y="1536"/>
              <a:ext cx="31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3366"/>
                  </a:solidFill>
                  <a:latin typeface="Arial" panose="020B0604020202020204" pitchFamily="34" charset="0"/>
                </a:rPr>
                <a:t>光程 </a:t>
              </a:r>
              <a:r>
                <a:rPr lang="en-US" altLang="zh-CN" sz="2400" dirty="0">
                  <a:solidFill>
                    <a:srgbClr val="003366"/>
                  </a:solidFill>
                  <a:latin typeface="Arial" panose="020B0604020202020204" pitchFamily="34" charset="0"/>
                </a:rPr>
                <a:t>= </a:t>
              </a:r>
              <a:r>
                <a:rPr lang="en-US" altLang="zh-CN" sz="2400" i="1" dirty="0">
                  <a:solidFill>
                    <a:srgbClr val="003366"/>
                  </a:solidFill>
                  <a:latin typeface="Arial" panose="020B0604020202020204" pitchFamily="34" charset="0"/>
                </a:rPr>
                <a:t>nr</a:t>
              </a:r>
            </a:p>
          </p:txBody>
        </p:sp>
        <p:sp>
          <p:nvSpPr>
            <p:cNvPr id="39944" name="Rectangle 33"/>
            <p:cNvSpPr/>
            <p:nvPr/>
          </p:nvSpPr>
          <p:spPr>
            <a:xfrm>
              <a:off x="1152" y="1488"/>
              <a:ext cx="1104" cy="384"/>
            </a:xfrm>
            <a:prstGeom prst="rect">
              <a:avLst/>
            </a:prstGeom>
            <a:noFill/>
            <a:ln w="9525" cap="flat" cmpd="sng">
              <a:solidFill>
                <a:srgbClr val="66FF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9942" name="Rectangle 34"/>
          <p:cNvSpPr/>
          <p:nvPr/>
        </p:nvSpPr>
        <p:spPr>
          <a:xfrm>
            <a:off x="3740150" y="115888"/>
            <a:ext cx="4648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光程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/>
          <p:nvPr/>
        </p:nvSpPr>
        <p:spPr>
          <a:xfrm>
            <a:off x="1547813" y="84138"/>
            <a:ext cx="660717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光程差，利用光程差计算相位差</a:t>
            </a:r>
          </a:p>
        </p:txBody>
      </p:sp>
      <p:grpSp>
        <p:nvGrpSpPr>
          <p:cNvPr id="40963" name="Group 3"/>
          <p:cNvGrpSpPr/>
          <p:nvPr/>
        </p:nvGrpSpPr>
        <p:grpSpPr>
          <a:xfrm>
            <a:off x="5638800" y="1052513"/>
            <a:ext cx="3048000" cy="2514600"/>
            <a:chOff x="3168" y="1008"/>
            <a:chExt cx="1920" cy="1584"/>
          </a:xfrm>
        </p:grpSpPr>
        <p:graphicFrame>
          <p:nvGraphicFramePr>
            <p:cNvPr id="40977" name="Object 4"/>
            <p:cNvGraphicFramePr/>
            <p:nvPr/>
          </p:nvGraphicFramePr>
          <p:xfrm>
            <a:off x="3223" y="1470"/>
            <a:ext cx="15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4" r:id="rId3" imgW="147320" imgH="220980" progId="Equation.3">
                    <p:embed/>
                  </p:oleObj>
                </mc:Choice>
                <mc:Fallback>
                  <p:oleObj r:id="rId3" imgW="147320" imgH="220980" progId="Equation.3">
                    <p:embed/>
                    <p:pic>
                      <p:nvPicPr>
                        <p:cNvPr id="0" name="图片 3171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23" y="1470"/>
                          <a:ext cx="153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8" name="Object 5"/>
            <p:cNvGraphicFramePr/>
            <p:nvPr/>
          </p:nvGraphicFramePr>
          <p:xfrm>
            <a:off x="3200" y="1952"/>
            <a:ext cx="17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5" r:id="rId5" imgW="173355" imgH="220980" progId="Equation.3">
                    <p:embed/>
                  </p:oleObj>
                </mc:Choice>
                <mc:Fallback>
                  <p:oleObj r:id="rId5" imgW="173355" imgH="220980" progId="Equation.3">
                    <p:embed/>
                    <p:pic>
                      <p:nvPicPr>
                        <p:cNvPr id="0" name="图片 3172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00" y="1952"/>
                          <a:ext cx="173" cy="2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9" name="Line 6"/>
            <p:cNvSpPr/>
            <p:nvPr/>
          </p:nvSpPr>
          <p:spPr>
            <a:xfrm>
              <a:off x="5088" y="1248"/>
              <a:ext cx="0" cy="1056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0" name="Line 7"/>
            <p:cNvSpPr/>
            <p:nvPr/>
          </p:nvSpPr>
          <p:spPr>
            <a:xfrm>
              <a:off x="3408" y="1008"/>
              <a:ext cx="0" cy="480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1" name="Line 8"/>
            <p:cNvSpPr/>
            <p:nvPr/>
          </p:nvSpPr>
          <p:spPr>
            <a:xfrm>
              <a:off x="3408" y="1584"/>
              <a:ext cx="0" cy="384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2" name="Line 9"/>
            <p:cNvSpPr/>
            <p:nvPr/>
          </p:nvSpPr>
          <p:spPr>
            <a:xfrm>
              <a:off x="3408" y="2048"/>
              <a:ext cx="0" cy="480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3" name="Line 10"/>
            <p:cNvSpPr/>
            <p:nvPr/>
          </p:nvSpPr>
          <p:spPr>
            <a:xfrm>
              <a:off x="3168" y="1776"/>
              <a:ext cx="1920" cy="0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4" name="Line 11"/>
            <p:cNvSpPr/>
            <p:nvPr/>
          </p:nvSpPr>
          <p:spPr>
            <a:xfrm rot="123036">
              <a:off x="3408" y="1560"/>
              <a:ext cx="1680" cy="192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5" name="Line 12"/>
            <p:cNvSpPr/>
            <p:nvPr/>
          </p:nvSpPr>
          <p:spPr>
            <a:xfrm rot="167162" flipV="1">
              <a:off x="3408" y="1752"/>
              <a:ext cx="1680" cy="288"/>
            </a:xfrm>
            <a:prstGeom prst="line">
              <a:avLst/>
            </a:prstGeom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6" name="Line 13"/>
            <p:cNvSpPr/>
            <p:nvPr/>
          </p:nvSpPr>
          <p:spPr>
            <a:xfrm>
              <a:off x="5088" y="1056"/>
              <a:ext cx="0" cy="1536"/>
            </a:xfrm>
            <a:prstGeom prst="line">
              <a:avLst/>
            </a:prstGeom>
            <a:ln w="28575" cap="flat" cmpd="sng">
              <a:solidFill>
                <a:srgbClr val="003366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0987" name="Object 14"/>
            <p:cNvGraphicFramePr/>
            <p:nvPr/>
          </p:nvGraphicFramePr>
          <p:xfrm>
            <a:off x="4800" y="1273"/>
            <a:ext cx="177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6" r:id="rId7" imgW="126365" imgH="220980" progId="Equation.3">
                    <p:embed/>
                  </p:oleObj>
                </mc:Choice>
                <mc:Fallback>
                  <p:oleObj r:id="rId7" imgW="126365" imgH="220980" progId="Equation.3">
                    <p:embed/>
                    <p:pic>
                      <p:nvPicPr>
                        <p:cNvPr id="0" name="图片 3173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00" y="1273"/>
                          <a:ext cx="177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8" name="Object 15"/>
            <p:cNvGraphicFramePr/>
            <p:nvPr/>
          </p:nvGraphicFramePr>
          <p:xfrm>
            <a:off x="4793" y="1953"/>
            <a:ext cx="19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7" r:id="rId9" imgW="152400" imgH="220980" progId="Equation.3">
                    <p:embed/>
                  </p:oleObj>
                </mc:Choice>
                <mc:Fallback>
                  <p:oleObj r:id="rId9" imgW="152400" imgH="220980" progId="Equation.3">
                    <p:embed/>
                    <p:pic>
                      <p:nvPicPr>
                        <p:cNvPr id="0" name="图片 3174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93" y="1953"/>
                          <a:ext cx="199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89" name="Object 16"/>
            <p:cNvGraphicFramePr>
              <a:graphicFrameLocks noChangeAspect="1"/>
            </p:cNvGraphicFramePr>
            <p:nvPr/>
          </p:nvGraphicFramePr>
          <p:xfrm>
            <a:off x="4004" y="1328"/>
            <a:ext cx="388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8" r:id="rId11" imgW="147320" imgH="89535" progId="Equation.3">
                    <p:embed/>
                  </p:oleObj>
                </mc:Choice>
                <mc:Fallback>
                  <p:oleObj r:id="rId11" imgW="147320" imgH="89535" progId="Equation.3">
                    <p:embed/>
                    <p:pic>
                      <p:nvPicPr>
                        <p:cNvPr id="0" name="图片 3175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004" y="1328"/>
                          <a:ext cx="388" cy="27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90" name="Object 17"/>
            <p:cNvGraphicFramePr>
              <a:graphicFrameLocks noChangeAspect="1"/>
            </p:cNvGraphicFramePr>
            <p:nvPr/>
          </p:nvGraphicFramePr>
          <p:xfrm>
            <a:off x="3971" y="1945"/>
            <a:ext cx="440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9" r:id="rId13" imgW="173355" imgH="89535" progId="Equation.3">
                    <p:embed/>
                  </p:oleObj>
                </mc:Choice>
                <mc:Fallback>
                  <p:oleObj r:id="rId13" imgW="173355" imgH="89535" progId="Equation.3">
                    <p:embed/>
                    <p:pic>
                      <p:nvPicPr>
                        <p:cNvPr id="0" name="图片 3176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71" y="1945"/>
                          <a:ext cx="440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810" name="Object 18"/>
          <p:cNvGraphicFramePr>
            <a:graphicFrameLocks noChangeAspect="1"/>
          </p:cNvGraphicFramePr>
          <p:nvPr/>
        </p:nvGraphicFramePr>
        <p:xfrm>
          <a:off x="304800" y="1011238"/>
          <a:ext cx="21812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0" r:id="rId15" imgW="678180" imgH="231140" progId="Equation.3">
                  <p:embed/>
                </p:oleObj>
              </mc:Choice>
              <mc:Fallback>
                <p:oleObj r:id="rId15" imgW="678180" imgH="23114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" y="1011238"/>
                        <a:ext cx="2181225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9"/>
          <p:cNvGraphicFramePr>
            <a:graphicFrameLocks noChangeAspect="1"/>
          </p:cNvGraphicFramePr>
          <p:nvPr/>
        </p:nvGraphicFramePr>
        <p:xfrm>
          <a:off x="2593975" y="1049338"/>
          <a:ext cx="22066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1" r:id="rId17" imgW="693420" imgH="231140" progId="Equation.3">
                  <p:embed/>
                </p:oleObj>
              </mc:Choice>
              <mc:Fallback>
                <p:oleObj r:id="rId17" imgW="693420" imgH="23114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593975" y="1049338"/>
                        <a:ext cx="2206625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2" name="Object 20"/>
          <p:cNvGraphicFramePr>
            <a:graphicFrameLocks noChangeAspect="1"/>
          </p:cNvGraphicFramePr>
          <p:nvPr/>
        </p:nvGraphicFramePr>
        <p:xfrm>
          <a:off x="790575" y="1985963"/>
          <a:ext cx="215423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2" r:id="rId19" imgW="667385" imgH="231140" progId="Equation.3">
                  <p:embed/>
                </p:oleObj>
              </mc:Choice>
              <mc:Fallback>
                <p:oleObj r:id="rId19" imgW="667385" imgH="23114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90575" y="1985963"/>
                        <a:ext cx="2154238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3" name="Object 21"/>
          <p:cNvGraphicFramePr>
            <a:graphicFrameLocks noChangeAspect="1"/>
          </p:cNvGraphicFramePr>
          <p:nvPr/>
        </p:nvGraphicFramePr>
        <p:xfrm>
          <a:off x="685800" y="2924175"/>
          <a:ext cx="2027238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3" r:id="rId21" imgW="625475" imgH="89535" progId="Equation.3">
                  <p:embed/>
                </p:oleObj>
              </mc:Choice>
              <mc:Fallback>
                <p:oleObj r:id="rId21" imgW="625475" imgH="89535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5800" y="2924175"/>
                        <a:ext cx="2027238" cy="433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14" name="Rectangle 22"/>
          <p:cNvSpPr/>
          <p:nvPr/>
        </p:nvSpPr>
        <p:spPr>
          <a:xfrm>
            <a:off x="3048000" y="2943225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称作光程差</a:t>
            </a:r>
          </a:p>
        </p:txBody>
      </p:sp>
      <p:grpSp>
        <p:nvGrpSpPr>
          <p:cNvPr id="3" name="Group 23"/>
          <p:cNvGrpSpPr/>
          <p:nvPr/>
        </p:nvGrpSpPr>
        <p:grpSpPr>
          <a:xfrm>
            <a:off x="1663700" y="3702050"/>
            <a:ext cx="1752600" cy="990600"/>
            <a:chOff x="912" y="2784"/>
            <a:chExt cx="1104" cy="624"/>
          </a:xfrm>
        </p:grpSpPr>
        <p:graphicFrame>
          <p:nvGraphicFramePr>
            <p:cNvPr id="40975" name="Object 24"/>
            <p:cNvGraphicFramePr>
              <a:graphicFrameLocks noChangeAspect="1"/>
            </p:cNvGraphicFramePr>
            <p:nvPr/>
          </p:nvGraphicFramePr>
          <p:xfrm>
            <a:off x="994" y="2832"/>
            <a:ext cx="905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24" r:id="rId23" imgW="431165" imgH="231140" progId="Equation.3">
                    <p:embed/>
                  </p:oleObj>
                </mc:Choice>
                <mc:Fallback>
                  <p:oleObj r:id="rId23" imgW="431165" imgH="231140" progId="Equation.3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94" y="2832"/>
                          <a:ext cx="905" cy="54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6" name="Rectangle 25"/>
            <p:cNvSpPr/>
            <p:nvPr/>
          </p:nvSpPr>
          <p:spPr>
            <a:xfrm>
              <a:off x="912" y="2784"/>
              <a:ext cx="1104" cy="624"/>
            </a:xfrm>
            <a:prstGeom prst="rect">
              <a:avLst/>
            </a:prstGeom>
            <a:noFill/>
            <a:ln w="9525" cap="flat" cmpd="sng">
              <a:solidFill>
                <a:srgbClr val="66FF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6"/>
          <p:cNvGrpSpPr/>
          <p:nvPr/>
        </p:nvGrpSpPr>
        <p:grpSpPr>
          <a:xfrm>
            <a:off x="322263" y="5143500"/>
            <a:ext cx="8523287" cy="1200150"/>
            <a:chOff x="192" y="3456"/>
            <a:chExt cx="5429" cy="756"/>
          </a:xfrm>
        </p:grpSpPr>
        <p:sp>
          <p:nvSpPr>
            <p:cNvPr id="40973" name="Rectangle 27"/>
            <p:cNvSpPr/>
            <p:nvPr/>
          </p:nvSpPr>
          <p:spPr>
            <a:xfrm>
              <a:off x="192" y="3456"/>
              <a:ext cx="5429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Wingdings" panose="05000000000000000000" pitchFamily="2" charset="2"/>
                <a:buChar char="v"/>
              </a:pPr>
              <a:r>
                <a:rPr lang="en-US" altLang="zh-CN" sz="2400" dirty="0">
                  <a:solidFill>
                    <a:srgbClr val="CC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400" dirty="0">
                  <a:solidFill>
                    <a:srgbClr val="0033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有了光程和光程差的概念后，计算通过不同介质的相干光的</a:t>
              </a:r>
            </a:p>
            <a:p>
              <a:pPr eaLnBrk="1" hangingPunct="1"/>
              <a:r>
                <a:rPr lang="zh-CN" altLang="en-US" sz="2400" dirty="0">
                  <a:solidFill>
                    <a:srgbClr val="0033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相位差时，可不用介质中的波长，而统一采用真空中的波长</a:t>
              </a:r>
            </a:p>
            <a:p>
              <a:pPr eaLnBrk="1" hangingPunct="1"/>
              <a:r>
                <a:rPr lang="zh-CN" altLang="en-US" sz="2400" dirty="0">
                  <a:solidFill>
                    <a:srgbClr val="0033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进行计算。</a:t>
              </a:r>
            </a:p>
          </p:txBody>
        </p:sp>
        <p:graphicFrame>
          <p:nvGraphicFramePr>
            <p:cNvPr id="40974" name="Object 28"/>
            <p:cNvGraphicFramePr>
              <a:graphicFrameLocks noChangeAspect="1"/>
            </p:cNvGraphicFramePr>
            <p:nvPr/>
          </p:nvGraphicFramePr>
          <p:xfrm>
            <a:off x="5298" y="3707"/>
            <a:ext cx="222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25" r:id="rId25" imgW="62865" imgH="94615" progId="Equation.3">
                    <p:embed/>
                  </p:oleObj>
                </mc:Choice>
                <mc:Fallback>
                  <p:oleObj r:id="rId25" imgW="62865" imgH="94615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98" y="3707"/>
                          <a:ext cx="222" cy="2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71" name="Text Box 29"/>
          <p:cNvSpPr txBox="1"/>
          <p:nvPr/>
        </p:nvSpPr>
        <p:spPr>
          <a:xfrm>
            <a:off x="8674100" y="26035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3366"/>
                </a:solidFill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0972" name="文本框 1"/>
          <p:cNvSpPr txBox="1"/>
          <p:nvPr/>
        </p:nvSpPr>
        <p:spPr>
          <a:xfrm>
            <a:off x="4083050" y="3971925"/>
            <a:ext cx="4560888" cy="585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干涉光强取决于相位差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1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8" name="Text Box 4"/>
          <p:cNvSpPr txBox="1"/>
          <p:nvPr/>
        </p:nvSpPr>
        <p:spPr>
          <a:xfrm>
            <a:off x="871538" y="161925"/>
            <a:ext cx="25908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/>
            <a:r>
              <a:rPr lang="zh-CN" altLang="en-US" sz="28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杨氏双缝干涉</a:t>
            </a:r>
          </a:p>
        </p:txBody>
      </p:sp>
      <p:sp>
        <p:nvSpPr>
          <p:cNvPr id="195589" name="Text Box 5"/>
          <p:cNvSpPr txBox="1"/>
          <p:nvPr/>
        </p:nvSpPr>
        <p:spPr>
          <a:xfrm>
            <a:off x="900113" y="908050"/>
            <a:ext cx="53721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、如何获得的相干光；</a:t>
            </a:r>
          </a:p>
        </p:txBody>
      </p:sp>
      <p:sp>
        <p:nvSpPr>
          <p:cNvPr id="195590" name="Text Box 6"/>
          <p:cNvSpPr txBox="1"/>
          <p:nvPr/>
        </p:nvSpPr>
        <p:spPr>
          <a:xfrm>
            <a:off x="792163" y="1484313"/>
            <a:ext cx="47244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/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2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、明、暗纹条件；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95591" name="Text Box 7"/>
          <p:cNvSpPr txBox="1"/>
          <p:nvPr/>
        </p:nvSpPr>
        <p:spPr>
          <a:xfrm>
            <a:off x="806450" y="1916113"/>
            <a:ext cx="3836988" cy="576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3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、干涉条纹特点：</a:t>
            </a:r>
          </a:p>
        </p:txBody>
      </p:sp>
      <p:sp>
        <p:nvSpPr>
          <p:cNvPr id="195592" name="Rectangle 8"/>
          <p:cNvSpPr/>
          <p:nvPr/>
        </p:nvSpPr>
        <p:spPr>
          <a:xfrm>
            <a:off x="3736975" y="1984375"/>
            <a:ext cx="18288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形状、</a:t>
            </a:r>
          </a:p>
        </p:txBody>
      </p:sp>
      <p:sp>
        <p:nvSpPr>
          <p:cNvPr id="195593" name="Rectangle 9"/>
          <p:cNvSpPr/>
          <p:nvPr/>
        </p:nvSpPr>
        <p:spPr>
          <a:xfrm>
            <a:off x="4810125" y="2000250"/>
            <a:ext cx="12382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间距、</a:t>
            </a:r>
          </a:p>
        </p:txBody>
      </p:sp>
      <p:sp>
        <p:nvSpPr>
          <p:cNvPr id="195594" name="Rectangle 10"/>
          <p:cNvSpPr/>
          <p:nvPr/>
        </p:nvSpPr>
        <p:spPr>
          <a:xfrm>
            <a:off x="5732463" y="2000250"/>
            <a:ext cx="22590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级次位置分布；</a:t>
            </a:r>
          </a:p>
        </p:txBody>
      </p:sp>
      <p:pic>
        <p:nvPicPr>
          <p:cNvPr id="41993" name="图片 3"/>
          <p:cNvPicPr>
            <a:picLocks noChangeAspect="1"/>
          </p:cNvPicPr>
          <p:nvPr/>
        </p:nvPicPr>
        <p:blipFill>
          <a:blip r:embed="rId2"/>
          <a:srcRect l="35825" t="33202" r="20863" b="30400"/>
          <a:stretch>
            <a:fillRect/>
          </a:stretch>
        </p:blipFill>
        <p:spPr>
          <a:xfrm>
            <a:off x="539750" y="2624138"/>
            <a:ext cx="8228013" cy="3889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8" grpId="0"/>
      <p:bldP spid="195589" grpId="0"/>
      <p:bldP spid="195590" grpId="0"/>
      <p:bldP spid="195591" grpId="0"/>
      <p:bldP spid="195592" grpId="0"/>
      <p:bldP spid="195593" grpId="0"/>
      <p:bldP spid="19559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>
          <a:xfrm>
            <a:off x="330200" y="360363"/>
            <a:ext cx="7121525" cy="3640137"/>
            <a:chOff x="643" y="227"/>
            <a:chExt cx="4711" cy="2354"/>
          </a:xfrm>
        </p:grpSpPr>
        <p:sp>
          <p:nvSpPr>
            <p:cNvPr id="43038" name="WordArt 5"/>
            <p:cNvSpPr>
              <a:spLocks noTextEdit="1"/>
            </p:cNvSpPr>
            <p:nvPr/>
          </p:nvSpPr>
          <p:spPr>
            <a:xfrm>
              <a:off x="1083" y="227"/>
              <a:ext cx="3583" cy="2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550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CC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杨氏双缝干涉主要公式</a:t>
              </a:r>
            </a:p>
          </p:txBody>
        </p:sp>
        <p:grpSp>
          <p:nvGrpSpPr>
            <p:cNvPr id="43039" name="Group 6"/>
            <p:cNvGrpSpPr/>
            <p:nvPr/>
          </p:nvGrpSpPr>
          <p:grpSpPr>
            <a:xfrm>
              <a:off x="643" y="690"/>
              <a:ext cx="4711" cy="1891"/>
              <a:chOff x="632" y="723"/>
              <a:chExt cx="4711" cy="1891"/>
            </a:xfrm>
          </p:grpSpPr>
          <p:sp>
            <p:nvSpPr>
              <p:cNvPr id="43042" name="WordArt 7"/>
              <p:cNvSpPr>
                <a:spLocks noTextEdit="1"/>
              </p:cNvSpPr>
              <p:nvPr/>
            </p:nvSpPr>
            <p:spPr>
              <a:xfrm>
                <a:off x="1470" y="1205"/>
                <a:ext cx="209" cy="20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815"/>
                  </a:avLst>
                </a:prstTxWarp>
                <a:normAutofit fontScale="47500" lnSpcReduction="20000"/>
              </a:bodyPr>
              <a:lstStyle/>
              <a:p>
                <a:pPr algn="ctr"/>
                <a:r>
                  <a:rPr lang="zh-CN" altLang="en-US" sz="3600" b="1" i="1">
                    <a:ln w="1905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Symbol" panose="05050102010706020507" charset="0"/>
                    <a:ea typeface="Symbol" panose="05050102010706020507" charset="0"/>
                  </a:rPr>
                  <a:t>l</a:t>
                </a:r>
              </a:p>
            </p:txBody>
          </p:sp>
          <p:sp>
            <p:nvSpPr>
              <p:cNvPr id="43043" name="Line 8"/>
              <p:cNvSpPr/>
              <p:nvPr/>
            </p:nvSpPr>
            <p:spPr>
              <a:xfrm>
                <a:off x="1001" y="1245"/>
                <a:ext cx="0" cy="1170"/>
              </a:xfrm>
              <a:prstGeom prst="line">
                <a:avLst/>
              </a:prstGeom>
              <a:ln w="571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4" name="Line 9"/>
              <p:cNvSpPr/>
              <p:nvPr/>
            </p:nvSpPr>
            <p:spPr>
              <a:xfrm>
                <a:off x="927" y="1559"/>
                <a:ext cx="114" cy="0"/>
              </a:xfrm>
              <a:prstGeom prst="line">
                <a:avLst/>
              </a:prstGeom>
              <a:ln w="571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5" name="Line 10"/>
              <p:cNvSpPr/>
              <p:nvPr/>
            </p:nvSpPr>
            <p:spPr>
              <a:xfrm>
                <a:off x="744" y="1559"/>
                <a:ext cx="22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46" name="Line 11"/>
              <p:cNvSpPr/>
              <p:nvPr/>
            </p:nvSpPr>
            <p:spPr>
              <a:xfrm>
                <a:off x="728" y="2081"/>
                <a:ext cx="22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3047" name="Group 12"/>
              <p:cNvGrpSpPr/>
              <p:nvPr/>
            </p:nvGrpSpPr>
            <p:grpSpPr>
              <a:xfrm>
                <a:off x="794" y="1352"/>
                <a:ext cx="143" cy="169"/>
                <a:chOff x="1632" y="2928"/>
                <a:chExt cx="144" cy="192"/>
              </a:xfrm>
            </p:grpSpPr>
            <p:sp>
              <p:nvSpPr>
                <p:cNvPr id="43100" name="WordArt 13"/>
                <p:cNvSpPr>
                  <a:spLocks noTextEdit="1"/>
                </p:cNvSpPr>
                <p:nvPr/>
              </p:nvSpPr>
              <p:spPr>
                <a:xfrm>
                  <a:off x="1632" y="2928"/>
                  <a:ext cx="96" cy="13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3101" name="WordArt 14"/>
                <p:cNvSpPr>
                  <a:spLocks noTextEdit="1"/>
                </p:cNvSpPr>
                <p:nvPr/>
              </p:nvSpPr>
              <p:spPr>
                <a:xfrm>
                  <a:off x="1728" y="3024"/>
                  <a:ext cx="48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sp>
            <p:nvSpPr>
              <p:cNvPr id="43048" name="WordArt 15"/>
              <p:cNvSpPr>
                <a:spLocks noTextEdit="1"/>
              </p:cNvSpPr>
              <p:nvPr/>
            </p:nvSpPr>
            <p:spPr>
              <a:xfrm>
                <a:off x="632" y="1679"/>
                <a:ext cx="218" cy="22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7144"/>
                  </a:avLst>
                </a:prstTxWarp>
                <a:normAutofit fontScale="55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d</a:t>
                </a:r>
              </a:p>
            </p:txBody>
          </p:sp>
          <p:grpSp>
            <p:nvGrpSpPr>
              <p:cNvPr id="43049" name="Group 16"/>
              <p:cNvGrpSpPr/>
              <p:nvPr/>
            </p:nvGrpSpPr>
            <p:grpSpPr>
              <a:xfrm>
                <a:off x="762" y="2120"/>
                <a:ext cx="177" cy="130"/>
                <a:chOff x="1776" y="2976"/>
                <a:chExt cx="192" cy="144"/>
              </a:xfrm>
            </p:grpSpPr>
            <p:sp>
              <p:nvSpPr>
                <p:cNvPr id="43098" name="WordArt 17"/>
                <p:cNvSpPr>
                  <a:spLocks noTextEdit="1"/>
                </p:cNvSpPr>
                <p:nvPr/>
              </p:nvSpPr>
              <p:spPr>
                <a:xfrm>
                  <a:off x="1901" y="3024"/>
                  <a:ext cx="67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3099" name="WordArt 18"/>
                <p:cNvSpPr>
                  <a:spLocks noTextEdit="1"/>
                </p:cNvSpPr>
                <p:nvPr/>
              </p:nvSpPr>
              <p:spPr>
                <a:xfrm>
                  <a:off x="1776" y="2976"/>
                  <a:ext cx="96" cy="13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CC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CC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</a:t>
                  </a:r>
                </a:p>
              </p:txBody>
            </p:sp>
          </p:grpSp>
          <p:sp>
            <p:nvSpPr>
              <p:cNvPr id="43050" name="Line 19"/>
              <p:cNvSpPr/>
              <p:nvPr/>
            </p:nvSpPr>
            <p:spPr>
              <a:xfrm>
                <a:off x="892" y="1559"/>
                <a:ext cx="0" cy="5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triangle" w="med" len="lg"/>
                <a:tailEnd type="triangle" w="med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1" name="Line 20"/>
              <p:cNvSpPr/>
              <p:nvPr/>
            </p:nvSpPr>
            <p:spPr>
              <a:xfrm>
                <a:off x="965" y="2081"/>
                <a:ext cx="114" cy="0"/>
              </a:xfrm>
              <a:prstGeom prst="line">
                <a:avLst/>
              </a:prstGeom>
              <a:ln w="57150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2" name="Line 21"/>
              <p:cNvSpPr/>
              <p:nvPr/>
            </p:nvSpPr>
            <p:spPr>
              <a:xfrm>
                <a:off x="4285" y="723"/>
                <a:ext cx="0" cy="1866"/>
              </a:xfrm>
              <a:prstGeom prst="line">
                <a:avLst/>
              </a:prstGeom>
              <a:ln w="28575" cap="flat" cmpd="sng">
                <a:solidFill>
                  <a:schemeClr val="tx2"/>
                </a:solidFill>
                <a:prstDash val="solid"/>
                <a:headEnd type="triangle" w="sm" len="lg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3053" name="Group 22"/>
              <p:cNvGrpSpPr/>
              <p:nvPr/>
            </p:nvGrpSpPr>
            <p:grpSpPr>
              <a:xfrm>
                <a:off x="1005" y="2401"/>
                <a:ext cx="3248" cy="173"/>
                <a:chOff x="1016" y="2205"/>
                <a:chExt cx="3248" cy="173"/>
              </a:xfrm>
            </p:grpSpPr>
            <p:sp>
              <p:nvSpPr>
                <p:cNvPr id="43095" name="Line 23"/>
                <p:cNvSpPr/>
                <p:nvPr/>
              </p:nvSpPr>
              <p:spPr>
                <a:xfrm>
                  <a:off x="3025" y="2269"/>
                  <a:ext cx="1239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none" w="med" len="med"/>
                  <a:tailEnd type="triangle" w="med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6" name="Line 24"/>
                <p:cNvSpPr/>
                <p:nvPr/>
              </p:nvSpPr>
              <p:spPr>
                <a:xfrm>
                  <a:off x="1016" y="2286"/>
                  <a:ext cx="1240" cy="0"/>
                </a:xfrm>
                <a:prstGeom prst="line">
                  <a:avLst/>
                </a:prstGeom>
                <a:ln w="19050" cap="flat" cmpd="sng">
                  <a:solidFill>
                    <a:schemeClr val="bg2"/>
                  </a:solidFill>
                  <a:prstDash val="solid"/>
                  <a:headEnd type="triangle" w="med" len="lg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7" name="WordArt 25"/>
                <p:cNvSpPr>
                  <a:spLocks noTextEdit="1"/>
                </p:cNvSpPr>
                <p:nvPr/>
              </p:nvSpPr>
              <p:spPr>
                <a:xfrm>
                  <a:off x="2481" y="2205"/>
                  <a:ext cx="178" cy="173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44273"/>
                    </a:avLst>
                  </a:prstTxWarp>
                  <a:normAutofit fontScale="40000" lnSpcReduction="20000"/>
                </a:bodyPr>
                <a:lstStyle/>
                <a:p>
                  <a:pPr algn="ctr"/>
                  <a:r>
                    <a:rPr lang="zh-CN" altLang="en-US" sz="3600" b="1">
                      <a:ln w="19050" cap="flat" cmpd="sng">
                        <a:solidFill>
                          <a:schemeClr val="tx2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chemeClr val="tx2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D</a:t>
                  </a:r>
                </a:p>
              </p:txBody>
            </p:sp>
          </p:grpSp>
          <p:sp>
            <p:nvSpPr>
              <p:cNvPr id="43054" name="Line 26"/>
              <p:cNvSpPr/>
              <p:nvPr/>
            </p:nvSpPr>
            <p:spPr>
              <a:xfrm flipV="1">
                <a:off x="1027" y="1361"/>
                <a:ext cx="3254" cy="714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5" name="Line 27"/>
              <p:cNvSpPr/>
              <p:nvPr/>
            </p:nvSpPr>
            <p:spPr>
              <a:xfrm flipV="1">
                <a:off x="1019" y="1351"/>
                <a:ext cx="3263" cy="219"/>
              </a:xfrm>
              <a:prstGeom prst="line">
                <a:avLst/>
              </a:prstGeom>
              <a:ln w="28575" cap="flat" cmpd="sng">
                <a:solidFill>
                  <a:srgbClr val="CC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56" name="WordArt 28"/>
              <p:cNvSpPr>
                <a:spLocks noTextEdit="1"/>
              </p:cNvSpPr>
              <p:nvPr/>
            </p:nvSpPr>
            <p:spPr>
              <a:xfrm>
                <a:off x="4109" y="1888"/>
                <a:ext cx="133" cy="12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43057" name="WordArt 29"/>
              <p:cNvSpPr>
                <a:spLocks noTextEdit="1"/>
              </p:cNvSpPr>
              <p:nvPr/>
            </p:nvSpPr>
            <p:spPr>
              <a:xfrm>
                <a:off x="4031" y="767"/>
                <a:ext cx="178" cy="1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/>
              </a:bodyPr>
              <a:lstStyle/>
              <a:p>
                <a:pPr algn="ctr"/>
                <a:r>
                  <a:rPr lang="zh-CN" altLang="en-US" sz="800" b="1" i="1"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</a:p>
            </p:txBody>
          </p:sp>
          <p:grpSp>
            <p:nvGrpSpPr>
              <p:cNvPr id="43058" name="Group 30"/>
              <p:cNvGrpSpPr/>
              <p:nvPr/>
            </p:nvGrpSpPr>
            <p:grpSpPr>
              <a:xfrm>
                <a:off x="5103" y="1418"/>
                <a:ext cx="240" cy="161"/>
                <a:chOff x="3456" y="3504"/>
                <a:chExt cx="384" cy="240"/>
              </a:xfrm>
            </p:grpSpPr>
            <p:sp>
              <p:nvSpPr>
                <p:cNvPr id="43093" name="WordArt 31"/>
                <p:cNvSpPr>
                  <a:spLocks noTextEdit="1"/>
                </p:cNvSpPr>
                <p:nvPr/>
              </p:nvSpPr>
              <p:spPr>
                <a:xfrm>
                  <a:off x="3648" y="3504"/>
                  <a:ext cx="192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32500" lnSpcReduction="20000"/>
                </a:bodyPr>
                <a:lstStyle/>
                <a:p>
                  <a:pPr algn="ctr"/>
                  <a:r>
                    <a:rPr lang="zh-CN" altLang="en-US" sz="3600" b="1" i="1">
                      <a:ln w="9525" cap="flat" cmpd="sng">
                        <a:solidFill>
                          <a:srgbClr val="FF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43094" name="WordArt 32"/>
                <p:cNvSpPr>
                  <a:spLocks noTextEdit="1"/>
                </p:cNvSpPr>
                <p:nvPr/>
              </p:nvSpPr>
              <p:spPr>
                <a:xfrm>
                  <a:off x="3456" y="3504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  <a:normAutofit fontScale="25000" lnSpcReduction="20000"/>
                </a:bodyPr>
                <a:lstStyle/>
                <a:p>
                  <a:pPr algn="ctr"/>
                  <a:r>
                    <a:rPr lang="zh-CN" altLang="en-US" sz="3600" b="1">
                      <a:ln w="9525" cap="flat" cmpd="sng">
                        <a:solidFill>
                          <a:srgbClr val="FF0000"/>
                        </a:solidFill>
                        <a:prstDash val="solid"/>
                        <a:headEnd type="none" w="med" len="med"/>
                        <a:tailEnd type="none" w="med" len="med"/>
                      </a:ln>
                      <a:solidFill>
                        <a:srgbClr val="FF0000"/>
                      </a:solidFill>
                      <a:latin typeface="Wingdings 3" panose="05040102010807070707" charset="0"/>
                      <a:ea typeface="Wingdings 3" panose="05040102010807070707" charset="0"/>
                    </a:rPr>
                    <a:t>r</a:t>
                  </a:r>
                </a:p>
              </p:txBody>
            </p:sp>
          </p:grpSp>
          <p:grpSp>
            <p:nvGrpSpPr>
              <p:cNvPr id="43059" name="Group 33"/>
              <p:cNvGrpSpPr/>
              <p:nvPr/>
            </p:nvGrpSpPr>
            <p:grpSpPr>
              <a:xfrm>
                <a:off x="4905" y="1381"/>
                <a:ext cx="193" cy="240"/>
                <a:chOff x="4514" y="1341"/>
                <a:chExt cx="193" cy="270"/>
              </a:xfrm>
            </p:grpSpPr>
            <p:sp>
              <p:nvSpPr>
                <p:cNvPr id="43090" name="Line 34"/>
                <p:cNvSpPr/>
                <p:nvPr/>
              </p:nvSpPr>
              <p:spPr>
                <a:xfrm>
                  <a:off x="4515" y="1341"/>
                  <a:ext cx="19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1" name="Line 35"/>
                <p:cNvSpPr/>
                <p:nvPr/>
              </p:nvSpPr>
              <p:spPr>
                <a:xfrm>
                  <a:off x="4514" y="1611"/>
                  <a:ext cx="19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2" name="Line 36"/>
                <p:cNvSpPr/>
                <p:nvPr/>
              </p:nvSpPr>
              <p:spPr>
                <a:xfrm>
                  <a:off x="4583" y="1345"/>
                  <a:ext cx="0" cy="26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triangl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60" name="WordArt 37"/>
              <p:cNvSpPr>
                <a:spLocks noTextEdit="1"/>
              </p:cNvSpPr>
              <p:nvPr/>
            </p:nvSpPr>
            <p:spPr>
              <a:xfrm>
                <a:off x="4070" y="1143"/>
                <a:ext cx="155" cy="14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chemeClr val="tx2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chemeClr val="tx1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</a:t>
                </a:r>
              </a:p>
            </p:txBody>
          </p:sp>
          <p:sp>
            <p:nvSpPr>
              <p:cNvPr id="43061" name="Rectangle 38"/>
              <p:cNvSpPr/>
              <p:nvPr/>
            </p:nvSpPr>
            <p:spPr>
              <a:xfrm>
                <a:off x="4303" y="1755"/>
                <a:ext cx="173" cy="151"/>
              </a:xfrm>
              <a:prstGeom prst="rect">
                <a:avLst/>
              </a:prstGeom>
              <a:gradFill rotWithShape="0">
                <a:gsLst>
                  <a:gs pos="0">
                    <a:srgbClr val="00384B"/>
                  </a:gs>
                  <a:gs pos="50000">
                    <a:srgbClr val="0099CC"/>
                  </a:gs>
                  <a:gs pos="100000">
                    <a:srgbClr val="00384B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2" name="Rectangle 39"/>
              <p:cNvSpPr/>
              <p:nvPr/>
            </p:nvSpPr>
            <p:spPr>
              <a:xfrm>
                <a:off x="4303" y="1906"/>
                <a:ext cx="173" cy="151"/>
              </a:xfrm>
              <a:prstGeom prst="rect">
                <a:avLst/>
              </a:prstGeom>
              <a:gradFill rotWithShape="0">
                <a:gsLst>
                  <a:gs pos="0">
                    <a:srgbClr val="00384B"/>
                  </a:gs>
                  <a:gs pos="50000">
                    <a:srgbClr val="0099CC"/>
                  </a:gs>
                  <a:gs pos="100000">
                    <a:srgbClr val="00384B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3" name="Rectangle 40"/>
              <p:cNvSpPr/>
              <p:nvPr/>
            </p:nvSpPr>
            <p:spPr>
              <a:xfrm>
                <a:off x="4303" y="1453"/>
                <a:ext cx="173" cy="151"/>
              </a:xfrm>
              <a:prstGeom prst="rect">
                <a:avLst/>
              </a:prstGeom>
              <a:gradFill rotWithShape="0">
                <a:gsLst>
                  <a:gs pos="0">
                    <a:srgbClr val="00384B"/>
                  </a:gs>
                  <a:gs pos="50000">
                    <a:srgbClr val="0099CC"/>
                  </a:gs>
                  <a:gs pos="100000">
                    <a:srgbClr val="00384B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4" name="Rectangle 41"/>
              <p:cNvSpPr/>
              <p:nvPr/>
            </p:nvSpPr>
            <p:spPr>
              <a:xfrm>
                <a:off x="4303" y="1604"/>
                <a:ext cx="173" cy="151"/>
              </a:xfrm>
              <a:prstGeom prst="rect">
                <a:avLst/>
              </a:prstGeom>
              <a:gradFill rotWithShape="0">
                <a:gsLst>
                  <a:gs pos="0">
                    <a:srgbClr val="00384B"/>
                  </a:gs>
                  <a:gs pos="50000">
                    <a:srgbClr val="0099CC"/>
                  </a:gs>
                  <a:gs pos="100000">
                    <a:srgbClr val="00384B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5" name="Rectangle 42"/>
              <p:cNvSpPr/>
              <p:nvPr/>
            </p:nvSpPr>
            <p:spPr>
              <a:xfrm>
                <a:off x="4303" y="1302"/>
                <a:ext cx="173" cy="151"/>
              </a:xfrm>
              <a:prstGeom prst="rect">
                <a:avLst/>
              </a:prstGeom>
              <a:gradFill rotWithShape="0">
                <a:gsLst>
                  <a:gs pos="0">
                    <a:srgbClr val="00384B"/>
                  </a:gs>
                  <a:gs pos="50000">
                    <a:srgbClr val="0099CC"/>
                  </a:gs>
                  <a:gs pos="100000">
                    <a:srgbClr val="00384B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6" name="Rectangle 43"/>
              <p:cNvSpPr/>
              <p:nvPr/>
            </p:nvSpPr>
            <p:spPr>
              <a:xfrm>
                <a:off x="4303" y="2057"/>
                <a:ext cx="173" cy="151"/>
              </a:xfrm>
              <a:prstGeom prst="rect">
                <a:avLst/>
              </a:prstGeom>
              <a:gradFill rotWithShape="0">
                <a:gsLst>
                  <a:gs pos="0">
                    <a:srgbClr val="00384B"/>
                  </a:gs>
                  <a:gs pos="50000">
                    <a:srgbClr val="0099CC"/>
                  </a:gs>
                  <a:gs pos="100000">
                    <a:srgbClr val="00384B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067" name="Rectangle 44"/>
              <p:cNvSpPr/>
              <p:nvPr/>
            </p:nvSpPr>
            <p:spPr>
              <a:xfrm>
                <a:off x="4303" y="2205"/>
                <a:ext cx="173" cy="151"/>
              </a:xfrm>
              <a:prstGeom prst="rect">
                <a:avLst/>
              </a:prstGeom>
              <a:gradFill rotWithShape="0">
                <a:gsLst>
                  <a:gs pos="0">
                    <a:srgbClr val="00384B"/>
                  </a:gs>
                  <a:gs pos="50000">
                    <a:srgbClr val="0099CC"/>
                  </a:gs>
                  <a:gs pos="100000">
                    <a:srgbClr val="00384B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3068" name="Group 45"/>
              <p:cNvGrpSpPr/>
              <p:nvPr/>
            </p:nvGrpSpPr>
            <p:grpSpPr>
              <a:xfrm>
                <a:off x="4510" y="1164"/>
                <a:ext cx="173" cy="1330"/>
                <a:chOff x="4856" y="707"/>
                <a:chExt cx="249" cy="2188"/>
              </a:xfrm>
            </p:grpSpPr>
            <p:sp>
              <p:nvSpPr>
                <p:cNvPr id="43083" name="Rectangle 46"/>
                <p:cNvSpPr/>
                <p:nvPr/>
              </p:nvSpPr>
              <p:spPr>
                <a:xfrm>
                  <a:off x="4856" y="1647"/>
                  <a:ext cx="249" cy="313"/>
                </a:xfrm>
                <a:prstGeom prst="rect">
                  <a:avLst/>
                </a:prstGeom>
                <a:gradFill rotWithShape="0">
                  <a:gsLst>
                    <a:gs pos="0">
                      <a:srgbClr val="5E5E00"/>
                    </a:gs>
                    <a:gs pos="50000">
                      <a:srgbClr val="FFFF00"/>
                    </a:gs>
                    <a:gs pos="100000">
                      <a:srgbClr val="5E5E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84" name="Rectangle 47"/>
                <p:cNvSpPr/>
                <p:nvPr/>
              </p:nvSpPr>
              <p:spPr>
                <a:xfrm>
                  <a:off x="4856" y="1960"/>
                  <a:ext cx="249" cy="314"/>
                </a:xfrm>
                <a:prstGeom prst="rect">
                  <a:avLst/>
                </a:prstGeom>
                <a:gradFill rotWithShape="0">
                  <a:gsLst>
                    <a:gs pos="0">
                      <a:srgbClr val="5E5E00"/>
                    </a:gs>
                    <a:gs pos="50000">
                      <a:srgbClr val="FFFF00"/>
                    </a:gs>
                    <a:gs pos="100000">
                      <a:srgbClr val="5E5E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85" name="Rectangle 48"/>
                <p:cNvSpPr/>
                <p:nvPr/>
              </p:nvSpPr>
              <p:spPr>
                <a:xfrm>
                  <a:off x="4856" y="1020"/>
                  <a:ext cx="249" cy="314"/>
                </a:xfrm>
                <a:prstGeom prst="rect">
                  <a:avLst/>
                </a:prstGeom>
                <a:gradFill rotWithShape="0">
                  <a:gsLst>
                    <a:gs pos="0">
                      <a:srgbClr val="5E5E00"/>
                    </a:gs>
                    <a:gs pos="50000">
                      <a:srgbClr val="FFFF00"/>
                    </a:gs>
                    <a:gs pos="100000">
                      <a:srgbClr val="5E5E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86" name="Rectangle 49"/>
                <p:cNvSpPr/>
                <p:nvPr/>
              </p:nvSpPr>
              <p:spPr>
                <a:xfrm>
                  <a:off x="4856" y="1334"/>
                  <a:ext cx="249" cy="313"/>
                </a:xfrm>
                <a:prstGeom prst="rect">
                  <a:avLst/>
                </a:prstGeom>
                <a:gradFill rotWithShape="0">
                  <a:gsLst>
                    <a:gs pos="0">
                      <a:srgbClr val="5E5E00"/>
                    </a:gs>
                    <a:gs pos="50000">
                      <a:srgbClr val="FFFF00"/>
                    </a:gs>
                    <a:gs pos="100000">
                      <a:srgbClr val="5E5E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87" name="Rectangle 50"/>
                <p:cNvSpPr/>
                <p:nvPr/>
              </p:nvSpPr>
              <p:spPr>
                <a:xfrm>
                  <a:off x="4856" y="707"/>
                  <a:ext cx="249" cy="313"/>
                </a:xfrm>
                <a:prstGeom prst="rect">
                  <a:avLst/>
                </a:prstGeom>
                <a:gradFill rotWithShape="0">
                  <a:gsLst>
                    <a:gs pos="0">
                      <a:srgbClr val="5E5E00"/>
                    </a:gs>
                    <a:gs pos="50000">
                      <a:srgbClr val="FFFF00"/>
                    </a:gs>
                    <a:gs pos="100000">
                      <a:srgbClr val="5E5E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88" name="Rectangle 51"/>
                <p:cNvSpPr/>
                <p:nvPr/>
              </p:nvSpPr>
              <p:spPr>
                <a:xfrm>
                  <a:off x="4856" y="2274"/>
                  <a:ext cx="249" cy="313"/>
                </a:xfrm>
                <a:prstGeom prst="rect">
                  <a:avLst/>
                </a:prstGeom>
                <a:gradFill rotWithShape="0">
                  <a:gsLst>
                    <a:gs pos="0">
                      <a:srgbClr val="5E5E00"/>
                    </a:gs>
                    <a:gs pos="50000">
                      <a:srgbClr val="FFFF00"/>
                    </a:gs>
                    <a:gs pos="100000">
                      <a:srgbClr val="5E5E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89" name="Rectangle 52"/>
                <p:cNvSpPr/>
                <p:nvPr/>
              </p:nvSpPr>
              <p:spPr>
                <a:xfrm>
                  <a:off x="4856" y="2582"/>
                  <a:ext cx="249" cy="313"/>
                </a:xfrm>
                <a:prstGeom prst="rect">
                  <a:avLst/>
                </a:prstGeom>
                <a:gradFill rotWithShape="0">
                  <a:gsLst>
                    <a:gs pos="0">
                      <a:srgbClr val="5E5E00"/>
                    </a:gs>
                    <a:gs pos="50000">
                      <a:srgbClr val="FFFF00"/>
                    </a:gs>
                    <a:gs pos="100000">
                      <a:srgbClr val="5E5E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069" name="Group 53"/>
              <p:cNvGrpSpPr/>
              <p:nvPr/>
            </p:nvGrpSpPr>
            <p:grpSpPr>
              <a:xfrm>
                <a:off x="4708" y="1026"/>
                <a:ext cx="173" cy="1588"/>
                <a:chOff x="4299" y="1004"/>
                <a:chExt cx="173" cy="1588"/>
              </a:xfrm>
            </p:grpSpPr>
            <p:sp>
              <p:nvSpPr>
                <p:cNvPr id="43076" name="Rectangle 54"/>
                <p:cNvSpPr/>
                <p:nvPr/>
              </p:nvSpPr>
              <p:spPr>
                <a:xfrm>
                  <a:off x="4299" y="1686"/>
                  <a:ext cx="173" cy="227"/>
                </a:xfrm>
                <a:prstGeom prst="rect">
                  <a:avLst/>
                </a:prstGeom>
                <a:gradFill rotWithShape="0">
                  <a:gsLst>
                    <a:gs pos="0">
                      <a:srgbClr val="5E0000"/>
                    </a:gs>
                    <a:gs pos="50000">
                      <a:srgbClr val="FF0000"/>
                    </a:gs>
                    <a:gs pos="100000">
                      <a:srgbClr val="5E00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77" name="Rectangle 55"/>
                <p:cNvSpPr/>
                <p:nvPr/>
              </p:nvSpPr>
              <p:spPr>
                <a:xfrm>
                  <a:off x="4299" y="1913"/>
                  <a:ext cx="173" cy="228"/>
                </a:xfrm>
                <a:prstGeom prst="rect">
                  <a:avLst/>
                </a:prstGeom>
                <a:gradFill rotWithShape="0">
                  <a:gsLst>
                    <a:gs pos="0">
                      <a:srgbClr val="5E0000"/>
                    </a:gs>
                    <a:gs pos="50000">
                      <a:srgbClr val="FF0000"/>
                    </a:gs>
                    <a:gs pos="100000">
                      <a:srgbClr val="5E00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78" name="Rectangle 56"/>
                <p:cNvSpPr/>
                <p:nvPr/>
              </p:nvSpPr>
              <p:spPr>
                <a:xfrm>
                  <a:off x="4299" y="1231"/>
                  <a:ext cx="173" cy="228"/>
                </a:xfrm>
                <a:prstGeom prst="rect">
                  <a:avLst/>
                </a:prstGeom>
                <a:gradFill rotWithShape="0">
                  <a:gsLst>
                    <a:gs pos="0">
                      <a:srgbClr val="5E0000"/>
                    </a:gs>
                    <a:gs pos="50000">
                      <a:srgbClr val="FF0000"/>
                    </a:gs>
                    <a:gs pos="100000">
                      <a:srgbClr val="5E00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79" name="Rectangle 57"/>
                <p:cNvSpPr/>
                <p:nvPr/>
              </p:nvSpPr>
              <p:spPr>
                <a:xfrm>
                  <a:off x="4299" y="1459"/>
                  <a:ext cx="173" cy="227"/>
                </a:xfrm>
                <a:prstGeom prst="rect">
                  <a:avLst/>
                </a:prstGeom>
                <a:gradFill rotWithShape="0">
                  <a:gsLst>
                    <a:gs pos="0">
                      <a:srgbClr val="5E0000"/>
                    </a:gs>
                    <a:gs pos="50000">
                      <a:srgbClr val="FF0000"/>
                    </a:gs>
                    <a:gs pos="100000">
                      <a:srgbClr val="5E00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80" name="Rectangle 58"/>
                <p:cNvSpPr/>
                <p:nvPr/>
              </p:nvSpPr>
              <p:spPr>
                <a:xfrm>
                  <a:off x="4299" y="1004"/>
                  <a:ext cx="173" cy="227"/>
                </a:xfrm>
                <a:prstGeom prst="rect">
                  <a:avLst/>
                </a:prstGeom>
                <a:gradFill rotWithShape="0">
                  <a:gsLst>
                    <a:gs pos="0">
                      <a:srgbClr val="5E0000"/>
                    </a:gs>
                    <a:gs pos="50000">
                      <a:srgbClr val="FF0000"/>
                    </a:gs>
                    <a:gs pos="100000">
                      <a:srgbClr val="5E00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81" name="Rectangle 59"/>
                <p:cNvSpPr/>
                <p:nvPr/>
              </p:nvSpPr>
              <p:spPr>
                <a:xfrm>
                  <a:off x="4299" y="2141"/>
                  <a:ext cx="173" cy="227"/>
                </a:xfrm>
                <a:prstGeom prst="rect">
                  <a:avLst/>
                </a:prstGeom>
                <a:gradFill rotWithShape="0">
                  <a:gsLst>
                    <a:gs pos="0">
                      <a:srgbClr val="5E0000"/>
                    </a:gs>
                    <a:gs pos="50000">
                      <a:srgbClr val="FF0000"/>
                    </a:gs>
                    <a:gs pos="100000">
                      <a:srgbClr val="5E00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3082" name="Rectangle 60"/>
                <p:cNvSpPr/>
                <p:nvPr/>
              </p:nvSpPr>
              <p:spPr>
                <a:xfrm>
                  <a:off x="4299" y="2365"/>
                  <a:ext cx="173" cy="227"/>
                </a:xfrm>
                <a:prstGeom prst="rect">
                  <a:avLst/>
                </a:prstGeom>
                <a:gradFill rotWithShape="0">
                  <a:gsLst>
                    <a:gs pos="0">
                      <a:srgbClr val="5E0000"/>
                    </a:gs>
                    <a:gs pos="50000">
                      <a:srgbClr val="FF0000"/>
                    </a:gs>
                    <a:gs pos="100000">
                      <a:srgbClr val="5E0000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3070" name="Line 61"/>
              <p:cNvSpPr/>
              <p:nvPr/>
            </p:nvSpPr>
            <p:spPr>
              <a:xfrm>
                <a:off x="1034" y="1832"/>
                <a:ext cx="4015" cy="0"/>
              </a:xfrm>
              <a:prstGeom prst="line">
                <a:avLst/>
              </a:prstGeom>
              <a:ln w="6350" cap="flat" cmpd="sng">
                <a:solidFill>
                  <a:schemeClr val="bg2"/>
                </a:solidFill>
                <a:prstDash val="lgDashDot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1" name="Line 62"/>
              <p:cNvSpPr/>
              <p:nvPr/>
            </p:nvSpPr>
            <p:spPr>
              <a:xfrm>
                <a:off x="4230" y="1355"/>
                <a:ext cx="0" cy="495"/>
              </a:xfrm>
              <a:prstGeom prst="line">
                <a:avLst/>
              </a:prstGeom>
              <a:ln w="9525" cap="flat" cmpd="sng">
                <a:solidFill>
                  <a:srgbClr val="CC0000"/>
                </a:solidFill>
                <a:prstDash val="solid"/>
                <a:headEnd type="triangl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2" name="WordArt 63"/>
              <p:cNvSpPr>
                <a:spLocks noTextEdit="1"/>
              </p:cNvSpPr>
              <p:nvPr/>
            </p:nvSpPr>
            <p:spPr>
              <a:xfrm>
                <a:off x="4015" y="1535"/>
                <a:ext cx="152" cy="12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25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CC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CC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43073" name="Line 64"/>
              <p:cNvSpPr/>
              <p:nvPr/>
            </p:nvSpPr>
            <p:spPr>
              <a:xfrm>
                <a:off x="1032" y="1587"/>
                <a:ext cx="131" cy="46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4" name="WordArt 65"/>
              <p:cNvSpPr>
                <a:spLocks noTextEdit="1"/>
              </p:cNvSpPr>
              <p:nvPr/>
            </p:nvSpPr>
            <p:spPr>
              <a:xfrm>
                <a:off x="1157" y="2200"/>
                <a:ext cx="128" cy="1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0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Symbol" panose="05050102010706020507" charset="0"/>
                    <a:ea typeface="Symbol" panose="05050102010706020507" charset="0"/>
                  </a:rPr>
                  <a:t>d</a:t>
                </a:r>
              </a:p>
            </p:txBody>
          </p:sp>
          <p:sp>
            <p:nvSpPr>
              <p:cNvPr id="43075" name="AutoShape 66"/>
              <p:cNvSpPr/>
              <p:nvPr/>
            </p:nvSpPr>
            <p:spPr>
              <a:xfrm rot="-6286826">
                <a:off x="1051" y="2062"/>
                <a:ext cx="116" cy="147"/>
              </a:xfrm>
              <a:prstGeom prst="leftBrace">
                <a:avLst>
                  <a:gd name="adj1" fmla="val 10560"/>
                  <a:gd name="adj2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3040" name="Rectangle 67" descr="羊皮纸"/>
            <p:cNvSpPr/>
            <p:nvPr/>
          </p:nvSpPr>
          <p:spPr>
            <a:xfrm>
              <a:off x="994" y="537"/>
              <a:ext cx="3826" cy="82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41" name="WordArt 68"/>
            <p:cNvSpPr>
              <a:spLocks noTextEdit="1"/>
            </p:cNvSpPr>
            <p:nvPr/>
          </p:nvSpPr>
          <p:spPr>
            <a:xfrm>
              <a:off x="1826" y="845"/>
              <a:ext cx="1772" cy="16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2500" lnSpcReduction="20000"/>
            </a:bodyPr>
            <a:lstStyle/>
            <a:p>
              <a:pPr algn="ctr"/>
              <a:r>
                <a:rPr lang="zh-CN" altLang="en-US" sz="3600" b="1">
                  <a:ln w="31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在真空或空气中</a:t>
              </a:r>
            </a:p>
          </p:txBody>
        </p:sp>
      </p:grpSp>
      <p:sp>
        <p:nvSpPr>
          <p:cNvPr id="43011" name="Rectangle 70" descr="羊皮纸"/>
          <p:cNvSpPr/>
          <p:nvPr/>
        </p:nvSpPr>
        <p:spPr>
          <a:xfrm>
            <a:off x="0" y="6694488"/>
            <a:ext cx="9144000" cy="163512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43012" name="Group 83"/>
          <p:cNvGrpSpPr/>
          <p:nvPr/>
        </p:nvGrpSpPr>
        <p:grpSpPr>
          <a:xfrm>
            <a:off x="5464175" y="5427663"/>
            <a:ext cx="2495550" cy="985837"/>
            <a:chOff x="3246" y="3320"/>
            <a:chExt cx="1572" cy="621"/>
          </a:xfrm>
        </p:grpSpPr>
        <p:grpSp>
          <p:nvGrpSpPr>
            <p:cNvPr id="43028" name="Group 84"/>
            <p:cNvGrpSpPr/>
            <p:nvPr/>
          </p:nvGrpSpPr>
          <p:grpSpPr>
            <a:xfrm>
              <a:off x="3810" y="3600"/>
              <a:ext cx="185" cy="62"/>
              <a:chOff x="1680" y="2880"/>
              <a:chExt cx="240" cy="48"/>
            </a:xfrm>
          </p:grpSpPr>
          <p:sp>
            <p:nvSpPr>
              <p:cNvPr id="43036" name="Line 85"/>
              <p:cNvSpPr/>
              <p:nvPr/>
            </p:nvSpPr>
            <p:spPr>
              <a:xfrm>
                <a:off x="1680" y="2880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37" name="Line 86"/>
              <p:cNvSpPr/>
              <p:nvPr/>
            </p:nvSpPr>
            <p:spPr>
              <a:xfrm>
                <a:off x="1680" y="2928"/>
                <a:ext cx="2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29" name="Group 87"/>
            <p:cNvGrpSpPr/>
            <p:nvPr/>
          </p:nvGrpSpPr>
          <p:grpSpPr>
            <a:xfrm>
              <a:off x="3246" y="3504"/>
              <a:ext cx="425" cy="229"/>
              <a:chOff x="3456" y="3504"/>
              <a:chExt cx="384" cy="240"/>
            </a:xfrm>
          </p:grpSpPr>
          <p:sp>
            <p:nvSpPr>
              <p:cNvPr id="43034" name="WordArt 88"/>
              <p:cNvSpPr>
                <a:spLocks noTextEdit="1"/>
              </p:cNvSpPr>
              <p:nvPr/>
            </p:nvSpPr>
            <p:spPr>
              <a:xfrm>
                <a:off x="3648" y="3504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55000" lnSpcReduction="20000"/>
              </a:bodyPr>
              <a:lstStyle/>
              <a:p>
                <a:pPr algn="ctr"/>
                <a:r>
                  <a:rPr lang="zh-CN" altLang="en-US" sz="3600" b="1" i="1">
                    <a:ln w="9525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43035" name="WordArt 89"/>
              <p:cNvSpPr>
                <a:spLocks noTextEdit="1"/>
              </p:cNvSpPr>
              <p:nvPr/>
            </p:nvSpPr>
            <p:spPr>
              <a:xfrm>
                <a:off x="3456" y="3504"/>
                <a:ext cx="189" cy="2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  <a:normAutofit fontScale="47500" lnSpcReduction="20000"/>
              </a:bodyPr>
              <a:lstStyle/>
              <a:p>
                <a:pPr algn="ctr"/>
                <a:r>
                  <a:rPr lang="zh-CN" altLang="en-US" sz="3600" b="1">
                    <a:ln w="9525" cap="flat" cmpd="sng">
                      <a:solidFill>
                        <a:srgbClr val="FF0000"/>
                      </a:solidFill>
                      <a:prstDash val="solid"/>
                      <a:headEnd type="none" w="med" len="med"/>
                      <a:tailEnd type="none" w="med" len="med"/>
                    </a:ln>
                    <a:solidFill>
                      <a:srgbClr val="FF0000"/>
                    </a:solidFill>
                    <a:latin typeface="Wingdings 3" panose="05040102010807070707" charset="0"/>
                    <a:ea typeface="Wingdings 3" panose="05040102010807070707" charset="0"/>
                  </a:rPr>
                  <a:t>r</a:t>
                </a:r>
              </a:p>
            </p:txBody>
          </p:sp>
        </p:grpSp>
        <p:sp>
          <p:nvSpPr>
            <p:cNvPr id="43030" name="WordArt 90"/>
            <p:cNvSpPr>
              <a:spLocks noTextEdit="1"/>
            </p:cNvSpPr>
            <p:nvPr/>
          </p:nvSpPr>
          <p:spPr>
            <a:xfrm>
              <a:off x="4530" y="3495"/>
              <a:ext cx="288" cy="2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7815"/>
                </a:avLst>
              </a:prstTxWarp>
              <a:normAutofit fontScale="700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Symbol" panose="05050102010706020507" charset="0"/>
                  <a:ea typeface="Symbol" panose="05050102010706020507" charset="0"/>
                </a:rPr>
                <a:t>l</a:t>
              </a:r>
            </a:p>
          </p:txBody>
        </p:sp>
        <p:sp>
          <p:nvSpPr>
            <p:cNvPr id="43031" name="WordArt 91"/>
            <p:cNvSpPr>
              <a:spLocks noTextEdit="1"/>
            </p:cNvSpPr>
            <p:nvPr/>
          </p:nvSpPr>
          <p:spPr>
            <a:xfrm>
              <a:off x="4190" y="3320"/>
              <a:ext cx="274" cy="21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4273"/>
                </a:avLst>
              </a:prstTxWarp>
              <a:normAutofit fontScale="55000" lnSpcReduction="20000"/>
            </a:bodyPr>
            <a:lstStyle/>
            <a:p>
              <a:pPr algn="ctr"/>
              <a:r>
                <a:rPr lang="zh-CN" altLang="en-US" sz="3600" b="1">
                  <a:ln w="19050" cap="flat" cmpd="sng">
                    <a:solidFill>
                      <a:schemeClr val="tx2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43032" name="WordArt 92"/>
            <p:cNvSpPr>
              <a:spLocks noTextEdit="1"/>
            </p:cNvSpPr>
            <p:nvPr/>
          </p:nvSpPr>
          <p:spPr>
            <a:xfrm>
              <a:off x="4131" y="3660"/>
              <a:ext cx="273" cy="28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676"/>
                </a:avLst>
              </a:prstTxWarp>
              <a:normAutofit fontScale="775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chemeClr val="tx1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033" name="Line 93"/>
            <p:cNvSpPr/>
            <p:nvPr/>
          </p:nvSpPr>
          <p:spPr>
            <a:xfrm>
              <a:off x="4093" y="3619"/>
              <a:ext cx="43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3013" name="WordArt 94"/>
          <p:cNvSpPr>
            <a:spLocks noTextEdit="1"/>
          </p:cNvSpPr>
          <p:nvPr/>
        </p:nvSpPr>
        <p:spPr>
          <a:xfrm>
            <a:off x="5330825" y="4648200"/>
            <a:ext cx="2200275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 fontScale="40000" lnSpcReduction="20000"/>
          </a:bodyPr>
          <a:lstStyle/>
          <a:p>
            <a:pPr algn="ctr"/>
            <a:r>
              <a:rPr lang="zh-CN" altLang="en-US" sz="3600" b="1"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条纹间距</a:t>
            </a:r>
          </a:p>
        </p:txBody>
      </p:sp>
      <p:grpSp>
        <p:nvGrpSpPr>
          <p:cNvPr id="43014" name="Group 95"/>
          <p:cNvGrpSpPr/>
          <p:nvPr/>
        </p:nvGrpSpPr>
        <p:grpSpPr>
          <a:xfrm>
            <a:off x="7618413" y="4664075"/>
            <a:ext cx="538162" cy="295275"/>
            <a:chOff x="3456" y="3504"/>
            <a:chExt cx="384" cy="240"/>
          </a:xfrm>
        </p:grpSpPr>
        <p:sp>
          <p:nvSpPr>
            <p:cNvPr id="43026" name="WordArt 96"/>
            <p:cNvSpPr>
              <a:spLocks noTextEdit="1"/>
            </p:cNvSpPr>
            <p:nvPr/>
          </p:nvSpPr>
          <p:spPr>
            <a:xfrm>
              <a:off x="3648" y="3504"/>
              <a:ext cx="192" cy="2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40000" lnSpcReduction="20000"/>
            </a:bodyPr>
            <a:lstStyle/>
            <a:p>
              <a:pPr algn="ctr"/>
              <a:r>
                <a:rPr lang="zh-CN" altLang="en-US" sz="3600" b="1" i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3027" name="WordArt 97"/>
            <p:cNvSpPr>
              <a:spLocks noTextEdit="1"/>
            </p:cNvSpPr>
            <p:nvPr/>
          </p:nvSpPr>
          <p:spPr>
            <a:xfrm>
              <a:off x="3456" y="3504"/>
              <a:ext cx="189" cy="21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 fontScale="32500" lnSpcReduction="20000"/>
            </a:bodyPr>
            <a:lstStyle/>
            <a:p>
              <a:pPr algn="ctr"/>
              <a:r>
                <a:rPr lang="zh-CN" altLang="en-US" sz="3600" b="1">
                  <a:ln w="9525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  <a:solidFill>
                    <a:srgbClr val="FF0000"/>
                  </a:solidFill>
                  <a:latin typeface="Wingdings 3" panose="05040102010807070707" charset="0"/>
                  <a:ea typeface="Wingdings 3" panose="05040102010807070707" charset="0"/>
                </a:rPr>
                <a:t>r</a:t>
              </a:r>
            </a:p>
          </p:txBody>
        </p:sp>
      </p:grpSp>
      <p:sp>
        <p:nvSpPr>
          <p:cNvPr id="43015" name="Rectangle 98" descr="羊皮纸"/>
          <p:cNvSpPr/>
          <p:nvPr/>
        </p:nvSpPr>
        <p:spPr>
          <a:xfrm>
            <a:off x="0" y="4343400"/>
            <a:ext cx="9144000" cy="147638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3016" name="Rectangle 99" descr="羊皮纸"/>
          <p:cNvSpPr/>
          <p:nvPr/>
        </p:nvSpPr>
        <p:spPr>
          <a:xfrm>
            <a:off x="0" y="5116513"/>
            <a:ext cx="9144000" cy="130175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3017" name="Rectangle 100" descr="羊皮纸"/>
          <p:cNvSpPr/>
          <p:nvPr/>
        </p:nvSpPr>
        <p:spPr>
          <a:xfrm>
            <a:off x="4459288" y="4406900"/>
            <a:ext cx="138112" cy="2451100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3018" name="文本框 2"/>
          <p:cNvSpPr txBox="1"/>
          <p:nvPr/>
        </p:nvSpPr>
        <p:spPr>
          <a:xfrm>
            <a:off x="898525" y="4459288"/>
            <a:ext cx="2578100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华文细黑" panose="02010600040101010101" pitchFamily="2" charset="-122"/>
                <a:ea typeface="华文细黑" panose="02010600040101010101" pitchFamily="2" charset="-122"/>
              </a:rPr>
              <a:t>光程差公式</a:t>
            </a:r>
          </a:p>
        </p:txBody>
      </p:sp>
      <p:graphicFrame>
        <p:nvGraphicFramePr>
          <p:cNvPr id="43019" name="Object 83"/>
          <p:cNvGraphicFramePr>
            <a:graphicFrameLocks noChangeAspect="1"/>
          </p:cNvGraphicFramePr>
          <p:nvPr/>
        </p:nvGraphicFramePr>
        <p:xfrm>
          <a:off x="1144588" y="5316538"/>
          <a:ext cx="1951037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r:id="rId4" imgW="457200" imgH="220980" progId="Equation.3">
                  <p:embed/>
                </p:oleObj>
              </mc:Choice>
              <mc:Fallback>
                <p:oleObj r:id="rId4" imgW="457200" imgH="22098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44588" y="5316538"/>
                        <a:ext cx="1951037" cy="1263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771775" y="5516563"/>
            <a:ext cx="252413" cy="895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Group 93"/>
          <p:cNvGrpSpPr/>
          <p:nvPr/>
        </p:nvGrpSpPr>
        <p:grpSpPr>
          <a:xfrm>
            <a:off x="7524750" y="1268413"/>
            <a:ext cx="1374775" cy="2828925"/>
            <a:chOff x="4798" y="1155"/>
            <a:chExt cx="866" cy="1782"/>
          </a:xfrm>
        </p:grpSpPr>
        <p:sp>
          <p:nvSpPr>
            <p:cNvPr id="43023" name="Line 94"/>
            <p:cNvSpPr/>
            <p:nvPr/>
          </p:nvSpPr>
          <p:spPr>
            <a:xfrm flipH="1">
              <a:off x="4798" y="1155"/>
              <a:ext cx="2" cy="17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lg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4" name="Line 95"/>
            <p:cNvSpPr/>
            <p:nvPr/>
          </p:nvSpPr>
          <p:spPr>
            <a:xfrm>
              <a:off x="4800" y="2112"/>
              <a:ext cx="76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lg"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25" name="Text Box 96"/>
            <p:cNvSpPr txBox="1"/>
            <p:nvPr/>
          </p:nvSpPr>
          <p:spPr>
            <a:xfrm>
              <a:off x="5424" y="2208"/>
              <a:ext cx="240" cy="404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i="1" dirty="0">
                  <a:latin typeface="Century Schoolbook" panose="02040604050505020304" pitchFamily="18" charset="0"/>
                  <a:ea typeface="隶书" panose="02010509060101010101" pitchFamily="49" charset="-122"/>
                </a:rPr>
                <a:t>I</a:t>
              </a:r>
            </a:p>
          </p:txBody>
        </p:sp>
      </p:grpSp>
      <p:sp>
        <p:nvSpPr>
          <p:cNvPr id="8" name="Freeform 97"/>
          <p:cNvSpPr/>
          <p:nvPr/>
        </p:nvSpPr>
        <p:spPr>
          <a:xfrm>
            <a:off x="7604125" y="1720850"/>
            <a:ext cx="711200" cy="2360613"/>
          </a:xfrm>
          <a:custGeom>
            <a:avLst/>
            <a:gdLst>
              <a:gd name="txL" fmla="*/ 0 w 448"/>
              <a:gd name="txT" fmla="*/ 0 h 1487"/>
              <a:gd name="txR" fmla="*/ 448 w 448"/>
              <a:gd name="txB" fmla="*/ 1487 h 1487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448" h="1487">
                <a:moveTo>
                  <a:pt x="3" y="0"/>
                </a:moveTo>
                <a:cubicBezTo>
                  <a:pt x="75" y="8"/>
                  <a:pt x="433" y="26"/>
                  <a:pt x="433" y="50"/>
                </a:cubicBezTo>
                <a:cubicBezTo>
                  <a:pt x="433" y="74"/>
                  <a:pt x="2" y="118"/>
                  <a:pt x="3" y="144"/>
                </a:cubicBezTo>
                <a:cubicBezTo>
                  <a:pt x="4" y="170"/>
                  <a:pt x="436" y="184"/>
                  <a:pt x="436" y="208"/>
                </a:cubicBezTo>
                <a:cubicBezTo>
                  <a:pt x="436" y="232"/>
                  <a:pt x="1" y="265"/>
                  <a:pt x="3" y="288"/>
                </a:cubicBezTo>
                <a:cubicBezTo>
                  <a:pt x="5" y="311"/>
                  <a:pt x="448" y="322"/>
                  <a:pt x="448" y="346"/>
                </a:cubicBezTo>
                <a:cubicBezTo>
                  <a:pt x="448" y="370"/>
                  <a:pt x="4" y="406"/>
                  <a:pt x="3" y="432"/>
                </a:cubicBezTo>
                <a:cubicBezTo>
                  <a:pt x="2" y="458"/>
                  <a:pt x="441" y="478"/>
                  <a:pt x="441" y="502"/>
                </a:cubicBezTo>
                <a:cubicBezTo>
                  <a:pt x="441" y="526"/>
                  <a:pt x="4" y="548"/>
                  <a:pt x="3" y="576"/>
                </a:cubicBezTo>
                <a:cubicBezTo>
                  <a:pt x="2" y="604"/>
                  <a:pt x="436" y="640"/>
                  <a:pt x="436" y="672"/>
                </a:cubicBezTo>
                <a:cubicBezTo>
                  <a:pt x="436" y="704"/>
                  <a:pt x="3" y="744"/>
                  <a:pt x="3" y="767"/>
                </a:cubicBezTo>
                <a:cubicBezTo>
                  <a:pt x="3" y="791"/>
                  <a:pt x="436" y="791"/>
                  <a:pt x="436" y="815"/>
                </a:cubicBezTo>
                <a:cubicBezTo>
                  <a:pt x="436" y="839"/>
                  <a:pt x="3" y="887"/>
                  <a:pt x="3" y="911"/>
                </a:cubicBezTo>
                <a:cubicBezTo>
                  <a:pt x="3" y="935"/>
                  <a:pt x="436" y="935"/>
                  <a:pt x="436" y="959"/>
                </a:cubicBezTo>
                <a:cubicBezTo>
                  <a:pt x="436" y="983"/>
                  <a:pt x="5" y="1030"/>
                  <a:pt x="3" y="1055"/>
                </a:cubicBezTo>
                <a:cubicBezTo>
                  <a:pt x="1" y="1080"/>
                  <a:pt x="426" y="1085"/>
                  <a:pt x="426" y="1109"/>
                </a:cubicBezTo>
                <a:cubicBezTo>
                  <a:pt x="426" y="1133"/>
                  <a:pt x="4" y="1173"/>
                  <a:pt x="3" y="1199"/>
                </a:cubicBezTo>
                <a:cubicBezTo>
                  <a:pt x="2" y="1225"/>
                  <a:pt x="418" y="1241"/>
                  <a:pt x="418" y="1265"/>
                </a:cubicBezTo>
                <a:cubicBezTo>
                  <a:pt x="418" y="1289"/>
                  <a:pt x="0" y="1315"/>
                  <a:pt x="3" y="1343"/>
                </a:cubicBezTo>
                <a:cubicBezTo>
                  <a:pt x="6" y="1371"/>
                  <a:pt x="433" y="1411"/>
                  <a:pt x="433" y="1435"/>
                </a:cubicBezTo>
                <a:cubicBezTo>
                  <a:pt x="433" y="1459"/>
                  <a:pt x="93" y="1476"/>
                  <a:pt x="3" y="1487"/>
                </a:cubicBezTo>
              </a:path>
            </a:pathLst>
          </a:custGeom>
          <a:noFill/>
          <a:ln w="19050" cap="flat" cmpd="sng">
            <a:solidFill>
              <a:srgbClr val="FF3300">
                <a:alpha val="100000"/>
              </a:srgbClr>
            </a:solidFill>
            <a:prstDash val="solid"/>
            <a:round/>
            <a:headEnd type="none" w="med" len="lg"/>
            <a:tailEnd type="none" w="med" len="lg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73038"/>
            <a:ext cx="5257800" cy="30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双缝干涉条纹的特点：</a:t>
            </a:r>
          </a:p>
        </p:txBody>
      </p:sp>
      <p:sp>
        <p:nvSpPr>
          <p:cNvPr id="110595" name="Text Box 3"/>
          <p:cNvSpPr txBox="1"/>
          <p:nvPr/>
        </p:nvSpPr>
        <p:spPr>
          <a:xfrm>
            <a:off x="279400" y="993775"/>
            <a:ext cx="85344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defTabSz="914400" eaLnBrk="1" hangingPunct="1">
              <a:spcBef>
                <a:spcPct val="30000"/>
              </a:spcBef>
              <a:tabLst>
                <a:tab pos="5238750" algn="l"/>
              </a:tabLst>
            </a:pPr>
            <a:r>
              <a:rPr lang="en-US" altLang="zh-CN" sz="2800" dirty="0">
                <a:latin typeface="Times New Roman" panose="02020603050405020304" pitchFamily="18" charset="0"/>
              </a:rPr>
              <a:t>1. </a:t>
            </a:r>
            <a:r>
              <a:rPr lang="zh-CN" altLang="en-US" sz="2800" dirty="0">
                <a:latin typeface="Times New Roman" panose="02020603050405020304" pitchFamily="18" charset="0"/>
              </a:rPr>
              <a:t>屏幕中心为零级亮条纹，两侧为平行等间距的明暗相间的直条纹；</a:t>
            </a:r>
          </a:p>
        </p:txBody>
      </p:sp>
      <p:sp>
        <p:nvSpPr>
          <p:cNvPr id="110599" name="Text Box 7"/>
          <p:cNvSpPr txBox="1"/>
          <p:nvPr/>
        </p:nvSpPr>
        <p:spPr>
          <a:xfrm>
            <a:off x="292100" y="3857625"/>
            <a:ext cx="86106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65125" indent="-365125" eaLnBrk="1" hangingPunct="1">
              <a:spcBef>
                <a:spcPct val="3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4.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当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d’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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一定时，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Δ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与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d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成反比，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d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越小，条纹分辨越清。</a:t>
            </a:r>
          </a:p>
        </p:txBody>
      </p:sp>
      <p:sp>
        <p:nvSpPr>
          <p:cNvPr id="110600" name="Text Box 8"/>
          <p:cNvSpPr txBox="1"/>
          <p:nvPr/>
        </p:nvSpPr>
        <p:spPr>
          <a:xfrm>
            <a:off x="288925" y="2760663"/>
            <a:ext cx="85344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3. </a:t>
            </a:r>
            <a:r>
              <a:rPr lang="zh-CN" altLang="en-US" sz="2800" dirty="0">
                <a:latin typeface="Times New Roman" panose="02020603050405020304" pitchFamily="18" charset="0"/>
              </a:rPr>
              <a:t>干涉条纹不仅出现在屏上，凡是两光束重叠的区域都存在干涉，故杨氏双缝干涉属于非定域干涉。</a:t>
            </a:r>
          </a:p>
        </p:txBody>
      </p:sp>
      <p:sp>
        <p:nvSpPr>
          <p:cNvPr id="44038" name="Text Box 22"/>
          <p:cNvSpPr txBox="1"/>
          <p:nvPr/>
        </p:nvSpPr>
        <p:spPr>
          <a:xfrm>
            <a:off x="260350" y="2089150"/>
            <a:ext cx="47910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条纹间距：</a:t>
            </a:r>
          </a:p>
        </p:txBody>
      </p:sp>
      <p:sp>
        <p:nvSpPr>
          <p:cNvPr id="110617" name="Text Box 25"/>
          <p:cNvSpPr txBox="1"/>
          <p:nvPr/>
        </p:nvSpPr>
        <p:spPr>
          <a:xfrm>
            <a:off x="376238" y="5305425"/>
            <a:ext cx="84407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应用： 利用干涉条纹间距，测量未知光波的波长</a:t>
            </a:r>
            <a:r>
              <a:rPr lang="en-US" altLang="zh-CN" sz="2800" dirty="0">
                <a:latin typeface="Times New Roman" panose="02020603050405020304" pitchFamily="18" charset="0"/>
              </a:rPr>
              <a:t>;</a:t>
            </a:r>
          </a:p>
        </p:txBody>
      </p:sp>
      <p:graphicFrame>
        <p:nvGraphicFramePr>
          <p:cNvPr id="44040" name="Object 9"/>
          <p:cNvGraphicFramePr>
            <a:graphicFrameLocks noChangeAspect="1"/>
          </p:cNvGraphicFramePr>
          <p:nvPr/>
        </p:nvGraphicFramePr>
        <p:xfrm>
          <a:off x="2632075" y="1844675"/>
          <a:ext cx="1781175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r:id="rId3" imgW="378460" imgH="220980" progId="Equation.3">
                  <p:embed/>
                </p:oleObj>
              </mc:Choice>
              <mc:Fallback>
                <p:oleObj r:id="rId3" imgW="378460" imgH="22098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32075" y="1844675"/>
                        <a:ext cx="1781175" cy="1030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/>
      <p:bldP spid="110599" grpId="0"/>
      <p:bldP spid="110600" grpId="0"/>
      <p:bldP spid="11061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>
          <a:xfrm>
            <a:off x="1371600" y="250825"/>
            <a:ext cx="6400800" cy="2438400"/>
            <a:chOff x="768" y="1728"/>
            <a:chExt cx="4032" cy="1536"/>
          </a:xfrm>
        </p:grpSpPr>
        <p:sp>
          <p:nvSpPr>
            <p:cNvPr id="45065" name="Rectangle 5"/>
            <p:cNvSpPr/>
            <p:nvPr/>
          </p:nvSpPr>
          <p:spPr>
            <a:xfrm>
              <a:off x="768" y="2400"/>
              <a:ext cx="240" cy="86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5066" name="Rectangle 6"/>
            <p:cNvSpPr/>
            <p:nvPr/>
          </p:nvSpPr>
          <p:spPr>
            <a:xfrm>
              <a:off x="1344" y="2400"/>
              <a:ext cx="672" cy="864"/>
            </a:xfrm>
            <a:prstGeom prst="rect">
              <a:avLst/>
            </a:prstGeom>
            <a:gradFill rotWithShape="0">
              <a:gsLst>
                <a:gs pos="0">
                  <a:srgbClr val="A603AB">
                    <a:alpha val="100000"/>
                  </a:srgbClr>
                </a:gs>
                <a:gs pos="21001">
                  <a:srgbClr val="0819FB">
                    <a:alpha val="100000"/>
                  </a:srgbClr>
                </a:gs>
                <a:gs pos="35001">
                  <a:srgbClr val="1A8D48">
                    <a:alpha val="100000"/>
                  </a:srgbClr>
                </a:gs>
                <a:gs pos="52000">
                  <a:srgbClr val="FFFF00">
                    <a:alpha val="100000"/>
                  </a:srgbClr>
                </a:gs>
                <a:gs pos="73000">
                  <a:srgbClr val="EE3F17">
                    <a:alpha val="100000"/>
                  </a:srgbClr>
                </a:gs>
                <a:gs pos="88000">
                  <a:srgbClr val="E81766">
                    <a:alpha val="100000"/>
                  </a:srgbClr>
                </a:gs>
                <a:gs pos="100000">
                  <a:srgbClr val="A603AB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5067" name="Rectangle 7"/>
            <p:cNvSpPr/>
            <p:nvPr/>
          </p:nvSpPr>
          <p:spPr>
            <a:xfrm>
              <a:off x="2256" y="2400"/>
              <a:ext cx="1104" cy="864"/>
            </a:xfrm>
            <a:prstGeom prst="rect">
              <a:avLst/>
            </a:prstGeom>
            <a:gradFill rotWithShape="0">
              <a:gsLst>
                <a:gs pos="0">
                  <a:srgbClr val="A603AB">
                    <a:alpha val="100000"/>
                  </a:srgbClr>
                </a:gs>
                <a:gs pos="21001">
                  <a:srgbClr val="0819FB">
                    <a:alpha val="100000"/>
                  </a:srgbClr>
                </a:gs>
                <a:gs pos="35001">
                  <a:srgbClr val="1A8D48">
                    <a:alpha val="100000"/>
                  </a:srgbClr>
                </a:gs>
                <a:gs pos="52000">
                  <a:srgbClr val="FFFF00">
                    <a:alpha val="100000"/>
                  </a:srgbClr>
                </a:gs>
                <a:gs pos="73000">
                  <a:srgbClr val="EE3F17">
                    <a:alpha val="100000"/>
                  </a:srgbClr>
                </a:gs>
                <a:gs pos="88000">
                  <a:srgbClr val="E81766">
                    <a:alpha val="100000"/>
                  </a:srgbClr>
                </a:gs>
                <a:gs pos="100000">
                  <a:srgbClr val="A603AB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5068" name="Rectangle 8"/>
            <p:cNvSpPr/>
            <p:nvPr/>
          </p:nvSpPr>
          <p:spPr>
            <a:xfrm>
              <a:off x="3072" y="2400"/>
              <a:ext cx="1680" cy="864"/>
            </a:xfrm>
            <a:prstGeom prst="rect">
              <a:avLst/>
            </a:prstGeom>
            <a:gradFill rotWithShape="0">
              <a:gsLst>
                <a:gs pos="0">
                  <a:srgbClr val="A603AB">
                    <a:alpha val="100000"/>
                  </a:srgbClr>
                </a:gs>
                <a:gs pos="21001">
                  <a:srgbClr val="0819FB">
                    <a:alpha val="100000"/>
                  </a:srgbClr>
                </a:gs>
                <a:gs pos="35001">
                  <a:srgbClr val="1A8D48">
                    <a:alpha val="100000"/>
                  </a:srgbClr>
                </a:gs>
                <a:gs pos="52000">
                  <a:srgbClr val="FFFF00">
                    <a:alpha val="100000"/>
                  </a:srgbClr>
                </a:gs>
                <a:gs pos="73000">
                  <a:srgbClr val="EE3F17">
                    <a:alpha val="100000"/>
                  </a:srgbClr>
                </a:gs>
                <a:gs pos="88000">
                  <a:srgbClr val="E81766">
                    <a:alpha val="100000"/>
                  </a:srgbClr>
                </a:gs>
                <a:gs pos="100000">
                  <a:srgbClr val="A603AB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5069" name="Rectangle 9"/>
            <p:cNvSpPr/>
            <p:nvPr/>
          </p:nvSpPr>
          <p:spPr>
            <a:xfrm>
              <a:off x="1920" y="2400"/>
              <a:ext cx="240" cy="864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5070" name="Rectangle 10"/>
            <p:cNvSpPr/>
            <p:nvPr/>
          </p:nvSpPr>
          <p:spPr>
            <a:xfrm>
              <a:off x="4560" y="2400"/>
              <a:ext cx="240" cy="864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5071" name="Line 11"/>
            <p:cNvSpPr/>
            <p:nvPr/>
          </p:nvSpPr>
          <p:spPr>
            <a:xfrm>
              <a:off x="1008" y="240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Line 12"/>
            <p:cNvSpPr/>
            <p:nvPr/>
          </p:nvSpPr>
          <p:spPr>
            <a:xfrm>
              <a:off x="1008" y="326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3" name="Rectangle 13" descr="小网格"/>
            <p:cNvSpPr/>
            <p:nvPr/>
          </p:nvSpPr>
          <p:spPr>
            <a:xfrm>
              <a:off x="3072" y="2400"/>
              <a:ext cx="288" cy="864"/>
            </a:xfrm>
            <a:prstGeom prst="rect">
              <a:avLst/>
            </a:prstGeom>
            <a:blipFill rotWithShape="0">
              <a:blip r:embed="rId3"/>
            </a:blip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5074" name="Line 14"/>
            <p:cNvSpPr/>
            <p:nvPr/>
          </p:nvSpPr>
          <p:spPr>
            <a:xfrm>
              <a:off x="1344" y="216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5" name="Line 15"/>
            <p:cNvSpPr/>
            <p:nvPr/>
          </p:nvSpPr>
          <p:spPr>
            <a:xfrm>
              <a:off x="1920" y="216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Line 16"/>
            <p:cNvSpPr/>
            <p:nvPr/>
          </p:nvSpPr>
          <p:spPr>
            <a:xfrm>
              <a:off x="2256" y="216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7" name="Line 17"/>
            <p:cNvSpPr/>
            <p:nvPr/>
          </p:nvSpPr>
          <p:spPr>
            <a:xfrm>
              <a:off x="3360" y="216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Line 18"/>
            <p:cNvSpPr/>
            <p:nvPr/>
          </p:nvSpPr>
          <p:spPr>
            <a:xfrm>
              <a:off x="4560" y="1824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9" name="Line 19"/>
            <p:cNvSpPr/>
            <p:nvPr/>
          </p:nvSpPr>
          <p:spPr>
            <a:xfrm>
              <a:off x="3072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0" name="Line 20"/>
            <p:cNvSpPr/>
            <p:nvPr/>
          </p:nvSpPr>
          <p:spPr>
            <a:xfrm>
              <a:off x="1344" y="2304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1" name="Line 21"/>
            <p:cNvSpPr/>
            <p:nvPr/>
          </p:nvSpPr>
          <p:spPr>
            <a:xfrm>
              <a:off x="2256" y="2304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2" name="Line 22"/>
            <p:cNvSpPr/>
            <p:nvPr/>
          </p:nvSpPr>
          <p:spPr>
            <a:xfrm>
              <a:off x="3072" y="1968"/>
              <a:ext cx="14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5083" name="Object 23"/>
            <p:cNvGraphicFramePr>
              <a:graphicFrameLocks noChangeAspect="1"/>
            </p:cNvGraphicFramePr>
            <p:nvPr/>
          </p:nvGraphicFramePr>
          <p:xfrm>
            <a:off x="1392" y="1968"/>
            <a:ext cx="480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1" r:id="rId4" imgW="173355" imgH="46990" progId="Equation.3">
                    <p:embed/>
                  </p:oleObj>
                </mc:Choice>
                <mc:Fallback>
                  <p:oleObj r:id="rId4" imgW="173355" imgH="46990" progId="Equation.3">
                    <p:embed/>
                    <p:pic>
                      <p:nvPicPr>
                        <p:cNvPr id="0" name="图片 3185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92" y="1968"/>
                          <a:ext cx="480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84" name="Object 24"/>
            <p:cNvGraphicFramePr>
              <a:graphicFrameLocks noChangeAspect="1"/>
            </p:cNvGraphicFramePr>
            <p:nvPr/>
          </p:nvGraphicFramePr>
          <p:xfrm>
            <a:off x="2525" y="2014"/>
            <a:ext cx="499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2" r:id="rId6" imgW="178435" imgH="46990" progId="Equation.3">
                    <p:embed/>
                  </p:oleObj>
                </mc:Choice>
                <mc:Fallback>
                  <p:oleObj r:id="rId6" imgW="178435" imgH="4699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25" y="2014"/>
                          <a:ext cx="499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085" name="Object 25"/>
            <p:cNvGraphicFramePr>
              <a:graphicFrameLocks noChangeAspect="1"/>
            </p:cNvGraphicFramePr>
            <p:nvPr/>
          </p:nvGraphicFramePr>
          <p:xfrm>
            <a:off x="3504" y="1728"/>
            <a:ext cx="499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3" r:id="rId8" imgW="178435" imgH="46990" progId="Equation.3">
                    <p:embed/>
                  </p:oleObj>
                </mc:Choice>
                <mc:Fallback>
                  <p:oleObj r:id="rId8" imgW="178435" imgH="4699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04" y="1728"/>
                          <a:ext cx="499" cy="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059" name="Text Box 26"/>
          <p:cNvSpPr txBox="1"/>
          <p:nvPr/>
        </p:nvSpPr>
        <p:spPr>
          <a:xfrm>
            <a:off x="1400175" y="712788"/>
            <a:ext cx="7461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latin typeface="Times New Roman" panose="02020603050405020304" pitchFamily="18" charset="0"/>
              </a:rPr>
              <a:t>k</a:t>
            </a:r>
            <a:r>
              <a:rPr lang="en-US" altLang="zh-CN" sz="2400" dirty="0">
                <a:latin typeface="Times New Roman" panose="02020603050405020304" pitchFamily="18" charset="0"/>
              </a:rPr>
              <a:t>=0</a:t>
            </a:r>
          </a:p>
        </p:txBody>
      </p:sp>
      <p:sp>
        <p:nvSpPr>
          <p:cNvPr id="45060" name="Line 27"/>
          <p:cNvSpPr/>
          <p:nvPr/>
        </p:nvSpPr>
        <p:spPr>
          <a:xfrm flipV="1">
            <a:off x="1357313" y="3040063"/>
            <a:ext cx="692785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61" name="Text Box 28"/>
          <p:cNvSpPr txBox="1"/>
          <p:nvPr/>
        </p:nvSpPr>
        <p:spPr>
          <a:xfrm>
            <a:off x="8132763" y="3011488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45062" name="Text Box 29"/>
          <p:cNvSpPr txBox="1"/>
          <p:nvPr/>
        </p:nvSpPr>
        <p:spPr>
          <a:xfrm>
            <a:off x="1149350" y="3038475"/>
            <a:ext cx="5000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i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54654" name="Text Box 30"/>
          <p:cNvSpPr txBox="1"/>
          <p:nvPr/>
        </p:nvSpPr>
        <p:spPr>
          <a:xfrm>
            <a:off x="304800" y="3687763"/>
            <a:ext cx="8610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3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5. Δ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</a:rPr>
              <a:t>与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lang="zh-CN" altLang="en-US" sz="2400" dirty="0">
                <a:latin typeface="Times New Roman" panose="02020603050405020304" pitchFamily="18" charset="0"/>
              </a:rPr>
              <a:t>成正比，用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白光</a:t>
            </a:r>
            <a:r>
              <a:rPr lang="zh-CN" altLang="en-US" sz="2400" dirty="0">
                <a:latin typeface="Times New Roman" panose="02020603050405020304" pitchFamily="18" charset="0"/>
              </a:rPr>
              <a:t>做光源时，除中央明纹是白光外，其它各级条纹是彩色条纹，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紫在内红在外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</a:p>
        </p:txBody>
      </p:sp>
      <p:sp>
        <p:nvSpPr>
          <p:cNvPr id="154656" name="Text Box 32"/>
          <p:cNvSpPr txBox="1"/>
          <p:nvPr/>
        </p:nvSpPr>
        <p:spPr>
          <a:xfrm>
            <a:off x="288925" y="4913313"/>
            <a:ext cx="850423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533400" indent="-533400"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6.λ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与</a:t>
            </a:r>
            <a:r>
              <a:rPr lang="zh-CN" altLang="en-US" sz="2400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为整数比时，某些级次的条纹发生重叠。  </a:t>
            </a:r>
            <a:r>
              <a:rPr lang="en-US" altLang="zh-CN" sz="2400" dirty="0">
                <a:latin typeface="Times New Roman" panose="02020603050405020304" pitchFamily="18" charset="0"/>
              </a:rPr>
              <a:t>k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=k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</a:rPr>
              <a:t>λ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，高级次的条纹发生交叠而模糊不清。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46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4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54" grpId="0"/>
      <p:bldP spid="15465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文本框 1"/>
          <p:cNvSpPr txBox="1"/>
          <p:nvPr/>
        </p:nvSpPr>
        <p:spPr>
          <a:xfrm>
            <a:off x="3059113" y="115888"/>
            <a:ext cx="2449512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典型例题</a:t>
            </a:r>
          </a:p>
        </p:txBody>
      </p:sp>
      <p:grpSp>
        <p:nvGrpSpPr>
          <p:cNvPr id="46083" name="组合 48"/>
          <p:cNvGrpSpPr/>
          <p:nvPr/>
        </p:nvGrpSpPr>
        <p:grpSpPr>
          <a:xfrm>
            <a:off x="4572000" y="1844675"/>
            <a:ext cx="4248150" cy="2589213"/>
            <a:chOff x="3189018" y="1559928"/>
            <a:chExt cx="5123450" cy="3048000"/>
          </a:xfrm>
        </p:grpSpPr>
        <p:grpSp>
          <p:nvGrpSpPr>
            <p:cNvPr id="46088" name="组合 45"/>
            <p:cNvGrpSpPr/>
            <p:nvPr/>
          </p:nvGrpSpPr>
          <p:grpSpPr>
            <a:xfrm>
              <a:off x="3326400" y="1559928"/>
              <a:ext cx="4986068" cy="3048000"/>
              <a:chOff x="428625" y="1487488"/>
              <a:chExt cx="4986068" cy="3048000"/>
            </a:xfrm>
          </p:grpSpPr>
          <p:sp>
            <p:nvSpPr>
              <p:cNvPr id="46094" name="Text Box 57"/>
              <p:cNvSpPr txBox="1"/>
              <p:nvPr/>
            </p:nvSpPr>
            <p:spPr>
              <a:xfrm>
                <a:off x="4730331" y="1487488"/>
                <a:ext cx="586596" cy="4567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P</a:t>
                </a:r>
              </a:p>
            </p:txBody>
          </p:sp>
          <p:grpSp>
            <p:nvGrpSpPr>
              <p:cNvPr id="46095" name="Group 58"/>
              <p:cNvGrpSpPr/>
              <p:nvPr/>
            </p:nvGrpSpPr>
            <p:grpSpPr>
              <a:xfrm>
                <a:off x="428625" y="1585811"/>
                <a:ext cx="4986068" cy="2949677"/>
                <a:chOff x="2976" y="1920"/>
                <a:chExt cx="2448" cy="1440"/>
              </a:xfrm>
            </p:grpSpPr>
            <p:sp>
              <p:nvSpPr>
                <p:cNvPr id="46096" name="Line 59"/>
                <p:cNvSpPr/>
                <p:nvPr/>
              </p:nvSpPr>
              <p:spPr>
                <a:xfrm>
                  <a:off x="3207" y="2688"/>
                  <a:ext cx="2217" cy="0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097" name="Line 60"/>
                <p:cNvSpPr/>
                <p:nvPr/>
              </p:nvSpPr>
              <p:spPr>
                <a:xfrm>
                  <a:off x="3648" y="2496"/>
                  <a:ext cx="0" cy="384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098" name="Line 61"/>
                <p:cNvSpPr/>
                <p:nvPr/>
              </p:nvSpPr>
              <p:spPr>
                <a:xfrm flipV="1">
                  <a:off x="3648" y="2160"/>
                  <a:ext cx="0" cy="288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099" name="Line 62"/>
                <p:cNvSpPr/>
                <p:nvPr/>
              </p:nvSpPr>
              <p:spPr>
                <a:xfrm>
                  <a:off x="3648" y="2928"/>
                  <a:ext cx="0" cy="240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00" name="Line 63"/>
                <p:cNvSpPr/>
                <p:nvPr/>
              </p:nvSpPr>
              <p:spPr>
                <a:xfrm>
                  <a:off x="5136" y="1920"/>
                  <a:ext cx="0" cy="1440"/>
                </a:xfrm>
                <a:prstGeom prst="line">
                  <a:avLst/>
                </a:prstGeom>
                <a:ln w="254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01" name="Line 72"/>
                <p:cNvSpPr/>
                <p:nvPr/>
              </p:nvSpPr>
              <p:spPr>
                <a:xfrm flipV="1">
                  <a:off x="3168" y="2448"/>
                  <a:ext cx="480" cy="24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02" name="Line 73"/>
                <p:cNvSpPr/>
                <p:nvPr/>
              </p:nvSpPr>
              <p:spPr>
                <a:xfrm>
                  <a:off x="3168" y="2688"/>
                  <a:ext cx="480" cy="24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103" name="Text Box 79"/>
                <p:cNvSpPr txBox="1"/>
                <p:nvPr/>
              </p:nvSpPr>
              <p:spPr>
                <a:xfrm>
                  <a:off x="2976" y="2545"/>
                  <a:ext cx="192" cy="22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S</a:t>
                  </a:r>
                </a:p>
              </p:txBody>
            </p:sp>
            <p:graphicFrame>
              <p:nvGraphicFramePr>
                <p:cNvPr id="46104" name="Object 80"/>
                <p:cNvGraphicFramePr>
                  <a:graphicFrameLocks noChangeAspect="1"/>
                </p:cNvGraphicFramePr>
                <p:nvPr/>
              </p:nvGraphicFramePr>
              <p:xfrm>
                <a:off x="3456" y="2256"/>
                <a:ext cx="183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665" r:id="rId3" imgW="165100" imgH="215900" progId="Equation.3">
                        <p:embed/>
                      </p:oleObj>
                    </mc:Choice>
                    <mc:Fallback>
                      <p:oleObj r:id="rId3" imgW="165100" imgH="215900" progId="Equation.3">
                        <p:embed/>
                        <p:pic>
                          <p:nvPicPr>
                            <p:cNvPr id="0" name="图片 3188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456" y="2256"/>
                              <a:ext cx="183" cy="24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46105" name="Object 81"/>
                <p:cNvGraphicFramePr>
                  <a:graphicFrameLocks noChangeAspect="1"/>
                </p:cNvGraphicFramePr>
                <p:nvPr/>
              </p:nvGraphicFramePr>
              <p:xfrm>
                <a:off x="3447" y="2877"/>
                <a:ext cx="214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666" r:id="rId5" imgW="190500" imgH="215900" progId="Equation.3">
                        <p:embed/>
                      </p:oleObj>
                    </mc:Choice>
                    <mc:Fallback>
                      <p:oleObj r:id="rId5" imgW="190500" imgH="215900" progId="Equation.3">
                        <p:embed/>
                        <p:pic>
                          <p:nvPicPr>
                            <p:cNvPr id="0" name="图片 3189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447" y="2877"/>
                              <a:ext cx="214" cy="24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6106" name="Text Box 84"/>
                <p:cNvSpPr txBox="1"/>
                <p:nvPr/>
              </p:nvSpPr>
              <p:spPr>
                <a:xfrm>
                  <a:off x="5088" y="2640"/>
                  <a:ext cx="336" cy="22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O</a:t>
                  </a:r>
                </a:p>
              </p:txBody>
            </p:sp>
            <p:graphicFrame>
              <p:nvGraphicFramePr>
                <p:cNvPr id="46107" name="Object 92"/>
                <p:cNvGraphicFramePr>
                  <a:graphicFrameLocks noChangeAspect="1"/>
                </p:cNvGraphicFramePr>
                <p:nvPr/>
              </p:nvGraphicFramePr>
              <p:xfrm>
                <a:off x="3744" y="2832"/>
                <a:ext cx="176" cy="24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667" r:id="rId7" imgW="127000" imgH="177165" progId="Equation.3">
                        <p:embed/>
                      </p:oleObj>
                    </mc:Choice>
                    <mc:Fallback>
                      <p:oleObj r:id="rId7" imgW="127000" imgH="177165" progId="Equation.3">
                        <p:embed/>
                        <p:pic>
                          <p:nvPicPr>
                            <p:cNvPr id="0" name="图片 3190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744" y="2832"/>
                              <a:ext cx="176" cy="24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46089" name="组合 47"/>
            <p:cNvGrpSpPr/>
            <p:nvPr/>
          </p:nvGrpSpPr>
          <p:grpSpPr>
            <a:xfrm>
              <a:off x="3189018" y="3140968"/>
              <a:ext cx="682931" cy="921113"/>
              <a:chOff x="2972994" y="3439093"/>
              <a:chExt cx="682931" cy="921113"/>
            </a:xfrm>
          </p:grpSpPr>
          <p:sp>
            <p:nvSpPr>
              <p:cNvPr id="46090" name="椭圆 40"/>
              <p:cNvSpPr/>
              <p:nvPr/>
            </p:nvSpPr>
            <p:spPr>
              <a:xfrm>
                <a:off x="3419872" y="3948024"/>
                <a:ext cx="136120" cy="129048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/>
              <a:lstStyle/>
              <a:p>
                <a:pPr algn="ctr" eaLnBrk="1" hangingPunct="1">
                  <a:spcBef>
                    <a:spcPct val="50000"/>
                  </a:spcBef>
                  <a:buNone/>
                </a:pP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6091" name="组合 46"/>
              <p:cNvGrpSpPr/>
              <p:nvPr/>
            </p:nvGrpSpPr>
            <p:grpSpPr>
              <a:xfrm>
                <a:off x="2972994" y="3439093"/>
                <a:ext cx="682931" cy="921113"/>
                <a:chOff x="3189018" y="3151061"/>
                <a:chExt cx="682931" cy="921113"/>
              </a:xfrm>
            </p:grpSpPr>
            <p:sp>
              <p:nvSpPr>
                <p:cNvPr id="46092" name="椭圆 39"/>
                <p:cNvSpPr/>
                <p:nvPr/>
              </p:nvSpPr>
              <p:spPr>
                <a:xfrm>
                  <a:off x="3643792" y="3151061"/>
                  <a:ext cx="136120" cy="129048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/>
                <a:lstStyle/>
                <a:p>
                  <a:pPr algn="ctr" eaLnBrk="1" hangingPunct="1">
                    <a:spcBef>
                      <a:spcPct val="50000"/>
                    </a:spcBef>
                    <a:buNone/>
                  </a:pPr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6093" name="Text Box 79"/>
                <p:cNvSpPr txBox="1"/>
                <p:nvPr/>
              </p:nvSpPr>
              <p:spPr>
                <a:xfrm>
                  <a:off x="3189018" y="3543399"/>
                  <a:ext cx="682931" cy="52877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dirty="0">
                      <a:latin typeface="Times New Roman" panose="02020603050405020304" pitchFamily="18" charset="0"/>
                    </a:rPr>
                    <a:t>S’</a:t>
                  </a:r>
                </a:p>
              </p:txBody>
            </p:sp>
          </p:grpSp>
        </p:grpSp>
      </p:grpSp>
      <p:cxnSp>
        <p:nvCxnSpPr>
          <p:cNvPr id="46084" name="直接连接符 50"/>
          <p:cNvCxnSpPr>
            <a:stCxn id="46092" idx="4"/>
          </p:cNvCxnSpPr>
          <p:nvPr/>
        </p:nvCxnSpPr>
        <p:spPr>
          <a:xfrm>
            <a:off x="5005388" y="3297238"/>
            <a:ext cx="4762" cy="322262"/>
          </a:xfrm>
          <a:prstGeom prst="line">
            <a:avLst/>
          </a:prstGeom>
          <a:ln w="19050" cap="flat" cmpd="sng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</p:cxnSp>
      <p:sp>
        <p:nvSpPr>
          <p:cNvPr id="46085" name="文本框 51"/>
          <p:cNvSpPr txBox="1"/>
          <p:nvPr/>
        </p:nvSpPr>
        <p:spPr>
          <a:xfrm>
            <a:off x="179388" y="1087438"/>
            <a:ext cx="8569325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如图所示杨氏双缝干涉实验装置，光源</a:t>
            </a:r>
            <a:r>
              <a:rPr lang="en-US" altLang="zh-CN" sz="24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和</a:t>
            </a:r>
            <a:r>
              <a:rPr lang="en-US" altLang="zh-CN" sz="2400" dirty="0">
                <a:latin typeface="Times New Roman" panose="02020603050405020304" pitchFamily="18" charset="0"/>
              </a:rPr>
              <a:t>S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</a:rPr>
              <a:t>的距离相等，若将光源</a:t>
            </a:r>
            <a:r>
              <a:rPr lang="en-US" altLang="zh-CN" sz="24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沿平行于双缝连线方向向下平移至</a:t>
            </a:r>
            <a:r>
              <a:rPr lang="en-US" altLang="zh-CN" sz="2400" dirty="0">
                <a:latin typeface="Times New Roman" panose="02020603050405020304" pitchFamily="18" charset="0"/>
              </a:rPr>
              <a:t>S’</a:t>
            </a:r>
            <a:r>
              <a:rPr lang="zh-CN" altLang="en-US" sz="2400" dirty="0">
                <a:latin typeface="Times New Roman" panose="02020603050405020304" pitchFamily="18" charset="0"/>
              </a:rPr>
              <a:t>处，则光屏</a:t>
            </a:r>
            <a:r>
              <a:rPr lang="en-US" altLang="zh-CN" sz="2400" dirty="0">
                <a:latin typeface="Times New Roman" panose="02020603050405020304" pitchFamily="18" charset="0"/>
              </a:rPr>
              <a:t>P</a:t>
            </a:r>
            <a:r>
              <a:rPr lang="zh-CN" altLang="en-US" sz="2400" dirty="0">
                <a:latin typeface="Times New Roman" panose="02020603050405020304" pitchFamily="18" charset="0"/>
              </a:rPr>
              <a:t>上干涉条纹变化情况是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6086" name="文本框 52"/>
          <p:cNvSpPr txBox="1"/>
          <p:nvPr/>
        </p:nvSpPr>
        <p:spPr>
          <a:xfrm>
            <a:off x="358775" y="4049713"/>
            <a:ext cx="4965700" cy="2238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A. </a:t>
            </a:r>
            <a:r>
              <a:rPr lang="zh-CN" altLang="en-US" sz="2400" dirty="0">
                <a:latin typeface="Times New Roman" panose="02020603050405020304" pitchFamily="18" charset="0"/>
              </a:rPr>
              <a:t>条纹不移动，间距不变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B. </a:t>
            </a:r>
            <a:r>
              <a:rPr lang="zh-CN" altLang="en-US" sz="2400" dirty="0">
                <a:latin typeface="Times New Roman" panose="02020603050405020304" pitchFamily="18" charset="0"/>
              </a:rPr>
              <a:t>条纹整体向上平移，间距变大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C. </a:t>
            </a:r>
            <a:r>
              <a:rPr lang="zh-CN" altLang="en-US" sz="2400" dirty="0">
                <a:latin typeface="Times New Roman" panose="02020603050405020304" pitchFamily="18" charset="0"/>
              </a:rPr>
              <a:t>条纹整体向上平移，间距不变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D. </a:t>
            </a:r>
            <a:r>
              <a:rPr lang="zh-CN" altLang="en-US" sz="2400" dirty="0">
                <a:latin typeface="Times New Roman" panose="02020603050405020304" pitchFamily="18" charset="0"/>
              </a:rPr>
              <a:t>条纹整体向下平移，间距不变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6618288" y="5711825"/>
            <a:ext cx="1728787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答案：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/>
          <p:nvPr/>
        </p:nvSpPr>
        <p:spPr>
          <a:xfrm>
            <a:off x="914400" y="1128713"/>
            <a:ext cx="7315200" cy="3352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5661" name="Group 61"/>
          <p:cNvGrpSpPr/>
          <p:nvPr/>
        </p:nvGrpSpPr>
        <p:grpSpPr>
          <a:xfrm>
            <a:off x="684213" y="4541838"/>
            <a:ext cx="7620000" cy="1260475"/>
            <a:chOff x="432" y="3155"/>
            <a:chExt cx="4800" cy="794"/>
          </a:xfrm>
        </p:grpSpPr>
        <p:sp>
          <p:nvSpPr>
            <p:cNvPr id="47165" name="Text Box 5"/>
            <p:cNvSpPr txBox="1"/>
            <p:nvPr/>
          </p:nvSpPr>
          <p:spPr>
            <a:xfrm>
              <a:off x="432" y="3155"/>
              <a:ext cx="4800" cy="79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  </a:t>
              </a:r>
              <a:r>
                <a:rPr lang="zh-CN" altLang="en-US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半波损失</a:t>
              </a: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：</a:t>
              </a:r>
              <a:r>
                <a:rPr lang="zh-CN" altLang="en-US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光由光速较大的介质射向光速较小的介质时，反射光位相突变</a:t>
              </a:r>
              <a:r>
                <a:rPr lang="zh-CN" altLang="en-US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      </a:t>
              </a:r>
              <a:r>
                <a:rPr lang="en-US" altLang="zh-CN" dirty="0">
                  <a:latin typeface="宋体" panose="02010600030101010101" pitchFamily="2" charset="-122"/>
                </a:rPr>
                <a:t>.</a:t>
              </a:r>
              <a:endParaRPr lang="en-US" altLang="zh-CN" dirty="0">
                <a:solidFill>
                  <a:srgbClr val="FF3300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47166" name="Object 6"/>
            <p:cNvGraphicFramePr>
              <a:graphicFrameLocks noChangeAspect="1"/>
            </p:cNvGraphicFramePr>
            <p:nvPr/>
          </p:nvGraphicFramePr>
          <p:xfrm>
            <a:off x="4656" y="3577"/>
            <a:ext cx="305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4" r:id="rId3" imgW="36830" imgH="52705" progId="Equation.3">
                    <p:embed/>
                  </p:oleObj>
                </mc:Choice>
                <mc:Fallback>
                  <p:oleObj r:id="rId3" imgW="36830" imgH="52705" progId="Equation.3">
                    <p:embed/>
                    <p:pic>
                      <p:nvPicPr>
                        <p:cNvPr id="0" name="图片 3191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656" y="3577"/>
                          <a:ext cx="305" cy="359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chemeClr val="folHlink"/>
                            </a:gs>
                            <a:gs pos="50000">
                              <a:schemeClr val="bg1"/>
                            </a:gs>
                            <a:gs pos="100000">
                              <a:schemeClr val="folHlink"/>
                            </a:gs>
                          </a:gsLst>
                          <a:lin ang="5400000" scaled="1"/>
                          <a:tileRect/>
                        </a:gradFill>
                        <a:ln w="9525" cap="flat" cmpd="sng">
                          <a:solidFill>
                            <a:srgbClr val="CC00CC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108" name="Rectangle 7"/>
          <p:cNvSpPr/>
          <p:nvPr/>
        </p:nvSpPr>
        <p:spPr>
          <a:xfrm>
            <a:off x="2362200" y="1966913"/>
            <a:ext cx="76200" cy="685800"/>
          </a:xfrm>
          <a:prstGeom prst="rect">
            <a:avLst/>
          </a:prstGeom>
          <a:blipFill rotWithShape="0">
            <a:blip r:embed="rId5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109" name="Rectangle 8"/>
          <p:cNvSpPr/>
          <p:nvPr/>
        </p:nvSpPr>
        <p:spPr>
          <a:xfrm>
            <a:off x="2362200" y="2805113"/>
            <a:ext cx="76200" cy="533400"/>
          </a:xfrm>
          <a:prstGeom prst="rect">
            <a:avLst/>
          </a:prstGeom>
          <a:blipFill rotWithShape="0">
            <a:blip r:embed="rId5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110" name="Rectangle 9"/>
          <p:cNvSpPr/>
          <p:nvPr/>
        </p:nvSpPr>
        <p:spPr>
          <a:xfrm>
            <a:off x="7239000" y="1281113"/>
            <a:ext cx="76200" cy="2971800"/>
          </a:xfrm>
          <a:prstGeom prst="rect">
            <a:avLst/>
          </a:prstGeom>
          <a:blipFill rotWithShape="0">
            <a:blip r:embed="rId6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7111" name="Object 10"/>
          <p:cNvGraphicFramePr>
            <a:graphicFrameLocks noChangeAspect="1"/>
          </p:cNvGraphicFramePr>
          <p:nvPr/>
        </p:nvGraphicFramePr>
        <p:xfrm>
          <a:off x="1927225" y="2217738"/>
          <a:ext cx="51117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r:id="rId7" imgW="139700" imgH="215900" progId="Equation.3">
                  <p:embed/>
                </p:oleObj>
              </mc:Choice>
              <mc:Fallback>
                <p:oleObj r:id="rId7" imgW="139700" imgH="2159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27225" y="2217738"/>
                        <a:ext cx="511175" cy="663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Text Box 11"/>
          <p:cNvSpPr txBox="1"/>
          <p:nvPr/>
        </p:nvSpPr>
        <p:spPr>
          <a:xfrm>
            <a:off x="7391400" y="1052513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47113" name="Rectangle 12"/>
          <p:cNvSpPr/>
          <p:nvPr/>
        </p:nvSpPr>
        <p:spPr>
          <a:xfrm>
            <a:off x="3352800" y="3414713"/>
            <a:ext cx="1524000" cy="76200"/>
          </a:xfrm>
          <a:prstGeom prst="rect">
            <a:avLst/>
          </a:prstGeom>
          <a:blipFill rotWithShape="0">
            <a:blip r:embed="rId9"/>
          </a:blip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7114" name="Text Box 13"/>
          <p:cNvSpPr txBox="1"/>
          <p:nvPr/>
        </p:nvSpPr>
        <p:spPr>
          <a:xfrm>
            <a:off x="4038600" y="3429000"/>
            <a:ext cx="1219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25614" name="Freeform 14"/>
          <p:cNvSpPr/>
          <p:nvPr/>
        </p:nvSpPr>
        <p:spPr>
          <a:xfrm>
            <a:off x="3886200" y="1433513"/>
            <a:ext cx="3352800" cy="1981200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0" t="0" r="0" b="0"/>
            <a:pathLst>
              <a:path w="2112" h="1248">
                <a:moveTo>
                  <a:pt x="48" y="1056"/>
                </a:moveTo>
                <a:lnTo>
                  <a:pt x="2112" y="0"/>
                </a:lnTo>
                <a:lnTo>
                  <a:pt x="2112" y="912"/>
                </a:lnTo>
                <a:lnTo>
                  <a:pt x="624" y="1248"/>
                </a:lnTo>
                <a:lnTo>
                  <a:pt x="0" y="1056"/>
                </a:lnTo>
              </a:path>
            </a:pathLst>
          </a:custGeom>
          <a:blipFill rotWithShape="0">
            <a:blip r:embed="rId10"/>
          </a:blipFill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5615" name="Group 15"/>
          <p:cNvGrpSpPr/>
          <p:nvPr/>
        </p:nvGrpSpPr>
        <p:grpSpPr>
          <a:xfrm>
            <a:off x="2362200" y="1433513"/>
            <a:ext cx="4876800" cy="2590800"/>
            <a:chOff x="1584" y="624"/>
            <a:chExt cx="3072" cy="1632"/>
          </a:xfrm>
        </p:grpSpPr>
        <p:sp>
          <p:nvSpPr>
            <p:cNvPr id="47161" name="Line 16"/>
            <p:cNvSpPr/>
            <p:nvPr/>
          </p:nvSpPr>
          <p:spPr>
            <a:xfrm>
              <a:off x="1584" y="1440"/>
              <a:ext cx="3072" cy="81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2" name="Line 17"/>
            <p:cNvSpPr/>
            <p:nvPr/>
          </p:nvSpPr>
          <p:spPr>
            <a:xfrm flipV="1">
              <a:off x="1584" y="624"/>
              <a:ext cx="3072" cy="81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3" name="Line 18"/>
            <p:cNvSpPr/>
            <p:nvPr/>
          </p:nvSpPr>
          <p:spPr>
            <a:xfrm rot="-803419">
              <a:off x="2185" y="1586"/>
              <a:ext cx="96" cy="4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4" name="Line 19"/>
            <p:cNvSpPr/>
            <p:nvPr/>
          </p:nvSpPr>
          <p:spPr>
            <a:xfrm flipV="1">
              <a:off x="2640" y="1104"/>
              <a:ext cx="192" cy="4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20" name="Group 20"/>
          <p:cNvGrpSpPr/>
          <p:nvPr/>
        </p:nvGrpSpPr>
        <p:grpSpPr>
          <a:xfrm>
            <a:off x="3352800" y="1433513"/>
            <a:ext cx="3886200" cy="1981200"/>
            <a:chOff x="2112" y="960"/>
            <a:chExt cx="2448" cy="1248"/>
          </a:xfrm>
        </p:grpSpPr>
        <p:sp>
          <p:nvSpPr>
            <p:cNvPr id="47157" name="Line 21"/>
            <p:cNvSpPr/>
            <p:nvPr/>
          </p:nvSpPr>
          <p:spPr>
            <a:xfrm flipV="1">
              <a:off x="3072" y="1872"/>
              <a:ext cx="1488" cy="33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8" name="Line 22"/>
            <p:cNvSpPr/>
            <p:nvPr/>
          </p:nvSpPr>
          <p:spPr>
            <a:xfrm flipV="1">
              <a:off x="2112" y="960"/>
              <a:ext cx="2448" cy="1248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9" name="Freeform 23"/>
            <p:cNvSpPr/>
            <p:nvPr/>
          </p:nvSpPr>
          <p:spPr>
            <a:xfrm>
              <a:off x="3544" y="1392"/>
              <a:ext cx="152" cy="80"/>
            </a:xfrm>
            <a:custGeom>
              <a:avLst/>
              <a:gdLst/>
              <a:ahLst/>
              <a:cxnLst>
                <a:cxn ang="0">
                  <a:pos x="0" y="80"/>
                </a:cxn>
                <a:cxn ang="0">
                  <a:pos x="152" y="0"/>
                </a:cxn>
              </a:cxnLst>
              <a:rect l="0" t="0" r="0" b="0"/>
              <a:pathLst>
                <a:path w="152" h="80">
                  <a:moveTo>
                    <a:pt x="0" y="80"/>
                  </a:moveTo>
                  <a:lnTo>
                    <a:pt x="152" y="0"/>
                  </a:lnTo>
                </a:path>
              </a:pathLst>
            </a:custGeom>
            <a:noFill/>
            <a:ln w="28575" cap="flat" cmpd="sng">
              <a:solidFill>
                <a:srgbClr val="FF6600">
                  <a:alpha val="100000"/>
                </a:srgbClr>
              </a:solidFill>
              <a:prstDash val="solid"/>
              <a:round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0" name="Freeform 24"/>
            <p:cNvSpPr/>
            <p:nvPr/>
          </p:nvSpPr>
          <p:spPr>
            <a:xfrm>
              <a:off x="3924" y="1968"/>
              <a:ext cx="156" cy="44"/>
            </a:xfrm>
            <a:custGeom>
              <a:avLst/>
              <a:gdLst/>
              <a:ahLst/>
              <a:cxnLst>
                <a:cxn ang="0">
                  <a:pos x="0" y="44"/>
                </a:cxn>
                <a:cxn ang="0">
                  <a:pos x="156" y="0"/>
                </a:cxn>
              </a:cxnLst>
              <a:rect l="0" t="0" r="0" b="0"/>
              <a:pathLst>
                <a:path w="156" h="44">
                  <a:moveTo>
                    <a:pt x="0" y="44"/>
                  </a:moveTo>
                  <a:lnTo>
                    <a:pt x="156" y="0"/>
                  </a:lnTo>
                </a:path>
              </a:pathLst>
            </a:custGeom>
            <a:noFill/>
            <a:ln w="28575" cap="flat" cmpd="sng">
              <a:solidFill>
                <a:srgbClr val="FF6600">
                  <a:alpha val="100000"/>
                </a:srgbClr>
              </a:solidFill>
              <a:prstDash val="solid"/>
              <a:round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25" name="Group 25"/>
          <p:cNvGrpSpPr/>
          <p:nvPr/>
        </p:nvGrpSpPr>
        <p:grpSpPr>
          <a:xfrm>
            <a:off x="1905000" y="3414713"/>
            <a:ext cx="2971800" cy="914400"/>
            <a:chOff x="1296" y="2208"/>
            <a:chExt cx="1872" cy="576"/>
          </a:xfrm>
        </p:grpSpPr>
        <p:sp>
          <p:nvSpPr>
            <p:cNvPr id="47154" name="Line 26"/>
            <p:cNvSpPr/>
            <p:nvPr/>
          </p:nvSpPr>
          <p:spPr>
            <a:xfrm flipH="1">
              <a:off x="1584" y="2208"/>
              <a:ext cx="624" cy="33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5" name="Line 27"/>
            <p:cNvSpPr/>
            <p:nvPr/>
          </p:nvSpPr>
          <p:spPr>
            <a:xfrm flipV="1">
              <a:off x="1584" y="2208"/>
              <a:ext cx="1584" cy="33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56" name="Object 28"/>
            <p:cNvGraphicFramePr>
              <a:graphicFrameLocks noChangeAspect="1"/>
            </p:cNvGraphicFramePr>
            <p:nvPr/>
          </p:nvGraphicFramePr>
          <p:xfrm>
            <a:off x="1296" y="2352"/>
            <a:ext cx="288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6" r:id="rId11" imgW="152400" imgH="215900" progId="Equation.3">
                    <p:embed/>
                  </p:oleObj>
                </mc:Choice>
                <mc:Fallback>
                  <p:oleObj r:id="rId11" imgW="152400" imgH="215900" progId="Equation.3">
                    <p:embed/>
                    <p:pic>
                      <p:nvPicPr>
                        <p:cNvPr id="0" name="图片 319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96" y="2352"/>
                          <a:ext cx="288" cy="4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29" name="Group 29"/>
          <p:cNvGrpSpPr/>
          <p:nvPr/>
        </p:nvGrpSpPr>
        <p:grpSpPr>
          <a:xfrm>
            <a:off x="2362200" y="2728913"/>
            <a:ext cx="2514600" cy="685800"/>
            <a:chOff x="1584" y="1680"/>
            <a:chExt cx="1584" cy="432"/>
          </a:xfrm>
        </p:grpSpPr>
        <p:sp>
          <p:nvSpPr>
            <p:cNvPr id="47150" name="Line 30"/>
            <p:cNvSpPr/>
            <p:nvPr/>
          </p:nvSpPr>
          <p:spPr>
            <a:xfrm>
              <a:off x="1584" y="1680"/>
              <a:ext cx="624" cy="432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1" name="Line 31"/>
            <p:cNvSpPr/>
            <p:nvPr/>
          </p:nvSpPr>
          <p:spPr>
            <a:xfrm>
              <a:off x="1584" y="1680"/>
              <a:ext cx="1584" cy="432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2" name="Line 32"/>
            <p:cNvSpPr/>
            <p:nvPr/>
          </p:nvSpPr>
          <p:spPr>
            <a:xfrm>
              <a:off x="2304" y="1872"/>
              <a:ext cx="192" cy="48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3" name="Line 33"/>
            <p:cNvSpPr/>
            <p:nvPr/>
          </p:nvSpPr>
          <p:spPr>
            <a:xfrm>
              <a:off x="1872" y="1872"/>
              <a:ext cx="144" cy="9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34" name="Group 34"/>
          <p:cNvGrpSpPr/>
          <p:nvPr/>
        </p:nvGrpSpPr>
        <p:grpSpPr>
          <a:xfrm>
            <a:off x="1371600" y="2728913"/>
            <a:ext cx="990600" cy="1219200"/>
            <a:chOff x="960" y="1776"/>
            <a:chExt cx="624" cy="768"/>
          </a:xfrm>
        </p:grpSpPr>
        <p:sp>
          <p:nvSpPr>
            <p:cNvPr id="47146" name="Line 35"/>
            <p:cNvSpPr/>
            <p:nvPr/>
          </p:nvSpPr>
          <p:spPr>
            <a:xfrm flipH="1">
              <a:off x="1056" y="1776"/>
              <a:ext cx="528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7" name="Line 36"/>
            <p:cNvSpPr/>
            <p:nvPr/>
          </p:nvSpPr>
          <p:spPr>
            <a:xfrm flipH="1">
              <a:off x="1056" y="2544"/>
              <a:ext cx="528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8" name="Line 37"/>
            <p:cNvSpPr/>
            <p:nvPr/>
          </p:nvSpPr>
          <p:spPr>
            <a:xfrm>
              <a:off x="1200" y="1776"/>
              <a:ext cx="0" cy="768"/>
            </a:xfrm>
            <a:prstGeom prst="line">
              <a:avLst/>
            </a:prstGeom>
            <a:ln w="28575" cap="flat" cmpd="sng">
              <a:solidFill>
                <a:srgbClr val="FF33CC"/>
              </a:solidFill>
              <a:prstDash val="dash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49" name="Object 38"/>
            <p:cNvGraphicFramePr>
              <a:graphicFrameLocks noChangeAspect="1"/>
            </p:cNvGraphicFramePr>
            <p:nvPr/>
          </p:nvGraphicFramePr>
          <p:xfrm>
            <a:off x="960" y="2064"/>
            <a:ext cx="2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7" r:id="rId13" imgW="190500" imgH="254000" progId="Equation.3">
                    <p:embed/>
                  </p:oleObj>
                </mc:Choice>
                <mc:Fallback>
                  <p:oleObj r:id="rId13" imgW="190500" imgH="254000" progId="Equation.3">
                    <p:embed/>
                    <p:pic>
                      <p:nvPicPr>
                        <p:cNvPr id="0" name="图片 319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60" y="2064"/>
                          <a:ext cx="21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39" name="Group 39"/>
          <p:cNvGrpSpPr/>
          <p:nvPr/>
        </p:nvGrpSpPr>
        <p:grpSpPr>
          <a:xfrm>
            <a:off x="2362200" y="3186113"/>
            <a:ext cx="4876800" cy="1219200"/>
            <a:chOff x="1488" y="2064"/>
            <a:chExt cx="3072" cy="768"/>
          </a:xfrm>
        </p:grpSpPr>
        <p:sp>
          <p:nvSpPr>
            <p:cNvPr id="47142" name="Line 40"/>
            <p:cNvSpPr/>
            <p:nvPr/>
          </p:nvSpPr>
          <p:spPr>
            <a:xfrm>
              <a:off x="1488" y="2064"/>
              <a:ext cx="0" cy="72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43" name="Object 41"/>
            <p:cNvGraphicFramePr>
              <a:graphicFrameLocks noChangeAspect="1"/>
            </p:cNvGraphicFramePr>
            <p:nvPr/>
          </p:nvGraphicFramePr>
          <p:xfrm>
            <a:off x="2688" y="2496"/>
            <a:ext cx="31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08" r:id="rId15" imgW="165100" imgH="177800" progId="Equation.3">
                    <p:embed/>
                  </p:oleObj>
                </mc:Choice>
                <mc:Fallback>
                  <p:oleObj r:id="rId15" imgW="165100" imgH="177800" progId="Equation.3">
                    <p:embed/>
                    <p:pic>
                      <p:nvPicPr>
                        <p:cNvPr id="0" name="图片 319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688" y="2496"/>
                          <a:ext cx="313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4" name="Line 42"/>
            <p:cNvSpPr/>
            <p:nvPr/>
          </p:nvSpPr>
          <p:spPr>
            <a:xfrm>
              <a:off x="3072" y="2688"/>
              <a:ext cx="1488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5" name="Line 43"/>
            <p:cNvSpPr/>
            <p:nvPr/>
          </p:nvSpPr>
          <p:spPr>
            <a:xfrm flipH="1" flipV="1">
              <a:off x="1488" y="2688"/>
              <a:ext cx="1056" cy="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44" name="Group 44"/>
          <p:cNvGrpSpPr/>
          <p:nvPr/>
        </p:nvGrpSpPr>
        <p:grpSpPr>
          <a:xfrm>
            <a:off x="2362200" y="1204913"/>
            <a:ext cx="5715000" cy="2667000"/>
            <a:chOff x="1488" y="816"/>
            <a:chExt cx="3600" cy="1680"/>
          </a:xfrm>
        </p:grpSpPr>
        <p:grpSp>
          <p:nvGrpSpPr>
            <p:cNvPr id="47127" name="Group 45"/>
            <p:cNvGrpSpPr/>
            <p:nvPr/>
          </p:nvGrpSpPr>
          <p:grpSpPr>
            <a:xfrm>
              <a:off x="1488" y="816"/>
              <a:ext cx="3600" cy="1680"/>
              <a:chOff x="1488" y="816"/>
              <a:chExt cx="3600" cy="1680"/>
            </a:xfrm>
          </p:grpSpPr>
          <p:sp>
            <p:nvSpPr>
              <p:cNvPr id="47129" name="Rectangle 46"/>
              <p:cNvSpPr/>
              <p:nvPr/>
            </p:nvSpPr>
            <p:spPr>
              <a:xfrm>
                <a:off x="3072" y="864"/>
                <a:ext cx="48" cy="1632"/>
              </a:xfrm>
              <a:prstGeom prst="rect">
                <a:avLst/>
              </a:prstGeom>
              <a:blipFill rotWithShape="0">
                <a:blip r:embed="rId6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47130" name="Object 47"/>
              <p:cNvGraphicFramePr>
                <a:graphicFrameLocks noChangeAspect="1"/>
              </p:cNvGraphicFramePr>
              <p:nvPr/>
            </p:nvGraphicFramePr>
            <p:xfrm>
              <a:off x="3112" y="816"/>
              <a:ext cx="223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709" r:id="rId17" imgW="152400" imgH="165100" progId="Equation.3">
                      <p:embed/>
                    </p:oleObj>
                  </mc:Choice>
                  <mc:Fallback>
                    <p:oleObj r:id="rId17" imgW="152400" imgH="165100" progId="Equation.3">
                      <p:embed/>
                      <p:pic>
                        <p:nvPicPr>
                          <p:cNvPr id="0" name="图片 3196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3112" y="816"/>
                            <a:ext cx="223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7131" name="Group 48"/>
              <p:cNvGrpSpPr/>
              <p:nvPr/>
            </p:nvGrpSpPr>
            <p:grpSpPr>
              <a:xfrm>
                <a:off x="1488" y="1152"/>
                <a:ext cx="3600" cy="1056"/>
                <a:chOff x="1584" y="1200"/>
                <a:chExt cx="3600" cy="1056"/>
              </a:xfrm>
            </p:grpSpPr>
            <p:sp>
              <p:nvSpPr>
                <p:cNvPr id="47132" name="Line 49"/>
                <p:cNvSpPr/>
                <p:nvPr/>
              </p:nvSpPr>
              <p:spPr>
                <a:xfrm flipH="1">
                  <a:off x="1584" y="2256"/>
                  <a:ext cx="3600" cy="0"/>
                </a:xfrm>
                <a:prstGeom prst="line">
                  <a:avLst/>
                </a:prstGeom>
                <a:ln w="19050" cap="flat" cmpd="sng">
                  <a:solidFill>
                    <a:srgbClr val="000000"/>
                  </a:solidFill>
                  <a:prstDash val="dashDot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47133" name="Group 50"/>
                <p:cNvGrpSpPr/>
                <p:nvPr/>
              </p:nvGrpSpPr>
              <p:grpSpPr>
                <a:xfrm>
                  <a:off x="3216" y="1200"/>
                  <a:ext cx="288" cy="1056"/>
                  <a:chOff x="3216" y="1152"/>
                  <a:chExt cx="288" cy="1056"/>
                </a:xfrm>
              </p:grpSpPr>
              <p:grpSp>
                <p:nvGrpSpPr>
                  <p:cNvPr id="47134" name="Group 51"/>
                  <p:cNvGrpSpPr/>
                  <p:nvPr/>
                </p:nvGrpSpPr>
                <p:grpSpPr>
                  <a:xfrm>
                    <a:off x="3216" y="1680"/>
                    <a:ext cx="288" cy="528"/>
                    <a:chOff x="4512" y="3264"/>
                    <a:chExt cx="384" cy="480"/>
                  </a:xfrm>
                </p:grpSpPr>
                <p:grpSp>
                  <p:nvGrpSpPr>
                    <p:cNvPr id="47136" name="Group 52"/>
                    <p:cNvGrpSpPr/>
                    <p:nvPr/>
                  </p:nvGrpSpPr>
                  <p:grpSpPr>
                    <a:xfrm>
                      <a:off x="4512" y="3360"/>
                      <a:ext cx="384" cy="384"/>
                      <a:chOff x="4512" y="3360"/>
                      <a:chExt cx="384" cy="384"/>
                    </a:xfrm>
                  </p:grpSpPr>
                  <p:sp>
                    <p:nvSpPr>
                      <p:cNvPr id="47138" name="Rectangle 53"/>
                      <p:cNvSpPr/>
                      <p:nvPr/>
                    </p:nvSpPr>
                    <p:spPr>
                      <a:xfrm>
                        <a:off x="4512" y="3648"/>
                        <a:ext cx="384" cy="9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000000"/>
                          </a:gs>
                          <a:gs pos="50000">
                            <a:srgbClr val="FFFF5D"/>
                          </a:gs>
                          <a:gs pos="100000">
                            <a:srgbClr val="000000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  <p:txBody>
                      <a:bodyPr wrap="none" anchor="ctr" anchorCtr="0"/>
                      <a:lstStyle/>
                      <a:p>
                        <a:pPr eaLnBrk="1" hangingPunct="1"/>
                        <a:endParaRPr lang="zh-CN" altLang="en-US" dirty="0">
                          <a:latin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47139" name="Rectangle 54"/>
                      <p:cNvSpPr/>
                      <p:nvPr/>
                    </p:nvSpPr>
                    <p:spPr>
                      <a:xfrm>
                        <a:off x="4512" y="3552"/>
                        <a:ext cx="384" cy="9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000000"/>
                          </a:gs>
                          <a:gs pos="50000">
                            <a:srgbClr val="FFFF5D"/>
                          </a:gs>
                          <a:gs pos="100000">
                            <a:srgbClr val="000000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  <p:txBody>
                      <a:bodyPr wrap="none" anchor="ctr" anchorCtr="0"/>
                      <a:lstStyle/>
                      <a:p>
                        <a:pPr eaLnBrk="1" hangingPunct="1"/>
                        <a:endParaRPr lang="zh-CN" altLang="en-US" dirty="0">
                          <a:latin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47140" name="Rectangle 55"/>
                      <p:cNvSpPr/>
                      <p:nvPr/>
                    </p:nvSpPr>
                    <p:spPr>
                      <a:xfrm>
                        <a:off x="4512" y="3456"/>
                        <a:ext cx="384" cy="9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000000"/>
                          </a:gs>
                          <a:gs pos="50000">
                            <a:srgbClr val="FFFF5D"/>
                          </a:gs>
                          <a:gs pos="100000">
                            <a:srgbClr val="000000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  <p:txBody>
                      <a:bodyPr wrap="none" anchor="ctr" anchorCtr="0"/>
                      <a:lstStyle/>
                      <a:p>
                        <a:pPr eaLnBrk="1" hangingPunct="1"/>
                        <a:endParaRPr lang="zh-CN" altLang="en-US" dirty="0">
                          <a:latin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47141" name="Rectangle 56"/>
                      <p:cNvSpPr/>
                      <p:nvPr/>
                    </p:nvSpPr>
                    <p:spPr>
                      <a:xfrm>
                        <a:off x="4512" y="3360"/>
                        <a:ext cx="384" cy="9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000000"/>
                          </a:gs>
                          <a:gs pos="50000">
                            <a:srgbClr val="FFFF5D"/>
                          </a:gs>
                          <a:gs pos="100000">
                            <a:srgbClr val="000000"/>
                          </a:gs>
                        </a:gsLst>
                        <a:lin ang="5400000" scaled="1"/>
                        <a:tileRect/>
                      </a:gradFill>
                      <a:ln w="9525">
                        <a:noFill/>
                      </a:ln>
                    </p:spPr>
                    <p:txBody>
                      <a:bodyPr wrap="none" anchor="ctr" anchorCtr="0"/>
                      <a:lstStyle/>
                      <a:p>
                        <a:pPr eaLnBrk="1" hangingPunct="1"/>
                        <a:endParaRPr lang="zh-CN" altLang="en-US" dirty="0">
                          <a:latin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47137" name="Rectangle 57"/>
                    <p:cNvSpPr/>
                    <p:nvPr/>
                  </p:nvSpPr>
                  <p:spPr>
                    <a:xfrm>
                      <a:off x="4512" y="3264"/>
                      <a:ext cx="384" cy="96"/>
                    </a:xfrm>
                    <a:prstGeom prst="rect">
                      <a:avLst/>
                    </a:prstGeom>
                    <a:gradFill rotWithShape="0">
                      <a:gsLst>
                        <a:gs pos="0">
                          <a:srgbClr val="000000"/>
                        </a:gs>
                        <a:gs pos="50000">
                          <a:srgbClr val="FFFF5D"/>
                        </a:gs>
                        <a:gs pos="100000">
                          <a:srgbClr val="000000"/>
                        </a:gs>
                      </a:gsLst>
                      <a:lin ang="5400000" scaled="1"/>
                      <a:tileRect/>
                    </a:gradFill>
                    <a:ln w="9525">
                      <a:noFill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47135" name="Rectangle 58"/>
                  <p:cNvSpPr/>
                  <p:nvPr/>
                </p:nvSpPr>
                <p:spPr>
                  <a:xfrm>
                    <a:off x="3216" y="1152"/>
                    <a:ext cx="288" cy="528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FFFF5D"/>
                      </a:gs>
                      <a:gs pos="100000">
                        <a:srgbClr val="000000"/>
                      </a:gs>
                    </a:gsLst>
                    <a:lin ang="5400000" scaled="1"/>
                    <a:tileRect/>
                  </a:gradFill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47128" name="Text Box 59"/>
            <p:cNvSpPr txBox="1"/>
            <p:nvPr/>
          </p:nvSpPr>
          <p:spPr>
            <a:xfrm>
              <a:off x="3072" y="2169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L</a:t>
              </a:r>
            </a:p>
          </p:txBody>
        </p:sp>
      </p:grpSp>
      <p:grpSp>
        <p:nvGrpSpPr>
          <p:cNvPr id="47123" name="Group 4"/>
          <p:cNvGrpSpPr/>
          <p:nvPr/>
        </p:nvGrpSpPr>
        <p:grpSpPr>
          <a:xfrm>
            <a:off x="0" y="0"/>
            <a:ext cx="9144000" cy="795338"/>
            <a:chOff x="0" y="0"/>
            <a:chExt cx="5760" cy="501"/>
          </a:xfrm>
        </p:grpSpPr>
        <p:sp>
          <p:nvSpPr>
            <p:cNvPr id="47125" name="Rectangle 5"/>
            <p:cNvSpPr/>
            <p:nvPr/>
          </p:nvSpPr>
          <p:spPr>
            <a:xfrm>
              <a:off x="0" y="453"/>
              <a:ext cx="5760" cy="48"/>
            </a:xfrm>
            <a:prstGeom prst="rect">
              <a:avLst/>
            </a:prstGeom>
            <a:solidFill>
              <a:srgbClr val="CC33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zh-CN" sz="2800" dirty="0">
                <a:solidFill>
                  <a:srgbClr val="020844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6" name="Rectangle 6"/>
            <p:cNvSpPr/>
            <p:nvPr/>
          </p:nvSpPr>
          <p:spPr>
            <a:xfrm>
              <a:off x="0" y="0"/>
              <a:ext cx="5760" cy="480"/>
            </a:xfrm>
            <a:prstGeom prst="rect">
              <a:avLst/>
            </a:prstGeom>
            <a:solidFill>
              <a:srgbClr val="00467A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zh-CN" sz="2800" dirty="0">
                <a:solidFill>
                  <a:srgbClr val="020844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7124" name="Text Box 3"/>
          <p:cNvSpPr txBox="1"/>
          <p:nvPr/>
        </p:nvSpPr>
        <p:spPr>
          <a:xfrm>
            <a:off x="2851150" y="44450"/>
            <a:ext cx="5105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劳埃德镜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2"/>
          <p:cNvGrpSpPr/>
          <p:nvPr/>
        </p:nvGrpSpPr>
        <p:grpSpPr>
          <a:xfrm>
            <a:off x="4191000" y="1143000"/>
            <a:ext cx="4419600" cy="2362200"/>
            <a:chOff x="2688" y="528"/>
            <a:chExt cx="2784" cy="1488"/>
          </a:xfrm>
        </p:grpSpPr>
        <p:sp>
          <p:nvSpPr>
            <p:cNvPr id="48194" name="Rectangle 3"/>
            <p:cNvSpPr/>
            <p:nvPr/>
          </p:nvSpPr>
          <p:spPr>
            <a:xfrm>
              <a:off x="2688" y="528"/>
              <a:ext cx="2784" cy="148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95" name="Rectangle 4"/>
            <p:cNvSpPr/>
            <p:nvPr/>
          </p:nvSpPr>
          <p:spPr>
            <a:xfrm>
              <a:off x="3072" y="1488"/>
              <a:ext cx="2016" cy="288"/>
            </a:xfrm>
            <a:prstGeom prst="rect">
              <a:avLst/>
            </a:prstGeom>
            <a:solidFill>
              <a:srgbClr val="00FFFF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96" name="Rectangle 5"/>
            <p:cNvSpPr/>
            <p:nvPr/>
          </p:nvSpPr>
          <p:spPr>
            <a:xfrm rot="-316683">
              <a:off x="3049" y="1104"/>
              <a:ext cx="2016" cy="288"/>
            </a:xfrm>
            <a:prstGeom prst="rect">
              <a:avLst/>
            </a:prstGeom>
            <a:solidFill>
              <a:srgbClr val="00FFFF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702" name="Oval 6"/>
            <p:cNvSpPr>
              <a:spLocks noChangeArrowheads="1"/>
            </p:cNvSpPr>
            <p:nvPr/>
          </p:nvSpPr>
          <p:spPr bwMode="auto">
            <a:xfrm>
              <a:off x="4896" y="1296"/>
              <a:ext cx="192" cy="192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56078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8198" name="Object 7"/>
            <p:cNvGraphicFramePr>
              <a:graphicFrameLocks noChangeAspect="1"/>
            </p:cNvGraphicFramePr>
            <p:nvPr/>
          </p:nvGraphicFramePr>
          <p:xfrm>
            <a:off x="3216" y="1104"/>
            <a:ext cx="2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8" r:id="rId3" imgW="215900" imgH="316865" progId="Equation.3">
                    <p:embed/>
                  </p:oleObj>
                </mc:Choice>
                <mc:Fallback>
                  <p:oleObj r:id="rId3" imgW="215900" imgH="316865" progId="Equation.3">
                    <p:embed/>
                    <p:pic>
                      <p:nvPicPr>
                        <p:cNvPr id="0" name="图片 319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16" y="1104"/>
                          <a:ext cx="296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99" name="Object 8"/>
            <p:cNvGraphicFramePr>
              <a:graphicFrameLocks noChangeAspect="1"/>
            </p:cNvGraphicFramePr>
            <p:nvPr/>
          </p:nvGraphicFramePr>
          <p:xfrm>
            <a:off x="3216" y="1440"/>
            <a:ext cx="29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49" r:id="rId5" imgW="215900" imgH="316865" progId="Equation.3">
                    <p:embed/>
                  </p:oleObj>
                </mc:Choice>
                <mc:Fallback>
                  <p:oleObj r:id="rId5" imgW="215900" imgH="316865" progId="Equation.3">
                    <p:embed/>
                    <p:pic>
                      <p:nvPicPr>
                        <p:cNvPr id="0" name="图片 319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16" y="1440"/>
                          <a:ext cx="296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31" name="Group 9"/>
          <p:cNvGrpSpPr/>
          <p:nvPr/>
        </p:nvGrpSpPr>
        <p:grpSpPr>
          <a:xfrm>
            <a:off x="7543800" y="1371600"/>
            <a:ext cx="457200" cy="457200"/>
            <a:chOff x="4752" y="672"/>
            <a:chExt cx="288" cy="288"/>
          </a:xfrm>
        </p:grpSpPr>
        <p:sp>
          <p:nvSpPr>
            <p:cNvPr id="48192" name="AutoShape 10"/>
            <p:cNvSpPr/>
            <p:nvPr/>
          </p:nvSpPr>
          <p:spPr>
            <a:xfrm>
              <a:off x="4752" y="672"/>
              <a:ext cx="288" cy="288"/>
            </a:xfrm>
            <a:prstGeom prst="wedgeRectCallout">
              <a:avLst>
                <a:gd name="adj1" fmla="val -51042"/>
                <a:gd name="adj2" fmla="val 211111"/>
              </a:avLst>
            </a:prstGeom>
            <a:gradFill rotWithShape="0">
              <a:gsLst>
                <a:gs pos="0">
                  <a:srgbClr val="FCDCED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 cap="flat" cmpd="sng">
              <a:solidFill>
                <a:srgbClr val="CC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 eaLnBrk="1" hangingPunct="1"/>
              <a:endParaRPr lang="zh-CN" altLang="zh-CN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8193" name="Object 11"/>
            <p:cNvGraphicFramePr>
              <a:graphicFrameLocks noChangeAspect="1"/>
            </p:cNvGraphicFramePr>
            <p:nvPr/>
          </p:nvGraphicFramePr>
          <p:xfrm>
            <a:off x="4800" y="719"/>
            <a:ext cx="240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0" r:id="rId6" imgW="177800" imgH="190500" progId="Equation.3">
                    <p:embed/>
                  </p:oleObj>
                </mc:Choice>
                <mc:Fallback>
                  <p:oleObj r:id="rId6" imgW="177800" imgH="190500" progId="Equation.3">
                    <p:embed/>
                    <p:pic>
                      <p:nvPicPr>
                        <p:cNvPr id="0" name="图片 3199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4800" y="719"/>
                          <a:ext cx="240" cy="24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32" name="Rectangle 13"/>
          <p:cNvSpPr/>
          <p:nvPr/>
        </p:nvSpPr>
        <p:spPr>
          <a:xfrm>
            <a:off x="696913" y="1828800"/>
            <a:ext cx="3376612" cy="426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66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710" name="Rectangle 14"/>
          <p:cNvSpPr>
            <a:spLocks noChangeArrowheads="1"/>
          </p:cNvSpPr>
          <p:nvPr/>
        </p:nvSpPr>
        <p:spPr bwMode="auto">
          <a:xfrm>
            <a:off x="2455863" y="2038350"/>
            <a:ext cx="422275" cy="350838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36078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36078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11" name="AutoShape 15"/>
          <p:cNvSpPr>
            <a:spLocks noChangeArrowheads="1"/>
          </p:cNvSpPr>
          <p:nvPr/>
        </p:nvSpPr>
        <p:spPr bwMode="auto">
          <a:xfrm>
            <a:off x="2455863" y="2389188"/>
            <a:ext cx="422275" cy="1397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chemeClr val="accent1">
                  <a:gamma/>
                  <a:shade val="2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5" name="Oval 16"/>
          <p:cNvSpPr/>
          <p:nvPr/>
        </p:nvSpPr>
        <p:spPr>
          <a:xfrm>
            <a:off x="1681163" y="3017838"/>
            <a:ext cx="141287" cy="909637"/>
          </a:xfrm>
          <a:prstGeom prst="ellipse">
            <a:avLst/>
          </a:prstGeom>
          <a:solidFill>
            <a:srgbClr val="00FFCC">
              <a:alpha val="50195"/>
            </a:srgbClr>
          </a:solidFill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8136" name="Line 17"/>
          <p:cNvSpPr/>
          <p:nvPr/>
        </p:nvSpPr>
        <p:spPr>
          <a:xfrm flipV="1">
            <a:off x="1189038" y="3227388"/>
            <a:ext cx="492125" cy="280987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7" name="Line 18"/>
          <p:cNvSpPr/>
          <p:nvPr/>
        </p:nvSpPr>
        <p:spPr>
          <a:xfrm>
            <a:off x="1189038" y="3508375"/>
            <a:ext cx="492125" cy="20955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38" name="Line 19"/>
          <p:cNvSpPr/>
          <p:nvPr/>
        </p:nvSpPr>
        <p:spPr>
          <a:xfrm>
            <a:off x="1681163" y="3227388"/>
            <a:ext cx="633412" cy="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16" name="Oval 20"/>
          <p:cNvSpPr>
            <a:spLocks noChangeArrowheads="1"/>
          </p:cNvSpPr>
          <p:nvPr/>
        </p:nvSpPr>
        <p:spPr bwMode="auto">
          <a:xfrm>
            <a:off x="3228975" y="4627563"/>
            <a:ext cx="280988" cy="2794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56078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40" name="Line 21"/>
          <p:cNvSpPr/>
          <p:nvPr/>
        </p:nvSpPr>
        <p:spPr>
          <a:xfrm>
            <a:off x="1681163" y="4906963"/>
            <a:ext cx="1758950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1" name="Line 22"/>
          <p:cNvSpPr/>
          <p:nvPr/>
        </p:nvSpPr>
        <p:spPr>
          <a:xfrm flipV="1">
            <a:off x="1681163" y="4627563"/>
            <a:ext cx="1758950" cy="27940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2" name="Line 23"/>
          <p:cNvSpPr/>
          <p:nvPr/>
        </p:nvSpPr>
        <p:spPr>
          <a:xfrm>
            <a:off x="3017838" y="2598738"/>
            <a:ext cx="0" cy="2308225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3" name="Line 24"/>
          <p:cNvSpPr/>
          <p:nvPr/>
        </p:nvSpPr>
        <p:spPr>
          <a:xfrm>
            <a:off x="2314575" y="2598738"/>
            <a:ext cx="0" cy="2308225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4" name="Line 25"/>
          <p:cNvSpPr/>
          <p:nvPr/>
        </p:nvSpPr>
        <p:spPr>
          <a:xfrm>
            <a:off x="1681163" y="3717925"/>
            <a:ext cx="1336675" cy="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5" name="Line 26"/>
          <p:cNvSpPr/>
          <p:nvPr/>
        </p:nvSpPr>
        <p:spPr>
          <a:xfrm>
            <a:off x="3298825" y="4627563"/>
            <a:ext cx="703263" cy="0"/>
          </a:xfrm>
          <a:prstGeom prst="line">
            <a:avLst/>
          </a:prstGeom>
          <a:ln w="19050" cap="flat" cmpd="sng">
            <a:solidFill>
              <a:srgbClr val="0000FF"/>
            </a:solidFill>
            <a:prstDash val="dash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6" name="Line 27"/>
          <p:cNvSpPr/>
          <p:nvPr/>
        </p:nvSpPr>
        <p:spPr>
          <a:xfrm>
            <a:off x="3298825" y="4906963"/>
            <a:ext cx="703263" cy="0"/>
          </a:xfrm>
          <a:prstGeom prst="line">
            <a:avLst/>
          </a:prstGeom>
          <a:ln w="19050" cap="flat" cmpd="sng">
            <a:solidFill>
              <a:srgbClr val="0000FF"/>
            </a:solidFill>
            <a:prstDash val="dash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7" name="Line 28"/>
          <p:cNvSpPr/>
          <p:nvPr/>
        </p:nvSpPr>
        <p:spPr>
          <a:xfrm>
            <a:off x="3721100" y="4276725"/>
            <a:ext cx="0" cy="350838"/>
          </a:xfrm>
          <a:prstGeom prst="line">
            <a:avLst/>
          </a:prstGeom>
          <a:ln w="19050" cap="flat" cmpd="sng">
            <a:solidFill>
              <a:srgbClr val="FF0066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48" name="Text Box 29"/>
          <p:cNvSpPr txBox="1"/>
          <p:nvPr/>
        </p:nvSpPr>
        <p:spPr>
          <a:xfrm>
            <a:off x="908050" y="3297238"/>
            <a:ext cx="11953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dirty="0">
                <a:solidFill>
                  <a:srgbClr val="C80000"/>
                </a:solidFill>
                <a:latin typeface="Times New Roman" panose="02020603050405020304" pitchFamily="18" charset="0"/>
              </a:rPr>
              <a:t>S</a:t>
            </a:r>
            <a:endParaRPr lang="en-US" altLang="zh-CN" sz="2800" dirty="0">
              <a:solidFill>
                <a:srgbClr val="C8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49" name="Text Box 30"/>
          <p:cNvSpPr txBox="1"/>
          <p:nvPr/>
        </p:nvSpPr>
        <p:spPr>
          <a:xfrm>
            <a:off x="3087688" y="3508375"/>
            <a:ext cx="12668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48150" name="Line 31"/>
          <p:cNvSpPr/>
          <p:nvPr/>
        </p:nvSpPr>
        <p:spPr>
          <a:xfrm>
            <a:off x="2303463" y="3927475"/>
            <a:ext cx="0" cy="48895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triangl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1" name="Line 32"/>
          <p:cNvSpPr/>
          <p:nvPr/>
        </p:nvSpPr>
        <p:spPr>
          <a:xfrm>
            <a:off x="3006725" y="3997325"/>
            <a:ext cx="0" cy="48895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triangl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2" name="Line 33"/>
          <p:cNvSpPr/>
          <p:nvPr/>
        </p:nvSpPr>
        <p:spPr>
          <a:xfrm>
            <a:off x="1963738" y="3227388"/>
            <a:ext cx="209550" cy="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3" name="Line 34"/>
          <p:cNvSpPr/>
          <p:nvPr/>
        </p:nvSpPr>
        <p:spPr>
          <a:xfrm>
            <a:off x="1963738" y="3717925"/>
            <a:ext cx="209550" cy="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4" name="Freeform 35"/>
          <p:cNvSpPr/>
          <p:nvPr/>
        </p:nvSpPr>
        <p:spPr>
          <a:xfrm>
            <a:off x="2308225" y="2690813"/>
            <a:ext cx="1588" cy="187325"/>
          </a:xfrm>
          <a:custGeom>
            <a:avLst/>
            <a:gdLst>
              <a:gd name="txL" fmla="*/ 0 w 1"/>
              <a:gd name="txT" fmla="*/ 0 h 128"/>
              <a:gd name="txR" fmla="*/ 1 w 1"/>
              <a:gd name="txB" fmla="*/ 128 h 128"/>
            </a:gdLst>
            <a:ahLst/>
            <a:cxnLst>
              <a:cxn ang="0">
                <a:pos x="0" y="2147483646"/>
              </a:cxn>
              <a:cxn ang="0">
                <a:pos x="0" y="0"/>
              </a:cxn>
            </a:cxnLst>
            <a:rect l="txL" t="txT" r="txR" b="txB"/>
            <a:pathLst>
              <a:path w="1" h="128">
                <a:moveTo>
                  <a:pt x="0" y="128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rgbClr val="FF9900">
                <a:alpha val="100000"/>
              </a:srgbClr>
            </a:solidFill>
            <a:prstDash val="solid"/>
            <a:round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5" name="Freeform 36"/>
          <p:cNvSpPr/>
          <p:nvPr/>
        </p:nvSpPr>
        <p:spPr>
          <a:xfrm>
            <a:off x="3011488" y="2686050"/>
            <a:ext cx="6350" cy="192088"/>
          </a:xfrm>
          <a:custGeom>
            <a:avLst/>
            <a:gdLst>
              <a:gd name="txL" fmla="*/ 0 w 4"/>
              <a:gd name="txT" fmla="*/ 0 h 132"/>
              <a:gd name="txR" fmla="*/ 4 w 4"/>
              <a:gd name="txB" fmla="*/ 132 h 132"/>
            </a:gdLst>
            <a:ahLst/>
            <a:cxnLst>
              <a:cxn ang="0">
                <a:pos x="2147483646" y="2147483646"/>
              </a:cxn>
              <a:cxn ang="0">
                <a:pos x="0" y="0"/>
              </a:cxn>
            </a:cxnLst>
            <a:rect l="txL" t="txT" r="txR" b="txB"/>
            <a:pathLst>
              <a:path w="4" h="132">
                <a:moveTo>
                  <a:pt x="4" y="132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rgbClr val="FF9900">
                <a:alpha val="100000"/>
              </a:srgbClr>
            </a:solidFill>
            <a:prstDash val="solid"/>
            <a:round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6" name="Line 37"/>
          <p:cNvSpPr/>
          <p:nvPr/>
        </p:nvSpPr>
        <p:spPr>
          <a:xfrm flipV="1">
            <a:off x="3721100" y="4906963"/>
            <a:ext cx="0" cy="279400"/>
          </a:xfrm>
          <a:prstGeom prst="line">
            <a:avLst/>
          </a:prstGeom>
          <a:ln w="19050" cap="flat" cmpd="sng">
            <a:solidFill>
              <a:srgbClr val="FF0066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7" name="Arc 38"/>
          <p:cNvSpPr/>
          <p:nvPr/>
        </p:nvSpPr>
        <p:spPr>
          <a:xfrm rot="-2983041" flipV="1">
            <a:off x="2455863" y="4772025"/>
            <a:ext cx="133350" cy="130175"/>
          </a:xfrm>
          <a:custGeom>
            <a:avLst/>
            <a:gdLst>
              <a:gd name="txL" fmla="*/ 0 w 20674"/>
              <a:gd name="txT" fmla="*/ 0 h 20038"/>
              <a:gd name="txR" fmla="*/ 20674 w 20674"/>
              <a:gd name="txB" fmla="*/ 20038 h 20038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txL" t="txT" r="txR" b="txB"/>
            <a:pathLst>
              <a:path w="20674" h="20038" fill="none">
                <a:moveTo>
                  <a:pt x="8064" y="0"/>
                </a:moveTo>
                <a:cubicBezTo>
                  <a:pt x="14139" y="2445"/>
                  <a:pt x="18777" y="7514"/>
                  <a:pt x="20674" y="13781"/>
                </a:cubicBezTo>
              </a:path>
              <a:path w="20674" h="20038" stroke="0">
                <a:moveTo>
                  <a:pt x="8064" y="0"/>
                </a:moveTo>
                <a:cubicBezTo>
                  <a:pt x="14139" y="2445"/>
                  <a:pt x="18777" y="7514"/>
                  <a:pt x="20674" y="13781"/>
                </a:cubicBezTo>
                <a:lnTo>
                  <a:pt x="0" y="20038"/>
                </a:lnTo>
                <a:lnTo>
                  <a:pt x="8064" y="0"/>
                </a:lnTo>
                <a:close/>
              </a:path>
            </a:pathLst>
          </a:custGeom>
          <a:noFill/>
          <a:ln w="38100" cap="flat" cmpd="sng">
            <a:solidFill>
              <a:srgbClr val="FF0000">
                <a:alpha val="100000"/>
              </a:srgbClr>
            </a:solidFill>
            <a:prstDash val="solid"/>
            <a:round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58" name="Rectangle 39"/>
          <p:cNvSpPr/>
          <p:nvPr/>
        </p:nvSpPr>
        <p:spPr>
          <a:xfrm rot="-3075295">
            <a:off x="2601913" y="2809875"/>
            <a:ext cx="90487" cy="12033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48159" name="Object 40"/>
          <p:cNvGraphicFramePr>
            <a:graphicFrameLocks noChangeAspect="1"/>
          </p:cNvGraphicFramePr>
          <p:nvPr/>
        </p:nvGraphicFramePr>
        <p:xfrm>
          <a:off x="3594100" y="4613275"/>
          <a:ext cx="29210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1" r:id="rId8" imgW="241300" imgH="228600" progId="Equation.3">
                  <p:embed/>
                </p:oleObj>
              </mc:Choice>
              <mc:Fallback>
                <p:oleObj r:id="rId8" imgW="241300" imgH="2286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94100" y="4613275"/>
                        <a:ext cx="292100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60" name="Object 41"/>
          <p:cNvGraphicFramePr>
            <a:graphicFrameLocks noChangeAspect="1"/>
          </p:cNvGraphicFramePr>
          <p:nvPr/>
        </p:nvGraphicFramePr>
        <p:xfrm>
          <a:off x="2947988" y="2143125"/>
          <a:ext cx="2809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2" r:id="rId10" imgW="73660" imgH="99695" progId="Equation.3">
                  <p:embed/>
                </p:oleObj>
              </mc:Choice>
              <mc:Fallback>
                <p:oleObj r:id="rId10" imgW="73660" imgH="99695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47988" y="2143125"/>
                        <a:ext cx="280987" cy="315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61" name="Object 42"/>
          <p:cNvGraphicFramePr>
            <a:graphicFrameLocks noChangeAspect="1"/>
          </p:cNvGraphicFramePr>
          <p:nvPr/>
        </p:nvGraphicFramePr>
        <p:xfrm>
          <a:off x="1641475" y="2668588"/>
          <a:ext cx="25082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3" r:id="rId12" imgW="73660" imgH="99695" progId="Equation.3">
                  <p:embed/>
                </p:oleObj>
              </mc:Choice>
              <mc:Fallback>
                <p:oleObj r:id="rId12" imgW="73660" imgH="99695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41475" y="2668588"/>
                        <a:ext cx="250825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62" name="Group 43"/>
          <p:cNvGrpSpPr/>
          <p:nvPr/>
        </p:nvGrpSpPr>
        <p:grpSpPr>
          <a:xfrm>
            <a:off x="914400" y="3962400"/>
            <a:ext cx="1382713" cy="396875"/>
            <a:chOff x="288" y="2448"/>
            <a:chExt cx="1152" cy="350"/>
          </a:xfrm>
        </p:grpSpPr>
        <p:sp>
          <p:nvSpPr>
            <p:cNvPr id="48189" name="AutoShape 44"/>
            <p:cNvSpPr/>
            <p:nvPr/>
          </p:nvSpPr>
          <p:spPr>
            <a:xfrm>
              <a:off x="288" y="2496"/>
              <a:ext cx="912" cy="288"/>
            </a:xfrm>
            <a:prstGeom prst="wedgeRectCallout">
              <a:avLst>
                <a:gd name="adj1" fmla="val 77083"/>
                <a:gd name="adj2" fmla="val 130903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rgbClr val="FFFFFF"/>
                </a:gs>
              </a:gsLst>
              <a:lin ang="5400000" scaled="1"/>
              <a:tileRect/>
            </a:gradFill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 eaLnBrk="1" hangingPunct="1"/>
              <a:endParaRPr lang="zh-CN" altLang="zh-CN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90" name="Text Box 45"/>
            <p:cNvSpPr txBox="1"/>
            <p:nvPr/>
          </p:nvSpPr>
          <p:spPr>
            <a:xfrm>
              <a:off x="288" y="2448"/>
              <a:ext cx="1152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劈尖角</a:t>
              </a:r>
            </a:p>
          </p:txBody>
        </p:sp>
        <p:graphicFrame>
          <p:nvGraphicFramePr>
            <p:cNvPr id="48191" name="Object 46"/>
            <p:cNvGraphicFramePr>
              <a:graphicFrameLocks noChangeAspect="1"/>
            </p:cNvGraphicFramePr>
            <p:nvPr/>
          </p:nvGraphicFramePr>
          <p:xfrm>
            <a:off x="1008" y="2496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4" r:id="rId14" imgW="177800" imgH="241300" progId="Equation.3">
                    <p:embed/>
                  </p:oleObj>
                </mc:Choice>
                <mc:Fallback>
                  <p:oleObj r:id="rId14" imgW="177800" imgH="241300" progId="Equation.3">
                    <p:embed/>
                    <p:pic>
                      <p:nvPicPr>
                        <p:cNvPr id="0" name="图片 320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008" y="2496"/>
                          <a:ext cx="17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63" name="Rectangle 48"/>
          <p:cNvSpPr/>
          <p:nvPr/>
        </p:nvSpPr>
        <p:spPr>
          <a:xfrm>
            <a:off x="6832600" y="4114800"/>
            <a:ext cx="787400" cy="1066800"/>
          </a:xfrm>
          <a:prstGeom prst="rect">
            <a:avLst/>
          </a:prstGeom>
          <a:gradFill rotWithShape="0">
            <a:gsLst>
              <a:gs pos="0">
                <a:srgbClr val="FCDCED"/>
              </a:gs>
              <a:gs pos="50000">
                <a:srgbClr val="FFFFFF"/>
              </a:gs>
              <a:gs pos="100000">
                <a:srgbClr val="FCDCED"/>
              </a:gs>
            </a:gsLst>
            <a:lin ang="5400000" scaled="1"/>
            <a:tileRect/>
          </a:gradFill>
          <a:ln w="12700" cap="flat" cmpd="sng">
            <a:solidFill>
              <a:srgbClr val="CC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8164" name="Text Box 51"/>
          <p:cNvSpPr txBox="1"/>
          <p:nvPr/>
        </p:nvSpPr>
        <p:spPr>
          <a:xfrm>
            <a:off x="3059113" y="115888"/>
            <a:ext cx="2971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劈尖干涉</a:t>
            </a:r>
          </a:p>
        </p:txBody>
      </p:sp>
      <p:sp>
        <p:nvSpPr>
          <p:cNvPr id="48165" name="Line 53"/>
          <p:cNvSpPr/>
          <p:nvPr/>
        </p:nvSpPr>
        <p:spPr>
          <a:xfrm>
            <a:off x="6172200" y="1295400"/>
            <a:ext cx="0" cy="137160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6" name="Line 54"/>
          <p:cNvSpPr/>
          <p:nvPr/>
        </p:nvSpPr>
        <p:spPr>
          <a:xfrm flipV="1">
            <a:off x="6324600" y="1371600"/>
            <a:ext cx="0" cy="114300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7" name="Line 55"/>
          <p:cNvSpPr/>
          <p:nvPr/>
        </p:nvSpPr>
        <p:spPr>
          <a:xfrm flipV="1">
            <a:off x="6477000" y="1371600"/>
            <a:ext cx="0" cy="129540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8" name="Line 57"/>
          <p:cNvSpPr/>
          <p:nvPr/>
        </p:nvSpPr>
        <p:spPr>
          <a:xfrm>
            <a:off x="2366963" y="5457825"/>
            <a:ext cx="0" cy="490538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69" name="Line 58"/>
          <p:cNvSpPr/>
          <p:nvPr/>
        </p:nvSpPr>
        <p:spPr>
          <a:xfrm>
            <a:off x="2508250" y="5457825"/>
            <a:ext cx="0" cy="490538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8170" name="Group 59"/>
          <p:cNvGrpSpPr/>
          <p:nvPr/>
        </p:nvGrpSpPr>
        <p:grpSpPr>
          <a:xfrm>
            <a:off x="1944688" y="4968875"/>
            <a:ext cx="1266825" cy="628650"/>
            <a:chOff x="3312" y="3408"/>
            <a:chExt cx="864" cy="432"/>
          </a:xfrm>
        </p:grpSpPr>
        <p:sp>
          <p:nvSpPr>
            <p:cNvPr id="48180" name="Rectangle 60"/>
            <p:cNvSpPr/>
            <p:nvPr/>
          </p:nvSpPr>
          <p:spPr>
            <a:xfrm>
              <a:off x="3312" y="3408"/>
              <a:ext cx="96" cy="432"/>
            </a:xfrm>
            <a:prstGeom prst="rect">
              <a:avLst/>
            </a:prstGeom>
            <a:gradFill rotWithShape="0">
              <a:gsLst>
                <a:gs pos="0">
                  <a:srgbClr val="434328"/>
                </a:gs>
                <a:gs pos="50000">
                  <a:srgbClr val="FFFF99"/>
                </a:gs>
                <a:gs pos="100000">
                  <a:srgbClr val="434328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81" name="Rectangle 61"/>
            <p:cNvSpPr/>
            <p:nvPr/>
          </p:nvSpPr>
          <p:spPr>
            <a:xfrm>
              <a:off x="3408" y="3408"/>
              <a:ext cx="96" cy="432"/>
            </a:xfrm>
            <a:prstGeom prst="rect">
              <a:avLst/>
            </a:prstGeom>
            <a:gradFill rotWithShape="0">
              <a:gsLst>
                <a:gs pos="0">
                  <a:srgbClr val="434328"/>
                </a:gs>
                <a:gs pos="50000">
                  <a:srgbClr val="FFFF99"/>
                </a:gs>
                <a:gs pos="100000">
                  <a:srgbClr val="434328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82" name="Rectangle 62"/>
            <p:cNvSpPr/>
            <p:nvPr/>
          </p:nvSpPr>
          <p:spPr>
            <a:xfrm>
              <a:off x="3504" y="3408"/>
              <a:ext cx="96" cy="432"/>
            </a:xfrm>
            <a:prstGeom prst="rect">
              <a:avLst/>
            </a:prstGeom>
            <a:gradFill rotWithShape="0">
              <a:gsLst>
                <a:gs pos="0">
                  <a:srgbClr val="434328"/>
                </a:gs>
                <a:gs pos="50000">
                  <a:srgbClr val="FFFF99"/>
                </a:gs>
                <a:gs pos="100000">
                  <a:srgbClr val="434328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83" name="Rectangle 63"/>
            <p:cNvSpPr/>
            <p:nvPr/>
          </p:nvSpPr>
          <p:spPr>
            <a:xfrm>
              <a:off x="3600" y="3408"/>
              <a:ext cx="96" cy="432"/>
            </a:xfrm>
            <a:prstGeom prst="rect">
              <a:avLst/>
            </a:prstGeom>
            <a:gradFill rotWithShape="0">
              <a:gsLst>
                <a:gs pos="0">
                  <a:srgbClr val="434328"/>
                </a:gs>
                <a:gs pos="50000">
                  <a:srgbClr val="FFFF99"/>
                </a:gs>
                <a:gs pos="100000">
                  <a:srgbClr val="434328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84" name="Rectangle 64"/>
            <p:cNvSpPr/>
            <p:nvPr/>
          </p:nvSpPr>
          <p:spPr>
            <a:xfrm>
              <a:off x="3696" y="3408"/>
              <a:ext cx="96" cy="432"/>
            </a:xfrm>
            <a:prstGeom prst="rect">
              <a:avLst/>
            </a:prstGeom>
            <a:gradFill rotWithShape="0">
              <a:gsLst>
                <a:gs pos="0">
                  <a:srgbClr val="434328"/>
                </a:gs>
                <a:gs pos="50000">
                  <a:srgbClr val="FFFF99"/>
                </a:gs>
                <a:gs pos="100000">
                  <a:srgbClr val="434328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85" name="Rectangle 65"/>
            <p:cNvSpPr/>
            <p:nvPr/>
          </p:nvSpPr>
          <p:spPr>
            <a:xfrm>
              <a:off x="3792" y="3408"/>
              <a:ext cx="96" cy="432"/>
            </a:xfrm>
            <a:prstGeom prst="rect">
              <a:avLst/>
            </a:prstGeom>
            <a:gradFill rotWithShape="0">
              <a:gsLst>
                <a:gs pos="0">
                  <a:srgbClr val="434328"/>
                </a:gs>
                <a:gs pos="50000">
                  <a:srgbClr val="FFFF99"/>
                </a:gs>
                <a:gs pos="100000">
                  <a:srgbClr val="434328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86" name="Rectangle 66"/>
            <p:cNvSpPr/>
            <p:nvPr/>
          </p:nvSpPr>
          <p:spPr>
            <a:xfrm>
              <a:off x="3888" y="3408"/>
              <a:ext cx="96" cy="432"/>
            </a:xfrm>
            <a:prstGeom prst="rect">
              <a:avLst/>
            </a:prstGeom>
            <a:gradFill rotWithShape="0">
              <a:gsLst>
                <a:gs pos="0">
                  <a:srgbClr val="434328"/>
                </a:gs>
                <a:gs pos="50000">
                  <a:srgbClr val="FFFF99"/>
                </a:gs>
                <a:gs pos="100000">
                  <a:srgbClr val="434328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87" name="Rectangle 67"/>
            <p:cNvSpPr/>
            <p:nvPr/>
          </p:nvSpPr>
          <p:spPr>
            <a:xfrm>
              <a:off x="3984" y="3408"/>
              <a:ext cx="96" cy="432"/>
            </a:xfrm>
            <a:prstGeom prst="rect">
              <a:avLst/>
            </a:prstGeom>
            <a:gradFill rotWithShape="0">
              <a:gsLst>
                <a:gs pos="0">
                  <a:srgbClr val="434328"/>
                </a:gs>
                <a:gs pos="50000">
                  <a:srgbClr val="FFFF99"/>
                </a:gs>
                <a:gs pos="100000">
                  <a:srgbClr val="434328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8188" name="Rectangle 68"/>
            <p:cNvSpPr/>
            <p:nvPr/>
          </p:nvSpPr>
          <p:spPr>
            <a:xfrm>
              <a:off x="4080" y="3408"/>
              <a:ext cx="96" cy="432"/>
            </a:xfrm>
            <a:prstGeom prst="rect">
              <a:avLst/>
            </a:prstGeom>
            <a:gradFill rotWithShape="0">
              <a:gsLst>
                <a:gs pos="0">
                  <a:srgbClr val="434328"/>
                </a:gs>
                <a:gs pos="50000">
                  <a:srgbClr val="FFFF99"/>
                </a:gs>
                <a:gs pos="100000">
                  <a:srgbClr val="434328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8171" name="Line 69"/>
          <p:cNvSpPr/>
          <p:nvPr/>
        </p:nvSpPr>
        <p:spPr>
          <a:xfrm>
            <a:off x="2014538" y="5738813"/>
            <a:ext cx="352425" cy="0"/>
          </a:xfrm>
          <a:prstGeom prst="line">
            <a:avLst/>
          </a:prstGeom>
          <a:ln w="19050" cap="flat" cmpd="sng">
            <a:solidFill>
              <a:srgbClr val="FF33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72" name="Line 70"/>
          <p:cNvSpPr/>
          <p:nvPr/>
        </p:nvSpPr>
        <p:spPr>
          <a:xfrm flipH="1">
            <a:off x="2508250" y="5738813"/>
            <a:ext cx="350838" cy="0"/>
          </a:xfrm>
          <a:prstGeom prst="line">
            <a:avLst/>
          </a:prstGeom>
          <a:ln w="19050" cap="flat" cmpd="sng">
            <a:solidFill>
              <a:srgbClr val="FF33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8173" name="Object 71"/>
          <p:cNvGraphicFramePr>
            <a:graphicFrameLocks noChangeAspect="1"/>
          </p:cNvGraphicFramePr>
          <p:nvPr/>
        </p:nvGraphicFramePr>
        <p:xfrm>
          <a:off x="2789238" y="5597525"/>
          <a:ext cx="2587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5" r:id="rId16" imgW="165100" imgH="254000" progId="Equation.3">
                  <p:embed/>
                </p:oleObj>
              </mc:Choice>
              <mc:Fallback>
                <p:oleObj r:id="rId16" imgW="165100" imgH="2540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89238" y="5597525"/>
                        <a:ext cx="258762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74" name="Group 72"/>
          <p:cNvGrpSpPr/>
          <p:nvPr/>
        </p:nvGrpSpPr>
        <p:grpSpPr>
          <a:xfrm>
            <a:off x="6172200" y="2133600"/>
            <a:ext cx="1162050" cy="914400"/>
            <a:chOff x="3888" y="1248"/>
            <a:chExt cx="732" cy="576"/>
          </a:xfrm>
        </p:grpSpPr>
        <p:sp>
          <p:nvSpPr>
            <p:cNvPr id="48176" name="Line 73"/>
            <p:cNvSpPr/>
            <p:nvPr/>
          </p:nvSpPr>
          <p:spPr>
            <a:xfrm>
              <a:off x="3888" y="1488"/>
              <a:ext cx="720" cy="0"/>
            </a:xfrm>
            <a:prstGeom prst="line">
              <a:avLst/>
            </a:prstGeom>
            <a:ln w="19050" cap="flat" cmpd="sng">
              <a:solidFill>
                <a:srgbClr val="CC0099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7" name="Line 74"/>
            <p:cNvSpPr/>
            <p:nvPr/>
          </p:nvSpPr>
          <p:spPr>
            <a:xfrm>
              <a:off x="4416" y="1248"/>
              <a:ext cx="0" cy="24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78" name="Line 75"/>
            <p:cNvSpPr/>
            <p:nvPr/>
          </p:nvSpPr>
          <p:spPr>
            <a:xfrm>
              <a:off x="4416" y="1584"/>
              <a:ext cx="0" cy="24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8179" name="Object 76"/>
            <p:cNvGraphicFramePr>
              <a:graphicFrameLocks noChangeAspect="1"/>
            </p:cNvGraphicFramePr>
            <p:nvPr/>
          </p:nvGraphicFramePr>
          <p:xfrm>
            <a:off x="4416" y="1536"/>
            <a:ext cx="2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6" r:id="rId18" imgW="190500" imgH="254000" progId="Equation.3">
                    <p:embed/>
                  </p:oleObj>
                </mc:Choice>
                <mc:Fallback>
                  <p:oleObj r:id="rId18" imgW="190500" imgH="254000" progId="Equation.3">
                    <p:embed/>
                    <p:pic>
                      <p:nvPicPr>
                        <p:cNvPr id="0" name="图片 3205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416" y="1536"/>
                          <a:ext cx="20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175" name="Object 77"/>
          <p:cNvGraphicFramePr>
            <a:graphicFrameLocks noChangeAspect="1"/>
          </p:cNvGraphicFramePr>
          <p:nvPr/>
        </p:nvGraphicFramePr>
        <p:xfrm>
          <a:off x="5262563" y="4114800"/>
          <a:ext cx="2281237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7" r:id="rId20" imgW="982980" imgH="436245" progId="Equation.3">
                  <p:embed/>
                </p:oleObj>
              </mc:Choice>
              <mc:Fallback>
                <p:oleObj r:id="rId20" imgW="982980" imgH="436245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262563" y="4114800"/>
                        <a:ext cx="2281237" cy="1031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44"/>
          <p:cNvGrpSpPr/>
          <p:nvPr/>
        </p:nvGrpSpPr>
        <p:grpSpPr>
          <a:xfrm>
            <a:off x="1025525" y="2708275"/>
            <a:ext cx="4343400" cy="641350"/>
            <a:chOff x="1056" y="2236"/>
            <a:chExt cx="2736" cy="404"/>
          </a:xfrm>
        </p:grpSpPr>
        <p:graphicFrame>
          <p:nvGraphicFramePr>
            <p:cNvPr id="49191" name="Object 19"/>
            <p:cNvGraphicFramePr>
              <a:graphicFrameLocks noChangeAspect="1"/>
            </p:cNvGraphicFramePr>
            <p:nvPr/>
          </p:nvGraphicFramePr>
          <p:xfrm>
            <a:off x="1056" y="2236"/>
            <a:ext cx="1753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7" r:id="rId3" imgW="572770" imgH="89535" progId="Equation.3">
                    <p:embed/>
                  </p:oleObj>
                </mc:Choice>
                <mc:Fallback>
                  <p:oleObj r:id="rId3" imgW="572770" imgH="89535" progId="Equation.3">
                    <p:embed/>
                    <p:pic>
                      <p:nvPicPr>
                        <p:cNvPr id="0" name="图片 3207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6" y="2236"/>
                          <a:ext cx="1753" cy="4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92" name="Text Box 20"/>
            <p:cNvSpPr txBox="1"/>
            <p:nvPr/>
          </p:nvSpPr>
          <p:spPr>
            <a:xfrm>
              <a:off x="3008" y="2256"/>
              <a:ext cx="7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zh-CN" sz="28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明纹</a:t>
              </a:r>
              <a:endParaRPr lang="zh-CN" altLang="en-US" sz="2800" dirty="0">
                <a:solidFill>
                  <a:srgbClr val="003366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9155" name="Group 42"/>
          <p:cNvGrpSpPr/>
          <p:nvPr/>
        </p:nvGrpSpPr>
        <p:grpSpPr>
          <a:xfrm>
            <a:off x="904875" y="3468688"/>
            <a:ext cx="4514850" cy="1082675"/>
            <a:chOff x="912" y="2704"/>
            <a:chExt cx="3504" cy="704"/>
          </a:xfrm>
        </p:grpSpPr>
        <p:graphicFrame>
          <p:nvGraphicFramePr>
            <p:cNvPr id="49189" name="Object 22"/>
            <p:cNvGraphicFramePr>
              <a:graphicFrameLocks noChangeAspect="1"/>
            </p:cNvGraphicFramePr>
            <p:nvPr/>
          </p:nvGraphicFramePr>
          <p:xfrm>
            <a:off x="912" y="2704"/>
            <a:ext cx="2431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8" r:id="rId5" imgW="882650" imgH="205105" progId="Equation.3">
                    <p:embed/>
                  </p:oleObj>
                </mc:Choice>
                <mc:Fallback>
                  <p:oleObj r:id="rId5" imgW="882650" imgH="205105" progId="Equation.3">
                    <p:embed/>
                    <p:pic>
                      <p:nvPicPr>
                        <p:cNvPr id="0" name="图片 320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12" y="2704"/>
                          <a:ext cx="2431" cy="7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90" name="Text Box 23"/>
            <p:cNvSpPr txBox="1"/>
            <p:nvPr/>
          </p:nvSpPr>
          <p:spPr>
            <a:xfrm>
              <a:off x="3428" y="2889"/>
              <a:ext cx="988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暗纹</a:t>
              </a:r>
            </a:p>
          </p:txBody>
        </p:sp>
      </p:grpSp>
      <p:grpSp>
        <p:nvGrpSpPr>
          <p:cNvPr id="49156" name="Group 32"/>
          <p:cNvGrpSpPr>
            <a:grpSpLocks noChangeAspect="1"/>
          </p:cNvGrpSpPr>
          <p:nvPr/>
        </p:nvGrpSpPr>
        <p:grpSpPr>
          <a:xfrm>
            <a:off x="5024438" y="949325"/>
            <a:ext cx="3933825" cy="2101850"/>
            <a:chOff x="2592" y="624"/>
            <a:chExt cx="2784" cy="1488"/>
          </a:xfrm>
        </p:grpSpPr>
        <p:grpSp>
          <p:nvGrpSpPr>
            <p:cNvPr id="49171" name="Group 2"/>
            <p:cNvGrpSpPr/>
            <p:nvPr/>
          </p:nvGrpSpPr>
          <p:grpSpPr>
            <a:xfrm>
              <a:off x="2592" y="624"/>
              <a:ext cx="2784" cy="1488"/>
              <a:chOff x="2688" y="528"/>
              <a:chExt cx="2784" cy="1488"/>
            </a:xfrm>
          </p:grpSpPr>
          <p:sp>
            <p:nvSpPr>
              <p:cNvPr id="49183" name="Rectangle 3"/>
              <p:cNvSpPr/>
              <p:nvPr/>
            </p:nvSpPr>
            <p:spPr>
              <a:xfrm>
                <a:off x="2688" y="528"/>
                <a:ext cx="2784" cy="148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66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9184" name="Rectangle 4"/>
              <p:cNvSpPr/>
              <p:nvPr/>
            </p:nvSpPr>
            <p:spPr>
              <a:xfrm>
                <a:off x="3072" y="1488"/>
                <a:ext cx="2016" cy="288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9185" name="Rectangle 5"/>
              <p:cNvSpPr/>
              <p:nvPr/>
            </p:nvSpPr>
            <p:spPr>
              <a:xfrm rot="-316683">
                <a:off x="3049" y="1104"/>
                <a:ext cx="2016" cy="288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726" name="Oval 6"/>
              <p:cNvSpPr>
                <a:spLocks noChangeArrowheads="1"/>
              </p:cNvSpPr>
              <p:nvPr/>
            </p:nvSpPr>
            <p:spPr bwMode="auto">
              <a:xfrm>
                <a:off x="4896" y="1296"/>
                <a:ext cx="192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56078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49187" name="Object 7"/>
              <p:cNvGraphicFramePr>
                <a:graphicFrameLocks noChangeAspect="1"/>
              </p:cNvGraphicFramePr>
              <p:nvPr/>
            </p:nvGraphicFramePr>
            <p:xfrm>
              <a:off x="3216" y="1104"/>
              <a:ext cx="296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79" r:id="rId7" imgW="215900" imgH="316865" progId="Equation.3">
                      <p:embed/>
                    </p:oleObj>
                  </mc:Choice>
                  <mc:Fallback>
                    <p:oleObj r:id="rId7" imgW="215900" imgH="316865" progId="Equation.3">
                      <p:embed/>
                      <p:pic>
                        <p:nvPicPr>
                          <p:cNvPr id="0" name="图片 3209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216" y="1104"/>
                            <a:ext cx="296" cy="33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9188" name="Object 8"/>
              <p:cNvGraphicFramePr>
                <a:graphicFrameLocks noChangeAspect="1"/>
              </p:cNvGraphicFramePr>
              <p:nvPr/>
            </p:nvGraphicFramePr>
            <p:xfrm>
              <a:off x="3216" y="1440"/>
              <a:ext cx="296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80" r:id="rId9" imgW="215900" imgH="316865" progId="Equation.3">
                      <p:embed/>
                    </p:oleObj>
                  </mc:Choice>
                  <mc:Fallback>
                    <p:oleObj r:id="rId9" imgW="215900" imgH="316865" progId="Equation.3">
                      <p:embed/>
                      <p:pic>
                        <p:nvPicPr>
                          <p:cNvPr id="0" name="图片 3210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216" y="1440"/>
                            <a:ext cx="296" cy="33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9172" name="Group 9"/>
            <p:cNvGrpSpPr/>
            <p:nvPr/>
          </p:nvGrpSpPr>
          <p:grpSpPr>
            <a:xfrm>
              <a:off x="4704" y="768"/>
              <a:ext cx="288" cy="288"/>
              <a:chOff x="4752" y="672"/>
              <a:chExt cx="288" cy="288"/>
            </a:xfrm>
          </p:grpSpPr>
          <p:sp>
            <p:nvSpPr>
              <p:cNvPr id="49181" name="AutoShape 10"/>
              <p:cNvSpPr/>
              <p:nvPr/>
            </p:nvSpPr>
            <p:spPr>
              <a:xfrm>
                <a:off x="4752" y="672"/>
                <a:ext cx="288" cy="288"/>
              </a:xfrm>
              <a:prstGeom prst="wedgeRectCallout">
                <a:avLst>
                  <a:gd name="adj1" fmla="val -51042"/>
                  <a:gd name="adj2" fmla="val 211111"/>
                </a:avLst>
              </a:prstGeom>
              <a:gradFill rotWithShape="0">
                <a:gsLst>
                  <a:gs pos="0">
                    <a:srgbClr val="FCDCED"/>
                  </a:gs>
                  <a:gs pos="100000">
                    <a:srgbClr val="FFFFFF"/>
                  </a:gs>
                </a:gsLst>
                <a:lin ang="5400000" scaled="1"/>
                <a:tileRect/>
              </a:gradFill>
              <a:ln w="9525" cap="flat" cmpd="sng">
                <a:solidFill>
                  <a:srgbClr val="CC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 eaLnBrk="1" hangingPunct="1"/>
                <a:endParaRPr lang="zh-CN" altLang="zh-CN" sz="28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49182" name="Object 11"/>
              <p:cNvGraphicFramePr>
                <a:graphicFrameLocks noChangeAspect="1"/>
              </p:cNvGraphicFramePr>
              <p:nvPr/>
            </p:nvGraphicFramePr>
            <p:xfrm>
              <a:off x="4800" y="719"/>
              <a:ext cx="240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81" r:id="rId10" imgW="177800" imgH="190500" progId="Equation.3">
                      <p:embed/>
                    </p:oleObj>
                  </mc:Choice>
                  <mc:Fallback>
                    <p:oleObj r:id="rId10" imgW="177800" imgH="190500" progId="Equation.3">
                      <p:embed/>
                      <p:pic>
                        <p:nvPicPr>
                          <p:cNvPr id="0" name="图片 3211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4800" y="719"/>
                            <a:ext cx="240" cy="24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9173" name="Line 24"/>
            <p:cNvSpPr/>
            <p:nvPr/>
          </p:nvSpPr>
          <p:spPr>
            <a:xfrm>
              <a:off x="3840" y="720"/>
              <a:ext cx="0" cy="864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4" name="Line 25"/>
            <p:cNvSpPr/>
            <p:nvPr/>
          </p:nvSpPr>
          <p:spPr>
            <a:xfrm flipV="1">
              <a:off x="3936" y="768"/>
              <a:ext cx="0" cy="72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75" name="Line 26"/>
            <p:cNvSpPr/>
            <p:nvPr/>
          </p:nvSpPr>
          <p:spPr>
            <a:xfrm flipV="1">
              <a:off x="4032" y="768"/>
              <a:ext cx="0" cy="816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176" name="Group 27"/>
            <p:cNvGrpSpPr/>
            <p:nvPr/>
          </p:nvGrpSpPr>
          <p:grpSpPr>
            <a:xfrm>
              <a:off x="3840" y="1248"/>
              <a:ext cx="732" cy="576"/>
              <a:chOff x="3888" y="1248"/>
              <a:chExt cx="732" cy="576"/>
            </a:xfrm>
          </p:grpSpPr>
          <p:sp>
            <p:nvSpPr>
              <p:cNvPr id="49177" name="Line 28"/>
              <p:cNvSpPr/>
              <p:nvPr/>
            </p:nvSpPr>
            <p:spPr>
              <a:xfrm>
                <a:off x="3888" y="1488"/>
                <a:ext cx="720" cy="0"/>
              </a:xfrm>
              <a:prstGeom prst="line">
                <a:avLst/>
              </a:prstGeom>
              <a:ln w="19050" cap="flat" cmpd="sng">
                <a:solidFill>
                  <a:srgbClr val="CC0099"/>
                </a:solidFill>
                <a:prstDash val="dash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8" name="Line 29"/>
              <p:cNvSpPr/>
              <p:nvPr/>
            </p:nvSpPr>
            <p:spPr>
              <a:xfrm>
                <a:off x="4416" y="1248"/>
                <a:ext cx="0" cy="240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9" name="Line 30"/>
              <p:cNvSpPr/>
              <p:nvPr/>
            </p:nvSpPr>
            <p:spPr>
              <a:xfrm>
                <a:off x="4416" y="1584"/>
                <a:ext cx="0" cy="240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solid"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9180" name="Object 31"/>
              <p:cNvGraphicFramePr>
                <a:graphicFrameLocks noChangeAspect="1"/>
              </p:cNvGraphicFramePr>
              <p:nvPr/>
            </p:nvGraphicFramePr>
            <p:xfrm>
              <a:off x="4416" y="1536"/>
              <a:ext cx="204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82" r:id="rId12" imgW="190500" imgH="254000" progId="Equation.3">
                      <p:embed/>
                    </p:oleObj>
                  </mc:Choice>
                  <mc:Fallback>
                    <p:oleObj r:id="rId12" imgW="190500" imgH="254000" progId="Equation.3">
                      <p:embed/>
                      <p:pic>
                        <p:nvPicPr>
                          <p:cNvPr id="0" name="图片 3212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4416" y="1536"/>
                            <a:ext cx="204" cy="2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9157" name="Group 45"/>
          <p:cNvGrpSpPr/>
          <p:nvPr/>
        </p:nvGrpSpPr>
        <p:grpSpPr>
          <a:xfrm>
            <a:off x="685800" y="914400"/>
            <a:ext cx="2743200" cy="1295400"/>
            <a:chOff x="225" y="576"/>
            <a:chExt cx="1728" cy="816"/>
          </a:xfrm>
        </p:grpSpPr>
        <p:sp>
          <p:nvSpPr>
            <p:cNvPr id="49169" name="Rectangle 46"/>
            <p:cNvSpPr/>
            <p:nvPr/>
          </p:nvSpPr>
          <p:spPr>
            <a:xfrm>
              <a:off x="1344" y="624"/>
              <a:ext cx="551" cy="720"/>
            </a:xfrm>
            <a:prstGeom prst="rect">
              <a:avLst/>
            </a:prstGeom>
            <a:gradFill rotWithShape="0">
              <a:gsLst>
                <a:gs pos="0">
                  <a:srgbClr val="FCDCED"/>
                </a:gs>
                <a:gs pos="50000">
                  <a:srgbClr val="FFFFFF"/>
                </a:gs>
                <a:gs pos="100000">
                  <a:srgbClr val="FCDCED"/>
                </a:gs>
              </a:gsLst>
              <a:lin ang="5400000" scaled="1"/>
              <a:tileRect/>
            </a:gradFill>
            <a:ln w="12700" cap="flat" cmpd="sng">
              <a:solidFill>
                <a:srgbClr val="CC00CC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49170" name="Object 47"/>
            <p:cNvGraphicFramePr>
              <a:graphicFrameLocks noChangeAspect="1"/>
            </p:cNvGraphicFramePr>
            <p:nvPr/>
          </p:nvGraphicFramePr>
          <p:xfrm>
            <a:off x="225" y="576"/>
            <a:ext cx="1728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3" r:id="rId14" imgW="494030" imgH="220980" progId="Equation.3">
                    <p:embed/>
                  </p:oleObj>
                </mc:Choice>
                <mc:Fallback>
                  <p:oleObj r:id="rId14" imgW="494030" imgH="22098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5" y="576"/>
                          <a:ext cx="1728" cy="8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158" name="Group 48"/>
          <p:cNvGrpSpPr/>
          <p:nvPr/>
        </p:nvGrpSpPr>
        <p:grpSpPr>
          <a:xfrm>
            <a:off x="34925" y="3044825"/>
            <a:ext cx="914400" cy="914400"/>
            <a:chOff x="336" y="2448"/>
            <a:chExt cx="576" cy="576"/>
          </a:xfrm>
        </p:grpSpPr>
        <p:graphicFrame>
          <p:nvGraphicFramePr>
            <p:cNvPr id="49167" name="Object 49"/>
            <p:cNvGraphicFramePr>
              <a:graphicFrameLocks noChangeAspect="1"/>
            </p:cNvGraphicFramePr>
            <p:nvPr/>
          </p:nvGraphicFramePr>
          <p:xfrm>
            <a:off x="336" y="2496"/>
            <a:ext cx="444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4" r:id="rId16" imgW="254000" imgH="152400" progId="Equation.3">
                    <p:embed/>
                  </p:oleObj>
                </mc:Choice>
                <mc:Fallback>
                  <p:oleObj r:id="rId16" imgW="254000" imgH="152400" progId="Equation.3">
                    <p:embed/>
                    <p:pic>
                      <p:nvPicPr>
                        <p:cNvPr id="0" name="图片 3214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36" y="2496"/>
                          <a:ext cx="444" cy="3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8" name="AutoShape 50"/>
            <p:cNvSpPr/>
            <p:nvPr/>
          </p:nvSpPr>
          <p:spPr>
            <a:xfrm>
              <a:off x="816" y="2448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zh-CN" altLang="zh-CN" dirty="0">
                <a:latin typeface="Arial" panose="020B0604020202020204" pitchFamily="34" charset="0"/>
              </a:endParaRPr>
            </a:p>
          </p:txBody>
        </p:sp>
      </p:grpSp>
      <p:sp>
        <p:nvSpPr>
          <p:cNvPr id="49159" name="Text Box 52"/>
          <p:cNvSpPr txBox="1"/>
          <p:nvPr/>
        </p:nvSpPr>
        <p:spPr>
          <a:xfrm>
            <a:off x="3059113" y="115888"/>
            <a:ext cx="2971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劈尖干涉</a:t>
            </a:r>
          </a:p>
        </p:txBody>
      </p:sp>
      <p:grpSp>
        <p:nvGrpSpPr>
          <p:cNvPr id="49160" name="Group 68"/>
          <p:cNvGrpSpPr/>
          <p:nvPr/>
        </p:nvGrpSpPr>
        <p:grpSpPr>
          <a:xfrm>
            <a:off x="4705350" y="4437063"/>
            <a:ext cx="4572000" cy="2078037"/>
            <a:chOff x="3072" y="2352"/>
            <a:chExt cx="2880" cy="1309"/>
          </a:xfrm>
        </p:grpSpPr>
        <p:graphicFrame>
          <p:nvGraphicFramePr>
            <p:cNvPr id="49161" name="Object 22"/>
            <p:cNvGraphicFramePr>
              <a:graphicFrameLocks noChangeAspect="1"/>
            </p:cNvGraphicFramePr>
            <p:nvPr/>
          </p:nvGraphicFramePr>
          <p:xfrm>
            <a:off x="3072" y="2845"/>
            <a:ext cx="43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5" r:id="rId18" imgW="205105" imgH="115570" progId="Equation.3">
                    <p:embed/>
                  </p:oleObj>
                </mc:Choice>
                <mc:Fallback>
                  <p:oleObj r:id="rId18" imgW="205105" imgH="115570" progId="Equation.3">
                    <p:embed/>
                    <p:pic>
                      <p:nvPicPr>
                        <p:cNvPr id="0" name="图片 3215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72" y="2845"/>
                          <a:ext cx="432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2" name="Object 23"/>
            <p:cNvGraphicFramePr>
              <a:graphicFrameLocks noChangeAspect="1"/>
            </p:cNvGraphicFramePr>
            <p:nvPr/>
          </p:nvGraphicFramePr>
          <p:xfrm>
            <a:off x="3600" y="2352"/>
            <a:ext cx="960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6" r:id="rId20" imgW="651510" imgH="357505" progId="Equation.3">
                    <p:embed/>
                  </p:oleObj>
                </mc:Choice>
                <mc:Fallback>
                  <p:oleObj r:id="rId20" imgW="651510" imgH="357505" progId="Equation.3">
                    <p:embed/>
                    <p:pic>
                      <p:nvPicPr>
                        <p:cNvPr id="0" name="图片 3216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00" y="2352"/>
                          <a:ext cx="960" cy="6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3" name="Object 24"/>
            <p:cNvGraphicFramePr>
              <a:graphicFrameLocks noChangeAspect="1"/>
            </p:cNvGraphicFramePr>
            <p:nvPr/>
          </p:nvGraphicFramePr>
          <p:xfrm>
            <a:off x="3696" y="3312"/>
            <a:ext cx="720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7" r:id="rId22" imgW="404495" imgH="152400" progId="Equation.3">
                    <p:embed/>
                  </p:oleObj>
                </mc:Choice>
                <mc:Fallback>
                  <p:oleObj r:id="rId22" imgW="404495" imgH="152400" progId="Equation.3">
                    <p:embed/>
                    <p:pic>
                      <p:nvPicPr>
                        <p:cNvPr id="0" name="图片 3217"/>
                        <p:cNvPicPr/>
                        <p:nvPr/>
                      </p:nvPicPr>
                      <p:blipFill>
                        <a:blip r:embed="rId23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96" y="3312"/>
                          <a:ext cx="720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4" name="Text Box 25"/>
            <p:cNvSpPr txBox="1"/>
            <p:nvPr/>
          </p:nvSpPr>
          <p:spPr>
            <a:xfrm>
              <a:off x="4534" y="2470"/>
              <a:ext cx="141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（明纹）</a:t>
              </a:r>
            </a:p>
          </p:txBody>
        </p:sp>
        <p:sp>
          <p:nvSpPr>
            <p:cNvPr id="49165" name="Text Box 26"/>
            <p:cNvSpPr txBox="1"/>
            <p:nvPr/>
          </p:nvSpPr>
          <p:spPr>
            <a:xfrm>
              <a:off x="4512" y="3277"/>
              <a:ext cx="1263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（暗纹）</a:t>
              </a:r>
            </a:p>
          </p:txBody>
        </p:sp>
        <p:sp>
          <p:nvSpPr>
            <p:cNvPr id="49166" name="AutoShape 27"/>
            <p:cNvSpPr/>
            <p:nvPr/>
          </p:nvSpPr>
          <p:spPr>
            <a:xfrm>
              <a:off x="3511" y="2591"/>
              <a:ext cx="89" cy="878"/>
            </a:xfrm>
            <a:prstGeom prst="leftBrace">
              <a:avLst>
                <a:gd name="adj1" fmla="val 82209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5"/>
          <p:cNvSpPr txBox="1"/>
          <p:nvPr/>
        </p:nvSpPr>
        <p:spPr>
          <a:xfrm>
            <a:off x="4343400" y="6262688"/>
            <a:ext cx="2819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zh-CN" altLang="zh-CN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0179" name="Object 0"/>
          <p:cNvGraphicFramePr>
            <a:graphicFrameLocks noChangeAspect="1"/>
          </p:cNvGraphicFramePr>
          <p:nvPr/>
        </p:nvGraphicFramePr>
        <p:xfrm>
          <a:off x="5335588" y="3803650"/>
          <a:ext cx="3636962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6" r:id="rId3" imgW="751205" imgH="205105" progId="Equation.3">
                  <p:embed/>
                </p:oleObj>
              </mc:Choice>
              <mc:Fallback>
                <p:oleObj r:id="rId3" imgW="751205" imgH="205105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35588" y="3803650"/>
                        <a:ext cx="3636962" cy="1209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0" name="Text Box 7"/>
          <p:cNvSpPr txBox="1"/>
          <p:nvPr/>
        </p:nvSpPr>
        <p:spPr>
          <a:xfrm>
            <a:off x="4953000" y="2578100"/>
            <a:ext cx="41910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相邻明纹（暗纹）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间的厚度差</a:t>
            </a:r>
          </a:p>
        </p:txBody>
      </p:sp>
      <p:grpSp>
        <p:nvGrpSpPr>
          <p:cNvPr id="50181" name="Group 100"/>
          <p:cNvGrpSpPr/>
          <p:nvPr/>
        </p:nvGrpSpPr>
        <p:grpSpPr>
          <a:xfrm>
            <a:off x="762000" y="1066800"/>
            <a:ext cx="4038600" cy="5113338"/>
            <a:chOff x="480" y="672"/>
            <a:chExt cx="2544" cy="3221"/>
          </a:xfrm>
        </p:grpSpPr>
        <p:sp>
          <p:nvSpPr>
            <p:cNvPr id="50188" name="Rectangle 54"/>
            <p:cNvSpPr/>
            <p:nvPr/>
          </p:nvSpPr>
          <p:spPr>
            <a:xfrm>
              <a:off x="480" y="672"/>
              <a:ext cx="2544" cy="317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0189" name="Line 55"/>
            <p:cNvSpPr/>
            <p:nvPr/>
          </p:nvSpPr>
          <p:spPr>
            <a:xfrm>
              <a:off x="703" y="2510"/>
              <a:ext cx="1867" cy="0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0" name="Line 56"/>
            <p:cNvSpPr/>
            <p:nvPr/>
          </p:nvSpPr>
          <p:spPr>
            <a:xfrm flipV="1">
              <a:off x="703" y="1506"/>
              <a:ext cx="1867" cy="1004"/>
            </a:xfrm>
            <a:prstGeom prst="line">
              <a:avLst/>
            </a:prstGeom>
            <a:ln w="38100" cap="flat" cmpd="sng">
              <a:solidFill>
                <a:srgbClr val="6633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0191" name="Object 2"/>
            <p:cNvGraphicFramePr>
              <a:graphicFrameLocks noChangeAspect="1"/>
            </p:cNvGraphicFramePr>
            <p:nvPr/>
          </p:nvGraphicFramePr>
          <p:xfrm>
            <a:off x="1155" y="2352"/>
            <a:ext cx="107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7" r:id="rId5" imgW="177800" imgH="241300" progId="Equation.3">
                    <p:embed/>
                  </p:oleObj>
                </mc:Choice>
                <mc:Fallback>
                  <p:oleObj r:id="rId5" imgW="177800" imgH="241300" progId="Equation.3">
                    <p:embed/>
                    <p:pic>
                      <p:nvPicPr>
                        <p:cNvPr id="0" name="图片 321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55" y="2352"/>
                          <a:ext cx="107" cy="1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92" name="Line 58"/>
            <p:cNvSpPr/>
            <p:nvPr/>
          </p:nvSpPr>
          <p:spPr>
            <a:xfrm>
              <a:off x="2570" y="2510"/>
              <a:ext cx="320" cy="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3" name="Line 59"/>
            <p:cNvSpPr/>
            <p:nvPr/>
          </p:nvSpPr>
          <p:spPr>
            <a:xfrm>
              <a:off x="2578" y="1524"/>
              <a:ext cx="31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4" name="Line 60"/>
            <p:cNvSpPr/>
            <p:nvPr/>
          </p:nvSpPr>
          <p:spPr>
            <a:xfrm>
              <a:off x="703" y="2510"/>
              <a:ext cx="0" cy="33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5" name="Line 61"/>
            <p:cNvSpPr/>
            <p:nvPr/>
          </p:nvSpPr>
          <p:spPr>
            <a:xfrm>
              <a:off x="2570" y="2510"/>
              <a:ext cx="0" cy="33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Line 62"/>
            <p:cNvSpPr/>
            <p:nvPr/>
          </p:nvSpPr>
          <p:spPr>
            <a:xfrm>
              <a:off x="703" y="2678"/>
              <a:ext cx="1867" cy="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dash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0197" name="Object 3"/>
            <p:cNvGraphicFramePr>
              <a:graphicFrameLocks noChangeAspect="1"/>
            </p:cNvGraphicFramePr>
            <p:nvPr/>
          </p:nvGraphicFramePr>
          <p:xfrm>
            <a:off x="1523" y="2558"/>
            <a:ext cx="134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8" r:id="rId7" imgW="190500" imgH="228600" progId="Equation.3">
                    <p:embed/>
                  </p:oleObj>
                </mc:Choice>
                <mc:Fallback>
                  <p:oleObj r:id="rId7" imgW="190500" imgH="228600" progId="Equation.3">
                    <p:embed/>
                    <p:pic>
                      <p:nvPicPr>
                        <p:cNvPr id="0" name="图片 322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23" y="2558"/>
                          <a:ext cx="134" cy="19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98" name="Object 4"/>
            <p:cNvGraphicFramePr>
              <a:graphicFrameLocks noChangeAspect="1"/>
            </p:cNvGraphicFramePr>
            <p:nvPr/>
          </p:nvGraphicFramePr>
          <p:xfrm>
            <a:off x="2403" y="1648"/>
            <a:ext cx="353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9" r:id="rId9" imgW="127000" imgH="139700" progId="Equation.3">
                    <p:embed/>
                  </p:oleObj>
                </mc:Choice>
                <mc:Fallback>
                  <p:oleObj r:id="rId9" imgW="127000" imgH="139700" progId="Equation.3">
                    <p:embed/>
                    <p:pic>
                      <p:nvPicPr>
                        <p:cNvPr id="0" name="图片 322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03" y="1648"/>
                          <a:ext cx="353" cy="2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99" name="Object 5"/>
            <p:cNvGraphicFramePr>
              <a:graphicFrameLocks noChangeAspect="1"/>
            </p:cNvGraphicFramePr>
            <p:nvPr/>
          </p:nvGraphicFramePr>
          <p:xfrm>
            <a:off x="2616" y="2454"/>
            <a:ext cx="229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0" r:id="rId11" imgW="165100" imgH="228600" progId="Equation.3">
                    <p:embed/>
                  </p:oleObj>
                </mc:Choice>
                <mc:Fallback>
                  <p:oleObj r:id="rId11" imgW="165100" imgH="228600" progId="Equation.3">
                    <p:embed/>
                    <p:pic>
                      <p:nvPicPr>
                        <p:cNvPr id="0" name="图片 322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616" y="2454"/>
                          <a:ext cx="229" cy="3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00" name="Line 66"/>
            <p:cNvSpPr/>
            <p:nvPr/>
          </p:nvSpPr>
          <p:spPr>
            <a:xfrm>
              <a:off x="2712" y="1524"/>
              <a:ext cx="0" cy="994"/>
            </a:xfrm>
            <a:prstGeom prst="line">
              <a:avLst/>
            </a:prstGeom>
            <a:ln w="19050" cap="flat" cmpd="sng">
              <a:solidFill>
                <a:srgbClr val="CC00CC"/>
              </a:solidFill>
              <a:prstDash val="dash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0201" name="Object 6"/>
            <p:cNvGraphicFramePr>
              <a:graphicFrameLocks noChangeAspect="1"/>
            </p:cNvGraphicFramePr>
            <p:nvPr/>
          </p:nvGraphicFramePr>
          <p:xfrm>
            <a:off x="2729" y="1968"/>
            <a:ext cx="19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1" r:id="rId13" imgW="241300" imgH="228600" progId="Equation.3">
                    <p:embed/>
                  </p:oleObj>
                </mc:Choice>
                <mc:Fallback>
                  <p:oleObj r:id="rId13" imgW="241300" imgH="228600" progId="Equation.3">
                    <p:embed/>
                    <p:pic>
                      <p:nvPicPr>
                        <p:cNvPr id="0" name="图片 322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729" y="1968"/>
                          <a:ext cx="191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36" name="Text Box 68"/>
            <p:cNvSpPr txBox="1">
              <a:spLocks noChangeArrowheads="1"/>
            </p:cNvSpPr>
            <p:nvPr/>
          </p:nvSpPr>
          <p:spPr bwMode="auto">
            <a:xfrm>
              <a:off x="480" y="3560"/>
              <a:ext cx="2544" cy="33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2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marR="0" algn="ctr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800" kern="1200" cap="none" spc="0" normalizeH="0" baseline="0" noProof="0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劈尖干涉</a:t>
              </a:r>
            </a:p>
          </p:txBody>
        </p:sp>
        <p:graphicFrame>
          <p:nvGraphicFramePr>
            <p:cNvPr id="50203" name="Object 7"/>
            <p:cNvGraphicFramePr>
              <a:graphicFrameLocks noChangeAspect="1"/>
            </p:cNvGraphicFramePr>
            <p:nvPr/>
          </p:nvGraphicFramePr>
          <p:xfrm>
            <a:off x="2087" y="956"/>
            <a:ext cx="638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2" r:id="rId15" imgW="231140" imgH="99695" progId="Equation.3">
                    <p:embed/>
                  </p:oleObj>
                </mc:Choice>
                <mc:Fallback>
                  <p:oleObj r:id="rId15" imgW="231140" imgH="99695" progId="Equation.3">
                    <p:embed/>
                    <p:pic>
                      <p:nvPicPr>
                        <p:cNvPr id="0" name="图片 3224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87" y="956"/>
                          <a:ext cx="638" cy="34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204" name="Group 70"/>
            <p:cNvGrpSpPr/>
            <p:nvPr/>
          </p:nvGrpSpPr>
          <p:grpSpPr>
            <a:xfrm>
              <a:off x="720" y="1097"/>
              <a:ext cx="1275" cy="1394"/>
              <a:chOff x="528" y="1074"/>
              <a:chExt cx="1371" cy="1414"/>
            </a:xfrm>
          </p:grpSpPr>
          <p:sp>
            <p:nvSpPr>
              <p:cNvPr id="50224" name="Line 71"/>
              <p:cNvSpPr/>
              <p:nvPr/>
            </p:nvSpPr>
            <p:spPr>
              <a:xfrm flipV="1">
                <a:off x="871" y="1074"/>
                <a:ext cx="0" cy="141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5" name="Line 72"/>
              <p:cNvSpPr/>
              <p:nvPr/>
            </p:nvSpPr>
            <p:spPr>
              <a:xfrm flipV="1">
                <a:off x="1214" y="1074"/>
                <a:ext cx="0" cy="141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6" name="Line 73"/>
              <p:cNvSpPr/>
              <p:nvPr/>
            </p:nvSpPr>
            <p:spPr>
              <a:xfrm flipV="1">
                <a:off x="1557" y="1074"/>
                <a:ext cx="0" cy="141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7" name="Line 74"/>
              <p:cNvSpPr/>
              <p:nvPr/>
            </p:nvSpPr>
            <p:spPr>
              <a:xfrm flipV="1">
                <a:off x="1899" y="1074"/>
                <a:ext cx="0" cy="141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8" name="Line 75"/>
              <p:cNvSpPr/>
              <p:nvPr/>
            </p:nvSpPr>
            <p:spPr>
              <a:xfrm>
                <a:off x="871" y="1356"/>
                <a:ext cx="0" cy="39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29" name="Line 76"/>
              <p:cNvSpPr/>
              <p:nvPr/>
            </p:nvSpPr>
            <p:spPr>
              <a:xfrm>
                <a:off x="1899" y="1356"/>
                <a:ext cx="0" cy="39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30" name="Line 77"/>
              <p:cNvSpPr/>
              <p:nvPr/>
            </p:nvSpPr>
            <p:spPr>
              <a:xfrm>
                <a:off x="1557" y="1356"/>
                <a:ext cx="0" cy="39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31" name="Line 78"/>
              <p:cNvSpPr/>
              <p:nvPr/>
            </p:nvSpPr>
            <p:spPr>
              <a:xfrm>
                <a:off x="1214" y="1356"/>
                <a:ext cx="0" cy="39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32" name="Line 79"/>
              <p:cNvSpPr/>
              <p:nvPr/>
            </p:nvSpPr>
            <p:spPr>
              <a:xfrm flipV="1">
                <a:off x="528" y="1074"/>
                <a:ext cx="0" cy="1414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33" name="Line 80"/>
              <p:cNvSpPr/>
              <p:nvPr/>
            </p:nvSpPr>
            <p:spPr>
              <a:xfrm>
                <a:off x="528" y="1356"/>
                <a:ext cx="0" cy="39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0205" name="Group 81"/>
            <p:cNvGrpSpPr/>
            <p:nvPr/>
          </p:nvGrpSpPr>
          <p:grpSpPr>
            <a:xfrm>
              <a:off x="699" y="2778"/>
              <a:ext cx="1971" cy="294"/>
              <a:chOff x="768" y="1968"/>
              <a:chExt cx="2016" cy="384"/>
            </a:xfrm>
          </p:grpSpPr>
          <p:sp>
            <p:nvSpPr>
              <p:cNvPr id="50220" name="Rectangle 82"/>
              <p:cNvSpPr/>
              <p:nvPr/>
            </p:nvSpPr>
            <p:spPr>
              <a:xfrm>
                <a:off x="768" y="1968"/>
                <a:ext cx="672" cy="384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CCCC00"/>
                  </a:gs>
                  <a:gs pos="100000">
                    <a:srgbClr val="00000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221" name="Rectangle 83"/>
              <p:cNvSpPr/>
              <p:nvPr/>
            </p:nvSpPr>
            <p:spPr>
              <a:xfrm>
                <a:off x="1440" y="1968"/>
                <a:ext cx="672" cy="384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CCCC00"/>
                  </a:gs>
                  <a:gs pos="100000">
                    <a:srgbClr val="00000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222" name="Rectangle 84"/>
              <p:cNvSpPr/>
              <p:nvPr/>
            </p:nvSpPr>
            <p:spPr>
              <a:xfrm>
                <a:off x="1440" y="1968"/>
                <a:ext cx="672" cy="384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CCCC00"/>
                  </a:gs>
                  <a:gs pos="100000">
                    <a:srgbClr val="00000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0223" name="Rectangle 85"/>
              <p:cNvSpPr/>
              <p:nvPr/>
            </p:nvSpPr>
            <p:spPr>
              <a:xfrm>
                <a:off x="2112" y="1968"/>
                <a:ext cx="672" cy="384"/>
              </a:xfrm>
              <a:prstGeom prst="rect">
                <a:avLst/>
              </a:prstGeom>
              <a:gradFill rotWithShape="0">
                <a:gsLst>
                  <a:gs pos="0">
                    <a:srgbClr val="000000"/>
                  </a:gs>
                  <a:gs pos="50000">
                    <a:srgbClr val="CCCC00"/>
                  </a:gs>
                  <a:gs pos="100000">
                    <a:srgbClr val="00000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0206" name="Group 86"/>
            <p:cNvGrpSpPr/>
            <p:nvPr/>
          </p:nvGrpSpPr>
          <p:grpSpPr>
            <a:xfrm>
              <a:off x="1017" y="1043"/>
              <a:ext cx="663" cy="2272"/>
              <a:chOff x="871" y="1008"/>
              <a:chExt cx="713" cy="2304"/>
            </a:xfrm>
          </p:grpSpPr>
          <p:grpSp>
            <p:nvGrpSpPr>
              <p:cNvPr id="50214" name="Group 87"/>
              <p:cNvGrpSpPr/>
              <p:nvPr/>
            </p:nvGrpSpPr>
            <p:grpSpPr>
              <a:xfrm>
                <a:off x="871" y="1008"/>
                <a:ext cx="686" cy="292"/>
                <a:chOff x="871" y="960"/>
                <a:chExt cx="686" cy="340"/>
              </a:xfrm>
            </p:grpSpPr>
            <p:sp>
              <p:nvSpPr>
                <p:cNvPr id="50218" name="Line 88"/>
                <p:cNvSpPr/>
                <p:nvPr/>
              </p:nvSpPr>
              <p:spPr>
                <a:xfrm>
                  <a:off x="871" y="1300"/>
                  <a:ext cx="686" cy="0"/>
                </a:xfrm>
                <a:prstGeom prst="line">
                  <a:avLst/>
                </a:prstGeom>
                <a:ln w="19050" cap="flat" cmpd="sng">
                  <a:solidFill>
                    <a:srgbClr val="CC00CC"/>
                  </a:solidFill>
                  <a:prstDash val="dash"/>
                  <a:headEnd type="triangl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0219" name="Object 10"/>
                <p:cNvGraphicFramePr>
                  <a:graphicFrameLocks noChangeAspect="1"/>
                </p:cNvGraphicFramePr>
                <p:nvPr/>
              </p:nvGraphicFramePr>
              <p:xfrm>
                <a:off x="1056" y="960"/>
                <a:ext cx="240" cy="29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813" r:id="rId17" imgW="165100" imgH="254000" progId="Equation.3">
                        <p:embed/>
                      </p:oleObj>
                    </mc:Choice>
                    <mc:Fallback>
                      <p:oleObj r:id="rId17" imgW="165100" imgH="254000" progId="Equation.3">
                        <p:embed/>
                        <p:pic>
                          <p:nvPicPr>
                            <p:cNvPr id="0" name="图片 3225"/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56" y="960"/>
                              <a:ext cx="240" cy="293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50215" name="Group 90"/>
              <p:cNvGrpSpPr/>
              <p:nvPr/>
            </p:nvGrpSpPr>
            <p:grpSpPr>
              <a:xfrm>
                <a:off x="898" y="2928"/>
                <a:ext cx="686" cy="384"/>
                <a:chOff x="898" y="2928"/>
                <a:chExt cx="686" cy="432"/>
              </a:xfrm>
            </p:grpSpPr>
            <p:sp>
              <p:nvSpPr>
                <p:cNvPr id="50216" name="Line 91"/>
                <p:cNvSpPr/>
                <p:nvPr/>
              </p:nvSpPr>
              <p:spPr>
                <a:xfrm>
                  <a:off x="898" y="2928"/>
                  <a:ext cx="686" cy="0"/>
                </a:xfrm>
                <a:prstGeom prst="line">
                  <a:avLst/>
                </a:prstGeom>
                <a:ln w="19050" cap="flat" cmpd="sng">
                  <a:solidFill>
                    <a:srgbClr val="FF3300"/>
                  </a:solidFill>
                  <a:prstDash val="dash"/>
                  <a:headEnd type="triangl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0217" name="Object 9"/>
                <p:cNvGraphicFramePr>
                  <a:graphicFrameLocks noChangeAspect="1"/>
                </p:cNvGraphicFramePr>
                <p:nvPr/>
              </p:nvGraphicFramePr>
              <p:xfrm>
                <a:off x="1152" y="3072"/>
                <a:ext cx="18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814" r:id="rId19" imgW="165100" imgH="254000" progId="Equation.3">
                        <p:embed/>
                      </p:oleObj>
                    </mc:Choice>
                    <mc:Fallback>
                      <p:oleObj r:id="rId19" imgW="165100" imgH="254000" progId="Equation.3">
                        <p:embed/>
                        <p:pic>
                          <p:nvPicPr>
                            <p:cNvPr id="0" name="图片 3226"/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52" y="3072"/>
                              <a:ext cx="18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50207" name="Group 93"/>
            <p:cNvGrpSpPr/>
            <p:nvPr/>
          </p:nvGrpSpPr>
          <p:grpSpPr>
            <a:xfrm>
              <a:off x="2160" y="1968"/>
              <a:ext cx="384" cy="426"/>
              <a:chOff x="2160" y="1968"/>
              <a:chExt cx="384" cy="426"/>
            </a:xfrm>
          </p:grpSpPr>
          <p:sp>
            <p:nvSpPr>
              <p:cNvPr id="50212" name="Line 94"/>
              <p:cNvSpPr/>
              <p:nvPr/>
            </p:nvSpPr>
            <p:spPr>
              <a:xfrm>
                <a:off x="2160" y="1968"/>
                <a:ext cx="0" cy="401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dash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0213" name="Object 8"/>
              <p:cNvGraphicFramePr>
                <a:graphicFrameLocks noChangeAspect="1"/>
              </p:cNvGraphicFramePr>
              <p:nvPr/>
            </p:nvGraphicFramePr>
            <p:xfrm>
              <a:off x="2184" y="2079"/>
              <a:ext cx="360" cy="3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815" r:id="rId20" imgW="381000" imgH="228600" progId="Equation.3">
                      <p:embed/>
                    </p:oleObj>
                  </mc:Choice>
                  <mc:Fallback>
                    <p:oleObj r:id="rId20" imgW="381000" imgH="228600" progId="Equation.3">
                      <p:embed/>
                      <p:pic>
                        <p:nvPicPr>
                          <p:cNvPr id="0" name="图片 3227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2184" y="2079"/>
                            <a:ext cx="360" cy="31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0208" name="Line 96"/>
            <p:cNvSpPr/>
            <p:nvPr/>
          </p:nvSpPr>
          <p:spPr>
            <a:xfrm flipV="1">
              <a:off x="1098" y="2331"/>
              <a:ext cx="1517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9" name="Line 97"/>
            <p:cNvSpPr/>
            <p:nvPr/>
          </p:nvSpPr>
          <p:spPr>
            <a:xfrm>
              <a:off x="1379" y="2154"/>
              <a:ext cx="1183" cy="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0" name="Line 98"/>
            <p:cNvSpPr/>
            <p:nvPr/>
          </p:nvSpPr>
          <p:spPr>
            <a:xfrm>
              <a:off x="1698" y="1987"/>
              <a:ext cx="955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1" name="Line 99"/>
            <p:cNvSpPr/>
            <p:nvPr/>
          </p:nvSpPr>
          <p:spPr>
            <a:xfrm>
              <a:off x="2035" y="1834"/>
              <a:ext cx="638" cy="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82" name="Text Box 102"/>
          <p:cNvSpPr txBox="1"/>
          <p:nvPr/>
        </p:nvSpPr>
        <p:spPr>
          <a:xfrm>
            <a:off x="2627313" y="115888"/>
            <a:ext cx="41052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劈尖干涉讨论</a:t>
            </a:r>
          </a:p>
        </p:txBody>
      </p:sp>
      <p:sp>
        <p:nvSpPr>
          <p:cNvPr id="50183" name="Text Box 103"/>
          <p:cNvSpPr txBox="1"/>
          <p:nvPr/>
        </p:nvSpPr>
        <p:spPr>
          <a:xfrm>
            <a:off x="4876800" y="5153025"/>
            <a:ext cx="2743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条纹间距</a:t>
            </a:r>
          </a:p>
        </p:txBody>
      </p:sp>
      <p:graphicFrame>
        <p:nvGraphicFramePr>
          <p:cNvPr id="50184" name="Object 1"/>
          <p:cNvGraphicFramePr>
            <a:graphicFrameLocks noChangeAspect="1"/>
          </p:cNvGraphicFramePr>
          <p:nvPr/>
        </p:nvGraphicFramePr>
        <p:xfrm>
          <a:off x="5653088" y="5729288"/>
          <a:ext cx="12509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6" r:id="rId22" imgW="325755" imgH="205105" progId="Equation.3">
                  <p:embed/>
                </p:oleObj>
              </mc:Choice>
              <mc:Fallback>
                <p:oleObj r:id="rId22" imgW="325755" imgH="205105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53088" y="5729288"/>
                        <a:ext cx="1250950" cy="1012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64"/>
          <p:cNvGraphicFramePr>
            <a:graphicFrameLocks noChangeAspect="1"/>
          </p:cNvGraphicFramePr>
          <p:nvPr/>
        </p:nvGraphicFramePr>
        <p:xfrm>
          <a:off x="5224463" y="1625600"/>
          <a:ext cx="11176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7" r:id="rId24" imgW="375920" imgH="347345" progId="Equation.3">
                  <p:embed/>
                </p:oleObj>
              </mc:Choice>
              <mc:Fallback>
                <p:oleObj r:id="rId24" imgW="375920" imgH="347345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224463" y="1625600"/>
                        <a:ext cx="1117600" cy="1111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Text Box 63"/>
          <p:cNvSpPr txBox="1"/>
          <p:nvPr/>
        </p:nvSpPr>
        <p:spPr>
          <a:xfrm>
            <a:off x="4953000" y="922338"/>
            <a:ext cx="4114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棱边处</a:t>
            </a:r>
          </a:p>
        </p:txBody>
      </p:sp>
      <p:sp>
        <p:nvSpPr>
          <p:cNvPr id="50187" name="Rectangle 66"/>
          <p:cNvSpPr/>
          <p:nvPr/>
        </p:nvSpPr>
        <p:spPr>
          <a:xfrm>
            <a:off x="6324600" y="1836738"/>
            <a:ext cx="2133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为暗纹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/>
          <p:nvPr/>
        </p:nvSpPr>
        <p:spPr>
          <a:xfrm>
            <a:off x="539750" y="1020763"/>
            <a:ext cx="4800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fontAlgn="t" hangingPunct="1">
              <a:spcBef>
                <a:spcPct val="50000"/>
              </a:spcBef>
            </a:pPr>
            <a:r>
              <a:rPr lang="en-US" altLang="zh-CN" dirty="0">
                <a:solidFill>
                  <a:srgbClr val="07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4 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干涉条纹的移动</a:t>
            </a:r>
          </a:p>
        </p:txBody>
      </p:sp>
      <p:sp>
        <p:nvSpPr>
          <p:cNvPr id="51203" name="Text Box 6"/>
          <p:cNvSpPr txBox="1"/>
          <p:nvPr/>
        </p:nvSpPr>
        <p:spPr>
          <a:xfrm>
            <a:off x="2627313" y="115888"/>
            <a:ext cx="41052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</a:rPr>
              <a:t>劈尖干涉讨论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300788" y="2205038"/>
            <a:ext cx="2808288" cy="1938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sz="2400" kern="1200" cap="none" spc="0" normalizeH="0" baseline="0" noProof="0" dirty="0">
                <a:latin typeface="+mn-ea"/>
                <a:ea typeface="+mn-ea"/>
                <a:cs typeface="+mn-cs"/>
              </a:rPr>
              <a:t>光程差每改变一个波长，条纹就移过一条，如果条纹移过了</a:t>
            </a:r>
            <a:r>
              <a:rPr kumimoji="0" lang="en-US" altLang="zh-CN" sz="2400" kern="1200" cap="none" spc="0" normalizeH="0" baseline="0" noProof="0" dirty="0">
                <a:latin typeface="+mn-ea"/>
                <a:ea typeface="+mn-ea"/>
                <a:cs typeface="+mn-cs"/>
              </a:rPr>
              <a:t>N</a:t>
            </a:r>
            <a:r>
              <a:rPr kumimoji="0" lang="zh-CN" altLang="en-US" sz="2400" kern="1200" cap="none" spc="0" normalizeH="0" baseline="0" noProof="0" dirty="0">
                <a:latin typeface="+mn-ea"/>
                <a:ea typeface="+mn-ea"/>
                <a:cs typeface="+mn-cs"/>
              </a:rPr>
              <a:t>条，说明光程差改变了</a:t>
            </a:r>
            <a:r>
              <a:rPr kumimoji="0" lang="en-US" altLang="zh-CN" sz="2400" kern="1200" cap="none" spc="0" normalizeH="0" baseline="0" noProof="0" dirty="0">
                <a:latin typeface="+mn-ea"/>
                <a:ea typeface="+mn-ea"/>
                <a:cs typeface="+mn-cs"/>
              </a:rPr>
              <a:t>N</a:t>
            </a:r>
            <a:r>
              <a:rPr kumimoji="0" lang="zh-CN" altLang="en-US" sz="2400" kern="1200" cap="none" spc="0" normalizeH="0" baseline="0" noProof="0" dirty="0">
                <a:latin typeface="+mn-ea"/>
                <a:ea typeface="+mn-ea"/>
                <a:cs typeface="+mn-cs"/>
              </a:rPr>
              <a:t>个波长</a:t>
            </a:r>
          </a:p>
        </p:txBody>
      </p:sp>
      <p:sp>
        <p:nvSpPr>
          <p:cNvPr id="51206" name="文本框 2"/>
          <p:cNvSpPr txBox="1"/>
          <p:nvPr/>
        </p:nvSpPr>
        <p:spPr>
          <a:xfrm>
            <a:off x="6659563" y="4724400"/>
            <a:ext cx="1284287" cy="431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</a:rPr>
              <a:t>N</a:t>
            </a:r>
            <a:r>
              <a:rPr lang="zh-CN" altLang="en-US" sz="2800" dirty="0">
                <a:latin typeface="Cambria Math" panose="02040503050406030204" pitchFamily="18" charset="0"/>
              </a:rPr>
              <a:t>𝞴</a:t>
            </a:r>
            <a:r>
              <a:rPr lang="en-US" altLang="zh-CN" sz="2800" dirty="0">
                <a:latin typeface="Cambria Math" panose="02040503050406030204" pitchFamily="18" charset="0"/>
              </a:rPr>
              <a:t>=2</a:t>
            </a:r>
            <a:r>
              <a:rPr lang="zh-CN" altLang="en-US" sz="2800" dirty="0">
                <a:latin typeface="Cambria Math" panose="02040503050406030204" pitchFamily="18" charset="0"/>
              </a:rPr>
              <a:t>𝞓</a:t>
            </a:r>
            <a:r>
              <a:rPr lang="en-US" altLang="zh-CN" sz="2800" i="1" dirty="0">
                <a:latin typeface="Cambria Math" panose="02040503050406030204" pitchFamily="18" charset="0"/>
              </a:rPr>
              <a:t>l</a:t>
            </a:r>
            <a:endParaRPr lang="zh-CN" altLang="en-US" sz="2800" i="1" dirty="0">
              <a:latin typeface="Arial" panose="020B060402020202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32775" name="ShockwaveFlash1" r:id="rId2" imgW="5257800" imgH="4419720"/>
        </mc:Choice>
        <mc:Fallback>
          <p:control name="ShockwaveFlash1" r:id="rId2" imgW="5257800" imgH="4419720">
            <p:pic>
              <p:nvPicPr>
                <p:cNvPr id="3" name="ShockwaveFlash1"/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50" y="1752600"/>
                  <a:ext cx="5257800" cy="4419600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/>
          <p:nvPr/>
        </p:nvSpPr>
        <p:spPr>
          <a:xfrm>
            <a:off x="685800" y="990600"/>
            <a:ext cx="3962400" cy="51816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66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2531" name="Group 4"/>
          <p:cNvGrpSpPr/>
          <p:nvPr/>
        </p:nvGrpSpPr>
        <p:grpSpPr>
          <a:xfrm>
            <a:off x="1981200" y="1290638"/>
            <a:ext cx="1600200" cy="901700"/>
            <a:chOff x="1008" y="672"/>
            <a:chExt cx="1008" cy="576"/>
          </a:xfrm>
        </p:grpSpPr>
        <p:sp>
          <p:nvSpPr>
            <p:cNvPr id="22573" name="Line 5"/>
            <p:cNvSpPr/>
            <p:nvPr/>
          </p:nvSpPr>
          <p:spPr>
            <a:xfrm>
              <a:off x="1008" y="672"/>
              <a:ext cx="0" cy="57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4" name="Line 6"/>
            <p:cNvSpPr/>
            <p:nvPr/>
          </p:nvSpPr>
          <p:spPr>
            <a:xfrm>
              <a:off x="1776" y="672"/>
              <a:ext cx="0" cy="57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5" name="Line 7"/>
            <p:cNvSpPr/>
            <p:nvPr/>
          </p:nvSpPr>
          <p:spPr>
            <a:xfrm>
              <a:off x="2016" y="672"/>
              <a:ext cx="0" cy="57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6" name="Line 8"/>
            <p:cNvSpPr/>
            <p:nvPr/>
          </p:nvSpPr>
          <p:spPr>
            <a:xfrm>
              <a:off x="1488" y="672"/>
              <a:ext cx="0" cy="57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7" name="Line 9"/>
            <p:cNvSpPr/>
            <p:nvPr/>
          </p:nvSpPr>
          <p:spPr>
            <a:xfrm>
              <a:off x="1248" y="672"/>
              <a:ext cx="0" cy="576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32" name="Line 10"/>
          <p:cNvSpPr/>
          <p:nvPr/>
        </p:nvSpPr>
        <p:spPr>
          <a:xfrm>
            <a:off x="1981200" y="1141413"/>
            <a:ext cx="0" cy="1125537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3" name="Line 11"/>
          <p:cNvSpPr/>
          <p:nvPr/>
        </p:nvSpPr>
        <p:spPr>
          <a:xfrm>
            <a:off x="3200400" y="1141413"/>
            <a:ext cx="0" cy="1125537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4" name="Line 12"/>
          <p:cNvSpPr/>
          <p:nvPr/>
        </p:nvSpPr>
        <p:spPr>
          <a:xfrm>
            <a:off x="3581400" y="1141413"/>
            <a:ext cx="0" cy="1125537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5" name="Line 13"/>
          <p:cNvSpPr/>
          <p:nvPr/>
        </p:nvSpPr>
        <p:spPr>
          <a:xfrm>
            <a:off x="2743200" y="1141413"/>
            <a:ext cx="0" cy="1125537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6" name="Line 14"/>
          <p:cNvSpPr/>
          <p:nvPr/>
        </p:nvSpPr>
        <p:spPr>
          <a:xfrm>
            <a:off x="2362200" y="1141413"/>
            <a:ext cx="0" cy="1125537"/>
          </a:xfrm>
          <a:prstGeom prst="line">
            <a:avLst/>
          </a:prstGeom>
          <a:ln w="28575" cap="flat" cmpd="sng">
            <a:solidFill>
              <a:srgbClr val="FF6600"/>
            </a:solidFill>
            <a:prstDash val="solid"/>
            <a:headEnd type="non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7" name="AutoShape 15"/>
          <p:cNvSpPr/>
          <p:nvPr/>
        </p:nvSpPr>
        <p:spPr>
          <a:xfrm rot="5369656">
            <a:off x="2441575" y="739775"/>
            <a:ext cx="600075" cy="2895600"/>
          </a:xfrm>
          <a:prstGeom prst="moon">
            <a:avLst>
              <a:gd name="adj" fmla="val 87500"/>
            </a:avLst>
          </a:prstGeom>
          <a:solidFill>
            <a:srgbClr val="E7F7B9">
              <a:alpha val="50195"/>
            </a:srgbClr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38" name="Rectangle 16"/>
          <p:cNvSpPr/>
          <p:nvPr/>
        </p:nvSpPr>
        <p:spPr>
          <a:xfrm>
            <a:off x="914400" y="2266950"/>
            <a:ext cx="3657600" cy="376238"/>
          </a:xfrm>
          <a:prstGeom prst="rect">
            <a:avLst/>
          </a:prstGeom>
          <a:solidFill>
            <a:srgbClr val="B8FCFC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539" name="Line 17"/>
          <p:cNvSpPr/>
          <p:nvPr/>
        </p:nvSpPr>
        <p:spPr>
          <a:xfrm>
            <a:off x="2743200" y="1892300"/>
            <a:ext cx="0" cy="1425575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0" name="Line 18"/>
          <p:cNvSpPr/>
          <p:nvPr/>
        </p:nvSpPr>
        <p:spPr>
          <a:xfrm flipV="1">
            <a:off x="2743200" y="1981200"/>
            <a:ext cx="457200" cy="1336675"/>
          </a:xfrm>
          <a:prstGeom prst="line">
            <a:avLst/>
          </a:prstGeom>
          <a:ln w="19050" cap="flat" cmpd="sng">
            <a:solidFill>
              <a:srgbClr val="0000FF"/>
            </a:solidFill>
            <a:prstDash val="solid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1" name="Line 19"/>
          <p:cNvSpPr/>
          <p:nvPr/>
        </p:nvSpPr>
        <p:spPr>
          <a:xfrm flipH="1">
            <a:off x="2667000" y="1943100"/>
            <a:ext cx="1752600" cy="0"/>
          </a:xfrm>
          <a:prstGeom prst="line">
            <a:avLst/>
          </a:prstGeom>
          <a:ln w="19050" cap="flat" cmpd="sng">
            <a:solidFill>
              <a:srgbClr val="CC00CC"/>
            </a:solidFill>
            <a:prstDash val="dash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2" name="Line 20"/>
          <p:cNvSpPr/>
          <p:nvPr/>
        </p:nvSpPr>
        <p:spPr>
          <a:xfrm flipH="1" flipV="1">
            <a:off x="2743200" y="1943100"/>
            <a:ext cx="457200" cy="14288"/>
          </a:xfrm>
          <a:prstGeom prst="line">
            <a:avLst/>
          </a:prstGeom>
          <a:ln w="28575" cap="flat" cmpd="sng">
            <a:solidFill>
              <a:srgbClr val="0000FF"/>
            </a:solidFill>
            <a:prstDash val="dash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21"/>
          <p:cNvSpPr/>
          <p:nvPr/>
        </p:nvSpPr>
        <p:spPr>
          <a:xfrm flipH="1">
            <a:off x="1295400" y="1892300"/>
            <a:ext cx="1447800" cy="0"/>
          </a:xfrm>
          <a:prstGeom prst="line">
            <a:avLst/>
          </a:prstGeom>
          <a:ln w="28575" cap="flat" cmpd="sng">
            <a:solidFill>
              <a:srgbClr val="0000FF"/>
            </a:solidFill>
            <a:prstDash val="dash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23"/>
          <p:cNvSpPr/>
          <p:nvPr/>
        </p:nvSpPr>
        <p:spPr>
          <a:xfrm flipV="1">
            <a:off x="4114800" y="1924050"/>
            <a:ext cx="0" cy="361950"/>
          </a:xfrm>
          <a:prstGeom prst="line">
            <a:avLst/>
          </a:prstGeom>
          <a:ln w="9525" cap="flat" cmpd="sng">
            <a:solidFill>
              <a:srgbClr val="FF0066"/>
            </a:solidFill>
            <a:prstDash val="solid"/>
            <a:headEnd type="triangl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45" name="Object 24"/>
          <p:cNvGraphicFramePr>
            <a:graphicFrameLocks noChangeAspect="1"/>
          </p:cNvGraphicFramePr>
          <p:nvPr/>
        </p:nvGraphicFramePr>
        <p:xfrm>
          <a:off x="2819400" y="1447800"/>
          <a:ext cx="3349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" r:id="rId9" imgW="73660" imgH="89535" progId="Equation.3">
                  <p:embed/>
                </p:oleObj>
              </mc:Choice>
              <mc:Fallback>
                <p:oleObj r:id="rId9" imgW="73660" imgH="89535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1447800"/>
                        <a:ext cx="334963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25"/>
          <p:cNvGraphicFramePr>
            <a:graphicFrameLocks noChangeAspect="1"/>
          </p:cNvGraphicFramePr>
          <p:nvPr/>
        </p:nvGraphicFramePr>
        <p:xfrm>
          <a:off x="3048000" y="2792413"/>
          <a:ext cx="360363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" r:id="rId11" imgW="215900" imgH="228600" progId="Equation.3">
                  <p:embed/>
                </p:oleObj>
              </mc:Choice>
              <mc:Fallback>
                <p:oleObj r:id="rId11" imgW="215900" imgH="2286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48000" y="2792413"/>
                        <a:ext cx="360363" cy="376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7" name="Object 26"/>
          <p:cNvGraphicFramePr>
            <a:graphicFrameLocks noChangeAspect="1"/>
          </p:cNvGraphicFramePr>
          <p:nvPr/>
        </p:nvGraphicFramePr>
        <p:xfrm>
          <a:off x="2362200" y="3017838"/>
          <a:ext cx="3302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6" r:id="rId13" imgW="165100" imgH="190500" progId="Equation.3">
                  <p:embed/>
                </p:oleObj>
              </mc:Choice>
              <mc:Fallback>
                <p:oleObj r:id="rId13" imgW="165100" imgH="1905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62200" y="3017838"/>
                        <a:ext cx="330200" cy="376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8" name="Object 27"/>
          <p:cNvGraphicFramePr>
            <a:graphicFrameLocks noChangeAspect="1"/>
          </p:cNvGraphicFramePr>
          <p:nvPr/>
        </p:nvGraphicFramePr>
        <p:xfrm>
          <a:off x="914400" y="1797050"/>
          <a:ext cx="5334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7" r:id="rId15" imgW="46990" imgH="94615" progId="Equation.3">
                  <p:embed/>
                </p:oleObj>
              </mc:Choice>
              <mc:Fallback>
                <p:oleObj r:id="rId15" imgW="46990" imgH="94615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14400" y="1797050"/>
                        <a:ext cx="533400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9" name="Object 28"/>
          <p:cNvGraphicFramePr>
            <a:graphicFrameLocks noChangeAspect="1"/>
          </p:cNvGraphicFramePr>
          <p:nvPr/>
        </p:nvGraphicFramePr>
        <p:xfrm>
          <a:off x="4114800" y="1892300"/>
          <a:ext cx="69373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8" r:id="rId17" imgW="99695" imgH="141605" progId="Equation.3">
                  <p:embed/>
                </p:oleObj>
              </mc:Choice>
              <mc:Fallback>
                <p:oleObj r:id="rId17" imgW="99695" imgH="141605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114800" y="1892300"/>
                        <a:ext cx="693738" cy="449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50" name="Group 29"/>
          <p:cNvGrpSpPr/>
          <p:nvPr/>
        </p:nvGrpSpPr>
        <p:grpSpPr>
          <a:xfrm>
            <a:off x="1878013" y="3425825"/>
            <a:ext cx="1855787" cy="1770063"/>
            <a:chOff x="864" y="2064"/>
            <a:chExt cx="1200" cy="1200"/>
          </a:xfrm>
        </p:grpSpPr>
        <p:sp>
          <p:nvSpPr>
            <p:cNvPr id="22562" name="Oval 30"/>
            <p:cNvSpPr/>
            <p:nvPr/>
          </p:nvSpPr>
          <p:spPr>
            <a:xfrm>
              <a:off x="864" y="2064"/>
              <a:ext cx="1200" cy="1200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3" name="Oval 31"/>
            <p:cNvSpPr/>
            <p:nvPr/>
          </p:nvSpPr>
          <p:spPr>
            <a:xfrm>
              <a:off x="894" y="2094"/>
              <a:ext cx="1140" cy="114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4" name="Oval 32"/>
            <p:cNvSpPr/>
            <p:nvPr/>
          </p:nvSpPr>
          <p:spPr>
            <a:xfrm>
              <a:off x="926" y="2125"/>
              <a:ext cx="1076" cy="1078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5" name="Oval 33"/>
            <p:cNvSpPr/>
            <p:nvPr/>
          </p:nvSpPr>
          <p:spPr>
            <a:xfrm>
              <a:off x="991" y="2187"/>
              <a:ext cx="946" cy="953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6" name="Oval 34"/>
            <p:cNvSpPr/>
            <p:nvPr/>
          </p:nvSpPr>
          <p:spPr>
            <a:xfrm>
              <a:off x="956" y="2157"/>
              <a:ext cx="1016" cy="1014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7" name="Oval 35"/>
            <p:cNvSpPr/>
            <p:nvPr/>
          </p:nvSpPr>
          <p:spPr>
            <a:xfrm>
              <a:off x="1014" y="2215"/>
              <a:ext cx="900" cy="896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8" name="Oval 36"/>
            <p:cNvSpPr/>
            <p:nvPr/>
          </p:nvSpPr>
          <p:spPr>
            <a:xfrm>
              <a:off x="1060" y="2260"/>
              <a:ext cx="808" cy="807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9" name="Oval 37"/>
            <p:cNvSpPr/>
            <p:nvPr/>
          </p:nvSpPr>
          <p:spPr>
            <a:xfrm>
              <a:off x="1129" y="2329"/>
              <a:ext cx="670" cy="669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70" name="Oval 38"/>
            <p:cNvSpPr/>
            <p:nvPr/>
          </p:nvSpPr>
          <p:spPr>
            <a:xfrm>
              <a:off x="1207" y="2419"/>
              <a:ext cx="514" cy="49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71" name="Oval 39"/>
            <p:cNvSpPr/>
            <p:nvPr/>
          </p:nvSpPr>
          <p:spPr>
            <a:xfrm>
              <a:off x="1335" y="2535"/>
              <a:ext cx="258" cy="240"/>
            </a:xfrm>
            <a:prstGeom prst="ellipse">
              <a:avLst/>
            </a:prstGeom>
            <a:gradFill rotWithShape="0">
              <a:gsLst>
                <a:gs pos="0">
                  <a:srgbClr val="FFCC00"/>
                </a:gs>
                <a:gs pos="100000">
                  <a:srgbClr val="8F7200"/>
                </a:gs>
              </a:gsLst>
              <a:path path="shape">
                <a:fillToRect l="50000" t="50000" r="50000" b="50000"/>
              </a:path>
              <a:tileRect/>
            </a:gradFill>
            <a:ln w="12700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72" name="Oval 40"/>
            <p:cNvSpPr/>
            <p:nvPr/>
          </p:nvSpPr>
          <p:spPr>
            <a:xfrm>
              <a:off x="1344" y="2534"/>
              <a:ext cx="240" cy="240"/>
            </a:xfrm>
            <a:prstGeom prst="ellipse">
              <a:avLst/>
            </a:prstGeom>
            <a:solidFill>
              <a:srgbClr val="656709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44"/>
          <p:cNvGrpSpPr/>
          <p:nvPr/>
        </p:nvGrpSpPr>
        <p:grpSpPr>
          <a:xfrm>
            <a:off x="990600" y="5489575"/>
            <a:ext cx="3429000" cy="530225"/>
            <a:chOff x="384" y="3501"/>
            <a:chExt cx="2160" cy="339"/>
          </a:xfrm>
        </p:grpSpPr>
        <p:sp>
          <p:nvSpPr>
            <p:cNvPr id="22560" name="AutoShape 45"/>
            <p:cNvSpPr/>
            <p:nvPr/>
          </p:nvSpPr>
          <p:spPr>
            <a:xfrm rot="5369656">
              <a:off x="1342" y="2590"/>
              <a:ext cx="195" cy="2016"/>
            </a:xfrm>
            <a:prstGeom prst="moon">
              <a:avLst>
                <a:gd name="adj" fmla="val 87500"/>
              </a:avLst>
            </a:prstGeom>
            <a:solidFill>
              <a:srgbClr val="F4F698">
                <a:alpha val="50195"/>
              </a:srgbClr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2561" name="Rectangle 46"/>
            <p:cNvSpPr/>
            <p:nvPr/>
          </p:nvSpPr>
          <p:spPr>
            <a:xfrm>
              <a:off x="384" y="3648"/>
              <a:ext cx="2160" cy="192"/>
            </a:xfrm>
            <a:prstGeom prst="rect">
              <a:avLst/>
            </a:prstGeom>
            <a:solidFill>
              <a:srgbClr val="B8FCFC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2555" name="Group 55"/>
          <p:cNvGrpSpPr/>
          <p:nvPr/>
        </p:nvGrpSpPr>
        <p:grpSpPr>
          <a:xfrm>
            <a:off x="4928235" y="4595813"/>
            <a:ext cx="4038600" cy="1147763"/>
            <a:chOff x="2928" y="1152"/>
            <a:chExt cx="2544" cy="723"/>
          </a:xfrm>
        </p:grpSpPr>
        <p:sp>
          <p:nvSpPr>
            <p:cNvPr id="51251" name="Rectangle 51"/>
            <p:cNvSpPr>
              <a:spLocks noChangeArrowheads="1"/>
            </p:cNvSpPr>
            <p:nvPr/>
          </p:nvSpPr>
          <p:spPr bwMode="auto">
            <a:xfrm>
              <a:off x="2976" y="1200"/>
              <a:ext cx="2378" cy="675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59" name="Text Box 52"/>
            <p:cNvSpPr txBox="1"/>
            <p:nvPr/>
          </p:nvSpPr>
          <p:spPr>
            <a:xfrm>
              <a:off x="2928" y="1152"/>
              <a:ext cx="2544" cy="7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油滴展开时，条纹间距变大，条纹数减少</a:t>
              </a:r>
            </a:p>
          </p:txBody>
        </p:sp>
      </p:grpSp>
      <p:sp>
        <p:nvSpPr>
          <p:cNvPr id="22556" name="Line 56"/>
          <p:cNvSpPr/>
          <p:nvPr/>
        </p:nvSpPr>
        <p:spPr>
          <a:xfrm flipV="1">
            <a:off x="1371600" y="1828800"/>
            <a:ext cx="0" cy="457200"/>
          </a:xfrm>
          <a:prstGeom prst="line">
            <a:avLst/>
          </a:prstGeom>
          <a:ln w="9525" cap="flat" cmpd="sng">
            <a:solidFill>
              <a:srgbClr val="FF0066"/>
            </a:solidFill>
            <a:prstDash val="solid"/>
            <a:headEnd type="triangl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57" name="Text Box 88"/>
          <p:cNvSpPr txBox="1"/>
          <p:nvPr/>
        </p:nvSpPr>
        <p:spPr>
          <a:xfrm>
            <a:off x="3492500" y="44450"/>
            <a:ext cx="3022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油膜干涉</a:t>
            </a:r>
          </a:p>
        </p:txBody>
      </p:sp>
      <p:grpSp>
        <p:nvGrpSpPr>
          <p:cNvPr id="20487" name="Group 50"/>
          <p:cNvGrpSpPr/>
          <p:nvPr/>
        </p:nvGrpSpPr>
        <p:grpSpPr>
          <a:xfrm>
            <a:off x="5003800" y="1427163"/>
            <a:ext cx="3724275" cy="1741487"/>
            <a:chOff x="2880" y="2229"/>
            <a:chExt cx="2346" cy="1097"/>
          </a:xfrm>
        </p:grpSpPr>
        <p:graphicFrame>
          <p:nvGraphicFramePr>
            <p:cNvPr id="20489" name="Object 45"/>
            <p:cNvGraphicFramePr>
              <a:graphicFrameLocks noChangeAspect="1"/>
            </p:cNvGraphicFramePr>
            <p:nvPr>
              <p:custDataLst>
                <p:tags r:id="rId4"/>
              </p:custDataLst>
            </p:nvPr>
          </p:nvGraphicFramePr>
          <p:xfrm>
            <a:off x="2906" y="2229"/>
            <a:ext cx="1702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9" r:id="rId19" imgW="625475" imgH="126365" progId="Equation.3">
                    <p:embed/>
                  </p:oleObj>
                </mc:Choice>
                <mc:Fallback>
                  <p:oleObj r:id="rId19" imgW="625475" imgH="126365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06" y="2229"/>
                          <a:ext cx="1702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490" name="Group 49"/>
            <p:cNvGrpSpPr/>
            <p:nvPr/>
          </p:nvGrpSpPr>
          <p:grpSpPr>
            <a:xfrm>
              <a:off x="2880" y="2274"/>
              <a:ext cx="2346" cy="1052"/>
              <a:chOff x="2880" y="2274"/>
              <a:chExt cx="2346" cy="1052"/>
            </a:xfrm>
          </p:grpSpPr>
          <p:graphicFrame>
            <p:nvGraphicFramePr>
              <p:cNvPr id="20491" name="Object 42"/>
              <p:cNvGraphicFramePr>
                <a:graphicFrameLocks noChangeAspect="1"/>
              </p:cNvGraphicFramePr>
              <p:nvPr>
                <p:custDataLst>
                  <p:tags r:id="rId5"/>
                </p:custDataLst>
              </p:nvPr>
            </p:nvGraphicFramePr>
            <p:xfrm>
              <a:off x="2880" y="2652"/>
              <a:ext cx="1160" cy="6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40" r:id="rId21" imgW="436245" imgH="257810" progId="Equation.3">
                      <p:embed/>
                    </p:oleObj>
                  </mc:Choice>
                  <mc:Fallback>
                    <p:oleObj r:id="rId21" imgW="436245" imgH="257810" progId="Equation.3">
                      <p:embed/>
                      <p:pic>
                        <p:nvPicPr>
                          <p:cNvPr id="0" name="图片 3119"/>
                          <p:cNvPicPr/>
                          <p:nvPr/>
                        </p:nvPicPr>
                        <p:blipFill>
                          <a:blip r:embed="rId22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880" y="2652"/>
                            <a:ext cx="1160" cy="67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2" name="Object 43"/>
              <p:cNvGraphicFramePr>
                <a:graphicFrameLocks noChangeAspect="1"/>
              </p:cNvGraphicFramePr>
              <p:nvPr>
                <p:custDataLst>
                  <p:tags r:id="rId6"/>
                </p:custDataLst>
              </p:nvPr>
            </p:nvGraphicFramePr>
            <p:xfrm>
              <a:off x="4104" y="2814"/>
              <a:ext cx="1122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41" r:id="rId23" imgW="467995" imgH="99695" progId="Equation.3">
                      <p:embed/>
                    </p:oleObj>
                  </mc:Choice>
                  <mc:Fallback>
                    <p:oleObj r:id="rId23" imgW="467995" imgH="99695" progId="Equation.3">
                      <p:embed/>
                      <p:pic>
                        <p:nvPicPr>
                          <p:cNvPr id="0" name="图片 3120"/>
                          <p:cNvPicPr/>
                          <p:nvPr/>
                        </p:nvPicPr>
                        <p:blipFill>
                          <a:blip r:embed="rId24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104" y="2814"/>
                            <a:ext cx="1122" cy="2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493" name="Text Box 4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694" y="2274"/>
                <a:ext cx="53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明纹</a:t>
                </a:r>
              </a:p>
            </p:txBody>
          </p:sp>
        </p:grpSp>
      </p:grpSp>
      <p:grpSp>
        <p:nvGrpSpPr>
          <p:cNvPr id="2" name="Group 55"/>
          <p:cNvGrpSpPr/>
          <p:nvPr/>
        </p:nvGrpSpPr>
        <p:grpSpPr>
          <a:xfrm>
            <a:off x="4911725" y="3215958"/>
            <a:ext cx="4038600" cy="1147763"/>
            <a:chOff x="2928" y="1152"/>
            <a:chExt cx="2544" cy="723"/>
          </a:xfrm>
        </p:grpSpPr>
        <p:sp>
          <p:nvSpPr>
            <p:cNvPr id="3" name="Rectangle 5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976" y="1200"/>
              <a:ext cx="2378" cy="675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Text Box 52"/>
            <p:cNvSpPr txBox="1"/>
            <p:nvPr>
              <p:custDataLst>
                <p:tags r:id="rId3"/>
              </p:custDataLst>
            </p:nvPr>
          </p:nvSpPr>
          <p:spPr>
            <a:xfrm>
              <a:off x="2928" y="1152"/>
              <a:ext cx="2544" cy="7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边缘级次最低，中央级次最高（光程差最大）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56"/>
          <p:cNvGraphicFramePr/>
          <p:nvPr/>
        </p:nvGraphicFramePr>
        <p:xfrm>
          <a:off x="5939473" y="2666048"/>
          <a:ext cx="2668587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8" r:id="rId5" imgW="762000" imgH="141605" progId="Equation.3">
                  <p:embed/>
                </p:oleObj>
              </mc:Choice>
              <mc:Fallback>
                <p:oleObj r:id="rId5" imgW="762000" imgH="141605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39473" y="2666048"/>
                        <a:ext cx="2668587" cy="623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61" name="Rectangle 57"/>
          <p:cNvSpPr>
            <a:spLocks noChangeArrowheads="1"/>
          </p:cNvSpPr>
          <p:nvPr/>
        </p:nvSpPr>
        <p:spPr bwMode="auto">
          <a:xfrm>
            <a:off x="5436235" y="1866900"/>
            <a:ext cx="3505200" cy="5889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插入介质片光程差</a:t>
            </a:r>
          </a:p>
        </p:txBody>
      </p:sp>
      <p:sp>
        <p:nvSpPr>
          <p:cNvPr id="12292" name="Rectangle 59"/>
          <p:cNvSpPr/>
          <p:nvPr/>
        </p:nvSpPr>
        <p:spPr>
          <a:xfrm>
            <a:off x="6012180" y="3540125"/>
            <a:ext cx="241109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光程差变化</a:t>
            </a:r>
          </a:p>
        </p:txBody>
      </p:sp>
      <p:graphicFrame>
        <p:nvGraphicFramePr>
          <p:cNvPr id="12293" name="Object 60"/>
          <p:cNvGraphicFramePr/>
          <p:nvPr/>
        </p:nvGraphicFramePr>
        <p:xfrm>
          <a:off x="5868035" y="4292918"/>
          <a:ext cx="268922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9" r:id="rId7" imgW="709295" imgH="141605" progId="Equation.3">
                  <p:embed/>
                </p:oleObj>
              </mc:Choice>
              <mc:Fallback>
                <p:oleObj r:id="rId7" imgW="709295" imgH="141605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68035" y="4292918"/>
                        <a:ext cx="2689225" cy="617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4" name="Group 77"/>
          <p:cNvGrpSpPr/>
          <p:nvPr/>
        </p:nvGrpSpPr>
        <p:grpSpPr>
          <a:xfrm>
            <a:off x="685800" y="1084263"/>
            <a:ext cx="4572000" cy="4051300"/>
            <a:chOff x="432" y="683"/>
            <a:chExt cx="2880" cy="2552"/>
          </a:xfrm>
        </p:grpSpPr>
        <p:grpSp>
          <p:nvGrpSpPr>
            <p:cNvPr id="12306" name="Group 75"/>
            <p:cNvGrpSpPr/>
            <p:nvPr/>
          </p:nvGrpSpPr>
          <p:grpSpPr>
            <a:xfrm>
              <a:off x="432" y="683"/>
              <a:ext cx="2880" cy="2552"/>
              <a:chOff x="432" y="683"/>
              <a:chExt cx="2880" cy="2552"/>
            </a:xfrm>
          </p:grpSpPr>
          <p:sp>
            <p:nvSpPr>
              <p:cNvPr id="12309" name="Rectangle 4"/>
              <p:cNvSpPr/>
              <p:nvPr/>
            </p:nvSpPr>
            <p:spPr>
              <a:xfrm>
                <a:off x="432" y="683"/>
                <a:ext cx="2880" cy="254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10" name="Rectangle 5"/>
              <p:cNvSpPr/>
              <p:nvPr/>
            </p:nvSpPr>
            <p:spPr>
              <a:xfrm>
                <a:off x="1283" y="1064"/>
                <a:ext cx="806" cy="134"/>
              </a:xfrm>
              <a:prstGeom prst="rect">
                <a:avLst/>
              </a:prstGeom>
              <a:solidFill>
                <a:srgbClr val="99FFFF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11" name="Freeform 7"/>
              <p:cNvSpPr/>
              <p:nvPr/>
            </p:nvSpPr>
            <p:spPr>
              <a:xfrm>
                <a:off x="1724" y="2213"/>
                <a:ext cx="1335" cy="93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242" y="0"/>
                  </a:cxn>
                  <a:cxn ang="0">
                    <a:pos x="302" y="41"/>
                  </a:cxn>
                  <a:cxn ang="0">
                    <a:pos x="663" y="43"/>
                  </a:cxn>
                </a:cxnLst>
                <a:rect l="0" t="0" r="0" b="0"/>
                <a:pathLst>
                  <a:path w="1686" h="120">
                    <a:moveTo>
                      <a:pt x="0" y="6"/>
                    </a:moveTo>
                    <a:lnTo>
                      <a:pt x="618" y="0"/>
                    </a:lnTo>
                    <a:lnTo>
                      <a:pt x="768" y="114"/>
                    </a:lnTo>
                    <a:lnTo>
                      <a:pt x="1686" y="120"/>
                    </a:lnTo>
                  </a:path>
                </a:pathLst>
              </a:custGeom>
              <a:noFill/>
              <a:ln w="28575" cap="flat" cmpd="sng">
                <a:solidFill>
                  <a:srgbClr val="990099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2" name="Line 8"/>
              <p:cNvSpPr/>
              <p:nvPr/>
            </p:nvSpPr>
            <p:spPr>
              <a:xfrm>
                <a:off x="1953" y="2217"/>
                <a:ext cx="91" cy="0"/>
              </a:xfrm>
              <a:prstGeom prst="line">
                <a:avLst/>
              </a:prstGeom>
              <a:ln w="38100" cap="flat" cmpd="sng">
                <a:solidFill>
                  <a:srgbClr val="990099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3" name="Line 9"/>
              <p:cNvSpPr/>
              <p:nvPr/>
            </p:nvSpPr>
            <p:spPr>
              <a:xfrm>
                <a:off x="2900" y="2306"/>
                <a:ext cx="92" cy="0"/>
              </a:xfrm>
              <a:prstGeom prst="line">
                <a:avLst/>
              </a:prstGeom>
              <a:ln w="38100" cap="flat" cmpd="sng">
                <a:solidFill>
                  <a:srgbClr val="990099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4" name="Freeform 10"/>
              <p:cNvSpPr/>
              <p:nvPr/>
            </p:nvSpPr>
            <p:spPr>
              <a:xfrm>
                <a:off x="1623" y="1225"/>
                <a:ext cx="92" cy="1001"/>
              </a:xfrm>
              <a:custGeom>
                <a:avLst/>
                <a:gdLst/>
                <a:ahLst/>
                <a:cxnLst>
                  <a:cxn ang="0">
                    <a:pos x="46" y="463"/>
                  </a:cxn>
                  <a:cxn ang="0">
                    <a:pos x="0" y="401"/>
                  </a:cxn>
                  <a:cxn ang="0">
                    <a:pos x="0" y="0"/>
                  </a:cxn>
                </a:cxnLst>
                <a:rect l="0" t="0" r="0" b="0"/>
                <a:pathLst>
                  <a:path w="116" h="1294">
                    <a:moveTo>
                      <a:pt x="116" y="1294"/>
                    </a:moveTo>
                    <a:lnTo>
                      <a:pt x="0" y="1122"/>
                    </a:ln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rgbClr val="DC83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5" name="Line 11"/>
              <p:cNvSpPr/>
              <p:nvPr/>
            </p:nvSpPr>
            <p:spPr>
              <a:xfrm flipH="1" flipV="1">
                <a:off x="1619" y="1350"/>
                <a:ext cx="2" cy="125"/>
              </a:xfrm>
              <a:prstGeom prst="line">
                <a:avLst/>
              </a:prstGeom>
              <a:ln w="38100" cap="flat" cmpd="sng">
                <a:solidFill>
                  <a:srgbClr val="DC8300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6" name="Freeform 13"/>
              <p:cNvSpPr/>
              <p:nvPr/>
            </p:nvSpPr>
            <p:spPr>
              <a:xfrm>
                <a:off x="541" y="2165"/>
                <a:ext cx="1183" cy="59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720" y="0"/>
                  </a:cxn>
                  <a:cxn ang="0">
                    <a:pos x="814" y="59"/>
                  </a:cxn>
                </a:cxnLst>
                <a:rect l="0" t="0" r="0" b="0"/>
                <a:pathLst>
                  <a:path w="1340" h="59">
                    <a:moveTo>
                      <a:pt x="0" y="1"/>
                    </a:moveTo>
                    <a:lnTo>
                      <a:pt x="1184" y="0"/>
                    </a:lnTo>
                    <a:lnTo>
                      <a:pt x="1340" y="59"/>
                    </a:lnTo>
                  </a:path>
                </a:pathLst>
              </a:custGeom>
              <a:noFill/>
              <a:ln w="38100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7" name="Line 14"/>
              <p:cNvSpPr/>
              <p:nvPr/>
            </p:nvSpPr>
            <p:spPr>
              <a:xfrm>
                <a:off x="949" y="2167"/>
                <a:ext cx="214" cy="0"/>
              </a:xfrm>
              <a:prstGeom prst="line">
                <a:avLst/>
              </a:prstGeom>
              <a:ln w="38100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8" name="Line 15"/>
              <p:cNvSpPr/>
              <p:nvPr/>
            </p:nvSpPr>
            <p:spPr>
              <a:xfrm flipV="1">
                <a:off x="1283" y="1213"/>
                <a:ext cx="813" cy="0"/>
              </a:xfrm>
              <a:prstGeom prst="line">
                <a:avLst/>
              </a:prstGeom>
              <a:ln w="50800" cap="flat" cmpd="sng">
                <a:solidFill>
                  <a:schemeClr val="tx2"/>
                </a:solidFill>
                <a:prstDash val="solid"/>
                <a:headEnd type="none" w="sm" len="sm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9" name="AutoShape 17"/>
              <p:cNvSpPr/>
              <p:nvPr/>
            </p:nvSpPr>
            <p:spPr>
              <a:xfrm>
                <a:off x="503" y="1848"/>
                <a:ext cx="203" cy="501"/>
              </a:xfrm>
              <a:prstGeom prst="roundRect">
                <a:avLst>
                  <a:gd name="adj" fmla="val 49995"/>
                </a:avLst>
              </a:prstGeom>
              <a:gradFill rotWithShape="0">
                <a:gsLst>
                  <a:gs pos="0">
                    <a:srgbClr val="B2B247"/>
                  </a:gs>
                  <a:gs pos="50000">
                    <a:srgbClr val="FFFF66"/>
                  </a:gs>
                  <a:gs pos="100000">
                    <a:srgbClr val="B2B247"/>
                  </a:gs>
                </a:gsLst>
                <a:lin ang="0" scaled="1"/>
                <a:tileRect/>
              </a:gradFill>
              <a:ln w="254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20" name="Rectangle 18"/>
              <p:cNvSpPr/>
              <p:nvPr/>
            </p:nvSpPr>
            <p:spPr>
              <a:xfrm>
                <a:off x="536" y="2333"/>
                <a:ext cx="137" cy="86"/>
              </a:xfrm>
              <a:prstGeom prst="rect">
                <a:avLst/>
              </a:prstGeom>
              <a:gradFill rotWithShape="0">
                <a:gsLst>
                  <a:gs pos="0">
                    <a:srgbClr val="B2B247"/>
                  </a:gs>
                  <a:gs pos="50000">
                    <a:srgbClr val="FFFF66"/>
                  </a:gs>
                  <a:gs pos="100000">
                    <a:srgbClr val="B2B247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21" name="Oval 19"/>
              <p:cNvSpPr/>
              <p:nvPr/>
            </p:nvSpPr>
            <p:spPr>
              <a:xfrm>
                <a:off x="536" y="2386"/>
                <a:ext cx="137" cy="99"/>
              </a:xfrm>
              <a:prstGeom prst="ellipse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22" name="Freeform 20"/>
              <p:cNvSpPr/>
              <p:nvPr/>
            </p:nvSpPr>
            <p:spPr>
              <a:xfrm>
                <a:off x="589" y="1934"/>
                <a:ext cx="46" cy="410"/>
              </a:xfrm>
              <a:custGeom>
                <a:avLst/>
                <a:gdLst/>
                <a:ahLst/>
                <a:cxnLst>
                  <a:cxn ang="0">
                    <a:pos x="0" y="259"/>
                  </a:cxn>
                  <a:cxn ang="0">
                    <a:pos x="0" y="0"/>
                  </a:cxn>
                  <a:cxn ang="0">
                    <a:pos x="11" y="60"/>
                  </a:cxn>
                  <a:cxn ang="0">
                    <a:pos x="11" y="0"/>
                  </a:cxn>
                  <a:cxn ang="0">
                    <a:pos x="22" y="60"/>
                  </a:cxn>
                  <a:cxn ang="0">
                    <a:pos x="22" y="0"/>
                  </a:cxn>
                  <a:cxn ang="0">
                    <a:pos x="33" y="60"/>
                  </a:cxn>
                  <a:cxn ang="0">
                    <a:pos x="33" y="268"/>
                  </a:cxn>
                </a:cxnLst>
                <a:rect l="0" t="0" r="0" b="0"/>
                <a:pathLst>
                  <a:path w="51" h="472">
                    <a:moveTo>
                      <a:pt x="0" y="455"/>
                    </a:moveTo>
                    <a:lnTo>
                      <a:pt x="0" y="0"/>
                    </a:lnTo>
                    <a:lnTo>
                      <a:pt x="16" y="106"/>
                    </a:lnTo>
                    <a:lnTo>
                      <a:pt x="16" y="0"/>
                    </a:lnTo>
                    <a:lnTo>
                      <a:pt x="33" y="106"/>
                    </a:lnTo>
                    <a:lnTo>
                      <a:pt x="33" y="0"/>
                    </a:lnTo>
                    <a:lnTo>
                      <a:pt x="50" y="106"/>
                    </a:lnTo>
                    <a:lnTo>
                      <a:pt x="50" y="471"/>
                    </a:lnTo>
                  </a:path>
                </a:pathLst>
              </a:custGeom>
              <a:gradFill rotWithShape="0">
                <a:gsLst>
                  <a:gs pos="0">
                    <a:srgbClr val="B2B247">
                      <a:alpha val="100000"/>
                    </a:srgbClr>
                  </a:gs>
                  <a:gs pos="50000">
                    <a:srgbClr val="FFFF66">
                      <a:alpha val="100000"/>
                    </a:srgbClr>
                  </a:gs>
                  <a:gs pos="100000">
                    <a:srgbClr val="B2B247">
                      <a:alpha val="100000"/>
                    </a:srgbClr>
                  </a:gs>
                </a:gsLst>
                <a:lin ang="0" scaled="1"/>
                <a:tileRect/>
              </a:gra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3" name="Line 21"/>
              <p:cNvSpPr/>
              <p:nvPr/>
            </p:nvSpPr>
            <p:spPr>
              <a:xfrm flipV="1">
                <a:off x="532" y="2343"/>
                <a:ext cx="145" cy="13"/>
              </a:xfrm>
              <a:prstGeom prst="line">
                <a:avLst/>
              </a:prstGeom>
              <a:ln w="25400" cap="flat" cmpd="sng">
                <a:solidFill>
                  <a:srgbClr val="FFCC66"/>
                </a:solidFill>
                <a:prstDash val="solid"/>
                <a:headEnd type="none" w="sm" len="sm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4" name="Line 22"/>
              <p:cNvSpPr/>
              <p:nvPr/>
            </p:nvSpPr>
            <p:spPr>
              <a:xfrm flipV="1">
                <a:off x="532" y="2369"/>
                <a:ext cx="145" cy="13"/>
              </a:xfrm>
              <a:prstGeom prst="line">
                <a:avLst/>
              </a:prstGeom>
              <a:ln w="25400" cap="flat" cmpd="sng">
                <a:solidFill>
                  <a:srgbClr val="FFCC66"/>
                </a:solidFill>
                <a:prstDash val="solid"/>
                <a:headEnd type="none" w="sm" len="sm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5" name="Line 23"/>
              <p:cNvSpPr/>
              <p:nvPr/>
            </p:nvSpPr>
            <p:spPr>
              <a:xfrm flipV="1">
                <a:off x="532" y="2395"/>
                <a:ext cx="145" cy="14"/>
              </a:xfrm>
              <a:prstGeom prst="line">
                <a:avLst/>
              </a:prstGeom>
              <a:ln w="25400" cap="flat" cmpd="sng">
                <a:solidFill>
                  <a:srgbClr val="FFCC66"/>
                </a:solidFill>
                <a:prstDash val="solid"/>
                <a:headEnd type="none" w="sm" len="sm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6" name="Line 24"/>
              <p:cNvSpPr/>
              <p:nvPr/>
            </p:nvSpPr>
            <p:spPr>
              <a:xfrm flipV="1">
                <a:off x="532" y="2422"/>
                <a:ext cx="145" cy="13"/>
              </a:xfrm>
              <a:prstGeom prst="line">
                <a:avLst/>
              </a:prstGeom>
              <a:ln w="25400" cap="flat" cmpd="sng">
                <a:solidFill>
                  <a:srgbClr val="FFCC66"/>
                </a:solidFill>
                <a:prstDash val="solid"/>
                <a:headEnd type="none" w="sm" len="sm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7" name="Rectangle 25"/>
              <p:cNvSpPr/>
              <p:nvPr/>
            </p:nvSpPr>
            <p:spPr>
              <a:xfrm>
                <a:off x="580" y="2249"/>
                <a:ext cx="61" cy="85"/>
              </a:xfrm>
              <a:prstGeom prst="rect">
                <a:avLst/>
              </a:prstGeom>
              <a:gradFill rotWithShape="0">
                <a:gsLst>
                  <a:gs pos="0">
                    <a:srgbClr val="B2B247"/>
                  </a:gs>
                  <a:gs pos="50000">
                    <a:srgbClr val="FFFF66"/>
                  </a:gs>
                  <a:gs pos="100000">
                    <a:srgbClr val="B2B247"/>
                  </a:gs>
                </a:gsLst>
                <a:lin ang="0" scaled="1"/>
                <a:tileRect/>
              </a:gra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28" name="Freeform 28"/>
              <p:cNvSpPr/>
              <p:nvPr/>
            </p:nvSpPr>
            <p:spPr>
              <a:xfrm>
                <a:off x="1827" y="2121"/>
                <a:ext cx="1218" cy="1012"/>
              </a:xfrm>
              <a:custGeom>
                <a:avLst/>
                <a:gdLst/>
                <a:ahLst/>
                <a:cxnLst>
                  <a:cxn ang="0">
                    <a:pos x="607" y="50"/>
                  </a:cxn>
                  <a:cxn ang="0">
                    <a:pos x="292" y="47"/>
                  </a:cxn>
                  <a:cxn ang="0">
                    <a:pos x="230" y="4"/>
                  </a:cxn>
                  <a:cxn ang="0">
                    <a:pos x="0" y="0"/>
                  </a:cxn>
                  <a:cxn ang="0">
                    <a:pos x="0" y="462"/>
                  </a:cxn>
                  <a:cxn ang="0">
                    <a:pos x="5" y="469"/>
                  </a:cxn>
                </a:cxnLst>
                <a:rect l="0" t="0" r="0" b="0"/>
                <a:pathLst>
                  <a:path w="1536" h="1308">
                    <a:moveTo>
                      <a:pt x="1536" y="138"/>
                    </a:moveTo>
                    <a:lnTo>
                      <a:pt x="738" y="132"/>
                    </a:lnTo>
                    <a:lnTo>
                      <a:pt x="582" y="12"/>
                    </a:lnTo>
                    <a:lnTo>
                      <a:pt x="0" y="0"/>
                    </a:lnTo>
                    <a:lnTo>
                      <a:pt x="0" y="1290"/>
                    </a:lnTo>
                    <a:lnTo>
                      <a:pt x="12" y="1308"/>
                    </a:lnTo>
                  </a:path>
                </a:pathLst>
              </a:custGeom>
              <a:noFill/>
              <a:ln w="28575" cap="flat" cmpd="sng">
                <a:solidFill>
                  <a:srgbClr val="990099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9" name="Line 29"/>
              <p:cNvSpPr/>
              <p:nvPr/>
            </p:nvSpPr>
            <p:spPr>
              <a:xfrm flipH="1">
                <a:off x="2816" y="2230"/>
                <a:ext cx="131" cy="0"/>
              </a:xfrm>
              <a:prstGeom prst="line">
                <a:avLst/>
              </a:prstGeom>
              <a:ln w="38100" cap="flat" cmpd="sng">
                <a:solidFill>
                  <a:srgbClr val="990099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0" name="Line 30"/>
              <p:cNvSpPr/>
              <p:nvPr/>
            </p:nvSpPr>
            <p:spPr>
              <a:xfrm flipH="1">
                <a:off x="2039" y="2130"/>
                <a:ext cx="86" cy="0"/>
              </a:xfrm>
              <a:prstGeom prst="line">
                <a:avLst/>
              </a:prstGeom>
              <a:ln w="38100" cap="flat" cmpd="sng">
                <a:solidFill>
                  <a:srgbClr val="990099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1" name="Line 31"/>
              <p:cNvSpPr/>
              <p:nvPr/>
            </p:nvSpPr>
            <p:spPr>
              <a:xfrm>
                <a:off x="1829" y="3079"/>
                <a:ext cx="0" cy="156"/>
              </a:xfrm>
              <a:prstGeom prst="line">
                <a:avLst/>
              </a:prstGeom>
              <a:ln w="38100" cap="flat" cmpd="sng">
                <a:solidFill>
                  <a:srgbClr val="990099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2" name="Freeform 34"/>
              <p:cNvSpPr/>
              <p:nvPr/>
            </p:nvSpPr>
            <p:spPr>
              <a:xfrm>
                <a:off x="1681" y="1215"/>
                <a:ext cx="70" cy="195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79"/>
                  </a:cxn>
                  <a:cxn ang="0">
                    <a:pos x="33" y="441"/>
                  </a:cxn>
                  <a:cxn ang="0">
                    <a:pos x="33" y="904"/>
                  </a:cxn>
                </a:cxnLst>
                <a:rect l="0" t="0" r="0" b="0"/>
                <a:pathLst>
                  <a:path w="90" h="2532">
                    <a:moveTo>
                      <a:pt x="0" y="0"/>
                    </a:moveTo>
                    <a:lnTo>
                      <a:pt x="0" y="1062"/>
                    </a:lnTo>
                    <a:lnTo>
                      <a:pt x="90" y="1236"/>
                    </a:lnTo>
                    <a:lnTo>
                      <a:pt x="90" y="2532"/>
                    </a:lnTo>
                  </a:path>
                </a:pathLst>
              </a:custGeom>
              <a:noFill/>
              <a:ln w="28575" cap="flat" cmpd="sng">
                <a:solidFill>
                  <a:srgbClr val="DC83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3" name="Line 35"/>
              <p:cNvSpPr/>
              <p:nvPr/>
            </p:nvSpPr>
            <p:spPr>
              <a:xfrm>
                <a:off x="1682" y="1452"/>
                <a:ext cx="0" cy="63"/>
              </a:xfrm>
              <a:prstGeom prst="line">
                <a:avLst/>
              </a:prstGeom>
              <a:ln w="38100" cap="flat" cmpd="sng">
                <a:solidFill>
                  <a:srgbClr val="DC8300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4" name="Line 36"/>
              <p:cNvSpPr/>
              <p:nvPr/>
            </p:nvSpPr>
            <p:spPr>
              <a:xfrm>
                <a:off x="1753" y="3101"/>
                <a:ext cx="0" cy="120"/>
              </a:xfrm>
              <a:prstGeom prst="line">
                <a:avLst/>
              </a:prstGeom>
              <a:ln w="38100" cap="flat" cmpd="sng">
                <a:solidFill>
                  <a:srgbClr val="DC8300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35" name="Object 37"/>
              <p:cNvGraphicFramePr/>
              <p:nvPr/>
            </p:nvGraphicFramePr>
            <p:xfrm>
              <a:off x="1087" y="2416"/>
              <a:ext cx="338" cy="3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80" r:id="rId9" imgW="126365" imgH="131445" progId="Equation.3">
                      <p:embed/>
                    </p:oleObj>
                  </mc:Choice>
                  <mc:Fallback>
                    <p:oleObj r:id="rId9" imgW="126365" imgH="131445" progId="Equation.3">
                      <p:embed/>
                      <p:pic>
                        <p:nvPicPr>
                          <p:cNvPr id="0" name="图片 3123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087" y="2416"/>
                            <a:ext cx="338" cy="33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36" name="Object 38"/>
              <p:cNvGraphicFramePr/>
              <p:nvPr/>
            </p:nvGraphicFramePr>
            <p:xfrm>
              <a:off x="2146" y="2416"/>
              <a:ext cx="341" cy="3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81" r:id="rId11" imgW="131445" imgH="131445" progId="Equation.3">
                      <p:embed/>
                    </p:oleObj>
                  </mc:Choice>
                  <mc:Fallback>
                    <p:oleObj r:id="rId11" imgW="131445" imgH="131445" progId="Equation.3">
                      <p:embed/>
                      <p:pic>
                        <p:nvPicPr>
                          <p:cNvPr id="0" name="图片 3124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146" y="2416"/>
                            <a:ext cx="341" cy="31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37" name="Rectangle 39"/>
              <p:cNvSpPr/>
              <p:nvPr/>
            </p:nvSpPr>
            <p:spPr>
              <a:xfrm rot="-2700000">
                <a:off x="1939" y="2132"/>
                <a:ext cx="759" cy="149"/>
              </a:xfrm>
              <a:prstGeom prst="rect">
                <a:avLst/>
              </a:prstGeom>
              <a:solidFill>
                <a:srgbClr val="00FFCC">
                  <a:alpha val="50195"/>
                </a:srgbClr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38" name="Rectangle 41"/>
              <p:cNvSpPr/>
              <p:nvPr/>
            </p:nvSpPr>
            <p:spPr>
              <a:xfrm>
                <a:off x="3020" y="1882"/>
                <a:ext cx="127" cy="623"/>
              </a:xfrm>
              <a:prstGeom prst="rect">
                <a:avLst/>
              </a:prstGeom>
              <a:solidFill>
                <a:srgbClr val="99FFFF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39" name="Line 42"/>
              <p:cNvSpPr/>
              <p:nvPr/>
            </p:nvSpPr>
            <p:spPr>
              <a:xfrm>
                <a:off x="3020" y="1882"/>
                <a:ext cx="0" cy="625"/>
              </a:xfrm>
              <a:prstGeom prst="line">
                <a:avLst/>
              </a:prstGeom>
              <a:ln w="50800" cap="flat" cmpd="sng">
                <a:solidFill>
                  <a:schemeClr val="tx2"/>
                </a:solidFill>
                <a:prstDash val="solid"/>
                <a:headEnd type="none" w="sm" len="sm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0" name="Rectangle 43"/>
              <p:cNvSpPr/>
              <p:nvPr/>
            </p:nvSpPr>
            <p:spPr>
              <a:xfrm>
                <a:off x="1282" y="811"/>
                <a:ext cx="796" cy="150"/>
              </a:xfrm>
              <a:prstGeom prst="rect">
                <a:avLst/>
              </a:prstGeom>
              <a:solidFill>
                <a:srgbClr val="00FFFF">
                  <a:alpha val="50195"/>
                </a:srgbClr>
              </a:solidFill>
              <a:ln w="28575" cap="flat" cmpd="sng">
                <a:solidFill>
                  <a:schemeClr val="tx2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2341" name="Line 45"/>
              <p:cNvSpPr/>
              <p:nvPr/>
            </p:nvSpPr>
            <p:spPr>
              <a:xfrm>
                <a:off x="2108" y="960"/>
                <a:ext cx="760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2" name="Line 46"/>
              <p:cNvSpPr/>
              <p:nvPr/>
            </p:nvSpPr>
            <p:spPr>
              <a:xfrm>
                <a:off x="2108" y="1210"/>
                <a:ext cx="760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3" name="Line 47"/>
              <p:cNvSpPr/>
              <p:nvPr/>
            </p:nvSpPr>
            <p:spPr>
              <a:xfrm>
                <a:off x="2716" y="960"/>
                <a:ext cx="0" cy="261"/>
              </a:xfrm>
              <a:prstGeom prst="line">
                <a:avLst/>
              </a:prstGeom>
              <a:ln w="19050" cap="flat" cmpd="sng">
                <a:solidFill>
                  <a:srgbClr val="FF0066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344" name="Object 48"/>
              <p:cNvGraphicFramePr/>
              <p:nvPr/>
            </p:nvGraphicFramePr>
            <p:xfrm>
              <a:off x="2726" y="948"/>
              <a:ext cx="180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82" r:id="rId13" imgW="115570" imgH="157480" progId="Equation.3">
                      <p:embed/>
                    </p:oleObj>
                  </mc:Choice>
                  <mc:Fallback>
                    <p:oleObj r:id="rId13" imgW="115570" imgH="157480" progId="Equation.3">
                      <p:embed/>
                      <p:pic>
                        <p:nvPicPr>
                          <p:cNvPr id="0" name="图片 3125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726" y="948"/>
                            <a:ext cx="180" cy="2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45" name="Object 52"/>
              <p:cNvGraphicFramePr/>
              <p:nvPr/>
            </p:nvGraphicFramePr>
            <p:xfrm>
              <a:off x="2931" y="1547"/>
              <a:ext cx="330" cy="3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83" r:id="rId15" imgW="273050" imgH="236220" progId="Equation.3">
                      <p:embed/>
                    </p:oleObj>
                  </mc:Choice>
                  <mc:Fallback>
                    <p:oleObj r:id="rId15" imgW="273050" imgH="236220" progId="Equation.3">
                      <p:embed/>
                      <p:pic>
                        <p:nvPicPr>
                          <p:cNvPr id="0" name="图片 3126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931" y="1547"/>
                            <a:ext cx="330" cy="32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46" name="Object 53"/>
              <p:cNvGraphicFramePr/>
              <p:nvPr/>
            </p:nvGraphicFramePr>
            <p:xfrm>
              <a:off x="908" y="1067"/>
              <a:ext cx="310" cy="3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84" r:id="rId17" imgW="257810" imgH="236220" progId="Equation.3">
                      <p:embed/>
                    </p:oleObj>
                  </mc:Choice>
                  <mc:Fallback>
                    <p:oleObj r:id="rId17" imgW="257810" imgH="236220" progId="Equation.3">
                      <p:embed/>
                      <p:pic>
                        <p:nvPicPr>
                          <p:cNvPr id="0" name="图片 3127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908" y="1067"/>
                            <a:ext cx="310" cy="32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47" name="Object 54"/>
              <p:cNvGraphicFramePr/>
              <p:nvPr/>
            </p:nvGraphicFramePr>
            <p:xfrm>
              <a:off x="883" y="731"/>
              <a:ext cx="35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885" r:id="rId19" imgW="299720" imgH="236220" progId="Equation.3">
                      <p:embed/>
                    </p:oleObj>
                  </mc:Choice>
                  <mc:Fallback>
                    <p:oleObj r:id="rId19" imgW="299720" imgH="236220" progId="Equation.3">
                      <p:embed/>
                      <p:pic>
                        <p:nvPicPr>
                          <p:cNvPr id="0" name="图片 3128"/>
                          <p:cNvPicPr/>
                          <p:nvPr/>
                        </p:nvPicPr>
                        <p:blipFill>
                          <a:blip r:embed="rId20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883" y="731"/>
                            <a:ext cx="354" cy="33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307" name="Rectangle 50"/>
            <p:cNvSpPr/>
            <p:nvPr/>
          </p:nvSpPr>
          <p:spPr>
            <a:xfrm rot="-2700000">
              <a:off x="1248" y="2075"/>
              <a:ext cx="889" cy="169"/>
            </a:xfrm>
            <a:prstGeom prst="rect">
              <a:avLst/>
            </a:prstGeom>
            <a:solidFill>
              <a:srgbClr val="00FFCC">
                <a:alpha val="50195"/>
              </a:srgb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08" name="Line 51"/>
            <p:cNvSpPr/>
            <p:nvPr/>
          </p:nvSpPr>
          <p:spPr>
            <a:xfrm flipV="1">
              <a:off x="1441" y="1920"/>
              <a:ext cx="623" cy="624"/>
            </a:xfrm>
            <a:prstGeom prst="line">
              <a:avLst/>
            </a:prstGeom>
            <a:ln w="38100" cap="flat" cmpd="sng">
              <a:solidFill>
                <a:srgbClr val="0066FF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61"/>
          <p:cNvGrpSpPr/>
          <p:nvPr/>
        </p:nvGrpSpPr>
        <p:grpSpPr>
          <a:xfrm>
            <a:off x="3913188" y="2806700"/>
            <a:ext cx="806450" cy="2200275"/>
            <a:chOff x="2400" y="1488"/>
            <a:chExt cx="576" cy="1386"/>
          </a:xfrm>
        </p:grpSpPr>
        <p:sp>
          <p:nvSpPr>
            <p:cNvPr id="12299" name="Rectangle 62"/>
            <p:cNvSpPr/>
            <p:nvPr/>
          </p:nvSpPr>
          <p:spPr>
            <a:xfrm>
              <a:off x="2640" y="1728"/>
              <a:ext cx="96" cy="528"/>
            </a:xfrm>
            <a:prstGeom prst="rect">
              <a:avLst/>
            </a:prstGeom>
            <a:solidFill>
              <a:srgbClr val="FF6600">
                <a:alpha val="50195"/>
              </a:srgb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2300" name="Line 63"/>
            <p:cNvSpPr/>
            <p:nvPr/>
          </p:nvSpPr>
          <p:spPr>
            <a:xfrm>
              <a:off x="2640" y="2208"/>
              <a:ext cx="0" cy="52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1" name="Line 64"/>
            <p:cNvSpPr/>
            <p:nvPr/>
          </p:nvSpPr>
          <p:spPr>
            <a:xfrm>
              <a:off x="2735" y="2208"/>
              <a:ext cx="0" cy="528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2" name="Line 65"/>
            <p:cNvSpPr/>
            <p:nvPr/>
          </p:nvSpPr>
          <p:spPr>
            <a:xfrm>
              <a:off x="2400" y="2592"/>
              <a:ext cx="240" cy="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3" name="Line 66"/>
            <p:cNvSpPr/>
            <p:nvPr/>
          </p:nvSpPr>
          <p:spPr>
            <a:xfrm>
              <a:off x="2735" y="2592"/>
              <a:ext cx="240" cy="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04" name="Object 67"/>
            <p:cNvGraphicFramePr/>
            <p:nvPr/>
          </p:nvGraphicFramePr>
          <p:xfrm>
            <a:off x="2783" y="2592"/>
            <a:ext cx="193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6" r:id="rId21" imgW="62865" imgH="131445" progId="Equation.3">
                    <p:embed/>
                  </p:oleObj>
                </mc:Choice>
                <mc:Fallback>
                  <p:oleObj r:id="rId21" imgW="62865" imgH="131445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83" y="2592"/>
                          <a:ext cx="193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Object 68"/>
            <p:cNvGraphicFramePr/>
            <p:nvPr/>
          </p:nvGraphicFramePr>
          <p:xfrm>
            <a:off x="2642" y="1488"/>
            <a:ext cx="20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7" r:id="rId23" imgW="105410" imgH="115570" progId="Equation.3">
                    <p:embed/>
                  </p:oleObj>
                </mc:Choice>
                <mc:Fallback>
                  <p:oleObj r:id="rId23" imgW="105410" imgH="11557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42" y="1488"/>
                          <a:ext cx="202" cy="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6" name="Text Box 70"/>
          <p:cNvSpPr txBox="1"/>
          <p:nvPr/>
        </p:nvSpPr>
        <p:spPr>
          <a:xfrm>
            <a:off x="5508625" y="1114743"/>
            <a:ext cx="1600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光程差</a:t>
            </a:r>
          </a:p>
        </p:txBody>
      </p:sp>
      <p:graphicFrame>
        <p:nvGraphicFramePr>
          <p:cNvPr id="12297" name="Object 71"/>
          <p:cNvGraphicFramePr/>
          <p:nvPr/>
        </p:nvGraphicFramePr>
        <p:xfrm>
          <a:off x="7020243" y="1115060"/>
          <a:ext cx="13208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8" r:id="rId25" imgW="309880" imgH="105410" progId="Equation.3">
                  <p:embed/>
                </p:oleObj>
              </mc:Choice>
              <mc:Fallback>
                <p:oleObj r:id="rId25" imgW="309880" imgH="10541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6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20243" y="1115060"/>
                        <a:ext cx="132080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Text Box 81"/>
          <p:cNvSpPr txBox="1"/>
          <p:nvPr/>
        </p:nvSpPr>
        <p:spPr>
          <a:xfrm>
            <a:off x="3100705" y="44450"/>
            <a:ext cx="348424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迈克尔逊干涉仪</a:t>
            </a:r>
          </a:p>
        </p:txBody>
      </p:sp>
      <p:graphicFrame>
        <p:nvGraphicFramePr>
          <p:cNvPr id="22583" name="Object 55"/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8950715"/>
              </p:ext>
            </p:extLst>
          </p:nvPr>
        </p:nvGraphicFramePr>
        <p:xfrm>
          <a:off x="1038225" y="5734050"/>
          <a:ext cx="30273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9" name="公式" r:id="rId27" imgW="1117440" imgH="203040" progId="Equation.3">
                  <p:embed/>
                </p:oleObj>
              </mc:Choice>
              <mc:Fallback>
                <p:oleObj name="公式" r:id="rId27" imgW="1117440" imgH="20304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38225" y="5734050"/>
                        <a:ext cx="3027363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5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251960" y="5661660"/>
            <a:ext cx="4253865" cy="58356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solidFill>
                  <a:srgbClr val="003366"/>
                </a:solidFill>
                <a:latin typeface="宋体" panose="02010600030101010101" pitchFamily="2" charset="-122"/>
                <a:sym typeface="+mn-ea"/>
              </a:rPr>
              <a:t>Δ</a:t>
            </a:r>
            <a:r>
              <a:rPr lang="en-US" altLang="zh-CN" i="1" dirty="0" smtClean="0">
                <a:solidFill>
                  <a:srgbClr val="003366"/>
                </a:solidFill>
                <a:cs typeface="Times New Roman" panose="02020603050405020304" pitchFamily="18" charset="0"/>
                <a:sym typeface="+mn-ea"/>
              </a:rPr>
              <a:t>N</a:t>
            </a:r>
            <a:r>
              <a:rPr lang="zh-CN" altLang="en-US" dirty="0" smtClean="0">
                <a:solidFill>
                  <a:srgbClr val="003366"/>
                </a:solidFill>
                <a:latin typeface="Bookman Old Style" panose="02050604050505020204" charset="0"/>
                <a:sym typeface="+mn-ea"/>
              </a:rPr>
              <a:t>干涉条纹</a:t>
            </a:r>
            <a:r>
              <a:rPr lang="zh-CN" altLang="en-US" dirty="0">
                <a:solidFill>
                  <a:srgbClr val="003366"/>
                </a:solidFill>
                <a:latin typeface="Bookman Old Style" panose="02050604050505020204" charset="0"/>
                <a:sym typeface="+mn-ea"/>
              </a:rPr>
              <a:t>移动数目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60" name="Rectangle 24"/>
          <p:cNvSpPr>
            <a:spLocks noChangeArrowheads="1"/>
          </p:cNvSpPr>
          <p:nvPr/>
        </p:nvSpPr>
        <p:spPr bwMode="auto">
          <a:xfrm>
            <a:off x="3087688" y="195263"/>
            <a:ext cx="342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rPr>
              <a:t>   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rPr>
              <a:t>牛顿环</a:t>
            </a:r>
          </a:p>
        </p:txBody>
      </p:sp>
      <p:sp>
        <p:nvSpPr>
          <p:cNvPr id="12291" name="Text Box 25"/>
          <p:cNvSpPr txBox="1">
            <a:spLocks noChangeArrowheads="1"/>
          </p:cNvSpPr>
          <p:nvPr/>
        </p:nvSpPr>
        <p:spPr bwMode="auto">
          <a:xfrm>
            <a:off x="1371600" y="1385888"/>
            <a:ext cx="65849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66"/>
                </a:solidFill>
                <a:latin typeface="Times New Roman" panose="02020603050405020304" pitchFamily="18" charset="0"/>
              </a:rPr>
              <a:t>由一块平板玻璃和一平凸透镜组成</a:t>
            </a:r>
          </a:p>
        </p:txBody>
      </p:sp>
      <p:grpSp>
        <p:nvGrpSpPr>
          <p:cNvPr id="12292" name="Group 2"/>
          <p:cNvGrpSpPr>
            <a:grpSpLocks/>
          </p:cNvGrpSpPr>
          <p:nvPr/>
        </p:nvGrpSpPr>
        <p:grpSpPr bwMode="auto">
          <a:xfrm>
            <a:off x="900113" y="1981200"/>
            <a:ext cx="7315200" cy="3292475"/>
            <a:chOff x="432" y="1104"/>
            <a:chExt cx="4944" cy="2256"/>
          </a:xfrm>
        </p:grpSpPr>
        <p:sp>
          <p:nvSpPr>
            <p:cNvPr id="12307" name="Rectangle 3"/>
            <p:cNvSpPr>
              <a:spLocks noChangeArrowheads="1"/>
            </p:cNvSpPr>
            <p:nvPr/>
          </p:nvSpPr>
          <p:spPr bwMode="auto">
            <a:xfrm>
              <a:off x="432" y="1104"/>
              <a:ext cx="4944" cy="22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08" name="Rectangle 4"/>
            <p:cNvSpPr>
              <a:spLocks noChangeArrowheads="1"/>
            </p:cNvSpPr>
            <p:nvPr/>
          </p:nvSpPr>
          <p:spPr bwMode="auto">
            <a:xfrm>
              <a:off x="816" y="2880"/>
              <a:ext cx="3936" cy="371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2309" name="Group 5"/>
            <p:cNvGrpSpPr>
              <a:grpSpLocks/>
            </p:cNvGrpSpPr>
            <p:nvPr/>
          </p:nvGrpSpPr>
          <p:grpSpPr bwMode="auto">
            <a:xfrm>
              <a:off x="1295" y="1440"/>
              <a:ext cx="3121" cy="890"/>
              <a:chOff x="1295" y="1584"/>
              <a:chExt cx="3073" cy="746"/>
            </a:xfrm>
          </p:grpSpPr>
          <p:sp>
            <p:nvSpPr>
              <p:cNvPr id="12310" name="Line 6"/>
              <p:cNvSpPr>
                <a:spLocks noChangeShapeType="1"/>
              </p:cNvSpPr>
              <p:nvPr/>
            </p:nvSpPr>
            <p:spPr bwMode="auto">
              <a:xfrm>
                <a:off x="1807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1" name="Line 7"/>
              <p:cNvSpPr>
                <a:spLocks noChangeShapeType="1"/>
              </p:cNvSpPr>
              <p:nvPr/>
            </p:nvSpPr>
            <p:spPr bwMode="auto">
              <a:xfrm>
                <a:off x="1295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2" name="Line 8"/>
              <p:cNvSpPr>
                <a:spLocks noChangeShapeType="1"/>
              </p:cNvSpPr>
              <p:nvPr/>
            </p:nvSpPr>
            <p:spPr bwMode="auto">
              <a:xfrm>
                <a:off x="2319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3" name="Line 9"/>
              <p:cNvSpPr>
                <a:spLocks noChangeShapeType="1"/>
              </p:cNvSpPr>
              <p:nvPr/>
            </p:nvSpPr>
            <p:spPr bwMode="auto">
              <a:xfrm>
                <a:off x="3344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4" name="Line 10"/>
              <p:cNvSpPr>
                <a:spLocks noChangeShapeType="1"/>
              </p:cNvSpPr>
              <p:nvPr/>
            </p:nvSpPr>
            <p:spPr bwMode="auto">
              <a:xfrm>
                <a:off x="4368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5" name="Line 11"/>
              <p:cNvSpPr>
                <a:spLocks noChangeShapeType="1"/>
              </p:cNvSpPr>
              <p:nvPr/>
            </p:nvSpPr>
            <p:spPr bwMode="auto">
              <a:xfrm>
                <a:off x="2832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6" name="Line 12"/>
              <p:cNvSpPr>
                <a:spLocks noChangeShapeType="1"/>
              </p:cNvSpPr>
              <p:nvPr/>
            </p:nvSpPr>
            <p:spPr bwMode="auto">
              <a:xfrm>
                <a:off x="3855" y="1584"/>
                <a:ext cx="0" cy="74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146800" y="3938588"/>
            <a:ext cx="2082800" cy="1122362"/>
            <a:chOff x="3840" y="2448"/>
            <a:chExt cx="1408" cy="768"/>
          </a:xfrm>
        </p:grpSpPr>
        <p:sp>
          <p:nvSpPr>
            <p:cNvPr id="12301" name="Line 14"/>
            <p:cNvSpPr>
              <a:spLocks noChangeShapeType="1"/>
            </p:cNvSpPr>
            <p:nvPr/>
          </p:nvSpPr>
          <p:spPr bwMode="auto">
            <a:xfrm>
              <a:off x="3888" y="2880"/>
              <a:ext cx="12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2302" name="Group 15"/>
            <p:cNvGrpSpPr>
              <a:grpSpLocks/>
            </p:cNvGrpSpPr>
            <p:nvPr/>
          </p:nvGrpSpPr>
          <p:grpSpPr bwMode="auto">
            <a:xfrm>
              <a:off x="3840" y="2448"/>
              <a:ext cx="1408" cy="768"/>
              <a:chOff x="3840" y="2448"/>
              <a:chExt cx="1408" cy="768"/>
            </a:xfrm>
          </p:grpSpPr>
          <p:sp>
            <p:nvSpPr>
              <p:cNvPr id="12303" name="Line 16"/>
              <p:cNvSpPr>
                <a:spLocks noChangeShapeType="1"/>
              </p:cNvSpPr>
              <p:nvPr/>
            </p:nvSpPr>
            <p:spPr bwMode="auto">
              <a:xfrm>
                <a:off x="3840" y="2784"/>
                <a:ext cx="129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prstDash val="dash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4" name="Line 17"/>
              <p:cNvSpPr>
                <a:spLocks noChangeShapeType="1"/>
              </p:cNvSpPr>
              <p:nvPr/>
            </p:nvSpPr>
            <p:spPr bwMode="auto">
              <a:xfrm>
                <a:off x="4896" y="2448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prstDash val="dash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5" name="Line 18"/>
              <p:cNvSpPr>
                <a:spLocks noChangeShapeType="1"/>
              </p:cNvSpPr>
              <p:nvPr/>
            </p:nvSpPr>
            <p:spPr bwMode="auto">
              <a:xfrm flipV="1">
                <a:off x="4896" y="2880"/>
                <a:ext cx="0" cy="33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prstDash val="dash"/>
                <a:round/>
                <a:headEnd type="none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2306" name="Object 19"/>
              <p:cNvGraphicFramePr>
                <a:graphicFrameLocks noChangeAspect="1"/>
              </p:cNvGraphicFramePr>
              <p:nvPr/>
            </p:nvGraphicFramePr>
            <p:xfrm>
              <a:off x="4944" y="2448"/>
              <a:ext cx="304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326" name="公式" r:id="rId3" imgW="83602" imgH="121698" progId="Equation.3">
                      <p:embed/>
                    </p:oleObj>
                  </mc:Choice>
                  <mc:Fallback>
                    <p:oleObj name="公式" r:id="rId3" imgW="83602" imgH="12169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4" y="2448"/>
                            <a:ext cx="304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9956" name="Line 20"/>
          <p:cNvSpPr>
            <a:spLocks noChangeShapeType="1"/>
          </p:cNvSpPr>
          <p:nvPr/>
        </p:nvSpPr>
        <p:spPr bwMode="auto">
          <a:xfrm flipH="1">
            <a:off x="6013450" y="2439988"/>
            <a:ext cx="1588" cy="21510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6161088" y="1981200"/>
            <a:ext cx="142875" cy="2579688"/>
            <a:chOff x="3984" y="1152"/>
            <a:chExt cx="96" cy="1728"/>
          </a:xfrm>
        </p:grpSpPr>
        <p:sp>
          <p:nvSpPr>
            <p:cNvPr id="12299" name="Line 22"/>
            <p:cNvSpPr>
              <a:spLocks noChangeShapeType="1"/>
            </p:cNvSpPr>
            <p:nvPr/>
          </p:nvSpPr>
          <p:spPr bwMode="auto">
            <a:xfrm flipV="1">
              <a:off x="3984" y="1152"/>
              <a:ext cx="0" cy="1632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0" name="Line 23"/>
            <p:cNvSpPr>
              <a:spLocks noChangeShapeType="1"/>
            </p:cNvSpPr>
            <p:nvPr/>
          </p:nvSpPr>
          <p:spPr bwMode="auto">
            <a:xfrm flipV="1">
              <a:off x="4080" y="1152"/>
              <a:ext cx="0" cy="1728"/>
            </a:xfrm>
            <a:prstGeom prst="line">
              <a:avLst/>
            </a:prstGeom>
            <a:noFill/>
            <a:ln w="28575">
              <a:solidFill>
                <a:srgbClr val="CC0099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9963" name="Object 27"/>
          <p:cNvGraphicFramePr>
            <a:graphicFrameLocks noChangeAspect="1"/>
          </p:cNvGraphicFramePr>
          <p:nvPr/>
        </p:nvGraphicFramePr>
        <p:xfrm>
          <a:off x="4478338" y="5327650"/>
          <a:ext cx="2008187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7" name="Equation" r:id="rId5" imgW="663071" imgH="327688" progId="Equation.3">
                  <p:embed/>
                </p:oleObj>
              </mc:Choice>
              <mc:Fallback>
                <p:oleObj name="Equation" r:id="rId5" imgW="663071" imgH="3276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8338" y="5327650"/>
                        <a:ext cx="2008187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C2C29B"/>
                                </a:gs>
                                <a:gs pos="50000">
                                  <a:srgbClr val="FFFFCC"/>
                                </a:gs>
                                <a:gs pos="100000">
                                  <a:srgbClr val="C2C29B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4" name="Text Box 28"/>
          <p:cNvSpPr txBox="1">
            <a:spLocks noChangeArrowheads="1"/>
          </p:cNvSpPr>
          <p:nvPr/>
        </p:nvSpPr>
        <p:spPr bwMode="auto">
          <a:xfrm>
            <a:off x="1947863" y="5559425"/>
            <a:ext cx="1771650" cy="5286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003366"/>
                </a:solidFill>
                <a:latin typeface="Times New Roman" pitchFamily="18" charset="0"/>
              </a:rPr>
              <a:t>光程差</a:t>
            </a:r>
          </a:p>
        </p:txBody>
      </p:sp>
      <p:sp>
        <p:nvSpPr>
          <p:cNvPr id="12298" name="AutoShape 29"/>
          <p:cNvSpPr>
            <a:spLocks noChangeArrowheads="1"/>
          </p:cNvSpPr>
          <p:nvPr/>
        </p:nvSpPr>
        <p:spPr bwMode="auto">
          <a:xfrm>
            <a:off x="1565275" y="2971800"/>
            <a:ext cx="5753100" cy="1612900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21600 w 21600"/>
              <a:gd name="T13" fmla="*/ 10800 h 21600"/>
              <a:gd name="T14" fmla="*/ 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00" y="10800"/>
                </a:moveTo>
                <a:cubicBezTo>
                  <a:pt x="10800" y="10800"/>
                  <a:pt x="10800" y="10800"/>
                  <a:pt x="10800" y="10800"/>
                </a:cubicBezTo>
                <a:cubicBezTo>
                  <a:pt x="10800" y="10800"/>
                  <a:pt x="10800" y="10800"/>
                  <a:pt x="10800" y="10800"/>
                </a:cubicBezTo>
                <a:lnTo>
                  <a:pt x="0" y="10800"/>
                </a:ln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lnTo>
                  <a:pt x="10800" y="10800"/>
                </a:lnTo>
                <a:close/>
              </a:path>
            </a:pathLst>
          </a:custGeom>
          <a:solidFill>
            <a:srgbClr val="00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73537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9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9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6" grpId="0" animBg="1"/>
      <p:bldP spid="39964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1924050" y="185738"/>
            <a:ext cx="4953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</a:rPr>
              <a:t>      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牛顿环实验装置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638800" y="1600200"/>
            <a:ext cx="2819400" cy="4579938"/>
            <a:chOff x="3696" y="960"/>
            <a:chExt cx="1776" cy="2933"/>
          </a:xfrm>
        </p:grpSpPr>
        <p:sp>
          <p:nvSpPr>
            <p:cNvPr id="13353" name="Rectangle 4"/>
            <p:cNvSpPr>
              <a:spLocks noChangeArrowheads="1"/>
            </p:cNvSpPr>
            <p:nvPr/>
          </p:nvSpPr>
          <p:spPr bwMode="auto">
            <a:xfrm>
              <a:off x="3696" y="960"/>
              <a:ext cx="1776" cy="29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66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965" name="Rectangle 5"/>
            <p:cNvSpPr>
              <a:spLocks noChangeArrowheads="1"/>
            </p:cNvSpPr>
            <p:nvPr/>
          </p:nvSpPr>
          <p:spPr bwMode="auto">
            <a:xfrm>
              <a:off x="3696" y="3555"/>
              <a:ext cx="1776" cy="338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2800" b="1">
                  <a:solidFill>
                    <a:srgbClr val="003366"/>
                  </a:solidFill>
                  <a:latin typeface="Times New Roman" pitchFamily="18" charset="0"/>
                </a:rPr>
                <a:t>牛顿环干涉图样</a:t>
              </a:r>
            </a:p>
          </p:txBody>
        </p:sp>
        <p:grpSp>
          <p:nvGrpSpPr>
            <p:cNvPr id="13355" name="Group 6"/>
            <p:cNvGrpSpPr>
              <a:grpSpLocks/>
            </p:cNvGrpSpPr>
            <p:nvPr/>
          </p:nvGrpSpPr>
          <p:grpSpPr bwMode="auto">
            <a:xfrm>
              <a:off x="3840" y="1296"/>
              <a:ext cx="1488" cy="1440"/>
              <a:chOff x="3888" y="1728"/>
              <a:chExt cx="1440" cy="1440"/>
            </a:xfrm>
          </p:grpSpPr>
          <p:sp>
            <p:nvSpPr>
              <p:cNvPr id="13356" name="Oval 7"/>
              <p:cNvSpPr>
                <a:spLocks noChangeArrowheads="1"/>
              </p:cNvSpPr>
              <p:nvPr/>
            </p:nvSpPr>
            <p:spPr bwMode="auto">
              <a:xfrm>
                <a:off x="3888" y="1728"/>
                <a:ext cx="1440" cy="144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57" name="Oval 8"/>
              <p:cNvSpPr>
                <a:spLocks noChangeArrowheads="1"/>
              </p:cNvSpPr>
              <p:nvPr/>
            </p:nvSpPr>
            <p:spPr bwMode="auto">
              <a:xfrm>
                <a:off x="3920" y="1761"/>
                <a:ext cx="1376" cy="137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58" name="Oval 9"/>
              <p:cNvSpPr>
                <a:spLocks noChangeArrowheads="1"/>
              </p:cNvSpPr>
              <p:nvPr/>
            </p:nvSpPr>
            <p:spPr bwMode="auto">
              <a:xfrm>
                <a:off x="3953" y="1793"/>
                <a:ext cx="1310" cy="131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59" name="Oval 10"/>
              <p:cNvSpPr>
                <a:spLocks noChangeArrowheads="1"/>
              </p:cNvSpPr>
              <p:nvPr/>
            </p:nvSpPr>
            <p:spPr bwMode="auto">
              <a:xfrm>
                <a:off x="3985" y="1826"/>
                <a:ext cx="1246" cy="12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0" name="Oval 11"/>
              <p:cNvSpPr>
                <a:spLocks noChangeArrowheads="1"/>
              </p:cNvSpPr>
              <p:nvPr/>
            </p:nvSpPr>
            <p:spPr bwMode="auto">
              <a:xfrm>
                <a:off x="4018" y="1858"/>
                <a:ext cx="1180" cy="1180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1" name="Oval 12"/>
              <p:cNvSpPr>
                <a:spLocks noChangeArrowheads="1"/>
              </p:cNvSpPr>
              <p:nvPr/>
            </p:nvSpPr>
            <p:spPr bwMode="auto">
              <a:xfrm>
                <a:off x="4051" y="1891"/>
                <a:ext cx="1114" cy="111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2" name="Oval 13"/>
              <p:cNvSpPr>
                <a:spLocks noChangeArrowheads="1"/>
              </p:cNvSpPr>
              <p:nvPr/>
            </p:nvSpPr>
            <p:spPr bwMode="auto">
              <a:xfrm>
                <a:off x="4085" y="1925"/>
                <a:ext cx="1046" cy="1046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3" name="Oval 14"/>
              <p:cNvSpPr>
                <a:spLocks noChangeArrowheads="1"/>
              </p:cNvSpPr>
              <p:nvPr/>
            </p:nvSpPr>
            <p:spPr bwMode="auto">
              <a:xfrm>
                <a:off x="4151" y="1990"/>
                <a:ext cx="914" cy="916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4" name="Oval 15"/>
              <p:cNvSpPr>
                <a:spLocks noChangeArrowheads="1"/>
              </p:cNvSpPr>
              <p:nvPr/>
            </p:nvSpPr>
            <p:spPr bwMode="auto">
              <a:xfrm>
                <a:off x="4118" y="1958"/>
                <a:ext cx="980" cy="98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5" name="Oval 16"/>
              <p:cNvSpPr>
                <a:spLocks noChangeArrowheads="1"/>
              </p:cNvSpPr>
              <p:nvPr/>
            </p:nvSpPr>
            <p:spPr bwMode="auto">
              <a:xfrm>
                <a:off x="4165" y="2006"/>
                <a:ext cx="886" cy="884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6" name="Oval 17"/>
              <p:cNvSpPr>
                <a:spLocks noChangeArrowheads="1"/>
              </p:cNvSpPr>
              <p:nvPr/>
            </p:nvSpPr>
            <p:spPr bwMode="auto">
              <a:xfrm>
                <a:off x="4216" y="2055"/>
                <a:ext cx="784" cy="78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7" name="Oval 18"/>
              <p:cNvSpPr>
                <a:spLocks noChangeArrowheads="1"/>
              </p:cNvSpPr>
              <p:nvPr/>
            </p:nvSpPr>
            <p:spPr bwMode="auto">
              <a:xfrm>
                <a:off x="4280" y="2121"/>
                <a:ext cx="656" cy="654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8" name="Oval 19"/>
              <p:cNvSpPr>
                <a:spLocks noChangeArrowheads="1"/>
              </p:cNvSpPr>
              <p:nvPr/>
            </p:nvSpPr>
            <p:spPr bwMode="auto">
              <a:xfrm>
                <a:off x="4331" y="2170"/>
                <a:ext cx="554" cy="55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69" name="Oval 20"/>
              <p:cNvSpPr>
                <a:spLocks noChangeArrowheads="1"/>
              </p:cNvSpPr>
              <p:nvPr/>
            </p:nvSpPr>
            <p:spPr bwMode="auto">
              <a:xfrm>
                <a:off x="4400" y="2239"/>
                <a:ext cx="416" cy="418"/>
              </a:xfrm>
              <a:prstGeom prst="ellipse">
                <a:avLst/>
              </a:prstGeom>
              <a:solidFill>
                <a:srgbClr val="FFCC00"/>
              </a:solidFill>
              <a:ln w="12700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370" name="Oval 21"/>
              <p:cNvSpPr>
                <a:spLocks noChangeArrowheads="1"/>
              </p:cNvSpPr>
              <p:nvPr/>
            </p:nvSpPr>
            <p:spPr bwMode="auto">
              <a:xfrm>
                <a:off x="4478" y="2318"/>
                <a:ext cx="260" cy="26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rgbClr val="0066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  <p:sp>
        <p:nvSpPr>
          <p:cNvPr id="13316" name="Rectangle 23"/>
          <p:cNvSpPr>
            <a:spLocks noChangeArrowheads="1"/>
          </p:cNvSpPr>
          <p:nvPr/>
        </p:nvSpPr>
        <p:spPr bwMode="auto">
          <a:xfrm>
            <a:off x="681038" y="1600200"/>
            <a:ext cx="4886325" cy="457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7" name="Text Box 24"/>
          <p:cNvSpPr txBox="1">
            <a:spLocks noChangeArrowheads="1"/>
          </p:cNvSpPr>
          <p:nvPr/>
        </p:nvSpPr>
        <p:spPr bwMode="auto">
          <a:xfrm>
            <a:off x="1717675" y="1749425"/>
            <a:ext cx="2665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3366"/>
                </a:solidFill>
                <a:latin typeface="Times New Roman" panose="02020603050405020304" pitchFamily="18" charset="0"/>
              </a:rPr>
              <a:t>显微镜</a:t>
            </a:r>
            <a:endParaRPr lang="zh-CN" altLang="zh-CN" sz="2800" b="1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8" name="AutoShape 25"/>
          <p:cNvSpPr>
            <a:spLocks noChangeArrowheads="1"/>
          </p:cNvSpPr>
          <p:nvPr/>
        </p:nvSpPr>
        <p:spPr bwMode="auto">
          <a:xfrm>
            <a:off x="2517775" y="5191125"/>
            <a:ext cx="1814513" cy="587375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21600 w 21600"/>
              <a:gd name="T13" fmla="*/ 10800 h 21600"/>
              <a:gd name="T14" fmla="*/ 0 w 21600"/>
              <a:gd name="T15" fmla="*/ 216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964" y="10800"/>
                </a:moveTo>
                <a:cubicBezTo>
                  <a:pt x="10964" y="10890"/>
                  <a:pt x="10890" y="10964"/>
                  <a:pt x="10800" y="10964"/>
                </a:cubicBezTo>
                <a:cubicBezTo>
                  <a:pt x="10709" y="10964"/>
                  <a:pt x="10636" y="10890"/>
                  <a:pt x="10636" y="10800"/>
                </a:cubicBezTo>
                <a:lnTo>
                  <a:pt x="0" y="10800"/>
                </a:ln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lnTo>
                  <a:pt x="10964" y="10800"/>
                </a:lnTo>
                <a:close/>
              </a:path>
            </a:pathLst>
          </a:custGeom>
          <a:solidFill>
            <a:srgbClr val="00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6" name="Rectangle 26"/>
          <p:cNvSpPr>
            <a:spLocks noChangeArrowheads="1"/>
          </p:cNvSpPr>
          <p:nvPr/>
        </p:nvSpPr>
        <p:spPr bwMode="auto">
          <a:xfrm>
            <a:off x="3200400" y="1819275"/>
            <a:ext cx="544513" cy="485775"/>
          </a:xfrm>
          <a:prstGeom prst="rect">
            <a:avLst/>
          </a:prstGeom>
          <a:gradFill rotWithShape="0">
            <a:gsLst>
              <a:gs pos="0">
                <a:schemeClr val="accent1">
                  <a:gamma/>
                  <a:shade val="36078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36078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40987" name="AutoShape 27"/>
          <p:cNvSpPr>
            <a:spLocks noChangeArrowheads="1"/>
          </p:cNvSpPr>
          <p:nvPr/>
        </p:nvSpPr>
        <p:spPr bwMode="auto">
          <a:xfrm>
            <a:off x="3198813" y="2305050"/>
            <a:ext cx="546100" cy="195263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chemeClr val="accent1">
                  <a:gamma/>
                  <a:shade val="2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26275"/>
                  <a:invGamma/>
                </a:schemeClr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3321" name="Oval 28"/>
          <p:cNvSpPr>
            <a:spLocks noChangeArrowheads="1"/>
          </p:cNvSpPr>
          <p:nvPr/>
        </p:nvSpPr>
        <p:spPr bwMode="auto">
          <a:xfrm>
            <a:off x="2198688" y="3109913"/>
            <a:ext cx="182562" cy="1066800"/>
          </a:xfrm>
          <a:prstGeom prst="ellipse">
            <a:avLst/>
          </a:prstGeom>
          <a:solidFill>
            <a:srgbClr val="00FFCC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2" name="Line 29"/>
          <p:cNvSpPr>
            <a:spLocks noChangeShapeType="1"/>
          </p:cNvSpPr>
          <p:nvPr/>
        </p:nvSpPr>
        <p:spPr bwMode="auto">
          <a:xfrm flipV="1">
            <a:off x="1565275" y="3303588"/>
            <a:ext cx="633413" cy="3889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3" name="Line 30"/>
          <p:cNvSpPr>
            <a:spLocks noChangeShapeType="1"/>
          </p:cNvSpPr>
          <p:nvPr/>
        </p:nvSpPr>
        <p:spPr bwMode="auto">
          <a:xfrm>
            <a:off x="1565275" y="3692525"/>
            <a:ext cx="633413" cy="290513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4" name="Line 31"/>
          <p:cNvSpPr>
            <a:spLocks noChangeShapeType="1"/>
          </p:cNvSpPr>
          <p:nvPr/>
        </p:nvSpPr>
        <p:spPr bwMode="auto">
          <a:xfrm>
            <a:off x="2198688" y="3303588"/>
            <a:ext cx="8191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5" name="Rectangle 32"/>
          <p:cNvSpPr>
            <a:spLocks noChangeArrowheads="1"/>
          </p:cNvSpPr>
          <p:nvPr/>
        </p:nvSpPr>
        <p:spPr bwMode="auto">
          <a:xfrm rot="-3075295">
            <a:off x="3436144" y="2770981"/>
            <a:ext cx="107950" cy="1665288"/>
          </a:xfrm>
          <a:prstGeom prst="rect">
            <a:avLst/>
          </a:prstGeom>
          <a:solidFill>
            <a:srgbClr val="00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6" name="Line 33"/>
          <p:cNvSpPr>
            <a:spLocks noChangeShapeType="1"/>
          </p:cNvSpPr>
          <p:nvPr/>
        </p:nvSpPr>
        <p:spPr bwMode="auto">
          <a:xfrm>
            <a:off x="3927475" y="2430463"/>
            <a:ext cx="0" cy="330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7" name="Line 34"/>
          <p:cNvSpPr>
            <a:spLocks noChangeShapeType="1"/>
          </p:cNvSpPr>
          <p:nvPr/>
        </p:nvSpPr>
        <p:spPr bwMode="auto">
          <a:xfrm>
            <a:off x="3017838" y="2430463"/>
            <a:ext cx="0" cy="33020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8" name="Line 35"/>
          <p:cNvSpPr>
            <a:spLocks noChangeShapeType="1"/>
          </p:cNvSpPr>
          <p:nvPr/>
        </p:nvSpPr>
        <p:spPr bwMode="auto">
          <a:xfrm>
            <a:off x="2198688" y="3983038"/>
            <a:ext cx="1728787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9" name="Text Box 36"/>
          <p:cNvSpPr txBox="1">
            <a:spLocks noChangeArrowheads="1"/>
          </p:cNvSpPr>
          <p:nvPr/>
        </p:nvSpPr>
        <p:spPr bwMode="auto">
          <a:xfrm>
            <a:off x="1201738" y="340042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solidFill>
                  <a:srgbClr val="003366"/>
                </a:solidFill>
                <a:latin typeface="Times New Roman" panose="02020603050405020304" pitchFamily="18" charset="0"/>
              </a:rPr>
              <a:t>S</a:t>
            </a:r>
            <a:endParaRPr lang="en-US" altLang="zh-CN" sz="2800" b="1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0" name="Text Box 37"/>
          <p:cNvSpPr txBox="1">
            <a:spLocks noChangeArrowheads="1"/>
          </p:cNvSpPr>
          <p:nvPr/>
        </p:nvSpPr>
        <p:spPr bwMode="auto">
          <a:xfrm>
            <a:off x="2106613" y="2589213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3366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3331" name="Line 38"/>
          <p:cNvSpPr>
            <a:spLocks noChangeShapeType="1"/>
          </p:cNvSpPr>
          <p:nvPr/>
        </p:nvSpPr>
        <p:spPr bwMode="auto">
          <a:xfrm>
            <a:off x="3011488" y="4370388"/>
            <a:ext cx="0" cy="6810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2" name="Line 39"/>
          <p:cNvSpPr>
            <a:spLocks noChangeShapeType="1"/>
          </p:cNvSpPr>
          <p:nvPr/>
        </p:nvSpPr>
        <p:spPr bwMode="auto">
          <a:xfrm>
            <a:off x="3916363" y="4370388"/>
            <a:ext cx="0" cy="681037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3" name="Line 40"/>
          <p:cNvSpPr>
            <a:spLocks noChangeShapeType="1"/>
          </p:cNvSpPr>
          <p:nvPr/>
        </p:nvSpPr>
        <p:spPr bwMode="auto">
          <a:xfrm>
            <a:off x="2562225" y="3303588"/>
            <a:ext cx="2730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4" name="Line 41"/>
          <p:cNvSpPr>
            <a:spLocks noChangeShapeType="1"/>
          </p:cNvSpPr>
          <p:nvPr/>
        </p:nvSpPr>
        <p:spPr bwMode="auto">
          <a:xfrm>
            <a:off x="2562225" y="3983038"/>
            <a:ext cx="2730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5" name="Freeform 42"/>
          <p:cNvSpPr>
            <a:spLocks/>
          </p:cNvSpPr>
          <p:nvPr/>
        </p:nvSpPr>
        <p:spPr bwMode="auto">
          <a:xfrm>
            <a:off x="3013075" y="2624138"/>
            <a:ext cx="12700" cy="244475"/>
          </a:xfrm>
          <a:custGeom>
            <a:avLst/>
            <a:gdLst>
              <a:gd name="T0" fmla="*/ 2147483646 w 8"/>
              <a:gd name="T1" fmla="*/ 0 h 156"/>
              <a:gd name="T2" fmla="*/ 0 w 8"/>
              <a:gd name="T3" fmla="*/ 2147483646 h 156"/>
              <a:gd name="T4" fmla="*/ 0 60000 65536"/>
              <a:gd name="T5" fmla="*/ 0 60000 65536"/>
              <a:gd name="T6" fmla="*/ 0 w 8"/>
              <a:gd name="T7" fmla="*/ 0 h 156"/>
              <a:gd name="T8" fmla="*/ 8 w 8"/>
              <a:gd name="T9" fmla="*/ 156 h 1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" h="156">
                <a:moveTo>
                  <a:pt x="8" y="0"/>
                </a:moveTo>
                <a:lnTo>
                  <a:pt x="0" y="156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6" name="Line 43"/>
          <p:cNvSpPr>
            <a:spLocks noChangeShapeType="1"/>
          </p:cNvSpPr>
          <p:nvPr/>
        </p:nvSpPr>
        <p:spPr bwMode="auto">
          <a:xfrm>
            <a:off x="3922713" y="2624138"/>
            <a:ext cx="0" cy="29051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 type="triangl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7" name="Line 44"/>
          <p:cNvSpPr>
            <a:spLocks noChangeShapeType="1"/>
          </p:cNvSpPr>
          <p:nvPr/>
        </p:nvSpPr>
        <p:spPr bwMode="auto">
          <a:xfrm>
            <a:off x="3424238" y="3848100"/>
            <a:ext cx="495300" cy="1846263"/>
          </a:xfrm>
          <a:prstGeom prst="line">
            <a:avLst/>
          </a:prstGeom>
          <a:noFill/>
          <a:ln w="19050">
            <a:solidFill>
              <a:srgbClr val="D400D4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8" name="Rectangle 45"/>
          <p:cNvSpPr>
            <a:spLocks noChangeArrowheads="1"/>
          </p:cNvSpPr>
          <p:nvPr/>
        </p:nvSpPr>
        <p:spPr bwMode="auto">
          <a:xfrm>
            <a:off x="2517775" y="5778500"/>
            <a:ext cx="1814513" cy="166688"/>
          </a:xfrm>
          <a:prstGeom prst="rect">
            <a:avLst/>
          </a:prstGeom>
          <a:solidFill>
            <a:srgbClr val="66CCFF">
              <a:alpha val="50195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39" name="Line 46"/>
          <p:cNvSpPr>
            <a:spLocks noChangeShapeType="1"/>
          </p:cNvSpPr>
          <p:nvPr/>
        </p:nvSpPr>
        <p:spPr bwMode="auto">
          <a:xfrm flipH="1">
            <a:off x="3424238" y="5722938"/>
            <a:ext cx="1400175" cy="0"/>
          </a:xfrm>
          <a:prstGeom prst="line">
            <a:avLst/>
          </a:prstGeom>
          <a:noFill/>
          <a:ln w="28575">
            <a:solidFill>
              <a:srgbClr val="FF0066"/>
            </a:solidFill>
            <a:prstDash val="dash"/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0" name="Line 47"/>
          <p:cNvSpPr>
            <a:spLocks noChangeShapeType="1"/>
          </p:cNvSpPr>
          <p:nvPr/>
        </p:nvSpPr>
        <p:spPr bwMode="auto">
          <a:xfrm>
            <a:off x="4578350" y="5273675"/>
            <a:ext cx="0" cy="388938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1" name="Line 48"/>
          <p:cNvSpPr>
            <a:spLocks noChangeShapeType="1"/>
          </p:cNvSpPr>
          <p:nvPr/>
        </p:nvSpPr>
        <p:spPr bwMode="auto">
          <a:xfrm flipV="1">
            <a:off x="4578350" y="5778500"/>
            <a:ext cx="0" cy="387350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 type="non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342" name="Object 49"/>
          <p:cNvGraphicFramePr>
            <a:graphicFrameLocks noChangeAspect="1"/>
          </p:cNvGraphicFramePr>
          <p:nvPr/>
        </p:nvGraphicFramePr>
        <p:xfrm>
          <a:off x="3552825" y="4038600"/>
          <a:ext cx="3333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2" name="公式" r:id="rId3" imgW="215806" imgH="228501" progId="Equation.3">
                  <p:embed/>
                </p:oleObj>
              </mc:Choice>
              <mc:Fallback>
                <p:oleObj name="公式" r:id="rId3" imgW="215806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825" y="4038600"/>
                        <a:ext cx="3333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43" name="Object 50"/>
          <p:cNvGraphicFramePr>
            <a:graphicFrameLocks noChangeAspect="1"/>
          </p:cNvGraphicFramePr>
          <p:nvPr/>
        </p:nvGraphicFramePr>
        <p:xfrm>
          <a:off x="3494088" y="5348288"/>
          <a:ext cx="2984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3" name="公式" r:id="rId5" imgW="99278" imgH="121698" progId="Equation.3">
                  <p:embed/>
                </p:oleObj>
              </mc:Choice>
              <mc:Fallback>
                <p:oleObj name="公式" r:id="rId5" imgW="99278" imgH="1216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088" y="5348288"/>
                        <a:ext cx="2984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4" name="Line 51"/>
          <p:cNvSpPr>
            <a:spLocks noChangeShapeType="1"/>
          </p:cNvSpPr>
          <p:nvPr/>
        </p:nvSpPr>
        <p:spPr bwMode="auto">
          <a:xfrm>
            <a:off x="3424238" y="3848100"/>
            <a:ext cx="0" cy="1860550"/>
          </a:xfrm>
          <a:prstGeom prst="line">
            <a:avLst/>
          </a:prstGeom>
          <a:noFill/>
          <a:ln w="19050">
            <a:solidFill>
              <a:srgbClr val="D400D4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5" name="Line 52"/>
          <p:cNvSpPr>
            <a:spLocks noChangeShapeType="1"/>
          </p:cNvSpPr>
          <p:nvPr/>
        </p:nvSpPr>
        <p:spPr bwMode="auto">
          <a:xfrm flipH="1">
            <a:off x="3424238" y="5778500"/>
            <a:ext cx="1400175" cy="0"/>
          </a:xfrm>
          <a:prstGeom prst="line">
            <a:avLst/>
          </a:prstGeom>
          <a:noFill/>
          <a:ln w="28575">
            <a:solidFill>
              <a:srgbClr val="FF0066"/>
            </a:solidFill>
            <a:prstDash val="dash"/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46" name="Line 53"/>
          <p:cNvSpPr>
            <a:spLocks noChangeShapeType="1"/>
          </p:cNvSpPr>
          <p:nvPr/>
        </p:nvSpPr>
        <p:spPr bwMode="auto">
          <a:xfrm flipH="1">
            <a:off x="3424238" y="5722938"/>
            <a:ext cx="4953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 type="none" w="sm" len="lg"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347" name="Object 54"/>
          <p:cNvGraphicFramePr>
            <a:graphicFrameLocks noChangeAspect="1"/>
          </p:cNvGraphicFramePr>
          <p:nvPr/>
        </p:nvGraphicFramePr>
        <p:xfrm>
          <a:off x="4660900" y="5191125"/>
          <a:ext cx="3714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4" name="Equation" r:id="rId7" imgW="137421" imgH="198009" progId="Equation.3">
                  <p:embed/>
                </p:oleObj>
              </mc:Choice>
              <mc:Fallback>
                <p:oleObj name="Equation" r:id="rId7" imgW="137421" imgH="19800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5191125"/>
                        <a:ext cx="3714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8" name="Text Box 55"/>
          <p:cNvSpPr txBox="1">
            <a:spLocks noChangeArrowheads="1"/>
          </p:cNvSpPr>
          <p:nvPr/>
        </p:nvSpPr>
        <p:spPr bwMode="auto">
          <a:xfrm>
            <a:off x="4160838" y="3778250"/>
            <a:ext cx="14779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3366"/>
                </a:solidFill>
                <a:latin typeface="Times New Roman" panose="02020603050405020304" pitchFamily="18" charset="0"/>
              </a:rPr>
              <a:t>M </a:t>
            </a:r>
            <a:r>
              <a:rPr lang="zh-CN" altLang="en-US" sz="2800" b="1">
                <a:solidFill>
                  <a:srgbClr val="003366"/>
                </a:solidFill>
                <a:latin typeface="Times New Roman" panose="02020603050405020304" pitchFamily="18" charset="0"/>
              </a:rPr>
              <a:t>半透半反镜</a:t>
            </a:r>
          </a:p>
        </p:txBody>
      </p:sp>
      <p:sp>
        <p:nvSpPr>
          <p:cNvPr id="13349" name="AutoShape 56"/>
          <p:cNvSpPr>
            <a:spLocks noChangeArrowheads="1"/>
          </p:cNvSpPr>
          <p:nvPr/>
        </p:nvSpPr>
        <p:spPr bwMode="auto">
          <a:xfrm>
            <a:off x="681038" y="5197475"/>
            <a:ext cx="1184275" cy="450850"/>
          </a:xfrm>
          <a:prstGeom prst="wedgeRectCallout">
            <a:avLst>
              <a:gd name="adj1" fmla="val 107551"/>
              <a:gd name="adj2" fmla="val 3958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0" name="AutoShape 57"/>
          <p:cNvSpPr>
            <a:spLocks noChangeArrowheads="1"/>
          </p:cNvSpPr>
          <p:nvPr/>
        </p:nvSpPr>
        <p:spPr bwMode="auto">
          <a:xfrm>
            <a:off x="533400" y="4522788"/>
            <a:ext cx="1481138" cy="600075"/>
          </a:xfrm>
          <a:prstGeom prst="wedgeRectCallout">
            <a:avLst>
              <a:gd name="adj1" fmla="val 108750"/>
              <a:gd name="adj2" fmla="val 8880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1" name="AutoShape 58"/>
          <p:cNvSpPr>
            <a:spLocks noChangeArrowheads="1"/>
          </p:cNvSpPr>
          <p:nvPr/>
        </p:nvSpPr>
        <p:spPr bwMode="auto">
          <a:xfrm>
            <a:off x="4160838" y="2649538"/>
            <a:ext cx="1554162" cy="974725"/>
          </a:xfrm>
          <a:prstGeom prst="wedgeRectCallout">
            <a:avLst>
              <a:gd name="adj1" fmla="val -58532"/>
              <a:gd name="adj2" fmla="val 85255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800" b="1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2" name="Text Box 59"/>
          <p:cNvSpPr txBox="1">
            <a:spLocks noChangeArrowheads="1"/>
          </p:cNvSpPr>
          <p:nvPr/>
        </p:nvSpPr>
        <p:spPr bwMode="auto">
          <a:xfrm>
            <a:off x="2827338" y="1741488"/>
            <a:ext cx="1274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3366"/>
                </a:solidFill>
                <a:latin typeface="Times New Roman" panose="02020603050405020304" pitchFamily="18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14968577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5532438" y="914400"/>
            <a:ext cx="3124200" cy="3733800"/>
            <a:chOff x="3485" y="576"/>
            <a:chExt cx="1968" cy="2352"/>
          </a:xfrm>
        </p:grpSpPr>
        <p:sp>
          <p:nvSpPr>
            <p:cNvPr id="14358" name="Rectangle 3"/>
            <p:cNvSpPr>
              <a:spLocks noChangeArrowheads="1"/>
            </p:cNvSpPr>
            <p:nvPr/>
          </p:nvSpPr>
          <p:spPr bwMode="auto">
            <a:xfrm>
              <a:off x="3485" y="576"/>
              <a:ext cx="1968" cy="2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4359" name="Group 4"/>
            <p:cNvGrpSpPr>
              <a:grpSpLocks/>
            </p:cNvGrpSpPr>
            <p:nvPr/>
          </p:nvGrpSpPr>
          <p:grpSpPr bwMode="auto">
            <a:xfrm>
              <a:off x="3917" y="2016"/>
              <a:ext cx="864" cy="864"/>
              <a:chOff x="3888" y="1728"/>
              <a:chExt cx="1440" cy="1440"/>
            </a:xfrm>
          </p:grpSpPr>
          <p:sp>
            <p:nvSpPr>
              <p:cNvPr id="14376" name="Oval 5"/>
              <p:cNvSpPr>
                <a:spLocks noChangeArrowheads="1"/>
              </p:cNvSpPr>
              <p:nvPr/>
            </p:nvSpPr>
            <p:spPr bwMode="auto">
              <a:xfrm>
                <a:off x="3888" y="1728"/>
                <a:ext cx="1440" cy="1440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77" name="Oval 6"/>
              <p:cNvSpPr>
                <a:spLocks noChangeArrowheads="1"/>
              </p:cNvSpPr>
              <p:nvPr/>
            </p:nvSpPr>
            <p:spPr bwMode="auto">
              <a:xfrm>
                <a:off x="3920" y="1761"/>
                <a:ext cx="1376" cy="137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78" name="Oval 7"/>
              <p:cNvSpPr>
                <a:spLocks noChangeArrowheads="1"/>
              </p:cNvSpPr>
              <p:nvPr/>
            </p:nvSpPr>
            <p:spPr bwMode="auto">
              <a:xfrm>
                <a:off x="3953" y="1793"/>
                <a:ext cx="1310" cy="1310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79" name="Oval 8"/>
              <p:cNvSpPr>
                <a:spLocks noChangeArrowheads="1"/>
              </p:cNvSpPr>
              <p:nvPr/>
            </p:nvSpPr>
            <p:spPr bwMode="auto">
              <a:xfrm>
                <a:off x="3985" y="1826"/>
                <a:ext cx="1246" cy="124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0" name="Oval 9"/>
              <p:cNvSpPr>
                <a:spLocks noChangeArrowheads="1"/>
              </p:cNvSpPr>
              <p:nvPr/>
            </p:nvSpPr>
            <p:spPr bwMode="auto">
              <a:xfrm>
                <a:off x="4018" y="1858"/>
                <a:ext cx="1180" cy="1180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1" name="Oval 10"/>
              <p:cNvSpPr>
                <a:spLocks noChangeArrowheads="1"/>
              </p:cNvSpPr>
              <p:nvPr/>
            </p:nvSpPr>
            <p:spPr bwMode="auto">
              <a:xfrm>
                <a:off x="4051" y="1891"/>
                <a:ext cx="1114" cy="111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2" name="Oval 11"/>
              <p:cNvSpPr>
                <a:spLocks noChangeArrowheads="1"/>
              </p:cNvSpPr>
              <p:nvPr/>
            </p:nvSpPr>
            <p:spPr bwMode="auto">
              <a:xfrm>
                <a:off x="4085" y="1925"/>
                <a:ext cx="1046" cy="1046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3" name="Oval 12"/>
              <p:cNvSpPr>
                <a:spLocks noChangeArrowheads="1"/>
              </p:cNvSpPr>
              <p:nvPr/>
            </p:nvSpPr>
            <p:spPr bwMode="auto">
              <a:xfrm>
                <a:off x="4151" y="1990"/>
                <a:ext cx="914" cy="9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4" name="Oval 13"/>
              <p:cNvSpPr>
                <a:spLocks noChangeArrowheads="1"/>
              </p:cNvSpPr>
              <p:nvPr/>
            </p:nvSpPr>
            <p:spPr bwMode="auto">
              <a:xfrm>
                <a:off x="4118" y="1958"/>
                <a:ext cx="980" cy="98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5" name="Oval 14"/>
              <p:cNvSpPr>
                <a:spLocks noChangeArrowheads="1"/>
              </p:cNvSpPr>
              <p:nvPr/>
            </p:nvSpPr>
            <p:spPr bwMode="auto">
              <a:xfrm>
                <a:off x="4165" y="2006"/>
                <a:ext cx="886" cy="884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6" name="Oval 15"/>
              <p:cNvSpPr>
                <a:spLocks noChangeArrowheads="1"/>
              </p:cNvSpPr>
              <p:nvPr/>
            </p:nvSpPr>
            <p:spPr bwMode="auto">
              <a:xfrm>
                <a:off x="4216" y="2055"/>
                <a:ext cx="784" cy="78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7" name="Oval 16"/>
              <p:cNvSpPr>
                <a:spLocks noChangeArrowheads="1"/>
              </p:cNvSpPr>
              <p:nvPr/>
            </p:nvSpPr>
            <p:spPr bwMode="auto">
              <a:xfrm>
                <a:off x="4280" y="2121"/>
                <a:ext cx="656" cy="654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8" name="Oval 17"/>
              <p:cNvSpPr>
                <a:spLocks noChangeArrowheads="1"/>
              </p:cNvSpPr>
              <p:nvPr/>
            </p:nvSpPr>
            <p:spPr bwMode="auto">
              <a:xfrm>
                <a:off x="4331" y="2170"/>
                <a:ext cx="554" cy="55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89" name="Oval 18"/>
              <p:cNvSpPr>
                <a:spLocks noChangeArrowheads="1"/>
              </p:cNvSpPr>
              <p:nvPr/>
            </p:nvSpPr>
            <p:spPr bwMode="auto">
              <a:xfrm>
                <a:off x="4400" y="2239"/>
                <a:ext cx="416" cy="418"/>
              </a:xfrm>
              <a:prstGeom prst="ellipse">
                <a:avLst/>
              </a:prstGeom>
              <a:solidFill>
                <a:srgbClr val="FFCC00"/>
              </a:solidFill>
              <a:ln w="127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90" name="Oval 19"/>
              <p:cNvSpPr>
                <a:spLocks noChangeArrowheads="1"/>
              </p:cNvSpPr>
              <p:nvPr/>
            </p:nvSpPr>
            <p:spPr bwMode="auto">
              <a:xfrm>
                <a:off x="4478" y="2318"/>
                <a:ext cx="260" cy="26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4360" name="Group 20"/>
            <p:cNvGrpSpPr>
              <a:grpSpLocks/>
            </p:cNvGrpSpPr>
            <p:nvPr/>
          </p:nvGrpSpPr>
          <p:grpSpPr bwMode="auto">
            <a:xfrm>
              <a:off x="3533" y="1440"/>
              <a:ext cx="1616" cy="286"/>
              <a:chOff x="3625" y="1056"/>
              <a:chExt cx="1777" cy="336"/>
            </a:xfrm>
          </p:grpSpPr>
          <p:grpSp>
            <p:nvGrpSpPr>
              <p:cNvPr id="14372" name="Group 21"/>
              <p:cNvGrpSpPr>
                <a:grpSpLocks/>
              </p:cNvGrpSpPr>
              <p:nvPr/>
            </p:nvGrpSpPr>
            <p:grpSpPr bwMode="auto">
              <a:xfrm>
                <a:off x="3625" y="1056"/>
                <a:ext cx="1777" cy="336"/>
                <a:chOff x="3625" y="1056"/>
                <a:chExt cx="1777" cy="336"/>
              </a:xfrm>
            </p:grpSpPr>
            <p:sp>
              <p:nvSpPr>
                <p:cNvPr id="14374" name="Arc 22"/>
                <p:cNvSpPr>
                  <a:spLocks/>
                </p:cNvSpPr>
                <p:nvPr/>
              </p:nvSpPr>
              <p:spPr bwMode="auto">
                <a:xfrm>
                  <a:off x="3625" y="1056"/>
                  <a:ext cx="1777" cy="336"/>
                </a:xfrm>
                <a:custGeom>
                  <a:avLst/>
                  <a:gdLst>
                    <a:gd name="T0" fmla="*/ 0 w 42336"/>
                    <a:gd name="T1" fmla="*/ 0 h 21600"/>
                    <a:gd name="T2" fmla="*/ 0 w 42336"/>
                    <a:gd name="T3" fmla="*/ 0 h 21600"/>
                    <a:gd name="T4" fmla="*/ 0 w 4233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2336"/>
                    <a:gd name="T10" fmla="*/ 0 h 21600"/>
                    <a:gd name="T11" fmla="*/ 42336 w 4233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336" h="21600" fill="none" extrusionOk="0">
                      <a:moveTo>
                        <a:pt x="42336" y="3861"/>
                      </a:moveTo>
                      <a:cubicBezTo>
                        <a:pt x="40469" y="14132"/>
                        <a:pt x="31524" y="21599"/>
                        <a:pt x="21084" y="21600"/>
                      </a:cubicBezTo>
                      <a:cubicBezTo>
                        <a:pt x="10962" y="21600"/>
                        <a:pt x="2198" y="14571"/>
                        <a:pt x="-1" y="4692"/>
                      </a:cubicBezTo>
                    </a:path>
                    <a:path w="42336" h="21600" stroke="0" extrusionOk="0">
                      <a:moveTo>
                        <a:pt x="42336" y="3861"/>
                      </a:moveTo>
                      <a:cubicBezTo>
                        <a:pt x="40469" y="14132"/>
                        <a:pt x="31524" y="21599"/>
                        <a:pt x="21084" y="21600"/>
                      </a:cubicBezTo>
                      <a:cubicBezTo>
                        <a:pt x="10962" y="21600"/>
                        <a:pt x="2198" y="14571"/>
                        <a:pt x="-1" y="4692"/>
                      </a:cubicBezTo>
                      <a:lnTo>
                        <a:pt x="21084" y="0"/>
                      </a:lnTo>
                      <a:lnTo>
                        <a:pt x="42336" y="3861"/>
                      </a:lnTo>
                      <a:close/>
                    </a:path>
                  </a:pathLst>
                </a:custGeom>
                <a:solidFill>
                  <a:srgbClr val="66FFFF"/>
                </a:solidFill>
                <a:ln w="12700" cap="rnd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75" name="Rectangle 23"/>
                <p:cNvSpPr>
                  <a:spLocks noChangeArrowheads="1"/>
                </p:cNvSpPr>
                <p:nvPr/>
              </p:nvSpPr>
              <p:spPr bwMode="auto">
                <a:xfrm>
                  <a:off x="3631" y="1056"/>
                  <a:ext cx="1770" cy="103"/>
                </a:xfrm>
                <a:prstGeom prst="rect">
                  <a:avLst/>
                </a:prstGeom>
                <a:solidFill>
                  <a:srgbClr val="66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4373" name="Freeform 24"/>
              <p:cNvSpPr>
                <a:spLocks/>
              </p:cNvSpPr>
              <p:nvPr/>
            </p:nvSpPr>
            <p:spPr bwMode="auto">
              <a:xfrm>
                <a:off x="3631" y="1056"/>
                <a:ext cx="1771" cy="104"/>
              </a:xfrm>
              <a:custGeom>
                <a:avLst/>
                <a:gdLst>
                  <a:gd name="T0" fmla="*/ 0 w 1771"/>
                  <a:gd name="T1" fmla="*/ 51 h 104"/>
                  <a:gd name="T2" fmla="*/ 0 w 1771"/>
                  <a:gd name="T3" fmla="*/ 0 h 104"/>
                  <a:gd name="T4" fmla="*/ 1770 w 1771"/>
                  <a:gd name="T5" fmla="*/ 0 h 104"/>
                  <a:gd name="T6" fmla="*/ 1770 w 1771"/>
                  <a:gd name="T7" fmla="*/ 10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71"/>
                  <a:gd name="T13" fmla="*/ 0 h 104"/>
                  <a:gd name="T14" fmla="*/ 1771 w 177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71" h="104">
                    <a:moveTo>
                      <a:pt x="0" y="51"/>
                    </a:moveTo>
                    <a:lnTo>
                      <a:pt x="0" y="0"/>
                    </a:lnTo>
                    <a:lnTo>
                      <a:pt x="1770" y="0"/>
                    </a:lnTo>
                    <a:lnTo>
                      <a:pt x="1770" y="103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61" name="Rectangle 25"/>
            <p:cNvSpPr>
              <a:spLocks noChangeArrowheads="1"/>
            </p:cNvSpPr>
            <p:nvPr/>
          </p:nvSpPr>
          <p:spPr bwMode="auto">
            <a:xfrm>
              <a:off x="3537" y="1733"/>
              <a:ext cx="1608" cy="19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2" name="Line 26"/>
            <p:cNvSpPr>
              <a:spLocks noChangeShapeType="1"/>
            </p:cNvSpPr>
            <p:nvPr/>
          </p:nvSpPr>
          <p:spPr bwMode="auto">
            <a:xfrm>
              <a:off x="4349" y="624"/>
              <a:ext cx="668" cy="983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3" name="Line 27"/>
            <p:cNvSpPr>
              <a:spLocks noChangeShapeType="1"/>
            </p:cNvSpPr>
            <p:nvPr/>
          </p:nvSpPr>
          <p:spPr bwMode="auto">
            <a:xfrm>
              <a:off x="3970" y="1156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28"/>
            <p:cNvSpPr>
              <a:spLocks noChangeShapeType="1"/>
            </p:cNvSpPr>
            <p:nvPr/>
          </p:nvSpPr>
          <p:spPr bwMode="auto">
            <a:xfrm>
              <a:off x="3751" y="1156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5" name="Line 29"/>
            <p:cNvSpPr>
              <a:spLocks noChangeShapeType="1"/>
            </p:cNvSpPr>
            <p:nvPr/>
          </p:nvSpPr>
          <p:spPr bwMode="auto">
            <a:xfrm>
              <a:off x="4188" y="1156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6" name="Line 30"/>
            <p:cNvSpPr>
              <a:spLocks noChangeShapeType="1"/>
            </p:cNvSpPr>
            <p:nvPr/>
          </p:nvSpPr>
          <p:spPr bwMode="auto">
            <a:xfrm>
              <a:off x="4397" y="1152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7" name="Line 31"/>
            <p:cNvSpPr>
              <a:spLocks noChangeShapeType="1"/>
            </p:cNvSpPr>
            <p:nvPr/>
          </p:nvSpPr>
          <p:spPr bwMode="auto">
            <a:xfrm>
              <a:off x="4589" y="1152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8" name="Line 32"/>
            <p:cNvSpPr>
              <a:spLocks noChangeShapeType="1"/>
            </p:cNvSpPr>
            <p:nvPr/>
          </p:nvSpPr>
          <p:spPr bwMode="auto">
            <a:xfrm>
              <a:off x="4781" y="1152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9" name="Rectangle 33"/>
            <p:cNvSpPr>
              <a:spLocks noChangeArrowheads="1"/>
            </p:cNvSpPr>
            <p:nvPr/>
          </p:nvSpPr>
          <p:spPr bwMode="auto">
            <a:xfrm>
              <a:off x="4615" y="829"/>
              <a:ext cx="27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3366"/>
                  </a:solidFill>
                  <a:latin typeface="Bookman Old Style" panose="02050604050505020204" pitchFamily="18" charset="0"/>
                </a:rPr>
                <a:t>R</a:t>
              </a:r>
            </a:p>
          </p:txBody>
        </p:sp>
        <p:sp>
          <p:nvSpPr>
            <p:cNvPr id="14370" name="Line 34"/>
            <p:cNvSpPr>
              <a:spLocks noChangeShapeType="1"/>
            </p:cNvSpPr>
            <p:nvPr/>
          </p:nvSpPr>
          <p:spPr bwMode="auto">
            <a:xfrm>
              <a:off x="4973" y="1152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1" name="Line 35"/>
            <p:cNvSpPr>
              <a:spLocks noChangeShapeType="1"/>
            </p:cNvSpPr>
            <p:nvPr/>
          </p:nvSpPr>
          <p:spPr bwMode="auto">
            <a:xfrm flipV="1">
              <a:off x="4349" y="624"/>
              <a:ext cx="0" cy="1104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024" name="AutoShape 40"/>
          <p:cNvSpPr>
            <a:spLocks/>
          </p:cNvSpPr>
          <p:nvPr/>
        </p:nvSpPr>
        <p:spPr bwMode="auto">
          <a:xfrm>
            <a:off x="1219200" y="3124200"/>
            <a:ext cx="228600" cy="990600"/>
          </a:xfrm>
          <a:prstGeom prst="leftBrace">
            <a:avLst>
              <a:gd name="adj1" fmla="val 36111"/>
              <a:gd name="adj2" fmla="val 50000"/>
            </a:avLst>
          </a:prstGeom>
          <a:noFill/>
          <a:ln w="28575">
            <a:solidFill>
              <a:srgbClr val="00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2026" name="Object 42"/>
          <p:cNvGraphicFramePr>
            <a:graphicFrameLocks noChangeAspect="1"/>
          </p:cNvGraphicFramePr>
          <p:nvPr/>
        </p:nvGraphicFramePr>
        <p:xfrm>
          <a:off x="515938" y="3335338"/>
          <a:ext cx="7667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8" name="Equation" r:id="rId3" imgW="213186" imgH="99254" progId="Equation.3">
                  <p:embed/>
                </p:oleObj>
              </mc:Choice>
              <mc:Fallback>
                <p:oleObj name="Equation" r:id="rId3" imgW="213186" imgH="992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3335338"/>
                        <a:ext cx="7667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7" name="Object 43"/>
          <p:cNvGraphicFramePr>
            <a:graphicFrameLocks noChangeAspect="1"/>
          </p:cNvGraphicFramePr>
          <p:nvPr/>
        </p:nvGraphicFramePr>
        <p:xfrm>
          <a:off x="1524000" y="2895600"/>
          <a:ext cx="25908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9" name="公式" r:id="rId5" imgW="1546642" imgH="251377" progId="Equation.3">
                  <p:embed/>
                </p:oleObj>
              </mc:Choice>
              <mc:Fallback>
                <p:oleObj name="公式" r:id="rId5" imgW="1546642" imgH="2513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895600"/>
                        <a:ext cx="25908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8" name="Text Box 44"/>
          <p:cNvSpPr txBox="1">
            <a:spLocks noChangeArrowheads="1"/>
          </p:cNvSpPr>
          <p:nvPr/>
        </p:nvSpPr>
        <p:spPr bwMode="auto">
          <a:xfrm>
            <a:off x="4267200" y="28956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3366"/>
                </a:solidFill>
                <a:latin typeface="Times New Roman" panose="02020603050405020304" pitchFamily="18" charset="0"/>
              </a:rPr>
              <a:t>明纹</a:t>
            </a:r>
          </a:p>
        </p:txBody>
      </p: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1371600" y="3586163"/>
            <a:ext cx="4479925" cy="985837"/>
            <a:chOff x="816" y="1584"/>
            <a:chExt cx="2822" cy="621"/>
          </a:xfrm>
        </p:grpSpPr>
        <p:graphicFrame>
          <p:nvGraphicFramePr>
            <p:cNvPr id="14356" name="Object 46"/>
            <p:cNvGraphicFramePr>
              <a:graphicFrameLocks noChangeAspect="1"/>
            </p:cNvGraphicFramePr>
            <p:nvPr/>
          </p:nvGraphicFramePr>
          <p:xfrm>
            <a:off x="816" y="1584"/>
            <a:ext cx="1968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380" name="公式" r:id="rId7" imgW="2141264" imgH="548640" progId="Equation.3">
                    <p:embed/>
                  </p:oleObj>
                </mc:Choice>
                <mc:Fallback>
                  <p:oleObj name="公式" r:id="rId7" imgW="2141264" imgH="548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1584"/>
                          <a:ext cx="1968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7" name="Rectangle 47"/>
            <p:cNvSpPr>
              <a:spLocks noChangeArrowheads="1"/>
            </p:cNvSpPr>
            <p:nvPr/>
          </p:nvSpPr>
          <p:spPr bwMode="auto">
            <a:xfrm>
              <a:off x="2544" y="1728"/>
              <a:ext cx="10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003366"/>
                  </a:solidFill>
                  <a:latin typeface="Times New Roman" panose="02020603050405020304" pitchFamily="18" charset="0"/>
                </a:rPr>
                <a:t>暗纹</a:t>
              </a:r>
            </a:p>
          </p:txBody>
        </p:sp>
      </p:grp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6924675" y="2147888"/>
            <a:ext cx="1228725" cy="519112"/>
            <a:chOff x="4362" y="1353"/>
            <a:chExt cx="774" cy="327"/>
          </a:xfrm>
        </p:grpSpPr>
        <p:sp>
          <p:nvSpPr>
            <p:cNvPr id="14354" name="Line 49"/>
            <p:cNvSpPr>
              <a:spLocks noChangeShapeType="1"/>
            </p:cNvSpPr>
            <p:nvPr/>
          </p:nvSpPr>
          <p:spPr bwMode="auto">
            <a:xfrm>
              <a:off x="4362" y="1607"/>
              <a:ext cx="655" cy="1"/>
            </a:xfrm>
            <a:prstGeom prst="line">
              <a:avLst/>
            </a:prstGeom>
            <a:noFill/>
            <a:ln w="28575">
              <a:solidFill>
                <a:srgbClr val="FF6633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5" name="Rectangle 50"/>
            <p:cNvSpPr>
              <a:spLocks noChangeArrowheads="1"/>
            </p:cNvSpPr>
            <p:nvPr/>
          </p:nvSpPr>
          <p:spPr bwMode="auto">
            <a:xfrm>
              <a:off x="4541" y="1353"/>
              <a:ext cx="59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00"/>
                  </a:solidFill>
                  <a:latin typeface="Bookman Old Style" panose="02050604050505020204" pitchFamily="18" charset="0"/>
                </a:rPr>
                <a:t>r</a:t>
              </a:r>
            </a:p>
          </p:txBody>
        </p:sp>
      </p:grpSp>
      <p:grpSp>
        <p:nvGrpSpPr>
          <p:cNvPr id="8" name="Group 51"/>
          <p:cNvGrpSpPr>
            <a:grpSpLocks/>
          </p:cNvGrpSpPr>
          <p:nvPr/>
        </p:nvGrpSpPr>
        <p:grpSpPr bwMode="auto">
          <a:xfrm>
            <a:off x="6994525" y="2095500"/>
            <a:ext cx="2149475" cy="1104900"/>
            <a:chOff x="4406" y="1320"/>
            <a:chExt cx="1354" cy="696"/>
          </a:xfrm>
        </p:grpSpPr>
        <p:sp>
          <p:nvSpPr>
            <p:cNvPr id="14349" name="Line 52"/>
            <p:cNvSpPr>
              <a:spLocks noChangeShapeType="1"/>
            </p:cNvSpPr>
            <p:nvPr/>
          </p:nvSpPr>
          <p:spPr bwMode="auto">
            <a:xfrm>
              <a:off x="5069" y="1729"/>
              <a:ext cx="25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0" name="Line 53"/>
            <p:cNvSpPr>
              <a:spLocks noChangeShapeType="1"/>
            </p:cNvSpPr>
            <p:nvPr/>
          </p:nvSpPr>
          <p:spPr bwMode="auto">
            <a:xfrm>
              <a:off x="4406" y="1607"/>
              <a:ext cx="91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1" name="Line 54"/>
            <p:cNvSpPr>
              <a:spLocks noChangeShapeType="1"/>
            </p:cNvSpPr>
            <p:nvPr/>
          </p:nvSpPr>
          <p:spPr bwMode="auto">
            <a:xfrm>
              <a:off x="5236" y="1320"/>
              <a:ext cx="0" cy="287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2" name="Line 55"/>
            <p:cNvSpPr>
              <a:spLocks noChangeShapeType="1"/>
            </p:cNvSpPr>
            <p:nvPr/>
          </p:nvSpPr>
          <p:spPr bwMode="auto">
            <a:xfrm flipV="1">
              <a:off x="5236" y="1729"/>
              <a:ext cx="0" cy="287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3" name="Rectangle 56"/>
            <p:cNvSpPr>
              <a:spLocks noChangeArrowheads="1"/>
            </p:cNvSpPr>
            <p:nvPr/>
          </p:nvSpPr>
          <p:spPr bwMode="auto">
            <a:xfrm>
              <a:off x="5213" y="1344"/>
              <a:ext cx="5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003366"/>
                  </a:solidFill>
                  <a:latin typeface="Bookman Old Style" panose="02050604050505020204" pitchFamily="18" charset="0"/>
                </a:rPr>
                <a:t>d</a:t>
              </a:r>
            </a:p>
          </p:txBody>
        </p:sp>
      </p:grpSp>
      <p:graphicFrame>
        <p:nvGraphicFramePr>
          <p:cNvPr id="42041" name="Object 57"/>
          <p:cNvGraphicFramePr>
            <a:graphicFrameLocks noChangeAspect="1"/>
          </p:cNvGraphicFramePr>
          <p:nvPr/>
        </p:nvGraphicFramePr>
        <p:xfrm>
          <a:off x="2954338" y="1216025"/>
          <a:ext cx="20097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1" name="Equation" r:id="rId9" imgW="663071" imgH="327688" progId="Equation.3">
                  <p:embed/>
                </p:oleObj>
              </mc:Choice>
              <mc:Fallback>
                <p:oleObj name="Equation" r:id="rId9" imgW="663071" imgH="32768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338" y="1216025"/>
                        <a:ext cx="20097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C2C29B"/>
                                </a:gs>
                                <a:gs pos="50000">
                                  <a:srgbClr val="FFFFCC"/>
                                </a:gs>
                                <a:gs pos="100000">
                                  <a:srgbClr val="C2C29B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42" name="Text Box 58"/>
          <p:cNvSpPr txBox="1">
            <a:spLocks noChangeArrowheads="1"/>
          </p:cNvSpPr>
          <p:nvPr/>
        </p:nvSpPr>
        <p:spPr bwMode="auto">
          <a:xfrm>
            <a:off x="762000" y="1447800"/>
            <a:ext cx="1771650" cy="5286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003366"/>
                </a:solidFill>
                <a:latin typeface="Times New Roman" pitchFamily="18" charset="0"/>
              </a:rPr>
              <a:t>光程差</a:t>
            </a:r>
          </a:p>
        </p:txBody>
      </p:sp>
      <p:sp>
        <p:nvSpPr>
          <p:cNvPr id="42043" name="Rectangle 59"/>
          <p:cNvSpPr>
            <a:spLocks noChangeArrowheads="1"/>
          </p:cNvSpPr>
          <p:nvPr/>
        </p:nvSpPr>
        <p:spPr bwMode="auto">
          <a:xfrm>
            <a:off x="3059113" y="188913"/>
            <a:ext cx="342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rPr>
              <a:t>   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rPr>
              <a:t>牛顿环分析</a:t>
            </a:r>
          </a:p>
        </p:txBody>
      </p:sp>
    </p:spTree>
    <p:extLst>
      <p:ext uri="{BB962C8B-B14F-4D97-AF65-F5344CB8AC3E}">
        <p14:creationId xmlns:p14="http://schemas.microsoft.com/office/powerpoint/2010/main" val="496351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2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24" grpId="0" animBg="1"/>
      <p:bldP spid="42028" grpId="0" autoUpdateAnimBg="0"/>
      <p:bldP spid="42042" grpId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5532438" y="914400"/>
            <a:ext cx="3124200" cy="3733800"/>
            <a:chOff x="3485" y="576"/>
            <a:chExt cx="1968" cy="2352"/>
          </a:xfrm>
        </p:grpSpPr>
        <p:sp>
          <p:nvSpPr>
            <p:cNvPr id="15384" name="Rectangle 3"/>
            <p:cNvSpPr>
              <a:spLocks noChangeArrowheads="1"/>
            </p:cNvSpPr>
            <p:nvPr/>
          </p:nvSpPr>
          <p:spPr bwMode="auto">
            <a:xfrm>
              <a:off x="3485" y="576"/>
              <a:ext cx="1968" cy="2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5385" name="Group 4"/>
            <p:cNvGrpSpPr>
              <a:grpSpLocks/>
            </p:cNvGrpSpPr>
            <p:nvPr/>
          </p:nvGrpSpPr>
          <p:grpSpPr bwMode="auto">
            <a:xfrm>
              <a:off x="3917" y="2016"/>
              <a:ext cx="864" cy="864"/>
              <a:chOff x="3888" y="1728"/>
              <a:chExt cx="1440" cy="1440"/>
            </a:xfrm>
          </p:grpSpPr>
          <p:sp>
            <p:nvSpPr>
              <p:cNvPr id="15402" name="Oval 5"/>
              <p:cNvSpPr>
                <a:spLocks noChangeArrowheads="1"/>
              </p:cNvSpPr>
              <p:nvPr/>
            </p:nvSpPr>
            <p:spPr bwMode="auto">
              <a:xfrm>
                <a:off x="3888" y="1728"/>
                <a:ext cx="1440" cy="1440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03" name="Oval 6"/>
              <p:cNvSpPr>
                <a:spLocks noChangeArrowheads="1"/>
              </p:cNvSpPr>
              <p:nvPr/>
            </p:nvSpPr>
            <p:spPr bwMode="auto">
              <a:xfrm>
                <a:off x="3920" y="1761"/>
                <a:ext cx="1376" cy="137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04" name="Oval 7"/>
              <p:cNvSpPr>
                <a:spLocks noChangeArrowheads="1"/>
              </p:cNvSpPr>
              <p:nvPr/>
            </p:nvSpPr>
            <p:spPr bwMode="auto">
              <a:xfrm>
                <a:off x="3953" y="1793"/>
                <a:ext cx="1310" cy="1310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05" name="Oval 8"/>
              <p:cNvSpPr>
                <a:spLocks noChangeArrowheads="1"/>
              </p:cNvSpPr>
              <p:nvPr/>
            </p:nvSpPr>
            <p:spPr bwMode="auto">
              <a:xfrm>
                <a:off x="3985" y="1826"/>
                <a:ext cx="1246" cy="124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06" name="Oval 9"/>
              <p:cNvSpPr>
                <a:spLocks noChangeArrowheads="1"/>
              </p:cNvSpPr>
              <p:nvPr/>
            </p:nvSpPr>
            <p:spPr bwMode="auto">
              <a:xfrm>
                <a:off x="4018" y="1858"/>
                <a:ext cx="1180" cy="1180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07" name="Oval 10"/>
              <p:cNvSpPr>
                <a:spLocks noChangeArrowheads="1"/>
              </p:cNvSpPr>
              <p:nvPr/>
            </p:nvSpPr>
            <p:spPr bwMode="auto">
              <a:xfrm>
                <a:off x="4051" y="1891"/>
                <a:ext cx="1114" cy="1114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08" name="Oval 11"/>
              <p:cNvSpPr>
                <a:spLocks noChangeArrowheads="1"/>
              </p:cNvSpPr>
              <p:nvPr/>
            </p:nvSpPr>
            <p:spPr bwMode="auto">
              <a:xfrm>
                <a:off x="4085" y="1925"/>
                <a:ext cx="1046" cy="1046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09" name="Oval 12"/>
              <p:cNvSpPr>
                <a:spLocks noChangeArrowheads="1"/>
              </p:cNvSpPr>
              <p:nvPr/>
            </p:nvSpPr>
            <p:spPr bwMode="auto">
              <a:xfrm>
                <a:off x="4151" y="1990"/>
                <a:ext cx="914" cy="91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10" name="Oval 13"/>
              <p:cNvSpPr>
                <a:spLocks noChangeArrowheads="1"/>
              </p:cNvSpPr>
              <p:nvPr/>
            </p:nvSpPr>
            <p:spPr bwMode="auto">
              <a:xfrm>
                <a:off x="4118" y="1958"/>
                <a:ext cx="980" cy="98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11" name="Oval 14"/>
              <p:cNvSpPr>
                <a:spLocks noChangeArrowheads="1"/>
              </p:cNvSpPr>
              <p:nvPr/>
            </p:nvSpPr>
            <p:spPr bwMode="auto">
              <a:xfrm>
                <a:off x="4165" y="2006"/>
                <a:ext cx="886" cy="884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12" name="Oval 15"/>
              <p:cNvSpPr>
                <a:spLocks noChangeArrowheads="1"/>
              </p:cNvSpPr>
              <p:nvPr/>
            </p:nvSpPr>
            <p:spPr bwMode="auto">
              <a:xfrm>
                <a:off x="4216" y="2055"/>
                <a:ext cx="784" cy="78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13" name="Oval 16"/>
              <p:cNvSpPr>
                <a:spLocks noChangeArrowheads="1"/>
              </p:cNvSpPr>
              <p:nvPr/>
            </p:nvSpPr>
            <p:spPr bwMode="auto">
              <a:xfrm>
                <a:off x="4280" y="2121"/>
                <a:ext cx="656" cy="654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14" name="Oval 17"/>
              <p:cNvSpPr>
                <a:spLocks noChangeArrowheads="1"/>
              </p:cNvSpPr>
              <p:nvPr/>
            </p:nvSpPr>
            <p:spPr bwMode="auto">
              <a:xfrm>
                <a:off x="4331" y="2170"/>
                <a:ext cx="554" cy="556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15" name="Oval 18"/>
              <p:cNvSpPr>
                <a:spLocks noChangeArrowheads="1"/>
              </p:cNvSpPr>
              <p:nvPr/>
            </p:nvSpPr>
            <p:spPr bwMode="auto">
              <a:xfrm>
                <a:off x="4400" y="2239"/>
                <a:ext cx="416" cy="418"/>
              </a:xfrm>
              <a:prstGeom prst="ellipse">
                <a:avLst/>
              </a:prstGeom>
              <a:solidFill>
                <a:srgbClr val="FFCC00"/>
              </a:solidFill>
              <a:ln w="127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5416" name="Oval 19"/>
              <p:cNvSpPr>
                <a:spLocks noChangeArrowheads="1"/>
              </p:cNvSpPr>
              <p:nvPr/>
            </p:nvSpPr>
            <p:spPr bwMode="auto">
              <a:xfrm>
                <a:off x="4478" y="2318"/>
                <a:ext cx="260" cy="260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5386" name="Group 20"/>
            <p:cNvGrpSpPr>
              <a:grpSpLocks/>
            </p:cNvGrpSpPr>
            <p:nvPr/>
          </p:nvGrpSpPr>
          <p:grpSpPr bwMode="auto">
            <a:xfrm>
              <a:off x="3533" y="1440"/>
              <a:ext cx="1616" cy="286"/>
              <a:chOff x="3625" y="1056"/>
              <a:chExt cx="1777" cy="336"/>
            </a:xfrm>
          </p:grpSpPr>
          <p:grpSp>
            <p:nvGrpSpPr>
              <p:cNvPr id="15398" name="Group 21"/>
              <p:cNvGrpSpPr>
                <a:grpSpLocks/>
              </p:cNvGrpSpPr>
              <p:nvPr/>
            </p:nvGrpSpPr>
            <p:grpSpPr bwMode="auto">
              <a:xfrm>
                <a:off x="3625" y="1056"/>
                <a:ext cx="1777" cy="336"/>
                <a:chOff x="3625" y="1056"/>
                <a:chExt cx="1777" cy="336"/>
              </a:xfrm>
            </p:grpSpPr>
            <p:sp>
              <p:nvSpPr>
                <p:cNvPr id="15400" name="Arc 22"/>
                <p:cNvSpPr>
                  <a:spLocks/>
                </p:cNvSpPr>
                <p:nvPr/>
              </p:nvSpPr>
              <p:spPr bwMode="auto">
                <a:xfrm>
                  <a:off x="3625" y="1056"/>
                  <a:ext cx="1777" cy="336"/>
                </a:xfrm>
                <a:custGeom>
                  <a:avLst/>
                  <a:gdLst>
                    <a:gd name="T0" fmla="*/ 0 w 42336"/>
                    <a:gd name="T1" fmla="*/ 0 h 21600"/>
                    <a:gd name="T2" fmla="*/ 0 w 42336"/>
                    <a:gd name="T3" fmla="*/ 0 h 21600"/>
                    <a:gd name="T4" fmla="*/ 0 w 42336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2336"/>
                    <a:gd name="T10" fmla="*/ 0 h 21600"/>
                    <a:gd name="T11" fmla="*/ 42336 w 42336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336" h="21600" fill="none" extrusionOk="0">
                      <a:moveTo>
                        <a:pt x="42336" y="3861"/>
                      </a:moveTo>
                      <a:cubicBezTo>
                        <a:pt x="40469" y="14132"/>
                        <a:pt x="31524" y="21599"/>
                        <a:pt x="21084" y="21600"/>
                      </a:cubicBezTo>
                      <a:cubicBezTo>
                        <a:pt x="10962" y="21600"/>
                        <a:pt x="2198" y="14571"/>
                        <a:pt x="-1" y="4692"/>
                      </a:cubicBezTo>
                    </a:path>
                    <a:path w="42336" h="21600" stroke="0" extrusionOk="0">
                      <a:moveTo>
                        <a:pt x="42336" y="3861"/>
                      </a:moveTo>
                      <a:cubicBezTo>
                        <a:pt x="40469" y="14132"/>
                        <a:pt x="31524" y="21599"/>
                        <a:pt x="21084" y="21600"/>
                      </a:cubicBezTo>
                      <a:cubicBezTo>
                        <a:pt x="10962" y="21600"/>
                        <a:pt x="2198" y="14571"/>
                        <a:pt x="-1" y="4692"/>
                      </a:cubicBezTo>
                      <a:lnTo>
                        <a:pt x="21084" y="0"/>
                      </a:lnTo>
                      <a:lnTo>
                        <a:pt x="42336" y="3861"/>
                      </a:lnTo>
                      <a:close/>
                    </a:path>
                  </a:pathLst>
                </a:custGeom>
                <a:solidFill>
                  <a:srgbClr val="66FFFF"/>
                </a:solidFill>
                <a:ln w="12700" cap="rnd">
                  <a:solidFill>
                    <a:schemeClr val="tx1"/>
                  </a:solidFill>
                  <a:round/>
                  <a:headEnd type="none" w="sm" len="lg"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01" name="Rectangle 23"/>
                <p:cNvSpPr>
                  <a:spLocks noChangeArrowheads="1"/>
                </p:cNvSpPr>
                <p:nvPr/>
              </p:nvSpPr>
              <p:spPr bwMode="auto">
                <a:xfrm>
                  <a:off x="3631" y="1056"/>
                  <a:ext cx="1770" cy="103"/>
                </a:xfrm>
                <a:prstGeom prst="rect">
                  <a:avLst/>
                </a:prstGeom>
                <a:solidFill>
                  <a:srgbClr val="66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5399" name="Freeform 24"/>
              <p:cNvSpPr>
                <a:spLocks/>
              </p:cNvSpPr>
              <p:nvPr/>
            </p:nvSpPr>
            <p:spPr bwMode="auto">
              <a:xfrm>
                <a:off x="3631" y="1056"/>
                <a:ext cx="1771" cy="104"/>
              </a:xfrm>
              <a:custGeom>
                <a:avLst/>
                <a:gdLst>
                  <a:gd name="T0" fmla="*/ 0 w 1771"/>
                  <a:gd name="T1" fmla="*/ 51 h 104"/>
                  <a:gd name="T2" fmla="*/ 0 w 1771"/>
                  <a:gd name="T3" fmla="*/ 0 h 104"/>
                  <a:gd name="T4" fmla="*/ 1770 w 1771"/>
                  <a:gd name="T5" fmla="*/ 0 h 104"/>
                  <a:gd name="T6" fmla="*/ 1770 w 1771"/>
                  <a:gd name="T7" fmla="*/ 103 h 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71"/>
                  <a:gd name="T13" fmla="*/ 0 h 104"/>
                  <a:gd name="T14" fmla="*/ 1771 w 1771"/>
                  <a:gd name="T15" fmla="*/ 104 h 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71" h="104">
                    <a:moveTo>
                      <a:pt x="0" y="51"/>
                    </a:moveTo>
                    <a:lnTo>
                      <a:pt x="0" y="0"/>
                    </a:lnTo>
                    <a:lnTo>
                      <a:pt x="1770" y="0"/>
                    </a:lnTo>
                    <a:lnTo>
                      <a:pt x="1770" y="103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87" name="Rectangle 25"/>
            <p:cNvSpPr>
              <a:spLocks noChangeArrowheads="1"/>
            </p:cNvSpPr>
            <p:nvPr/>
          </p:nvSpPr>
          <p:spPr bwMode="auto">
            <a:xfrm>
              <a:off x="3537" y="1733"/>
              <a:ext cx="1608" cy="198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88" name="Line 26"/>
            <p:cNvSpPr>
              <a:spLocks noChangeShapeType="1"/>
            </p:cNvSpPr>
            <p:nvPr/>
          </p:nvSpPr>
          <p:spPr bwMode="auto">
            <a:xfrm>
              <a:off x="4349" y="624"/>
              <a:ext cx="668" cy="983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9" name="Line 27"/>
            <p:cNvSpPr>
              <a:spLocks noChangeShapeType="1"/>
            </p:cNvSpPr>
            <p:nvPr/>
          </p:nvSpPr>
          <p:spPr bwMode="auto">
            <a:xfrm>
              <a:off x="3970" y="1156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0" name="Line 28"/>
            <p:cNvSpPr>
              <a:spLocks noChangeShapeType="1"/>
            </p:cNvSpPr>
            <p:nvPr/>
          </p:nvSpPr>
          <p:spPr bwMode="auto">
            <a:xfrm>
              <a:off x="3751" y="1156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1" name="Line 29"/>
            <p:cNvSpPr>
              <a:spLocks noChangeShapeType="1"/>
            </p:cNvSpPr>
            <p:nvPr/>
          </p:nvSpPr>
          <p:spPr bwMode="auto">
            <a:xfrm>
              <a:off x="4188" y="1156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2" name="Line 30"/>
            <p:cNvSpPr>
              <a:spLocks noChangeShapeType="1"/>
            </p:cNvSpPr>
            <p:nvPr/>
          </p:nvSpPr>
          <p:spPr bwMode="auto">
            <a:xfrm>
              <a:off x="4397" y="1152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3" name="Line 31"/>
            <p:cNvSpPr>
              <a:spLocks noChangeShapeType="1"/>
            </p:cNvSpPr>
            <p:nvPr/>
          </p:nvSpPr>
          <p:spPr bwMode="auto">
            <a:xfrm>
              <a:off x="4589" y="1152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4" name="Line 32"/>
            <p:cNvSpPr>
              <a:spLocks noChangeShapeType="1"/>
            </p:cNvSpPr>
            <p:nvPr/>
          </p:nvSpPr>
          <p:spPr bwMode="auto">
            <a:xfrm>
              <a:off x="4781" y="1152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5" name="Rectangle 33"/>
            <p:cNvSpPr>
              <a:spLocks noChangeArrowheads="1"/>
            </p:cNvSpPr>
            <p:nvPr/>
          </p:nvSpPr>
          <p:spPr bwMode="auto">
            <a:xfrm>
              <a:off x="4615" y="829"/>
              <a:ext cx="27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00"/>
                  </a:solidFill>
                  <a:latin typeface="Bookman Old Style" panose="02050604050505020204" pitchFamily="18" charset="0"/>
                </a:rPr>
                <a:t>R</a:t>
              </a:r>
            </a:p>
          </p:txBody>
        </p:sp>
        <p:sp>
          <p:nvSpPr>
            <p:cNvPr id="15396" name="Line 34"/>
            <p:cNvSpPr>
              <a:spLocks noChangeShapeType="1"/>
            </p:cNvSpPr>
            <p:nvPr/>
          </p:nvSpPr>
          <p:spPr bwMode="auto">
            <a:xfrm>
              <a:off x="4973" y="1152"/>
              <a:ext cx="0" cy="28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7" name="Line 35"/>
            <p:cNvSpPr>
              <a:spLocks noChangeShapeType="1"/>
            </p:cNvSpPr>
            <p:nvPr/>
          </p:nvSpPr>
          <p:spPr bwMode="auto">
            <a:xfrm flipV="1">
              <a:off x="4349" y="624"/>
              <a:ext cx="0" cy="1104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5363" name="Object 36"/>
          <p:cNvGraphicFramePr>
            <a:graphicFrameLocks noChangeAspect="1"/>
          </p:cNvGraphicFramePr>
          <p:nvPr/>
        </p:nvGraphicFramePr>
        <p:xfrm>
          <a:off x="609600" y="914400"/>
          <a:ext cx="4922838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4" name="Equation" r:id="rId3" imgW="3528016" imgH="350631" progId="Equation.3">
                  <p:embed/>
                </p:oleObj>
              </mc:Choice>
              <mc:Fallback>
                <p:oleObj name="Equation" r:id="rId3" imgW="3528016" imgH="35063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14400"/>
                        <a:ext cx="4922838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37"/>
          <p:cNvGraphicFramePr>
            <a:graphicFrameLocks noChangeAspect="1"/>
          </p:cNvGraphicFramePr>
          <p:nvPr/>
        </p:nvGraphicFramePr>
        <p:xfrm>
          <a:off x="693738" y="1676400"/>
          <a:ext cx="3649662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5" name="Equation" r:id="rId5" imgW="2339296" imgH="350631" progId="Equation.3">
                  <p:embed/>
                </p:oleObj>
              </mc:Choice>
              <mc:Fallback>
                <p:oleObj name="Equation" r:id="rId5" imgW="2339296" imgH="35063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8" y="1676400"/>
                        <a:ext cx="3649662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38"/>
          <p:cNvGraphicFramePr>
            <a:graphicFrameLocks noChangeAspect="1"/>
          </p:cNvGraphicFramePr>
          <p:nvPr/>
        </p:nvGraphicFramePr>
        <p:xfrm>
          <a:off x="595313" y="2438400"/>
          <a:ext cx="3348037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6" name="Equation" r:id="rId7" imgW="1394591" imgH="388537" progId="Equation.3">
                  <p:embed/>
                </p:oleObj>
              </mc:Choice>
              <mc:Fallback>
                <p:oleObj name="Equation" r:id="rId7" imgW="1394591" imgH="3885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2438400"/>
                        <a:ext cx="3348037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6" name="Group 39"/>
          <p:cNvGrpSpPr>
            <a:grpSpLocks/>
          </p:cNvGrpSpPr>
          <p:nvPr/>
        </p:nvGrpSpPr>
        <p:grpSpPr bwMode="auto">
          <a:xfrm>
            <a:off x="6924675" y="2147888"/>
            <a:ext cx="1228725" cy="519112"/>
            <a:chOff x="4362" y="1353"/>
            <a:chExt cx="774" cy="327"/>
          </a:xfrm>
        </p:grpSpPr>
        <p:sp>
          <p:nvSpPr>
            <p:cNvPr id="15382" name="Line 40"/>
            <p:cNvSpPr>
              <a:spLocks noChangeShapeType="1"/>
            </p:cNvSpPr>
            <p:nvPr/>
          </p:nvSpPr>
          <p:spPr bwMode="auto">
            <a:xfrm>
              <a:off x="4362" y="1607"/>
              <a:ext cx="655" cy="1"/>
            </a:xfrm>
            <a:prstGeom prst="line">
              <a:avLst/>
            </a:prstGeom>
            <a:noFill/>
            <a:ln w="28575">
              <a:solidFill>
                <a:srgbClr val="FF6633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3" name="Rectangle 41"/>
            <p:cNvSpPr>
              <a:spLocks noChangeArrowheads="1"/>
            </p:cNvSpPr>
            <p:nvPr/>
          </p:nvSpPr>
          <p:spPr bwMode="auto">
            <a:xfrm>
              <a:off x="4541" y="1353"/>
              <a:ext cx="59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i="1">
                  <a:solidFill>
                    <a:srgbClr val="000000"/>
                  </a:solidFill>
                  <a:latin typeface="Bookman Old Style" panose="02050604050505020204" pitchFamily="18" charset="0"/>
                </a:rPr>
                <a:t>r</a:t>
              </a:r>
            </a:p>
          </p:txBody>
        </p:sp>
      </p:grpSp>
      <p:grpSp>
        <p:nvGrpSpPr>
          <p:cNvPr id="15367" name="Group 42"/>
          <p:cNvGrpSpPr>
            <a:grpSpLocks/>
          </p:cNvGrpSpPr>
          <p:nvPr/>
        </p:nvGrpSpPr>
        <p:grpSpPr bwMode="auto">
          <a:xfrm>
            <a:off x="6994525" y="2095500"/>
            <a:ext cx="2149475" cy="1104900"/>
            <a:chOff x="4406" y="1320"/>
            <a:chExt cx="1354" cy="696"/>
          </a:xfrm>
        </p:grpSpPr>
        <p:sp>
          <p:nvSpPr>
            <p:cNvPr id="15377" name="Line 43"/>
            <p:cNvSpPr>
              <a:spLocks noChangeShapeType="1"/>
            </p:cNvSpPr>
            <p:nvPr/>
          </p:nvSpPr>
          <p:spPr bwMode="auto">
            <a:xfrm>
              <a:off x="5069" y="1729"/>
              <a:ext cx="25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8" name="Line 44"/>
            <p:cNvSpPr>
              <a:spLocks noChangeShapeType="1"/>
            </p:cNvSpPr>
            <p:nvPr/>
          </p:nvSpPr>
          <p:spPr bwMode="auto">
            <a:xfrm>
              <a:off x="4406" y="1607"/>
              <a:ext cx="91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 type="non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9" name="Line 45"/>
            <p:cNvSpPr>
              <a:spLocks noChangeShapeType="1"/>
            </p:cNvSpPr>
            <p:nvPr/>
          </p:nvSpPr>
          <p:spPr bwMode="auto">
            <a:xfrm>
              <a:off x="5236" y="1320"/>
              <a:ext cx="0" cy="287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0" name="Line 46"/>
            <p:cNvSpPr>
              <a:spLocks noChangeShapeType="1"/>
            </p:cNvSpPr>
            <p:nvPr/>
          </p:nvSpPr>
          <p:spPr bwMode="auto">
            <a:xfrm flipV="1">
              <a:off x="5236" y="1729"/>
              <a:ext cx="0" cy="287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1" name="Rectangle 47"/>
            <p:cNvSpPr>
              <a:spLocks noChangeArrowheads="1"/>
            </p:cNvSpPr>
            <p:nvPr/>
          </p:nvSpPr>
          <p:spPr bwMode="auto">
            <a:xfrm>
              <a:off x="5213" y="1344"/>
              <a:ext cx="5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000000"/>
                  </a:solidFill>
                  <a:latin typeface="Bookman Old Style" panose="02050604050505020204" pitchFamily="18" charset="0"/>
                </a:rPr>
                <a:t>d</a:t>
              </a:r>
            </a:p>
          </p:txBody>
        </p:sp>
      </p:grpSp>
      <p:grpSp>
        <p:nvGrpSpPr>
          <p:cNvPr id="15368" name="Group 48"/>
          <p:cNvGrpSpPr>
            <a:grpSpLocks/>
          </p:cNvGrpSpPr>
          <p:nvPr/>
        </p:nvGrpSpPr>
        <p:grpSpPr bwMode="auto">
          <a:xfrm>
            <a:off x="685800" y="3687763"/>
            <a:ext cx="5410200" cy="1646237"/>
            <a:chOff x="2496" y="2971"/>
            <a:chExt cx="3408" cy="1037"/>
          </a:xfrm>
        </p:grpSpPr>
        <p:grpSp>
          <p:nvGrpSpPr>
            <p:cNvPr id="15370" name="Group 49"/>
            <p:cNvGrpSpPr>
              <a:grpSpLocks/>
            </p:cNvGrpSpPr>
            <p:nvPr/>
          </p:nvGrpSpPr>
          <p:grpSpPr bwMode="auto">
            <a:xfrm>
              <a:off x="2863" y="2971"/>
              <a:ext cx="3041" cy="1037"/>
              <a:chOff x="2832" y="2971"/>
              <a:chExt cx="3041" cy="1037"/>
            </a:xfrm>
          </p:grpSpPr>
          <p:graphicFrame>
            <p:nvGraphicFramePr>
              <p:cNvPr id="15372" name="Object 50"/>
              <p:cNvGraphicFramePr>
                <a:graphicFrameLocks noChangeAspect="1"/>
              </p:cNvGraphicFramePr>
              <p:nvPr/>
            </p:nvGraphicFramePr>
            <p:xfrm>
              <a:off x="3021" y="2971"/>
              <a:ext cx="1418" cy="6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407" name="公式" r:id="rId9" imgW="1546642" imgH="594526" progId="Equation.3">
                      <p:embed/>
                    </p:oleObj>
                  </mc:Choice>
                  <mc:Fallback>
                    <p:oleObj name="公式" r:id="rId9" imgW="1546642" imgH="594526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1" y="2971"/>
                            <a:ext cx="1418" cy="6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3" name="Object 51"/>
              <p:cNvGraphicFramePr>
                <a:graphicFrameLocks noChangeAspect="1"/>
              </p:cNvGraphicFramePr>
              <p:nvPr/>
            </p:nvGraphicFramePr>
            <p:xfrm>
              <a:off x="3021" y="3696"/>
              <a:ext cx="1087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408" name="公式" r:id="rId11" imgW="960381" imgH="251377" progId="Equation.3">
                      <p:embed/>
                    </p:oleObj>
                  </mc:Choice>
                  <mc:Fallback>
                    <p:oleObj name="公式" r:id="rId11" imgW="960381" imgH="2513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21" y="3696"/>
                            <a:ext cx="1087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74" name="Rectangle 52"/>
              <p:cNvSpPr>
                <a:spLocks noChangeArrowheads="1"/>
              </p:cNvSpPr>
              <p:nvPr/>
            </p:nvSpPr>
            <p:spPr bwMode="auto">
              <a:xfrm>
                <a:off x="4061" y="3657"/>
                <a:ext cx="181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28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暗环半径</a:t>
                </a:r>
              </a:p>
            </p:txBody>
          </p:sp>
          <p:sp>
            <p:nvSpPr>
              <p:cNvPr id="15375" name="Rectangle 53"/>
              <p:cNvSpPr>
                <a:spLocks noChangeArrowheads="1"/>
              </p:cNvSpPr>
              <p:nvPr/>
            </p:nvSpPr>
            <p:spPr bwMode="auto">
              <a:xfrm>
                <a:off x="4202" y="3081"/>
                <a:ext cx="151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2800" b="1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明环半径</a:t>
                </a:r>
              </a:p>
            </p:txBody>
          </p:sp>
          <p:sp>
            <p:nvSpPr>
              <p:cNvPr id="15376" name="AutoShape 54"/>
              <p:cNvSpPr>
                <a:spLocks/>
              </p:cNvSpPr>
              <p:nvPr/>
            </p:nvSpPr>
            <p:spPr bwMode="auto">
              <a:xfrm>
                <a:off x="2832" y="3264"/>
                <a:ext cx="142" cy="659"/>
              </a:xfrm>
              <a:prstGeom prst="leftBrace">
                <a:avLst>
                  <a:gd name="adj1" fmla="val 38674"/>
                  <a:gd name="adj2" fmla="val 50000"/>
                </a:avLst>
              </a:prstGeom>
              <a:noFill/>
              <a:ln w="28575">
                <a:solidFill>
                  <a:srgbClr val="CC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5371" name="AutoShape 55"/>
            <p:cNvSpPr>
              <a:spLocks noChangeArrowheads="1"/>
            </p:cNvSpPr>
            <p:nvPr/>
          </p:nvSpPr>
          <p:spPr bwMode="auto">
            <a:xfrm>
              <a:off x="2496" y="3552"/>
              <a:ext cx="288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CCFF">
                <a:alpha val="50195"/>
              </a:srgbClr>
            </a:solidFill>
            <a:ln w="19050">
              <a:solidFill>
                <a:srgbClr val="CC00CC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3064" name="Rectangle 56"/>
          <p:cNvSpPr>
            <a:spLocks noChangeArrowheads="1"/>
          </p:cNvSpPr>
          <p:nvPr/>
        </p:nvSpPr>
        <p:spPr bwMode="auto">
          <a:xfrm>
            <a:off x="3059113" y="188913"/>
            <a:ext cx="342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36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rPr>
              <a:t>   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man Old Style" pitchFamily="18" charset="0"/>
              </a:rPr>
              <a:t>牛顿环分析</a:t>
            </a:r>
          </a:p>
        </p:txBody>
      </p:sp>
    </p:spTree>
    <p:extLst>
      <p:ext uri="{BB962C8B-B14F-4D97-AF65-F5344CB8AC3E}">
        <p14:creationId xmlns:p14="http://schemas.microsoft.com/office/powerpoint/2010/main" val="327972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09600" y="2895600"/>
            <a:ext cx="79248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CC0000"/>
                </a:solidFill>
                <a:latin typeface="宋体" panose="02010600030101010101" pitchFamily="2" charset="-122"/>
              </a:rPr>
              <a:t>    (</a:t>
            </a: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b="1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200" b="1">
                <a:solidFill>
                  <a:srgbClr val="003366"/>
                </a:solidFill>
                <a:latin typeface="Bookman Old Style" panose="02050604050505020204" pitchFamily="18" charset="0"/>
              </a:rPr>
              <a:t>从反射光中观测，中心点是暗点还是亮点？从透射光中观测，中心点是暗点还是亮点？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685800" y="4876800"/>
            <a:ext cx="7924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CC0000"/>
                </a:solidFill>
                <a:latin typeface="宋体" panose="02010600030101010101" pitchFamily="2" charset="-122"/>
              </a:rPr>
              <a:t>    (</a:t>
            </a:r>
            <a:r>
              <a:rPr lang="en-US" altLang="zh-CN" sz="3200" b="1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3200" b="1">
                <a:solidFill>
                  <a:srgbClr val="003366"/>
                </a:solidFill>
                <a:latin typeface="Bookman Old Style" panose="02050604050505020204" pitchFamily="18" charset="0"/>
              </a:rPr>
              <a:t>属于等厚干涉，条纹间距不等，为什么？</a:t>
            </a: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900113" y="939800"/>
            <a:ext cx="7272337" cy="184467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graphicFrame>
        <p:nvGraphicFramePr>
          <p:cNvPr id="16389" name="Object 6"/>
          <p:cNvGraphicFramePr>
            <a:graphicFrameLocks noChangeAspect="1"/>
          </p:cNvGraphicFramePr>
          <p:nvPr/>
        </p:nvGraphicFramePr>
        <p:xfrm>
          <a:off x="5795963" y="2125663"/>
          <a:ext cx="21463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6" name="公式" r:id="rId3" imgW="1358310" imgH="304668" progId="Equation.3">
                  <p:embed/>
                </p:oleObj>
              </mc:Choice>
              <mc:Fallback>
                <p:oleObj name="公式" r:id="rId3" imgW="1358310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125663"/>
                        <a:ext cx="21463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7"/>
          <p:cNvSpPr>
            <a:spLocks noChangeArrowheads="1"/>
          </p:cNvSpPr>
          <p:nvPr/>
        </p:nvSpPr>
        <p:spPr bwMode="auto">
          <a:xfrm>
            <a:off x="1331913" y="1989138"/>
            <a:ext cx="1816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66"/>
                </a:solidFill>
                <a:latin typeface="Times New Roman" panose="02020603050405020304" pitchFamily="18" charset="0"/>
              </a:rPr>
              <a:t>暗环半径</a:t>
            </a: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1258888" y="1196975"/>
            <a:ext cx="1816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3366"/>
                </a:solidFill>
                <a:latin typeface="Times New Roman" panose="02020603050405020304" pitchFamily="18" charset="0"/>
              </a:rPr>
              <a:t>明环半径</a:t>
            </a:r>
          </a:p>
        </p:txBody>
      </p:sp>
      <p:graphicFrame>
        <p:nvGraphicFramePr>
          <p:cNvPr id="16392" name="Object 9"/>
          <p:cNvGraphicFramePr>
            <a:graphicFrameLocks noChangeAspect="1"/>
          </p:cNvGraphicFramePr>
          <p:nvPr/>
        </p:nvGraphicFramePr>
        <p:xfrm>
          <a:off x="5867400" y="1239838"/>
          <a:ext cx="212248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7" name="公式" r:id="rId5" imgW="1303151" imgH="251377" progId="Equation.3">
                  <p:embed/>
                </p:oleObj>
              </mc:Choice>
              <mc:Fallback>
                <p:oleObj name="公式" r:id="rId5" imgW="1303151" imgH="2513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239838"/>
                        <a:ext cx="2122488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3" name="Object 10"/>
          <p:cNvGraphicFramePr>
            <a:graphicFrameLocks noChangeAspect="1"/>
          </p:cNvGraphicFramePr>
          <p:nvPr/>
        </p:nvGraphicFramePr>
        <p:xfrm>
          <a:off x="3419475" y="981075"/>
          <a:ext cx="230505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8" name="公式" r:id="rId7" imgW="1546642" imgH="594526" progId="Equation.3">
                  <p:embed/>
                </p:oleObj>
              </mc:Choice>
              <mc:Fallback>
                <p:oleObj name="公式" r:id="rId7" imgW="1546642" imgH="594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981075"/>
                        <a:ext cx="2305050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1"/>
          <p:cNvGraphicFramePr>
            <a:graphicFrameLocks noChangeAspect="1"/>
          </p:cNvGraphicFramePr>
          <p:nvPr/>
        </p:nvGraphicFramePr>
        <p:xfrm>
          <a:off x="3419475" y="2060575"/>
          <a:ext cx="190976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9" name="公式" r:id="rId9" imgW="960381" imgH="251377" progId="Equation.3">
                  <p:embed/>
                </p:oleObj>
              </mc:Choice>
              <mc:Fallback>
                <p:oleObj name="公式" r:id="rId9" imgW="960381" imgH="2513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060575"/>
                        <a:ext cx="190976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Text Box 15"/>
          <p:cNvSpPr txBox="1">
            <a:spLocks noChangeArrowheads="1"/>
          </p:cNvSpPr>
          <p:nvPr/>
        </p:nvSpPr>
        <p:spPr bwMode="auto">
          <a:xfrm>
            <a:off x="3924300" y="50800"/>
            <a:ext cx="25193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chemeClr val="bg1"/>
                </a:solidFill>
              </a:rPr>
              <a:t>讨论</a:t>
            </a:r>
          </a:p>
        </p:txBody>
      </p:sp>
    </p:spTree>
    <p:extLst>
      <p:ext uri="{BB962C8B-B14F-4D97-AF65-F5344CB8AC3E}">
        <p14:creationId xmlns:p14="http://schemas.microsoft.com/office/powerpoint/2010/main" val="130117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文本框 1"/>
          <p:cNvSpPr txBox="1"/>
          <p:nvPr/>
        </p:nvSpPr>
        <p:spPr>
          <a:xfrm>
            <a:off x="3059113" y="115888"/>
            <a:ext cx="2449512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典型例题</a:t>
            </a:r>
          </a:p>
        </p:txBody>
      </p:sp>
      <p:grpSp>
        <p:nvGrpSpPr>
          <p:cNvPr id="55299" name="组合 15"/>
          <p:cNvGrpSpPr/>
          <p:nvPr/>
        </p:nvGrpSpPr>
        <p:grpSpPr>
          <a:xfrm>
            <a:off x="4859338" y="2460625"/>
            <a:ext cx="3197225" cy="1801813"/>
            <a:chOff x="5192216" y="2924944"/>
            <a:chExt cx="3196208" cy="1801933"/>
          </a:xfrm>
        </p:grpSpPr>
        <p:grpSp>
          <p:nvGrpSpPr>
            <p:cNvPr id="55302" name="组合 6"/>
            <p:cNvGrpSpPr/>
            <p:nvPr/>
          </p:nvGrpSpPr>
          <p:grpSpPr>
            <a:xfrm>
              <a:off x="5192216" y="3429000"/>
              <a:ext cx="3196208" cy="1297877"/>
              <a:chOff x="5004048" y="3635106"/>
              <a:chExt cx="3196208" cy="1297877"/>
            </a:xfrm>
          </p:grpSpPr>
          <p:sp>
            <p:nvSpPr>
              <p:cNvPr id="3" name="Rectangle 10"/>
              <p:cNvSpPr>
                <a:spLocks noChangeArrowheads="1"/>
              </p:cNvSpPr>
              <p:nvPr/>
            </p:nvSpPr>
            <p:spPr bwMode="auto">
              <a:xfrm>
                <a:off x="5076056" y="4509120"/>
                <a:ext cx="3124200" cy="423863"/>
              </a:xfrm>
              <a:prstGeom prst="rect">
                <a:avLst/>
              </a:prstGeom>
              <a:solidFill>
                <a:schemeClr val="accent2">
                  <a:lumMod val="90000"/>
                </a:schemeClr>
              </a:solidFill>
              <a:ln w="127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Arc 30"/>
              <p:cNvSpPr/>
              <p:nvPr/>
            </p:nvSpPr>
            <p:spPr bwMode="auto">
              <a:xfrm>
                <a:off x="5004048" y="3635106"/>
                <a:ext cx="3121582" cy="423863"/>
              </a:xfrm>
              <a:custGeom>
                <a:avLst/>
                <a:gdLst>
                  <a:gd name="T0" fmla="*/ 0 w 42329"/>
                  <a:gd name="T1" fmla="*/ 0 h 21600"/>
                  <a:gd name="T2" fmla="*/ 0 w 42329"/>
                  <a:gd name="T3" fmla="*/ 0 h 21600"/>
                  <a:gd name="T4" fmla="*/ 0 w 4232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2329"/>
                  <a:gd name="T10" fmla="*/ 0 h 21600"/>
                  <a:gd name="T11" fmla="*/ 42329 w 4232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329" h="21600" fill="none" extrusionOk="0">
                    <a:moveTo>
                      <a:pt x="42328" y="3889"/>
                    </a:moveTo>
                    <a:cubicBezTo>
                      <a:pt x="40450" y="14148"/>
                      <a:pt x="31510" y="21599"/>
                      <a:pt x="21082" y="21600"/>
                    </a:cubicBezTo>
                    <a:cubicBezTo>
                      <a:pt x="10965" y="21600"/>
                      <a:pt x="2203" y="14577"/>
                      <a:pt x="0" y="4703"/>
                    </a:cubicBezTo>
                  </a:path>
                  <a:path w="42329" h="21600" stroke="0" extrusionOk="0">
                    <a:moveTo>
                      <a:pt x="42328" y="3889"/>
                    </a:moveTo>
                    <a:cubicBezTo>
                      <a:pt x="40450" y="14148"/>
                      <a:pt x="31510" y="21599"/>
                      <a:pt x="21082" y="21600"/>
                    </a:cubicBezTo>
                    <a:cubicBezTo>
                      <a:pt x="10965" y="21600"/>
                      <a:pt x="2203" y="14577"/>
                      <a:pt x="0" y="4703"/>
                    </a:cubicBezTo>
                    <a:lnTo>
                      <a:pt x="21082" y="0"/>
                    </a:lnTo>
                    <a:lnTo>
                      <a:pt x="42328" y="3889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  <a:alpha val="50195"/>
                </a:schemeClr>
              </a:solidFill>
              <a:ln w="12700" cap="rnd">
                <a:solidFill>
                  <a:schemeClr val="tx1"/>
                </a:solidFill>
                <a:round/>
                <a:headEnd type="none" w="sm" len="lg"/>
                <a:tailEnd type="none" w="sm" len="lg"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 bwMode="auto">
              <a:xfrm>
                <a:off x="5073438" y="3645024"/>
                <a:ext cx="3026954" cy="81926"/>
              </a:xfrm>
              <a:prstGeom prst="rect">
                <a:avLst/>
              </a:prstGeom>
              <a:solidFill>
                <a:schemeClr val="accent2">
                  <a:lumMod val="9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cxnSp>
          <p:nvCxnSpPr>
            <p:cNvPr id="9" name="直接箭头连接符 8"/>
            <p:cNvCxnSpPr/>
            <p:nvPr/>
          </p:nvCxnSpPr>
          <p:spPr bwMode="auto">
            <a:xfrm>
              <a:off x="5508104" y="2924944"/>
              <a:ext cx="0" cy="504056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accent2">
                  <a:lumMod val="9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接箭头连接符 9"/>
            <p:cNvCxnSpPr/>
            <p:nvPr/>
          </p:nvCxnSpPr>
          <p:spPr bwMode="auto">
            <a:xfrm>
              <a:off x="6588224" y="2924944"/>
              <a:ext cx="0" cy="504056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accent2">
                  <a:lumMod val="9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直接箭头连接符 10"/>
            <p:cNvCxnSpPr/>
            <p:nvPr/>
          </p:nvCxnSpPr>
          <p:spPr bwMode="auto">
            <a:xfrm>
              <a:off x="7092280" y="2924944"/>
              <a:ext cx="0" cy="504056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accent2">
                  <a:lumMod val="9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直接箭头连接符 11"/>
            <p:cNvCxnSpPr/>
            <p:nvPr/>
          </p:nvCxnSpPr>
          <p:spPr bwMode="auto">
            <a:xfrm>
              <a:off x="7596336" y="2924944"/>
              <a:ext cx="0" cy="504056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accent2">
                  <a:lumMod val="9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" name="直接箭头连接符 12"/>
            <p:cNvCxnSpPr/>
            <p:nvPr/>
          </p:nvCxnSpPr>
          <p:spPr bwMode="auto">
            <a:xfrm>
              <a:off x="8028384" y="2924944"/>
              <a:ext cx="0" cy="504056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accent2">
                  <a:lumMod val="9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" name="直接箭头连接符 13"/>
            <p:cNvCxnSpPr/>
            <p:nvPr/>
          </p:nvCxnSpPr>
          <p:spPr bwMode="auto">
            <a:xfrm>
              <a:off x="6084168" y="2924944"/>
              <a:ext cx="0" cy="504056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accent2">
                  <a:lumMod val="9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55300" name="文本框 14"/>
          <p:cNvSpPr txBox="1"/>
          <p:nvPr/>
        </p:nvSpPr>
        <p:spPr>
          <a:xfrm>
            <a:off x="323850" y="941388"/>
            <a:ext cx="8351838" cy="4894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如图所示为牛顿环实验装置，平凸透镜与平板玻璃之间拉开一定距离，现用单色平行光垂直照射在装置上，并使平凸透镜垂直向下缓慢平移而靠近平板玻璃，此时可观察到这些环状干涉条纹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A.  </a:t>
            </a:r>
            <a:r>
              <a:rPr lang="zh-CN" altLang="en-US" sz="2400" dirty="0">
                <a:latin typeface="Times New Roman" panose="02020603050405020304" pitchFamily="18" charset="0"/>
              </a:rPr>
              <a:t>向右平移</a:t>
            </a:r>
            <a:r>
              <a:rPr lang="en-US" altLang="zh-CN" sz="2400" dirty="0">
                <a:latin typeface="Times New Roman" panose="02020603050405020304" pitchFamily="18" charset="0"/>
              </a:rPr>
              <a:t>                       B.  </a:t>
            </a:r>
            <a:r>
              <a:rPr lang="zh-CN" altLang="en-US" sz="2400" dirty="0">
                <a:latin typeface="Times New Roman" panose="02020603050405020304" pitchFamily="18" charset="0"/>
              </a:rPr>
              <a:t>向中心湮灭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</a:rPr>
              <a:t>C.  </a:t>
            </a:r>
            <a:r>
              <a:rPr lang="zh-CN" altLang="en-US" sz="2400" dirty="0">
                <a:latin typeface="Times New Roman" panose="02020603050405020304" pitchFamily="18" charset="0"/>
              </a:rPr>
              <a:t>从中心向外涌出</a:t>
            </a:r>
            <a:r>
              <a:rPr lang="en-US" altLang="zh-CN" sz="2400" dirty="0">
                <a:latin typeface="Times New Roman" panose="02020603050405020304" pitchFamily="18" charset="0"/>
              </a:rPr>
              <a:t>           D.  </a:t>
            </a:r>
            <a:r>
              <a:rPr lang="zh-CN" altLang="en-US" sz="2400" dirty="0">
                <a:latin typeface="Times New Roman" panose="02020603050405020304" pitchFamily="18" charset="0"/>
              </a:rPr>
              <a:t>向左平移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500813" y="5835650"/>
            <a:ext cx="1684337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答案：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2981325" y="93663"/>
            <a:ext cx="3992563" cy="5857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　等厚干涉总结</a:t>
            </a:r>
          </a:p>
        </p:txBody>
      </p:sp>
      <p:sp>
        <p:nvSpPr>
          <p:cNvPr id="52227" name="Text Box 3"/>
          <p:cNvSpPr txBox="1"/>
          <p:nvPr/>
        </p:nvSpPr>
        <p:spPr>
          <a:xfrm>
            <a:off x="685800" y="1558925"/>
            <a:ext cx="80772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干涉条纹为光程差相同的点的轨迹，即厚度相等的点的轨迹</a:t>
            </a:r>
            <a:r>
              <a:rPr lang="en-US" altLang="zh-CN" dirty="0">
                <a:solidFill>
                  <a:srgbClr val="003366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64512" name="Object 0"/>
          <p:cNvGraphicFramePr>
            <a:graphicFrameLocks noChangeAspect="1"/>
          </p:cNvGraphicFramePr>
          <p:nvPr/>
        </p:nvGraphicFramePr>
        <p:xfrm>
          <a:off x="6019800" y="2819400"/>
          <a:ext cx="14478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7" r:id="rId3" imgW="388620" imgH="115570" progId="Equation.3">
                  <p:embed/>
                </p:oleObj>
              </mc:Choice>
              <mc:Fallback>
                <p:oleObj r:id="rId3" imgW="388620" imgH="115570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19800" y="2819400"/>
                        <a:ext cx="1447800" cy="522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3" name="Object 1"/>
          <p:cNvGraphicFramePr>
            <a:graphicFrameLocks noChangeAspect="1"/>
          </p:cNvGraphicFramePr>
          <p:nvPr/>
        </p:nvGraphicFramePr>
        <p:xfrm>
          <a:off x="6019800" y="3886200"/>
          <a:ext cx="1828800" cy="120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8" r:id="rId5" imgW="546735" imgH="357505" progId="Equation.3">
                  <p:embed/>
                </p:oleObj>
              </mc:Choice>
              <mc:Fallback>
                <p:oleObj r:id="rId5" imgW="546735" imgH="357505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19800" y="3886200"/>
                        <a:ext cx="1828800" cy="1201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30" name="Group 6"/>
          <p:cNvGrpSpPr/>
          <p:nvPr/>
        </p:nvGrpSpPr>
        <p:grpSpPr>
          <a:xfrm>
            <a:off x="1066800" y="3048000"/>
            <a:ext cx="4114800" cy="2971800"/>
            <a:chOff x="672" y="1920"/>
            <a:chExt cx="2592" cy="1872"/>
          </a:xfrm>
        </p:grpSpPr>
        <p:sp>
          <p:nvSpPr>
            <p:cNvPr id="52239" name="Rectangle 7"/>
            <p:cNvSpPr/>
            <p:nvPr/>
          </p:nvSpPr>
          <p:spPr>
            <a:xfrm>
              <a:off x="672" y="1920"/>
              <a:ext cx="2592" cy="187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40" name="Rectangle 8"/>
            <p:cNvSpPr/>
            <p:nvPr/>
          </p:nvSpPr>
          <p:spPr>
            <a:xfrm>
              <a:off x="925" y="2786"/>
              <a:ext cx="2056" cy="14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41" name="Rectangle 9"/>
            <p:cNvSpPr/>
            <p:nvPr/>
          </p:nvSpPr>
          <p:spPr>
            <a:xfrm rot="-548696">
              <a:off x="899" y="2468"/>
              <a:ext cx="2054" cy="14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2242" name="Group 10"/>
            <p:cNvGrpSpPr/>
            <p:nvPr/>
          </p:nvGrpSpPr>
          <p:grpSpPr>
            <a:xfrm>
              <a:off x="925" y="2998"/>
              <a:ext cx="2027" cy="371"/>
              <a:chOff x="1056" y="3072"/>
              <a:chExt cx="1920" cy="336"/>
            </a:xfrm>
          </p:grpSpPr>
          <p:sp>
            <p:nvSpPr>
              <p:cNvPr id="52243" name="Rectangle 11"/>
              <p:cNvSpPr/>
              <p:nvPr/>
            </p:nvSpPr>
            <p:spPr>
              <a:xfrm>
                <a:off x="1056" y="3072"/>
                <a:ext cx="1885" cy="334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244" name="Rectangle 12"/>
              <p:cNvSpPr/>
              <p:nvPr/>
            </p:nvSpPr>
            <p:spPr>
              <a:xfrm>
                <a:off x="1622" y="3073"/>
                <a:ext cx="89" cy="334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245" name="Rectangle 13"/>
              <p:cNvSpPr/>
              <p:nvPr/>
            </p:nvSpPr>
            <p:spPr>
              <a:xfrm>
                <a:off x="1435" y="3073"/>
                <a:ext cx="89" cy="334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246" name="Rectangle 14"/>
              <p:cNvSpPr/>
              <p:nvPr/>
            </p:nvSpPr>
            <p:spPr>
              <a:xfrm>
                <a:off x="1058" y="3073"/>
                <a:ext cx="90" cy="334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247" name="Rectangle 15"/>
              <p:cNvSpPr/>
              <p:nvPr/>
            </p:nvSpPr>
            <p:spPr>
              <a:xfrm>
                <a:off x="1810" y="3073"/>
                <a:ext cx="89" cy="334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248" name="Rectangle 16"/>
              <p:cNvSpPr/>
              <p:nvPr/>
            </p:nvSpPr>
            <p:spPr>
              <a:xfrm>
                <a:off x="1246" y="3073"/>
                <a:ext cx="89" cy="334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249" name="Rectangle 17"/>
              <p:cNvSpPr/>
              <p:nvPr/>
            </p:nvSpPr>
            <p:spPr>
              <a:xfrm>
                <a:off x="1998" y="3073"/>
                <a:ext cx="89" cy="334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250" name="Rectangle 18"/>
              <p:cNvSpPr/>
              <p:nvPr/>
            </p:nvSpPr>
            <p:spPr>
              <a:xfrm>
                <a:off x="2186" y="3073"/>
                <a:ext cx="89" cy="334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251" name="Rectangle 19"/>
              <p:cNvSpPr/>
              <p:nvPr/>
            </p:nvSpPr>
            <p:spPr>
              <a:xfrm>
                <a:off x="2374" y="3073"/>
                <a:ext cx="89" cy="334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252" name="Rectangle 20"/>
              <p:cNvSpPr/>
              <p:nvPr/>
            </p:nvSpPr>
            <p:spPr>
              <a:xfrm>
                <a:off x="2561" y="3073"/>
                <a:ext cx="89" cy="334"/>
              </a:xfrm>
              <a:prstGeom prst="rect">
                <a:avLst/>
              </a:prstGeom>
              <a:solidFill>
                <a:schemeClr val="tx2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52253" name="Group 21"/>
              <p:cNvGrpSpPr/>
              <p:nvPr/>
            </p:nvGrpSpPr>
            <p:grpSpPr>
              <a:xfrm>
                <a:off x="2332" y="3072"/>
                <a:ext cx="326" cy="336"/>
                <a:chOff x="192" y="3168"/>
                <a:chExt cx="672" cy="480"/>
              </a:xfrm>
            </p:grpSpPr>
            <p:sp>
              <p:nvSpPr>
                <p:cNvPr id="52268" name="Rectangle 22"/>
                <p:cNvSpPr/>
                <p:nvPr/>
              </p:nvSpPr>
              <p:spPr>
                <a:xfrm>
                  <a:off x="192" y="3168"/>
                  <a:ext cx="384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10"/>
                    </a:gs>
                    <a:gs pos="100000">
                      <a:srgbClr val="FFFF61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2269" name="Rectangle 23"/>
                <p:cNvSpPr/>
                <p:nvPr/>
              </p:nvSpPr>
              <p:spPr>
                <a:xfrm>
                  <a:off x="480" y="3168"/>
                  <a:ext cx="384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61"/>
                    </a:gs>
                    <a:gs pos="100000">
                      <a:srgbClr val="29291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254" name="Group 24"/>
              <p:cNvGrpSpPr/>
              <p:nvPr/>
            </p:nvGrpSpPr>
            <p:grpSpPr>
              <a:xfrm>
                <a:off x="1375" y="3072"/>
                <a:ext cx="336" cy="336"/>
                <a:chOff x="192" y="3168"/>
                <a:chExt cx="672" cy="480"/>
              </a:xfrm>
            </p:grpSpPr>
            <p:sp>
              <p:nvSpPr>
                <p:cNvPr id="52266" name="Rectangle 25"/>
                <p:cNvSpPr/>
                <p:nvPr/>
              </p:nvSpPr>
              <p:spPr>
                <a:xfrm>
                  <a:off x="192" y="3168"/>
                  <a:ext cx="384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10"/>
                    </a:gs>
                    <a:gs pos="100000">
                      <a:srgbClr val="FFFF61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2267" name="Rectangle 26"/>
                <p:cNvSpPr/>
                <p:nvPr/>
              </p:nvSpPr>
              <p:spPr>
                <a:xfrm>
                  <a:off x="480" y="3168"/>
                  <a:ext cx="384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61"/>
                    </a:gs>
                    <a:gs pos="100000">
                      <a:srgbClr val="29291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255" name="Group 27"/>
              <p:cNvGrpSpPr/>
              <p:nvPr/>
            </p:nvGrpSpPr>
            <p:grpSpPr>
              <a:xfrm>
                <a:off x="1694" y="3072"/>
                <a:ext cx="335" cy="336"/>
                <a:chOff x="192" y="3168"/>
                <a:chExt cx="672" cy="480"/>
              </a:xfrm>
            </p:grpSpPr>
            <p:sp>
              <p:nvSpPr>
                <p:cNvPr id="52264" name="Rectangle 28"/>
                <p:cNvSpPr/>
                <p:nvPr/>
              </p:nvSpPr>
              <p:spPr>
                <a:xfrm>
                  <a:off x="192" y="3168"/>
                  <a:ext cx="384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10"/>
                    </a:gs>
                    <a:gs pos="100000">
                      <a:srgbClr val="FFFF61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2265" name="Rectangle 29"/>
                <p:cNvSpPr/>
                <p:nvPr/>
              </p:nvSpPr>
              <p:spPr>
                <a:xfrm>
                  <a:off x="480" y="3168"/>
                  <a:ext cx="384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61"/>
                    </a:gs>
                    <a:gs pos="100000">
                      <a:srgbClr val="29291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52256" name="Group 30"/>
              <p:cNvGrpSpPr/>
              <p:nvPr/>
            </p:nvGrpSpPr>
            <p:grpSpPr>
              <a:xfrm>
                <a:off x="2014" y="3072"/>
                <a:ext cx="334" cy="336"/>
                <a:chOff x="192" y="3168"/>
                <a:chExt cx="672" cy="480"/>
              </a:xfrm>
            </p:grpSpPr>
            <p:sp>
              <p:nvSpPr>
                <p:cNvPr id="52262" name="Rectangle 31"/>
                <p:cNvSpPr/>
                <p:nvPr/>
              </p:nvSpPr>
              <p:spPr>
                <a:xfrm>
                  <a:off x="192" y="3168"/>
                  <a:ext cx="384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10"/>
                    </a:gs>
                    <a:gs pos="100000">
                      <a:srgbClr val="FFFF61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2263" name="Rectangle 32"/>
                <p:cNvSpPr/>
                <p:nvPr/>
              </p:nvSpPr>
              <p:spPr>
                <a:xfrm>
                  <a:off x="480" y="3168"/>
                  <a:ext cx="384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61"/>
                    </a:gs>
                    <a:gs pos="100000">
                      <a:srgbClr val="29291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2257" name="Rectangle 33"/>
              <p:cNvSpPr/>
              <p:nvPr/>
            </p:nvSpPr>
            <p:spPr>
              <a:xfrm>
                <a:off x="1056" y="3072"/>
                <a:ext cx="192" cy="336"/>
              </a:xfrm>
              <a:prstGeom prst="rect">
                <a:avLst/>
              </a:prstGeom>
              <a:gradFill rotWithShape="0">
                <a:gsLst>
                  <a:gs pos="0">
                    <a:srgbClr val="292910"/>
                  </a:gs>
                  <a:gs pos="100000">
                    <a:srgbClr val="FFFF6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2258" name="Rectangle 34"/>
              <p:cNvSpPr/>
              <p:nvPr/>
            </p:nvSpPr>
            <p:spPr>
              <a:xfrm>
                <a:off x="1199" y="3072"/>
                <a:ext cx="192" cy="336"/>
              </a:xfrm>
              <a:prstGeom prst="rect">
                <a:avLst/>
              </a:prstGeom>
              <a:gradFill rotWithShape="0">
                <a:gsLst>
                  <a:gs pos="0">
                    <a:srgbClr val="FFFF61"/>
                  </a:gs>
                  <a:gs pos="100000">
                    <a:srgbClr val="29291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52259" name="Group 35"/>
              <p:cNvGrpSpPr/>
              <p:nvPr/>
            </p:nvGrpSpPr>
            <p:grpSpPr>
              <a:xfrm>
                <a:off x="2640" y="3072"/>
                <a:ext cx="336" cy="336"/>
                <a:chOff x="192" y="3168"/>
                <a:chExt cx="672" cy="480"/>
              </a:xfrm>
            </p:grpSpPr>
            <p:sp>
              <p:nvSpPr>
                <p:cNvPr id="52260" name="Rectangle 36"/>
                <p:cNvSpPr/>
                <p:nvPr/>
              </p:nvSpPr>
              <p:spPr>
                <a:xfrm>
                  <a:off x="192" y="3168"/>
                  <a:ext cx="384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292910"/>
                    </a:gs>
                    <a:gs pos="100000">
                      <a:srgbClr val="FFFF61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2261" name="Rectangle 37"/>
                <p:cNvSpPr/>
                <p:nvPr/>
              </p:nvSpPr>
              <p:spPr>
                <a:xfrm>
                  <a:off x="480" y="3168"/>
                  <a:ext cx="384" cy="480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61"/>
                    </a:gs>
                    <a:gs pos="100000">
                      <a:srgbClr val="292910"/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9" name="Group 38"/>
          <p:cNvGrpSpPr/>
          <p:nvPr/>
        </p:nvGrpSpPr>
        <p:grpSpPr>
          <a:xfrm>
            <a:off x="2266950" y="3835400"/>
            <a:ext cx="1708150" cy="755650"/>
            <a:chOff x="1428" y="2416"/>
            <a:chExt cx="1076" cy="476"/>
          </a:xfrm>
        </p:grpSpPr>
        <p:sp>
          <p:nvSpPr>
            <p:cNvPr id="52232" name="Freeform 39"/>
            <p:cNvSpPr/>
            <p:nvPr/>
          </p:nvSpPr>
          <p:spPr>
            <a:xfrm>
              <a:off x="1428" y="2688"/>
              <a:ext cx="1" cy="98"/>
            </a:xfrm>
            <a:custGeom>
              <a:avLst/>
              <a:gdLst>
                <a:gd name="txL" fmla="*/ 0 w 1"/>
                <a:gd name="txT" fmla="*/ 0 h 98"/>
                <a:gd name="txR" fmla="*/ 1 w 1"/>
                <a:gd name="txB" fmla="*/ 98 h 98"/>
              </a:gdLst>
              <a:ahLst/>
              <a:cxnLst>
                <a:cxn ang="0">
                  <a:pos x="0" y="0"/>
                </a:cxn>
                <a:cxn ang="0">
                  <a:pos x="1" y="98"/>
                </a:cxn>
              </a:cxnLst>
              <a:rect l="txL" t="txT" r="txR" b="txB"/>
              <a:pathLst>
                <a:path w="1" h="98">
                  <a:moveTo>
                    <a:pt x="0" y="0"/>
                  </a:moveTo>
                  <a:lnTo>
                    <a:pt x="1" y="98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3" name="Freeform 40"/>
            <p:cNvSpPr/>
            <p:nvPr/>
          </p:nvSpPr>
          <p:spPr>
            <a:xfrm>
              <a:off x="1764" y="2634"/>
              <a:ext cx="3" cy="159"/>
            </a:xfrm>
            <a:custGeom>
              <a:avLst/>
              <a:gdLst>
                <a:gd name="txL" fmla="*/ 0 w 3"/>
                <a:gd name="txT" fmla="*/ 0 h 159"/>
                <a:gd name="txR" fmla="*/ 3 w 3"/>
                <a:gd name="txB" fmla="*/ 159 h 159"/>
              </a:gdLst>
              <a:ahLst/>
              <a:cxnLst>
                <a:cxn ang="0">
                  <a:pos x="3" y="159"/>
                </a:cxn>
                <a:cxn ang="0">
                  <a:pos x="0" y="0"/>
                </a:cxn>
              </a:cxnLst>
              <a:rect l="txL" t="txT" r="txR" b="txB"/>
              <a:pathLst>
                <a:path w="3" h="159">
                  <a:moveTo>
                    <a:pt x="3" y="159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4" name="Line 41"/>
            <p:cNvSpPr/>
            <p:nvPr/>
          </p:nvSpPr>
          <p:spPr>
            <a:xfrm>
              <a:off x="1440" y="2693"/>
              <a:ext cx="608" cy="1"/>
            </a:xfrm>
            <a:prstGeom prst="line">
              <a:avLst/>
            </a:prstGeom>
            <a:ln w="9525" cap="flat" cmpd="sng">
              <a:solidFill>
                <a:srgbClr val="CC0099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5" name="Line 42"/>
            <p:cNvSpPr/>
            <p:nvPr/>
          </p:nvSpPr>
          <p:spPr>
            <a:xfrm>
              <a:off x="1770" y="2636"/>
              <a:ext cx="254" cy="1"/>
            </a:xfrm>
            <a:prstGeom prst="line">
              <a:avLst/>
            </a:prstGeom>
            <a:ln w="9525" cap="flat" cmpd="sng">
              <a:solidFill>
                <a:srgbClr val="CC0099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6" name="Line 43"/>
            <p:cNvSpPr/>
            <p:nvPr/>
          </p:nvSpPr>
          <p:spPr>
            <a:xfrm>
              <a:off x="1997" y="2416"/>
              <a:ext cx="1" cy="212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37" name="Line 44"/>
            <p:cNvSpPr/>
            <p:nvPr/>
          </p:nvSpPr>
          <p:spPr>
            <a:xfrm flipV="1">
              <a:off x="1997" y="2680"/>
              <a:ext cx="1" cy="212"/>
            </a:xfrm>
            <a:prstGeom prst="line">
              <a:avLst/>
            </a:prstGeom>
            <a:ln w="19050" cap="flat" cmpd="sng">
              <a:solidFill>
                <a:srgbClr val="FF33CC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2238" name="Object 2"/>
            <p:cNvGraphicFramePr>
              <a:graphicFrameLocks noChangeAspect="1"/>
            </p:cNvGraphicFramePr>
            <p:nvPr/>
          </p:nvGraphicFramePr>
          <p:xfrm>
            <a:off x="2149" y="2522"/>
            <a:ext cx="355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59" r:id="rId7" imgW="178435" imgH="115570" progId="Equation.3">
                    <p:embed/>
                  </p:oleObj>
                </mc:Choice>
                <mc:Fallback>
                  <p:oleObj r:id="rId7" imgW="178435" imgH="115570" progId="Equation.3">
                    <p:embed/>
                    <p:pic>
                      <p:nvPicPr>
                        <p:cNvPr id="0" name="图片 3232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49" y="2522"/>
                          <a:ext cx="355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64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/>
          <p:nvPr/>
        </p:nvSpPr>
        <p:spPr>
          <a:xfrm>
            <a:off x="381000" y="1035050"/>
            <a:ext cx="82296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CC0000"/>
                </a:solidFill>
                <a:latin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厚度线性增长条纹等间距，厚度非线性增长条纹不等间距</a:t>
            </a:r>
            <a:r>
              <a:rPr lang="en-US" altLang="zh-CN" dirty="0">
                <a:solidFill>
                  <a:srgbClr val="003366"/>
                </a:solidFill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914400" y="3581400"/>
            <a:ext cx="7467600" cy="2438400"/>
            <a:chOff x="576" y="2256"/>
            <a:chExt cx="4704" cy="1536"/>
          </a:xfrm>
        </p:grpSpPr>
        <p:sp>
          <p:nvSpPr>
            <p:cNvPr id="53268" name="Rectangle 4"/>
            <p:cNvSpPr/>
            <p:nvPr/>
          </p:nvSpPr>
          <p:spPr>
            <a:xfrm>
              <a:off x="576" y="2256"/>
              <a:ext cx="4704" cy="15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3269" name="Rectangle 5"/>
            <p:cNvSpPr/>
            <p:nvPr/>
          </p:nvSpPr>
          <p:spPr>
            <a:xfrm>
              <a:off x="960" y="3168"/>
              <a:ext cx="1536" cy="144"/>
            </a:xfrm>
            <a:prstGeom prst="rect">
              <a:avLst/>
            </a:prstGeom>
            <a:solidFill>
              <a:srgbClr val="00CC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53254" name="Rectangle 6"/>
          <p:cNvSpPr/>
          <p:nvPr/>
        </p:nvSpPr>
        <p:spPr>
          <a:xfrm rot="-265443">
            <a:off x="1524000" y="4724400"/>
            <a:ext cx="2438400" cy="228600"/>
          </a:xfrm>
          <a:prstGeom prst="rect">
            <a:avLst/>
          </a:prstGeom>
          <a:solidFill>
            <a:srgbClr val="00CC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1524000" y="4114800"/>
            <a:ext cx="2438400" cy="838200"/>
            <a:chOff x="2544" y="3024"/>
            <a:chExt cx="1536" cy="528"/>
          </a:xfrm>
        </p:grpSpPr>
        <p:grpSp>
          <p:nvGrpSpPr>
            <p:cNvPr id="53264" name="Group 8"/>
            <p:cNvGrpSpPr/>
            <p:nvPr/>
          </p:nvGrpSpPr>
          <p:grpSpPr>
            <a:xfrm>
              <a:off x="2544" y="3312"/>
              <a:ext cx="1536" cy="240"/>
              <a:chOff x="2544" y="3312"/>
              <a:chExt cx="1536" cy="240"/>
            </a:xfrm>
          </p:grpSpPr>
          <p:sp>
            <p:nvSpPr>
              <p:cNvPr id="53266" name="Rectangle 9"/>
              <p:cNvSpPr/>
              <p:nvPr/>
            </p:nvSpPr>
            <p:spPr>
              <a:xfrm rot="-265443">
                <a:off x="2544" y="3408"/>
                <a:ext cx="1536" cy="144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3267" name="Rectangle 10"/>
              <p:cNvSpPr/>
              <p:nvPr/>
            </p:nvSpPr>
            <p:spPr>
              <a:xfrm rot="-265443">
                <a:off x="2544" y="3312"/>
                <a:ext cx="1536" cy="144"/>
              </a:xfrm>
              <a:prstGeom prst="rect">
                <a:avLst/>
              </a:prstGeom>
              <a:solidFill>
                <a:srgbClr val="00CC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3265" name="Line 11"/>
            <p:cNvSpPr/>
            <p:nvPr/>
          </p:nvSpPr>
          <p:spPr>
            <a:xfrm flipV="1">
              <a:off x="3264" y="3024"/>
              <a:ext cx="0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3260" name="Rectangle 12"/>
          <p:cNvSpPr/>
          <p:nvPr/>
        </p:nvSpPr>
        <p:spPr>
          <a:xfrm rot="-265443">
            <a:off x="5105400" y="4648200"/>
            <a:ext cx="2438400" cy="228600"/>
          </a:xfrm>
          <a:prstGeom prst="rect">
            <a:avLst/>
          </a:prstGeom>
          <a:solidFill>
            <a:srgbClr val="00CC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3261" name="Rectangle 13"/>
          <p:cNvSpPr/>
          <p:nvPr/>
        </p:nvSpPr>
        <p:spPr>
          <a:xfrm>
            <a:off x="5105400" y="4953000"/>
            <a:ext cx="2438400" cy="228600"/>
          </a:xfrm>
          <a:prstGeom prst="rect">
            <a:avLst/>
          </a:prstGeom>
          <a:solidFill>
            <a:srgbClr val="00CC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5" name="Group 14"/>
          <p:cNvGrpSpPr/>
          <p:nvPr/>
        </p:nvGrpSpPr>
        <p:grpSpPr>
          <a:xfrm>
            <a:off x="5105400" y="3962400"/>
            <a:ext cx="2438400" cy="914400"/>
            <a:chOff x="3840" y="2592"/>
            <a:chExt cx="1536" cy="576"/>
          </a:xfrm>
        </p:grpSpPr>
        <p:grpSp>
          <p:nvGrpSpPr>
            <p:cNvPr id="4" name="Group 15"/>
            <p:cNvGrpSpPr/>
            <p:nvPr/>
          </p:nvGrpSpPr>
          <p:grpSpPr>
            <a:xfrm>
              <a:off x="3840" y="2976"/>
              <a:ext cx="1536" cy="192"/>
              <a:chOff x="3360" y="3168"/>
              <a:chExt cx="1536" cy="192"/>
            </a:xfrm>
          </p:grpSpPr>
          <p:sp>
            <p:nvSpPr>
              <p:cNvPr id="53262" name="Rectangle 16"/>
              <p:cNvSpPr/>
              <p:nvPr/>
            </p:nvSpPr>
            <p:spPr>
              <a:xfrm rot="-265443">
                <a:off x="3360" y="3216"/>
                <a:ext cx="1536" cy="144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dash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3263" name="Rectangle 17"/>
              <p:cNvSpPr/>
              <p:nvPr/>
            </p:nvSpPr>
            <p:spPr>
              <a:xfrm rot="-494972">
                <a:off x="3360" y="3168"/>
                <a:ext cx="1536" cy="144"/>
              </a:xfrm>
              <a:prstGeom prst="rect">
                <a:avLst/>
              </a:prstGeom>
              <a:solidFill>
                <a:srgbClr val="00CC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" name="Arc 18"/>
            <p:cNvSpPr/>
            <p:nvPr/>
          </p:nvSpPr>
          <p:spPr>
            <a:xfrm rot="9509533" flipH="1" flipV="1">
              <a:off x="5088" y="2592"/>
              <a:ext cx="192" cy="261"/>
            </a:xfrm>
            <a:custGeom>
              <a:avLst/>
              <a:gdLst>
                <a:gd name="txL" fmla="*/ 0 w 21600"/>
                <a:gd name="txT" fmla="*/ 0 h 23493"/>
                <a:gd name="txR" fmla="*/ 21600 w 21600"/>
                <a:gd name="txB" fmla="*/ 23493 h 2349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3493" fill="none">
                  <a:moveTo>
                    <a:pt x="6982" y="-1"/>
                  </a:moveTo>
                  <a:cubicBezTo>
                    <a:pt x="15724" y="2985"/>
                    <a:pt x="21600" y="11201"/>
                    <a:pt x="21600" y="20440"/>
                  </a:cubicBezTo>
                  <a:cubicBezTo>
                    <a:pt x="21600" y="21461"/>
                    <a:pt x="21527" y="22481"/>
                    <a:pt x="21383" y="23493"/>
                  </a:cubicBezTo>
                </a:path>
                <a:path w="21600" h="23493" stroke="0">
                  <a:moveTo>
                    <a:pt x="6982" y="-1"/>
                  </a:moveTo>
                  <a:cubicBezTo>
                    <a:pt x="15724" y="2985"/>
                    <a:pt x="21600" y="11201"/>
                    <a:pt x="21600" y="20440"/>
                  </a:cubicBezTo>
                  <a:cubicBezTo>
                    <a:pt x="21600" y="21461"/>
                    <a:pt x="21527" y="22481"/>
                    <a:pt x="21383" y="23493"/>
                  </a:cubicBezTo>
                  <a:lnTo>
                    <a:pt x="0" y="20440"/>
                  </a:lnTo>
                  <a:lnTo>
                    <a:pt x="6982" y="-1"/>
                  </a:lnTo>
                  <a:close/>
                </a:path>
              </a:pathLst>
            </a:custGeom>
            <a:noFill/>
            <a:ln w="38100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3257" name="Object 20"/>
          <p:cNvGraphicFramePr>
            <a:graphicFrameLocks noChangeAspect="1"/>
          </p:cNvGraphicFramePr>
          <p:nvPr/>
        </p:nvGraphicFramePr>
        <p:xfrm>
          <a:off x="5861050" y="2349500"/>
          <a:ext cx="14478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r:id="rId3" imgW="231140" imgH="73660" progId="Equation.3">
                  <p:embed/>
                </p:oleObj>
              </mc:Choice>
              <mc:Fallback>
                <p:oleObj r:id="rId3" imgW="231140" imgH="7366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861050" y="2349500"/>
                        <a:ext cx="1447800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Text Box 21"/>
          <p:cNvSpPr txBox="1"/>
          <p:nvPr/>
        </p:nvSpPr>
        <p:spPr>
          <a:xfrm>
            <a:off x="755650" y="2349500"/>
            <a:ext cx="8077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  (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条纹的动态变化分析（              变化时）     </a:t>
            </a:r>
          </a:p>
        </p:txBody>
      </p:sp>
      <p:sp>
        <p:nvSpPr>
          <p:cNvPr id="53271" name="Text Box 23"/>
          <p:cNvSpPr txBox="1">
            <a:spLocks noChangeArrowheads="1"/>
          </p:cNvSpPr>
          <p:nvPr/>
        </p:nvSpPr>
        <p:spPr bwMode="auto">
          <a:xfrm>
            <a:off x="3532188" y="44450"/>
            <a:ext cx="3200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　</a:t>
            </a:r>
            <a:r>
              <a:rPr kumimoji="0" lang="zh-CN" altLang="en-US" sz="36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4" grpId="0" animBg="1"/>
      <p:bldP spid="53260" grpId="0" animBg="1"/>
      <p:bldP spid="5326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72000" y="1509713"/>
            <a:ext cx="3886200" cy="4648200"/>
            <a:chOff x="2928" y="1008"/>
            <a:chExt cx="2448" cy="2928"/>
          </a:xfrm>
        </p:grpSpPr>
        <p:sp>
          <p:nvSpPr>
            <p:cNvPr id="54333" name="Rectangle 3"/>
            <p:cNvSpPr/>
            <p:nvPr/>
          </p:nvSpPr>
          <p:spPr>
            <a:xfrm>
              <a:off x="2928" y="1008"/>
              <a:ext cx="2448" cy="29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334" name="Rectangle 4" descr="20%"/>
            <p:cNvSpPr/>
            <p:nvPr/>
          </p:nvSpPr>
          <p:spPr>
            <a:xfrm>
              <a:off x="3182" y="1536"/>
              <a:ext cx="1954" cy="528"/>
            </a:xfrm>
            <a:prstGeom prst="rect">
              <a:avLst/>
            </a:prstGeom>
            <a:blipFill rotWithShape="0">
              <a:blip r:embed="rId3"/>
            </a:blip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4335" name="Group 5"/>
            <p:cNvGrpSpPr/>
            <p:nvPr/>
          </p:nvGrpSpPr>
          <p:grpSpPr>
            <a:xfrm>
              <a:off x="3168" y="1440"/>
              <a:ext cx="1968" cy="423"/>
              <a:chOff x="2358" y="768"/>
              <a:chExt cx="2387" cy="528"/>
            </a:xfrm>
          </p:grpSpPr>
          <p:grpSp>
            <p:nvGrpSpPr>
              <p:cNvPr id="54360" name="Group 6"/>
              <p:cNvGrpSpPr/>
              <p:nvPr/>
            </p:nvGrpSpPr>
            <p:grpSpPr>
              <a:xfrm>
                <a:off x="2358" y="768"/>
                <a:ext cx="2386" cy="528"/>
                <a:chOff x="2358" y="768"/>
                <a:chExt cx="2386" cy="528"/>
              </a:xfrm>
            </p:grpSpPr>
            <p:sp>
              <p:nvSpPr>
                <p:cNvPr id="54362" name="Arc 7"/>
                <p:cNvSpPr/>
                <p:nvPr/>
              </p:nvSpPr>
              <p:spPr>
                <a:xfrm>
                  <a:off x="2358" y="768"/>
                  <a:ext cx="2385" cy="528"/>
                </a:xfrm>
                <a:custGeom>
                  <a:avLst/>
                  <a:gdLst>
                    <a:gd name="txL" fmla="*/ 0 w 42329"/>
                    <a:gd name="txT" fmla="*/ 0 h 21600"/>
                    <a:gd name="txR" fmla="*/ 42329 w 42329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2329" h="21600" fill="none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</a:path>
                    <a:path w="42329" h="21600" stroke="0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  <a:lnTo>
                        <a:pt x="21082" y="0"/>
                      </a:lnTo>
                      <a:lnTo>
                        <a:pt x="42328" y="3889"/>
                      </a:lnTo>
                      <a:close/>
                    </a:path>
                  </a:pathLst>
                </a:custGeom>
                <a:solidFill>
                  <a:srgbClr val="CCFFFF">
                    <a:alpha val="100000"/>
                  </a:srgbClr>
                </a:solidFill>
                <a:ln w="127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lg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63" name="Rectangle 8"/>
                <p:cNvSpPr/>
                <p:nvPr/>
              </p:nvSpPr>
              <p:spPr>
                <a:xfrm>
                  <a:off x="2367" y="768"/>
                  <a:ext cx="2377" cy="158"/>
                </a:xfrm>
                <a:prstGeom prst="rect">
                  <a:avLst/>
                </a:prstGeom>
                <a:solidFill>
                  <a:srgbClr val="CCFFFF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4361" name="Freeform 9"/>
              <p:cNvSpPr/>
              <p:nvPr/>
            </p:nvSpPr>
            <p:spPr>
              <a:xfrm>
                <a:off x="2367" y="768"/>
                <a:ext cx="2378" cy="159"/>
              </a:xfrm>
              <a:custGeom>
                <a:avLst/>
                <a:gdLst>
                  <a:gd name="txL" fmla="*/ 0 w 2378"/>
                  <a:gd name="txT" fmla="*/ 0 h 159"/>
                  <a:gd name="txR" fmla="*/ 2378 w 2378"/>
                  <a:gd name="txB" fmla="*/ 159 h 159"/>
                </a:gdLst>
                <a:ahLst/>
                <a:cxnLst>
                  <a:cxn ang="0">
                    <a:pos x="0" y="79"/>
                  </a:cxn>
                  <a:cxn ang="0">
                    <a:pos x="0" y="0"/>
                  </a:cxn>
                  <a:cxn ang="0">
                    <a:pos x="2377" y="0"/>
                  </a:cxn>
                  <a:cxn ang="0">
                    <a:pos x="2377" y="158"/>
                  </a:cxn>
                </a:cxnLst>
                <a:rect l="txL" t="txT" r="txR" b="txB"/>
                <a:pathLst>
                  <a:path w="2378" h="159">
                    <a:moveTo>
                      <a:pt x="0" y="79"/>
                    </a:moveTo>
                    <a:lnTo>
                      <a:pt x="0" y="0"/>
                    </a:lnTo>
                    <a:lnTo>
                      <a:pt x="2377" y="0"/>
                    </a:lnTo>
                    <a:lnTo>
                      <a:pt x="2377" y="158"/>
                    </a:lnTo>
                  </a:path>
                </a:pathLst>
              </a:custGeom>
              <a:solidFill>
                <a:srgbClr val="CCFFFF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4336" name="Rectangle 10"/>
            <p:cNvSpPr/>
            <p:nvPr/>
          </p:nvSpPr>
          <p:spPr>
            <a:xfrm>
              <a:off x="3168" y="1872"/>
              <a:ext cx="1968" cy="267"/>
            </a:xfrm>
            <a:prstGeom prst="rect">
              <a:avLst/>
            </a:prstGeom>
            <a:solidFill>
              <a:srgbClr val="9FDFFF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54337" name="Object 11"/>
            <p:cNvGraphicFramePr>
              <a:graphicFrameLocks noChangeAspect="1"/>
            </p:cNvGraphicFramePr>
            <p:nvPr/>
          </p:nvGraphicFramePr>
          <p:xfrm>
            <a:off x="4894" y="1536"/>
            <a:ext cx="29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0" r:id="rId4" imgW="99695" imgH="152400" progId="Equation.3">
                    <p:embed/>
                  </p:oleObj>
                </mc:Choice>
                <mc:Fallback>
                  <p:oleObj r:id="rId4" imgW="99695" imgH="152400" progId="Equation.3">
                    <p:embed/>
                    <p:pic>
                      <p:nvPicPr>
                        <p:cNvPr id="0" name="图片 3234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94" y="1536"/>
                          <a:ext cx="290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38" name="Object 12"/>
            <p:cNvGraphicFramePr>
              <a:graphicFrameLocks noChangeAspect="1"/>
            </p:cNvGraphicFramePr>
            <p:nvPr/>
          </p:nvGraphicFramePr>
          <p:xfrm>
            <a:off x="3216" y="1776"/>
            <a:ext cx="272" cy="3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1" r:id="rId6" imgW="94615" imgH="168275" progId="Equation.3">
                    <p:embed/>
                  </p:oleObj>
                </mc:Choice>
                <mc:Fallback>
                  <p:oleObj r:id="rId6" imgW="94615" imgH="168275" progId="Equation.3">
                    <p:embed/>
                    <p:pic>
                      <p:nvPicPr>
                        <p:cNvPr id="0" name="图片 3235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16" y="1776"/>
                          <a:ext cx="272" cy="3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39" name="Object 13"/>
            <p:cNvGraphicFramePr>
              <a:graphicFrameLocks noChangeAspect="1"/>
            </p:cNvGraphicFramePr>
            <p:nvPr/>
          </p:nvGraphicFramePr>
          <p:xfrm>
            <a:off x="3456" y="2064"/>
            <a:ext cx="1440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2" r:id="rId8" imgW="436245" imgH="99695" progId="Equation.3">
                    <p:embed/>
                  </p:oleObj>
                </mc:Choice>
                <mc:Fallback>
                  <p:oleObj r:id="rId8" imgW="436245" imgH="99695" progId="Equation.3">
                    <p:embed/>
                    <p:pic>
                      <p:nvPicPr>
                        <p:cNvPr id="0" name="图片 3236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56" y="2064"/>
                          <a:ext cx="1440" cy="4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4340" name="Group 14"/>
            <p:cNvGrpSpPr/>
            <p:nvPr/>
          </p:nvGrpSpPr>
          <p:grpSpPr>
            <a:xfrm>
              <a:off x="3504" y="1104"/>
              <a:ext cx="1200" cy="336"/>
              <a:chOff x="960" y="1008"/>
              <a:chExt cx="1200" cy="480"/>
            </a:xfrm>
          </p:grpSpPr>
          <p:sp>
            <p:nvSpPr>
              <p:cNvPr id="54354" name="Line 15"/>
              <p:cNvSpPr/>
              <p:nvPr/>
            </p:nvSpPr>
            <p:spPr>
              <a:xfrm>
                <a:off x="120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5" name="Line 16"/>
              <p:cNvSpPr/>
              <p:nvPr/>
            </p:nvSpPr>
            <p:spPr>
              <a:xfrm>
                <a:off x="144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6" name="Line 17"/>
              <p:cNvSpPr/>
              <p:nvPr/>
            </p:nvSpPr>
            <p:spPr>
              <a:xfrm>
                <a:off x="168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7" name="Line 18"/>
              <p:cNvSpPr/>
              <p:nvPr/>
            </p:nvSpPr>
            <p:spPr>
              <a:xfrm>
                <a:off x="192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8" name="Line 19"/>
              <p:cNvSpPr/>
              <p:nvPr/>
            </p:nvSpPr>
            <p:spPr>
              <a:xfrm>
                <a:off x="216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9" name="Line 20"/>
              <p:cNvSpPr/>
              <p:nvPr/>
            </p:nvSpPr>
            <p:spPr>
              <a:xfrm>
                <a:off x="96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4341" name="Group 21"/>
            <p:cNvGrpSpPr/>
            <p:nvPr/>
          </p:nvGrpSpPr>
          <p:grpSpPr>
            <a:xfrm>
              <a:off x="3504" y="1440"/>
              <a:ext cx="1200" cy="432"/>
              <a:chOff x="960" y="1008"/>
              <a:chExt cx="1200" cy="480"/>
            </a:xfrm>
          </p:grpSpPr>
          <p:sp>
            <p:nvSpPr>
              <p:cNvPr id="54348" name="Line 22"/>
              <p:cNvSpPr/>
              <p:nvPr/>
            </p:nvSpPr>
            <p:spPr>
              <a:xfrm>
                <a:off x="120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49" name="Line 23"/>
              <p:cNvSpPr/>
              <p:nvPr/>
            </p:nvSpPr>
            <p:spPr>
              <a:xfrm>
                <a:off x="144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0" name="Line 24"/>
              <p:cNvSpPr/>
              <p:nvPr/>
            </p:nvSpPr>
            <p:spPr>
              <a:xfrm>
                <a:off x="168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1" name="Line 25"/>
              <p:cNvSpPr/>
              <p:nvPr/>
            </p:nvSpPr>
            <p:spPr>
              <a:xfrm>
                <a:off x="192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2" name="Line 26"/>
              <p:cNvSpPr/>
              <p:nvPr/>
            </p:nvSpPr>
            <p:spPr>
              <a:xfrm>
                <a:off x="216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53" name="Line 27"/>
              <p:cNvSpPr/>
              <p:nvPr/>
            </p:nvSpPr>
            <p:spPr>
              <a:xfrm>
                <a:off x="960" y="1008"/>
                <a:ext cx="0" cy="48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4342" name="Group 28"/>
            <p:cNvGrpSpPr/>
            <p:nvPr/>
          </p:nvGrpSpPr>
          <p:grpSpPr>
            <a:xfrm>
              <a:off x="3168" y="1440"/>
              <a:ext cx="1968" cy="423"/>
              <a:chOff x="2358" y="768"/>
              <a:chExt cx="2387" cy="528"/>
            </a:xfrm>
          </p:grpSpPr>
          <p:grpSp>
            <p:nvGrpSpPr>
              <p:cNvPr id="54344" name="Group 29"/>
              <p:cNvGrpSpPr/>
              <p:nvPr/>
            </p:nvGrpSpPr>
            <p:grpSpPr>
              <a:xfrm>
                <a:off x="2358" y="768"/>
                <a:ext cx="2386" cy="528"/>
                <a:chOff x="2358" y="768"/>
                <a:chExt cx="2386" cy="528"/>
              </a:xfrm>
            </p:grpSpPr>
            <p:sp>
              <p:nvSpPr>
                <p:cNvPr id="54346" name="Arc 30"/>
                <p:cNvSpPr/>
                <p:nvPr/>
              </p:nvSpPr>
              <p:spPr>
                <a:xfrm>
                  <a:off x="2358" y="768"/>
                  <a:ext cx="2385" cy="528"/>
                </a:xfrm>
                <a:custGeom>
                  <a:avLst/>
                  <a:gdLst>
                    <a:gd name="txL" fmla="*/ 0 w 42329"/>
                    <a:gd name="txT" fmla="*/ 0 h 21600"/>
                    <a:gd name="txR" fmla="*/ 42329 w 42329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2329" h="21600" fill="none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</a:path>
                    <a:path w="42329" h="21600" stroke="0">
                      <a:moveTo>
                        <a:pt x="42328" y="3889"/>
                      </a:moveTo>
                      <a:cubicBezTo>
                        <a:pt x="40450" y="14148"/>
                        <a:pt x="31510" y="21599"/>
                        <a:pt x="21082" y="21600"/>
                      </a:cubicBezTo>
                      <a:cubicBezTo>
                        <a:pt x="10965" y="21600"/>
                        <a:pt x="2203" y="14577"/>
                        <a:pt x="0" y="4703"/>
                      </a:cubicBezTo>
                      <a:lnTo>
                        <a:pt x="21082" y="0"/>
                      </a:lnTo>
                      <a:lnTo>
                        <a:pt x="42328" y="3889"/>
                      </a:lnTo>
                      <a:close/>
                    </a:path>
                  </a:pathLst>
                </a:custGeom>
                <a:solidFill>
                  <a:srgbClr val="66FFFF">
                    <a:alpha val="50195"/>
                  </a:srgbClr>
                </a:solidFill>
                <a:ln w="127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lg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47" name="Rectangle 31"/>
                <p:cNvSpPr/>
                <p:nvPr/>
              </p:nvSpPr>
              <p:spPr>
                <a:xfrm>
                  <a:off x="2367" y="768"/>
                  <a:ext cx="2377" cy="158"/>
                </a:xfrm>
                <a:prstGeom prst="rect">
                  <a:avLst/>
                </a:prstGeom>
                <a:solidFill>
                  <a:srgbClr val="66FFFF">
                    <a:alpha val="50195"/>
                  </a:srgbClr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4345" name="Freeform 32"/>
              <p:cNvSpPr/>
              <p:nvPr/>
            </p:nvSpPr>
            <p:spPr>
              <a:xfrm>
                <a:off x="2367" y="768"/>
                <a:ext cx="2378" cy="159"/>
              </a:xfrm>
              <a:custGeom>
                <a:avLst/>
                <a:gdLst>
                  <a:gd name="txL" fmla="*/ 0 w 2378"/>
                  <a:gd name="txT" fmla="*/ 0 h 159"/>
                  <a:gd name="txR" fmla="*/ 2378 w 2378"/>
                  <a:gd name="txB" fmla="*/ 159 h 159"/>
                </a:gdLst>
                <a:ahLst/>
                <a:cxnLst>
                  <a:cxn ang="0">
                    <a:pos x="0" y="79"/>
                  </a:cxn>
                  <a:cxn ang="0">
                    <a:pos x="0" y="0"/>
                  </a:cxn>
                  <a:cxn ang="0">
                    <a:pos x="2377" y="0"/>
                  </a:cxn>
                  <a:cxn ang="0">
                    <a:pos x="2377" y="158"/>
                  </a:cxn>
                </a:cxnLst>
                <a:rect l="txL" t="txT" r="txR" b="txB"/>
                <a:pathLst>
                  <a:path w="2378" h="159">
                    <a:moveTo>
                      <a:pt x="0" y="79"/>
                    </a:moveTo>
                    <a:lnTo>
                      <a:pt x="0" y="0"/>
                    </a:lnTo>
                    <a:lnTo>
                      <a:pt x="2377" y="0"/>
                    </a:lnTo>
                    <a:lnTo>
                      <a:pt x="2377" y="158"/>
                    </a:lnTo>
                  </a:path>
                </a:pathLst>
              </a:custGeom>
              <a:noFill/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54343" name="Object 33"/>
            <p:cNvGraphicFramePr>
              <a:graphicFrameLocks noChangeAspect="1"/>
            </p:cNvGraphicFramePr>
            <p:nvPr/>
          </p:nvGraphicFramePr>
          <p:xfrm>
            <a:off x="3197" y="1344"/>
            <a:ext cx="259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23" r:id="rId10" imgW="89535" imgH="152400" progId="Equation.3">
                    <p:embed/>
                  </p:oleObj>
                </mc:Choice>
                <mc:Fallback>
                  <p:oleObj r:id="rId10" imgW="89535" imgH="152400" progId="Equation.3">
                    <p:embed/>
                    <p:pic>
                      <p:nvPicPr>
                        <p:cNvPr id="0" name="图片 3237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97" y="1344"/>
                          <a:ext cx="259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4"/>
          <p:cNvGrpSpPr/>
          <p:nvPr/>
        </p:nvGrpSpPr>
        <p:grpSpPr>
          <a:xfrm>
            <a:off x="685800" y="1509713"/>
            <a:ext cx="3581400" cy="4648200"/>
            <a:chOff x="432" y="1008"/>
            <a:chExt cx="2256" cy="2928"/>
          </a:xfrm>
        </p:grpSpPr>
        <p:sp>
          <p:nvSpPr>
            <p:cNvPr id="54309" name="Rectangle 35"/>
            <p:cNvSpPr/>
            <p:nvPr/>
          </p:nvSpPr>
          <p:spPr>
            <a:xfrm>
              <a:off x="432" y="1008"/>
              <a:ext cx="2256" cy="29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4310" name="Group 36"/>
            <p:cNvGrpSpPr/>
            <p:nvPr/>
          </p:nvGrpSpPr>
          <p:grpSpPr>
            <a:xfrm>
              <a:off x="672" y="1239"/>
              <a:ext cx="1824" cy="1113"/>
              <a:chOff x="768" y="1008"/>
              <a:chExt cx="1824" cy="1113"/>
            </a:xfrm>
          </p:grpSpPr>
          <p:grpSp>
            <p:nvGrpSpPr>
              <p:cNvPr id="54311" name="Group 37"/>
              <p:cNvGrpSpPr/>
              <p:nvPr/>
            </p:nvGrpSpPr>
            <p:grpSpPr>
              <a:xfrm>
                <a:off x="1056" y="1488"/>
                <a:ext cx="1200" cy="384"/>
                <a:chOff x="960" y="1008"/>
                <a:chExt cx="1200" cy="480"/>
              </a:xfrm>
            </p:grpSpPr>
            <p:sp>
              <p:nvSpPr>
                <p:cNvPr id="54327" name="Line 38"/>
                <p:cNvSpPr/>
                <p:nvPr/>
              </p:nvSpPr>
              <p:spPr>
                <a:xfrm>
                  <a:off x="120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triangl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8" name="Line 39"/>
                <p:cNvSpPr/>
                <p:nvPr/>
              </p:nvSpPr>
              <p:spPr>
                <a:xfrm>
                  <a:off x="144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triangl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9" name="Line 40"/>
                <p:cNvSpPr/>
                <p:nvPr/>
              </p:nvSpPr>
              <p:spPr>
                <a:xfrm>
                  <a:off x="168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triangl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30" name="Line 41"/>
                <p:cNvSpPr/>
                <p:nvPr/>
              </p:nvSpPr>
              <p:spPr>
                <a:xfrm>
                  <a:off x="192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triangl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31" name="Line 42"/>
                <p:cNvSpPr/>
                <p:nvPr/>
              </p:nvSpPr>
              <p:spPr>
                <a:xfrm>
                  <a:off x="216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triangl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32" name="Line 43"/>
                <p:cNvSpPr/>
                <p:nvPr/>
              </p:nvSpPr>
              <p:spPr>
                <a:xfrm>
                  <a:off x="96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triangl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4312" name="Rectangle 44"/>
              <p:cNvSpPr/>
              <p:nvPr/>
            </p:nvSpPr>
            <p:spPr>
              <a:xfrm>
                <a:off x="768" y="1861"/>
                <a:ext cx="1824" cy="230"/>
              </a:xfrm>
              <a:prstGeom prst="rect">
                <a:avLst/>
              </a:prstGeom>
              <a:solidFill>
                <a:srgbClr val="66FFFF">
                  <a:alpha val="50195"/>
                </a:srgbClr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54313" name="Group 45"/>
              <p:cNvGrpSpPr/>
              <p:nvPr/>
            </p:nvGrpSpPr>
            <p:grpSpPr>
              <a:xfrm>
                <a:off x="768" y="1488"/>
                <a:ext cx="1780" cy="365"/>
                <a:chOff x="2358" y="768"/>
                <a:chExt cx="2387" cy="528"/>
              </a:xfrm>
            </p:grpSpPr>
            <p:grpSp>
              <p:nvGrpSpPr>
                <p:cNvPr id="54323" name="Group 46"/>
                <p:cNvGrpSpPr/>
                <p:nvPr/>
              </p:nvGrpSpPr>
              <p:grpSpPr>
                <a:xfrm>
                  <a:off x="2358" y="768"/>
                  <a:ext cx="2386" cy="528"/>
                  <a:chOff x="2358" y="768"/>
                  <a:chExt cx="2386" cy="528"/>
                </a:xfrm>
              </p:grpSpPr>
              <p:sp>
                <p:nvSpPr>
                  <p:cNvPr id="54325" name="Arc 47"/>
                  <p:cNvSpPr/>
                  <p:nvPr/>
                </p:nvSpPr>
                <p:spPr>
                  <a:xfrm>
                    <a:off x="2358" y="768"/>
                    <a:ext cx="2385" cy="528"/>
                  </a:xfrm>
                  <a:custGeom>
                    <a:avLst/>
                    <a:gdLst>
                      <a:gd name="txL" fmla="*/ 0 w 42329"/>
                      <a:gd name="txT" fmla="*/ 0 h 21600"/>
                      <a:gd name="txR" fmla="*/ 42329 w 42329"/>
                      <a:gd name="txB" fmla="*/ 21600 h 2160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42329" h="21600" fill="none">
                        <a:moveTo>
                          <a:pt x="42328" y="3889"/>
                        </a:moveTo>
                        <a:cubicBezTo>
                          <a:pt x="40450" y="14148"/>
                          <a:pt x="31510" y="21599"/>
                          <a:pt x="21082" y="21600"/>
                        </a:cubicBezTo>
                        <a:cubicBezTo>
                          <a:pt x="10965" y="21600"/>
                          <a:pt x="2203" y="14577"/>
                          <a:pt x="0" y="4703"/>
                        </a:cubicBezTo>
                      </a:path>
                      <a:path w="42329" h="21600" stroke="0">
                        <a:moveTo>
                          <a:pt x="42328" y="3889"/>
                        </a:moveTo>
                        <a:cubicBezTo>
                          <a:pt x="40450" y="14148"/>
                          <a:pt x="31510" y="21599"/>
                          <a:pt x="21082" y="21600"/>
                        </a:cubicBezTo>
                        <a:cubicBezTo>
                          <a:pt x="10965" y="21600"/>
                          <a:pt x="2203" y="14577"/>
                          <a:pt x="0" y="4703"/>
                        </a:cubicBezTo>
                        <a:lnTo>
                          <a:pt x="21082" y="0"/>
                        </a:lnTo>
                        <a:lnTo>
                          <a:pt x="42328" y="3889"/>
                        </a:lnTo>
                        <a:close/>
                      </a:path>
                    </a:pathLst>
                  </a:custGeom>
                  <a:solidFill>
                    <a:srgbClr val="66FFFF">
                      <a:alpha val="50195"/>
                    </a:srgbClr>
                  </a:solidFill>
                  <a:ln w="12700" cap="rnd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sm" len="lg"/>
                    <a:tailEnd type="non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4326" name="Rectangle 48"/>
                  <p:cNvSpPr/>
                  <p:nvPr/>
                </p:nvSpPr>
                <p:spPr>
                  <a:xfrm>
                    <a:off x="2367" y="768"/>
                    <a:ext cx="2377" cy="158"/>
                  </a:xfrm>
                  <a:prstGeom prst="rect">
                    <a:avLst/>
                  </a:prstGeom>
                  <a:solidFill>
                    <a:srgbClr val="66FFFF">
                      <a:alpha val="50195"/>
                    </a:srgbClr>
                  </a:solidFill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54324" name="Freeform 49"/>
                <p:cNvSpPr/>
                <p:nvPr/>
              </p:nvSpPr>
              <p:spPr>
                <a:xfrm>
                  <a:off x="2367" y="768"/>
                  <a:ext cx="2378" cy="159"/>
                </a:xfrm>
                <a:custGeom>
                  <a:avLst/>
                  <a:gdLst>
                    <a:gd name="txL" fmla="*/ 0 w 2378"/>
                    <a:gd name="txT" fmla="*/ 0 h 159"/>
                    <a:gd name="txR" fmla="*/ 2378 w 2378"/>
                    <a:gd name="txB" fmla="*/ 159 h 159"/>
                  </a:gdLst>
                  <a:ahLst/>
                  <a:cxnLst>
                    <a:cxn ang="0">
                      <a:pos x="0" y="79"/>
                    </a:cxn>
                    <a:cxn ang="0">
                      <a:pos x="0" y="0"/>
                    </a:cxn>
                    <a:cxn ang="0">
                      <a:pos x="2377" y="0"/>
                    </a:cxn>
                    <a:cxn ang="0">
                      <a:pos x="2377" y="158"/>
                    </a:cxn>
                  </a:cxnLst>
                  <a:rect l="txL" t="txT" r="txR" b="txB"/>
                  <a:pathLst>
                    <a:path w="2378" h="159">
                      <a:moveTo>
                        <a:pt x="0" y="79"/>
                      </a:moveTo>
                      <a:lnTo>
                        <a:pt x="0" y="0"/>
                      </a:lnTo>
                      <a:lnTo>
                        <a:pt x="2377" y="0"/>
                      </a:lnTo>
                      <a:lnTo>
                        <a:pt x="2377" y="158"/>
                      </a:lnTo>
                    </a:path>
                  </a:pathLst>
                </a:custGeom>
                <a:noFill/>
                <a:ln w="127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sm" len="lg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54314" name="Object 50"/>
              <p:cNvGraphicFramePr>
                <a:graphicFrameLocks noChangeAspect="1"/>
              </p:cNvGraphicFramePr>
              <p:nvPr/>
            </p:nvGraphicFramePr>
            <p:xfrm>
              <a:off x="1168" y="1529"/>
              <a:ext cx="247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4" r:id="rId12" imgW="62865" imgH="68580" progId="Equation.3">
                      <p:embed/>
                    </p:oleObj>
                  </mc:Choice>
                  <mc:Fallback>
                    <p:oleObj r:id="rId12" imgW="62865" imgH="68580" progId="Equation.3">
                      <p:embed/>
                      <p:pic>
                        <p:nvPicPr>
                          <p:cNvPr id="0" name="图片 3238"/>
                          <p:cNvPicPr/>
                          <p:nvPr/>
                        </p:nvPicPr>
                        <p:blipFill>
                          <a:blip r:embed="rId13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168" y="1529"/>
                            <a:ext cx="247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4315" name="Object 51"/>
              <p:cNvGraphicFramePr>
                <a:graphicFrameLocks noChangeAspect="1"/>
              </p:cNvGraphicFramePr>
              <p:nvPr/>
            </p:nvGraphicFramePr>
            <p:xfrm>
              <a:off x="1152" y="1872"/>
              <a:ext cx="247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7925" r:id="rId14" imgW="62865" imgH="68580" progId="Equation.3">
                      <p:embed/>
                    </p:oleObj>
                  </mc:Choice>
                  <mc:Fallback>
                    <p:oleObj r:id="rId14" imgW="62865" imgH="68580" progId="Equation.3">
                      <p:embed/>
                      <p:pic>
                        <p:nvPicPr>
                          <p:cNvPr id="0" name="图片 3239"/>
                          <p:cNvPicPr/>
                          <p:nvPr/>
                        </p:nvPicPr>
                        <p:blipFill>
                          <a:blip r:embed="rId15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152" y="1872"/>
                            <a:ext cx="247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4316" name="Group 52"/>
              <p:cNvGrpSpPr/>
              <p:nvPr/>
            </p:nvGrpSpPr>
            <p:grpSpPr>
              <a:xfrm>
                <a:off x="1056" y="1008"/>
                <a:ext cx="1200" cy="480"/>
                <a:chOff x="960" y="1008"/>
                <a:chExt cx="1200" cy="480"/>
              </a:xfrm>
            </p:grpSpPr>
            <p:sp>
              <p:nvSpPr>
                <p:cNvPr id="54317" name="Line 53"/>
                <p:cNvSpPr/>
                <p:nvPr/>
              </p:nvSpPr>
              <p:spPr>
                <a:xfrm>
                  <a:off x="120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non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18" name="Line 54"/>
                <p:cNvSpPr/>
                <p:nvPr/>
              </p:nvSpPr>
              <p:spPr>
                <a:xfrm>
                  <a:off x="144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non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19" name="Line 55"/>
                <p:cNvSpPr/>
                <p:nvPr/>
              </p:nvSpPr>
              <p:spPr>
                <a:xfrm>
                  <a:off x="168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non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0" name="Line 56"/>
                <p:cNvSpPr/>
                <p:nvPr/>
              </p:nvSpPr>
              <p:spPr>
                <a:xfrm>
                  <a:off x="192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non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1" name="Line 57"/>
                <p:cNvSpPr/>
                <p:nvPr/>
              </p:nvSpPr>
              <p:spPr>
                <a:xfrm>
                  <a:off x="216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non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322" name="Line 58"/>
                <p:cNvSpPr/>
                <p:nvPr/>
              </p:nvSpPr>
              <p:spPr>
                <a:xfrm>
                  <a:off x="960" y="1008"/>
                  <a:ext cx="0" cy="480"/>
                </a:xfrm>
                <a:prstGeom prst="line">
                  <a:avLst/>
                </a:prstGeom>
                <a:ln w="19050" cap="flat" cmpd="sng">
                  <a:solidFill>
                    <a:srgbClr val="FF6600"/>
                  </a:solidFill>
                  <a:prstDash val="solid"/>
                  <a:headEnd type="none" w="sm" len="lg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54276" name="Text Box 59"/>
          <p:cNvSpPr txBox="1"/>
          <p:nvPr/>
        </p:nvSpPr>
        <p:spPr>
          <a:xfrm>
            <a:off x="1143000" y="868363"/>
            <a:ext cx="6553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半波损失需具体问题具体分析</a:t>
            </a:r>
            <a:r>
              <a:rPr lang="en-US" altLang="zh-CN" dirty="0">
                <a:solidFill>
                  <a:srgbClr val="003366"/>
                </a:solidFill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15" name="Group 60"/>
          <p:cNvGrpSpPr/>
          <p:nvPr/>
        </p:nvGrpSpPr>
        <p:grpSpPr>
          <a:xfrm>
            <a:off x="1447800" y="3871913"/>
            <a:ext cx="2057400" cy="2057400"/>
            <a:chOff x="960" y="2448"/>
            <a:chExt cx="1440" cy="1440"/>
          </a:xfrm>
        </p:grpSpPr>
        <p:sp>
          <p:nvSpPr>
            <p:cNvPr id="54294" name="Oval 61"/>
            <p:cNvSpPr/>
            <p:nvPr/>
          </p:nvSpPr>
          <p:spPr>
            <a:xfrm>
              <a:off x="960" y="2448"/>
              <a:ext cx="1440" cy="1440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95" name="Oval 62"/>
            <p:cNvSpPr/>
            <p:nvPr/>
          </p:nvSpPr>
          <p:spPr>
            <a:xfrm>
              <a:off x="992" y="2481"/>
              <a:ext cx="1376" cy="1374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96" name="Oval 63"/>
            <p:cNvSpPr/>
            <p:nvPr/>
          </p:nvSpPr>
          <p:spPr>
            <a:xfrm>
              <a:off x="1025" y="2513"/>
              <a:ext cx="1310" cy="1310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97" name="Oval 64"/>
            <p:cNvSpPr/>
            <p:nvPr/>
          </p:nvSpPr>
          <p:spPr>
            <a:xfrm>
              <a:off x="1057" y="2546"/>
              <a:ext cx="1246" cy="1244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98" name="Oval 65"/>
            <p:cNvSpPr/>
            <p:nvPr/>
          </p:nvSpPr>
          <p:spPr>
            <a:xfrm>
              <a:off x="1090" y="2578"/>
              <a:ext cx="1180" cy="1180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99" name="Oval 66"/>
            <p:cNvSpPr/>
            <p:nvPr/>
          </p:nvSpPr>
          <p:spPr>
            <a:xfrm>
              <a:off x="1123" y="2611"/>
              <a:ext cx="1114" cy="1114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300" name="Oval 67"/>
            <p:cNvSpPr/>
            <p:nvPr/>
          </p:nvSpPr>
          <p:spPr>
            <a:xfrm>
              <a:off x="1157" y="2645"/>
              <a:ext cx="1046" cy="1046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301" name="Oval 68"/>
            <p:cNvSpPr/>
            <p:nvPr/>
          </p:nvSpPr>
          <p:spPr>
            <a:xfrm>
              <a:off x="1223" y="2710"/>
              <a:ext cx="914" cy="916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302" name="Oval 69"/>
            <p:cNvSpPr/>
            <p:nvPr/>
          </p:nvSpPr>
          <p:spPr>
            <a:xfrm>
              <a:off x="1190" y="2678"/>
              <a:ext cx="980" cy="9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303" name="Oval 70"/>
            <p:cNvSpPr/>
            <p:nvPr/>
          </p:nvSpPr>
          <p:spPr>
            <a:xfrm>
              <a:off x="1237" y="2726"/>
              <a:ext cx="886" cy="884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304" name="Oval 71"/>
            <p:cNvSpPr/>
            <p:nvPr/>
          </p:nvSpPr>
          <p:spPr>
            <a:xfrm>
              <a:off x="1288" y="2775"/>
              <a:ext cx="784" cy="786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305" name="Oval 72"/>
            <p:cNvSpPr/>
            <p:nvPr/>
          </p:nvSpPr>
          <p:spPr>
            <a:xfrm>
              <a:off x="1352" y="2841"/>
              <a:ext cx="656" cy="654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306" name="Oval 73"/>
            <p:cNvSpPr/>
            <p:nvPr/>
          </p:nvSpPr>
          <p:spPr>
            <a:xfrm>
              <a:off x="1403" y="2890"/>
              <a:ext cx="554" cy="556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307" name="Oval 74"/>
            <p:cNvSpPr/>
            <p:nvPr/>
          </p:nvSpPr>
          <p:spPr>
            <a:xfrm>
              <a:off x="1472" y="2959"/>
              <a:ext cx="416" cy="418"/>
            </a:xfrm>
            <a:prstGeom prst="ellipse">
              <a:avLst/>
            </a:prstGeom>
            <a:solidFill>
              <a:srgbClr val="FFCC00"/>
            </a:solidFill>
            <a:ln w="127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308" name="Oval 75"/>
            <p:cNvSpPr/>
            <p:nvPr/>
          </p:nvSpPr>
          <p:spPr>
            <a:xfrm>
              <a:off x="1550" y="3038"/>
              <a:ext cx="260" cy="26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76"/>
          <p:cNvGrpSpPr/>
          <p:nvPr/>
        </p:nvGrpSpPr>
        <p:grpSpPr>
          <a:xfrm>
            <a:off x="5486400" y="4024313"/>
            <a:ext cx="2057400" cy="1981200"/>
            <a:chOff x="3504" y="2544"/>
            <a:chExt cx="1440" cy="1440"/>
          </a:xfrm>
        </p:grpSpPr>
        <p:sp>
          <p:nvSpPr>
            <p:cNvPr id="54280" name="Oval 77"/>
            <p:cNvSpPr/>
            <p:nvPr/>
          </p:nvSpPr>
          <p:spPr>
            <a:xfrm>
              <a:off x="3504" y="2544"/>
              <a:ext cx="1440" cy="1440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1" name="Oval 78"/>
            <p:cNvSpPr/>
            <p:nvPr/>
          </p:nvSpPr>
          <p:spPr>
            <a:xfrm>
              <a:off x="3536" y="2577"/>
              <a:ext cx="1376" cy="1374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2" name="Oval 79"/>
            <p:cNvSpPr/>
            <p:nvPr/>
          </p:nvSpPr>
          <p:spPr>
            <a:xfrm>
              <a:off x="3569" y="2609"/>
              <a:ext cx="1310" cy="1310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3" name="Oval 80"/>
            <p:cNvSpPr/>
            <p:nvPr/>
          </p:nvSpPr>
          <p:spPr>
            <a:xfrm>
              <a:off x="3601" y="2642"/>
              <a:ext cx="1246" cy="1244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4" name="Oval 81"/>
            <p:cNvSpPr/>
            <p:nvPr/>
          </p:nvSpPr>
          <p:spPr>
            <a:xfrm>
              <a:off x="3634" y="2674"/>
              <a:ext cx="1180" cy="1180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5" name="Oval 82"/>
            <p:cNvSpPr/>
            <p:nvPr/>
          </p:nvSpPr>
          <p:spPr>
            <a:xfrm>
              <a:off x="3667" y="2707"/>
              <a:ext cx="1114" cy="1114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6" name="Oval 83"/>
            <p:cNvSpPr/>
            <p:nvPr/>
          </p:nvSpPr>
          <p:spPr>
            <a:xfrm>
              <a:off x="3701" y="2741"/>
              <a:ext cx="1046" cy="1046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7" name="Oval 84"/>
            <p:cNvSpPr/>
            <p:nvPr/>
          </p:nvSpPr>
          <p:spPr>
            <a:xfrm>
              <a:off x="3767" y="2806"/>
              <a:ext cx="914" cy="916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8" name="Oval 85"/>
            <p:cNvSpPr/>
            <p:nvPr/>
          </p:nvSpPr>
          <p:spPr>
            <a:xfrm>
              <a:off x="3734" y="2774"/>
              <a:ext cx="980" cy="980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89" name="Oval 86"/>
            <p:cNvSpPr/>
            <p:nvPr/>
          </p:nvSpPr>
          <p:spPr>
            <a:xfrm>
              <a:off x="3781" y="2822"/>
              <a:ext cx="886" cy="884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90" name="Oval 87"/>
            <p:cNvSpPr/>
            <p:nvPr/>
          </p:nvSpPr>
          <p:spPr>
            <a:xfrm>
              <a:off x="3832" y="2871"/>
              <a:ext cx="784" cy="786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91" name="Oval 88"/>
            <p:cNvSpPr/>
            <p:nvPr/>
          </p:nvSpPr>
          <p:spPr>
            <a:xfrm>
              <a:off x="3896" y="2937"/>
              <a:ext cx="656" cy="654"/>
            </a:xfrm>
            <a:prstGeom prst="ellipse">
              <a:avLst/>
            </a:prstGeom>
            <a:solidFill>
              <a:srgbClr val="FFCC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92" name="Oval 89"/>
            <p:cNvSpPr/>
            <p:nvPr/>
          </p:nvSpPr>
          <p:spPr>
            <a:xfrm>
              <a:off x="3947" y="2976"/>
              <a:ext cx="565" cy="566"/>
            </a:xfrm>
            <a:prstGeom prst="ellipse">
              <a:avLst/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4293" name="Oval 90"/>
            <p:cNvSpPr/>
            <p:nvPr/>
          </p:nvSpPr>
          <p:spPr>
            <a:xfrm>
              <a:off x="4032" y="3072"/>
              <a:ext cx="384" cy="384"/>
            </a:xfrm>
            <a:prstGeom prst="ellipse">
              <a:avLst/>
            </a:prstGeom>
            <a:solidFill>
              <a:srgbClr val="FFCC00"/>
            </a:solidFill>
            <a:ln w="12700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54366" name="Text Box 94"/>
          <p:cNvSpPr txBox="1">
            <a:spLocks noChangeArrowheads="1"/>
          </p:cNvSpPr>
          <p:nvPr/>
        </p:nvSpPr>
        <p:spPr bwMode="auto">
          <a:xfrm>
            <a:off x="3532188" y="44450"/>
            <a:ext cx="3200400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3600" kern="1200" cap="none" spc="0" normalizeH="0" baseline="0" noProof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　</a:t>
            </a:r>
            <a:r>
              <a:rPr kumimoji="0" lang="zh-CN" altLang="en-US" sz="3600" kern="1200" cap="none" spc="0" normalizeH="0" baseline="0" noProof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总结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2"/>
          <p:cNvGrpSpPr/>
          <p:nvPr/>
        </p:nvGrpSpPr>
        <p:grpSpPr>
          <a:xfrm>
            <a:off x="812800" y="990600"/>
            <a:ext cx="7583488" cy="4303713"/>
            <a:chOff x="186" y="480"/>
            <a:chExt cx="5382" cy="2976"/>
          </a:xfrm>
        </p:grpSpPr>
        <p:sp>
          <p:nvSpPr>
            <p:cNvPr id="56391" name="Rectangle 3"/>
            <p:cNvSpPr/>
            <p:nvPr/>
          </p:nvSpPr>
          <p:spPr>
            <a:xfrm>
              <a:off x="240" y="480"/>
              <a:ext cx="5328" cy="297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4820" name="Text Box 4"/>
            <p:cNvSpPr txBox="1">
              <a:spLocks noChangeArrowheads="1"/>
            </p:cNvSpPr>
            <p:nvPr/>
          </p:nvSpPr>
          <p:spPr bwMode="auto">
            <a:xfrm>
              <a:off x="186" y="480"/>
              <a:ext cx="483" cy="2976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rgbClr val="FFFFFF"/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rgbClr val="006666"/>
              </a:solidFill>
              <a:miter lim="800000"/>
              <a:tailEnd type="none" w="sm" len="lg"/>
            </a:ln>
            <a:effectLst/>
          </p:spPr>
          <p:txBody>
            <a:bodyPr vert="eaVert">
              <a:spAutoFit/>
            </a:bodyPr>
            <a:lstStyle/>
            <a:p>
              <a:pPr marR="0" algn="ctr" defTabSz="914400" eaLnBrk="1" hangingPunct="1">
                <a:buClrTx/>
                <a:buSzTx/>
                <a:buFontTx/>
                <a:buNone/>
                <a:defRPr/>
              </a:pPr>
              <a:r>
                <a:rPr kumimoji="0" lang="zh-CN" altLang="en-US" kern="1200" cap="none" spc="0" normalizeH="0" baseline="0" noProof="0">
                  <a:solidFill>
                    <a:srgbClr val="003366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夫 琅 禾 费 单 缝 衍 射</a:t>
              </a:r>
              <a:endParaRPr kumimoji="0" lang="zh-CN" altLang="en-US" kern="1200" cap="none" spc="0" normalizeH="0" baseline="0" noProof="0">
                <a:solidFill>
                  <a:srgbClr val="003366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2038350" y="2587625"/>
            <a:ext cx="3449638" cy="1109663"/>
            <a:chOff x="768" y="2112"/>
            <a:chExt cx="2448" cy="768"/>
          </a:xfrm>
        </p:grpSpPr>
        <p:sp>
          <p:nvSpPr>
            <p:cNvPr id="56381" name="Line 6"/>
            <p:cNvSpPr/>
            <p:nvPr/>
          </p:nvSpPr>
          <p:spPr>
            <a:xfrm flipV="1">
              <a:off x="1056" y="2112"/>
              <a:ext cx="211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2" name="Line 7"/>
            <p:cNvSpPr/>
            <p:nvPr/>
          </p:nvSpPr>
          <p:spPr>
            <a:xfrm flipV="1">
              <a:off x="1008" y="2304"/>
              <a:ext cx="220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3" name="Line 8"/>
            <p:cNvSpPr/>
            <p:nvPr/>
          </p:nvSpPr>
          <p:spPr>
            <a:xfrm>
              <a:off x="1008" y="2496"/>
              <a:ext cx="220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4" name="Line 9"/>
            <p:cNvSpPr/>
            <p:nvPr/>
          </p:nvSpPr>
          <p:spPr>
            <a:xfrm flipV="1">
              <a:off x="1008" y="2688"/>
              <a:ext cx="220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5" name="Line 10"/>
            <p:cNvSpPr/>
            <p:nvPr/>
          </p:nvSpPr>
          <p:spPr>
            <a:xfrm>
              <a:off x="1056" y="2880"/>
              <a:ext cx="216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6" name="Line 11"/>
            <p:cNvSpPr/>
            <p:nvPr/>
          </p:nvSpPr>
          <p:spPr>
            <a:xfrm flipH="1">
              <a:off x="768" y="2112"/>
              <a:ext cx="38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7" name="Line 12"/>
            <p:cNvSpPr/>
            <p:nvPr/>
          </p:nvSpPr>
          <p:spPr>
            <a:xfrm flipH="1">
              <a:off x="768" y="2304"/>
              <a:ext cx="38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8" name="Line 13"/>
            <p:cNvSpPr/>
            <p:nvPr/>
          </p:nvSpPr>
          <p:spPr>
            <a:xfrm flipH="1">
              <a:off x="768" y="2496"/>
              <a:ext cx="38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9" name="Line 14"/>
            <p:cNvSpPr/>
            <p:nvPr/>
          </p:nvSpPr>
          <p:spPr>
            <a:xfrm flipH="1">
              <a:off x="768" y="2688"/>
              <a:ext cx="38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90" name="Line 15"/>
            <p:cNvSpPr/>
            <p:nvPr/>
          </p:nvSpPr>
          <p:spPr>
            <a:xfrm flipH="1">
              <a:off x="768" y="2880"/>
              <a:ext cx="384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6"/>
          <p:cNvGrpSpPr/>
          <p:nvPr/>
        </p:nvGrpSpPr>
        <p:grpSpPr>
          <a:xfrm>
            <a:off x="5421313" y="2587625"/>
            <a:ext cx="2097087" cy="1109663"/>
            <a:chOff x="3168" y="2112"/>
            <a:chExt cx="1488" cy="768"/>
          </a:xfrm>
        </p:grpSpPr>
        <p:sp>
          <p:nvSpPr>
            <p:cNvPr id="56376" name="Line 17"/>
            <p:cNvSpPr/>
            <p:nvPr/>
          </p:nvSpPr>
          <p:spPr>
            <a:xfrm flipV="1">
              <a:off x="3168" y="2496"/>
              <a:ext cx="1488" cy="38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7" name="Line 18"/>
            <p:cNvSpPr/>
            <p:nvPr/>
          </p:nvSpPr>
          <p:spPr>
            <a:xfrm flipV="1">
              <a:off x="3168" y="2496"/>
              <a:ext cx="1488" cy="19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8" name="Line 19"/>
            <p:cNvSpPr/>
            <p:nvPr/>
          </p:nvSpPr>
          <p:spPr>
            <a:xfrm>
              <a:off x="3216" y="2304"/>
              <a:ext cx="1440" cy="192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9" name="Line 20"/>
            <p:cNvSpPr/>
            <p:nvPr/>
          </p:nvSpPr>
          <p:spPr>
            <a:xfrm>
              <a:off x="3168" y="2112"/>
              <a:ext cx="1488" cy="38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80" name="Line 21"/>
            <p:cNvSpPr/>
            <p:nvPr/>
          </p:nvSpPr>
          <p:spPr>
            <a:xfrm>
              <a:off x="3216" y="2496"/>
              <a:ext cx="1440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2"/>
          <p:cNvGrpSpPr/>
          <p:nvPr/>
        </p:nvGrpSpPr>
        <p:grpSpPr>
          <a:xfrm>
            <a:off x="3324225" y="2032000"/>
            <a:ext cx="4210050" cy="1690688"/>
            <a:chOff x="1668" y="1744"/>
            <a:chExt cx="2988" cy="1169"/>
          </a:xfrm>
        </p:grpSpPr>
        <p:sp>
          <p:nvSpPr>
            <p:cNvPr id="56366" name="Line 23"/>
            <p:cNvSpPr/>
            <p:nvPr/>
          </p:nvSpPr>
          <p:spPr>
            <a:xfrm flipV="1">
              <a:off x="1668" y="1744"/>
              <a:ext cx="1420" cy="39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7" name="Line 24"/>
            <p:cNvSpPr/>
            <p:nvPr/>
          </p:nvSpPr>
          <p:spPr>
            <a:xfrm flipV="1">
              <a:off x="1668" y="1939"/>
              <a:ext cx="1420" cy="390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8" name="Line 25"/>
            <p:cNvSpPr/>
            <p:nvPr/>
          </p:nvSpPr>
          <p:spPr>
            <a:xfrm flipV="1">
              <a:off x="1668" y="2134"/>
              <a:ext cx="1420" cy="389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9" name="Line 26"/>
            <p:cNvSpPr/>
            <p:nvPr/>
          </p:nvSpPr>
          <p:spPr>
            <a:xfrm flipV="1">
              <a:off x="1668" y="2329"/>
              <a:ext cx="1420" cy="389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70" name="Line 27"/>
            <p:cNvSpPr/>
            <p:nvPr/>
          </p:nvSpPr>
          <p:spPr>
            <a:xfrm flipV="1">
              <a:off x="1668" y="2134"/>
              <a:ext cx="2953" cy="779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371" name="Group 28"/>
            <p:cNvGrpSpPr/>
            <p:nvPr/>
          </p:nvGrpSpPr>
          <p:grpSpPr>
            <a:xfrm>
              <a:off x="3088" y="1744"/>
              <a:ext cx="1568" cy="585"/>
              <a:chOff x="3088" y="1744"/>
              <a:chExt cx="1533" cy="585"/>
            </a:xfrm>
          </p:grpSpPr>
          <p:sp>
            <p:nvSpPr>
              <p:cNvPr id="56372" name="Line 29"/>
              <p:cNvSpPr/>
              <p:nvPr/>
            </p:nvSpPr>
            <p:spPr>
              <a:xfrm flipV="1">
                <a:off x="3088" y="2134"/>
                <a:ext cx="1533" cy="195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73" name="Line 30"/>
              <p:cNvSpPr/>
              <p:nvPr/>
            </p:nvSpPr>
            <p:spPr>
              <a:xfrm>
                <a:off x="3088" y="2134"/>
                <a:ext cx="1533" cy="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74" name="Line 31"/>
              <p:cNvSpPr/>
              <p:nvPr/>
            </p:nvSpPr>
            <p:spPr>
              <a:xfrm>
                <a:off x="3088" y="1939"/>
                <a:ext cx="1533" cy="195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75" name="Line 32"/>
              <p:cNvSpPr/>
              <p:nvPr/>
            </p:nvSpPr>
            <p:spPr>
              <a:xfrm>
                <a:off x="3088" y="1744"/>
                <a:ext cx="1533" cy="39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Group 71"/>
          <p:cNvGrpSpPr/>
          <p:nvPr/>
        </p:nvGrpSpPr>
        <p:grpSpPr>
          <a:xfrm>
            <a:off x="1905000" y="4808538"/>
            <a:ext cx="6248400" cy="519112"/>
            <a:chOff x="1332" y="3029"/>
            <a:chExt cx="3792" cy="327"/>
          </a:xfrm>
        </p:grpSpPr>
        <p:sp>
          <p:nvSpPr>
            <p:cNvPr id="56364" name="Rectangle 38"/>
            <p:cNvSpPr/>
            <p:nvPr/>
          </p:nvSpPr>
          <p:spPr>
            <a:xfrm>
              <a:off x="1332" y="3029"/>
              <a:ext cx="37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3366"/>
                  </a:solidFill>
                  <a:latin typeface="宋体" panose="02010600030101010101" pitchFamily="2" charset="-122"/>
                </a:rPr>
                <a:t>（衍射角  ：向上为正，向下为负）</a:t>
              </a:r>
            </a:p>
          </p:txBody>
        </p:sp>
        <p:graphicFrame>
          <p:nvGraphicFramePr>
            <p:cNvPr id="56365" name="Object 39"/>
            <p:cNvGraphicFramePr>
              <a:graphicFrameLocks noChangeAspect="1"/>
            </p:cNvGraphicFramePr>
            <p:nvPr/>
          </p:nvGraphicFramePr>
          <p:xfrm>
            <a:off x="2356" y="3073"/>
            <a:ext cx="188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89" r:id="rId3" imgW="83820" imgH="131445" progId="Equation.3">
                    <p:embed/>
                  </p:oleObj>
                </mc:Choice>
                <mc:Fallback>
                  <p:oleObj r:id="rId3" imgW="83820" imgH="131445" progId="Equation.3">
                    <p:embed/>
                    <p:pic>
                      <p:nvPicPr>
                        <p:cNvPr id="0" name="图片 3240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56" y="3073"/>
                          <a:ext cx="188" cy="2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59" name="Object 43"/>
          <p:cNvGraphicFramePr>
            <a:graphicFrameLocks noChangeAspect="1"/>
          </p:cNvGraphicFramePr>
          <p:nvPr/>
        </p:nvGraphicFramePr>
        <p:xfrm>
          <a:off x="3048000" y="5588000"/>
          <a:ext cx="19081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0" r:id="rId5" imgW="504190" imgH="83820" progId="Equation.3">
                  <p:embed/>
                </p:oleObj>
              </mc:Choice>
              <mc:Fallback>
                <p:oleObj r:id="rId5" imgW="504190" imgH="8382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0" y="5588000"/>
                        <a:ext cx="1908175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60" name="Object 44"/>
          <p:cNvGraphicFramePr>
            <a:graphicFrameLocks noChangeAspect="1"/>
          </p:cNvGraphicFramePr>
          <p:nvPr/>
        </p:nvGraphicFramePr>
        <p:xfrm>
          <a:off x="4914900" y="5364163"/>
          <a:ext cx="365760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1" r:id="rId7" imgW="1786890" imgH="462280" progId="Equation.3">
                  <p:embed/>
                </p:oleObj>
              </mc:Choice>
              <mc:Fallback>
                <p:oleObj r:id="rId7" imgW="1786890" imgH="46228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14900" y="5364163"/>
                        <a:ext cx="3657600" cy="96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5"/>
          <p:cNvGrpSpPr/>
          <p:nvPr/>
        </p:nvGrpSpPr>
        <p:grpSpPr>
          <a:xfrm>
            <a:off x="1700213" y="3141663"/>
            <a:ext cx="6426200" cy="417512"/>
            <a:chOff x="816" y="1968"/>
            <a:chExt cx="4560" cy="288"/>
          </a:xfrm>
        </p:grpSpPr>
        <p:sp>
          <p:nvSpPr>
            <p:cNvPr id="56362" name="Line 46"/>
            <p:cNvSpPr/>
            <p:nvPr/>
          </p:nvSpPr>
          <p:spPr>
            <a:xfrm>
              <a:off x="816" y="1968"/>
              <a:ext cx="45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Dot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6363" name="Object 47"/>
            <p:cNvGraphicFramePr>
              <a:graphicFrameLocks noChangeAspect="1"/>
            </p:cNvGraphicFramePr>
            <p:nvPr/>
          </p:nvGraphicFramePr>
          <p:xfrm>
            <a:off x="5031" y="1968"/>
            <a:ext cx="24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2" r:id="rId9" imgW="78740" imgH="94615" progId="Equation.3">
                    <p:embed/>
                  </p:oleObj>
                </mc:Choice>
                <mc:Fallback>
                  <p:oleObj r:id="rId9" imgW="78740" imgH="94615" progId="Equation.3">
                    <p:embed/>
                    <p:pic>
                      <p:nvPicPr>
                        <p:cNvPr id="0" name="图片 3243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31" y="1968"/>
                          <a:ext cx="24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30" name="Line 49"/>
          <p:cNvSpPr/>
          <p:nvPr/>
        </p:nvSpPr>
        <p:spPr>
          <a:xfrm>
            <a:off x="5421313" y="1892300"/>
            <a:ext cx="2163762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triangle" w="sm" len="lg"/>
            <a:tailEnd type="triangl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6331" name="Object 50"/>
          <p:cNvGraphicFramePr>
            <a:graphicFrameLocks noChangeAspect="1"/>
          </p:cNvGraphicFramePr>
          <p:nvPr/>
        </p:nvGraphicFramePr>
        <p:xfrm>
          <a:off x="6275388" y="1406525"/>
          <a:ext cx="4302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3" r:id="rId11" imgW="110490" imgH="173355" progId="Equation.3">
                  <p:embed/>
                </p:oleObj>
              </mc:Choice>
              <mc:Fallback>
                <p:oleObj r:id="rId11" imgW="110490" imgH="173355" progId="Equation.3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75388" y="1406525"/>
                        <a:ext cx="430212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2" name="Object 51"/>
          <p:cNvGraphicFramePr>
            <a:graphicFrameLocks noChangeAspect="1"/>
          </p:cNvGraphicFramePr>
          <p:nvPr/>
        </p:nvGraphicFramePr>
        <p:xfrm>
          <a:off x="5105400" y="1266825"/>
          <a:ext cx="45085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4" r:id="rId13" imgW="57785" imgH="78740" progId="Equation.3">
                  <p:embed/>
                </p:oleObj>
              </mc:Choice>
              <mc:Fallback>
                <p:oleObj r:id="rId13" imgW="57785" imgH="78740" progId="Equation.3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105400" y="1266825"/>
                        <a:ext cx="450850" cy="487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3" name="Oval 52"/>
          <p:cNvSpPr/>
          <p:nvPr/>
        </p:nvSpPr>
        <p:spPr>
          <a:xfrm>
            <a:off x="5227638" y="1773238"/>
            <a:ext cx="239712" cy="2816225"/>
          </a:xfrm>
          <a:prstGeom prst="ellipse">
            <a:avLst/>
          </a:prstGeom>
          <a:solidFill>
            <a:srgbClr val="00FFCC">
              <a:alpha val="50195"/>
            </a:srgbClr>
          </a:solidFill>
          <a:ln w="19050" cap="flat" cmpd="sng">
            <a:solidFill>
              <a:srgbClr val="0066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69" name="Rectangle 53"/>
          <p:cNvSpPr>
            <a:spLocks noChangeArrowheads="1"/>
          </p:cNvSpPr>
          <p:nvPr/>
        </p:nvSpPr>
        <p:spPr bwMode="auto">
          <a:xfrm>
            <a:off x="7516813" y="1476375"/>
            <a:ext cx="68263" cy="319246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0"/>
                  <a:invGamma/>
                </a:schemeClr>
              </a:gs>
            </a:gsLst>
            <a:lin ang="0" scaled="1"/>
          </a:gra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6335" name="Object 54"/>
          <p:cNvGraphicFramePr>
            <a:graphicFrameLocks noChangeAspect="1"/>
          </p:cNvGraphicFramePr>
          <p:nvPr/>
        </p:nvGraphicFramePr>
        <p:xfrm>
          <a:off x="7064375" y="1128713"/>
          <a:ext cx="46355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5" r:id="rId15" imgW="57785" imgH="78740" progId="Equation.3">
                  <p:embed/>
                </p:oleObj>
              </mc:Choice>
              <mc:Fallback>
                <p:oleObj r:id="rId15" imgW="57785" imgH="78740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064375" y="1128713"/>
                        <a:ext cx="463550" cy="560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6" name="Rectangle 55" descr="栎木"/>
          <p:cNvSpPr/>
          <p:nvPr/>
        </p:nvSpPr>
        <p:spPr>
          <a:xfrm>
            <a:off x="3306763" y="1822450"/>
            <a:ext cx="84137" cy="763588"/>
          </a:xfrm>
          <a:prstGeom prst="rect">
            <a:avLst/>
          </a:prstGeom>
          <a:blipFill rotWithShape="0">
            <a:blip r:embed="rId17"/>
          </a:blip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6337" name="Rectangle 56" descr="栎木"/>
          <p:cNvSpPr/>
          <p:nvPr/>
        </p:nvSpPr>
        <p:spPr>
          <a:xfrm>
            <a:off x="3324225" y="3697288"/>
            <a:ext cx="66675" cy="833437"/>
          </a:xfrm>
          <a:prstGeom prst="rect">
            <a:avLst/>
          </a:prstGeom>
          <a:blipFill rotWithShape="0">
            <a:blip r:embed="rId17"/>
          </a:blip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56338" name="Object 57"/>
          <p:cNvGraphicFramePr>
            <a:graphicFrameLocks noChangeAspect="1"/>
          </p:cNvGraphicFramePr>
          <p:nvPr/>
        </p:nvGraphicFramePr>
        <p:xfrm>
          <a:off x="2906713" y="1266825"/>
          <a:ext cx="48418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6" r:id="rId18" imgW="78740" imgH="78740" progId="Equation.3">
                  <p:embed/>
                </p:oleObj>
              </mc:Choice>
              <mc:Fallback>
                <p:oleObj r:id="rId18" imgW="78740" imgH="78740" progId="Equation.3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06713" y="1266825"/>
                        <a:ext cx="484187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3" name="Line 59"/>
          <p:cNvSpPr/>
          <p:nvPr/>
        </p:nvSpPr>
        <p:spPr>
          <a:xfrm>
            <a:off x="3324225" y="2586038"/>
            <a:ext cx="676275" cy="1804987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4" name="Freeform 60"/>
          <p:cNvSpPr/>
          <p:nvPr/>
        </p:nvSpPr>
        <p:spPr>
          <a:xfrm>
            <a:off x="3392488" y="3697288"/>
            <a:ext cx="303212" cy="815975"/>
          </a:xfrm>
          <a:custGeom>
            <a:avLst/>
            <a:gdLst>
              <a:gd name="txL" fmla="*/ 0 w 216"/>
              <a:gd name="txT" fmla="*/ 0 h 564"/>
              <a:gd name="txR" fmla="*/ 216 w 216"/>
              <a:gd name="txB" fmla="*/ 564 h 564"/>
            </a:gdLst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rect l="txL" t="txT" r="txR" b="txB"/>
            <a:pathLst>
              <a:path w="216" h="564">
                <a:moveTo>
                  <a:pt x="0" y="0"/>
                </a:moveTo>
                <a:lnTo>
                  <a:pt x="216" y="564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dash"/>
            <a:round/>
            <a:headEnd type="none" w="sm" len="lg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6341" name="Object 61"/>
          <p:cNvGraphicFramePr>
            <a:graphicFrameLocks noChangeAspect="1"/>
          </p:cNvGraphicFramePr>
          <p:nvPr/>
        </p:nvGraphicFramePr>
        <p:xfrm>
          <a:off x="3008313" y="2286000"/>
          <a:ext cx="2762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7" r:id="rId20" imgW="68580" imgH="78740" progId="Equation.3">
                  <p:embed/>
                </p:oleObj>
              </mc:Choice>
              <mc:Fallback>
                <p:oleObj r:id="rId20" imgW="68580" imgH="78740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21">
                        <a:clrChange>
                          <a:clrFrom>
                            <a:srgbClr val="000000"/>
                          </a:clrFrom>
                          <a:clrTo>
                            <a:srgbClr val="CC00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08313" y="2286000"/>
                        <a:ext cx="276225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2" name="Object 62"/>
          <p:cNvGraphicFramePr>
            <a:graphicFrameLocks noChangeAspect="1"/>
          </p:cNvGraphicFramePr>
          <p:nvPr/>
        </p:nvGraphicFramePr>
        <p:xfrm>
          <a:off x="3001963" y="3733800"/>
          <a:ext cx="27463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8" r:id="rId22" imgW="68580" imgH="78740" progId="Equation.3">
                  <p:embed/>
                </p:oleObj>
              </mc:Choice>
              <mc:Fallback>
                <p:oleObj r:id="rId22" imgW="68580" imgH="78740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CC00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01963" y="3733800"/>
                        <a:ext cx="274637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63"/>
          <p:cNvGrpSpPr/>
          <p:nvPr/>
        </p:nvGrpSpPr>
        <p:grpSpPr>
          <a:xfrm>
            <a:off x="3121025" y="3943350"/>
            <a:ext cx="2028825" cy="587375"/>
            <a:chOff x="1824" y="2522"/>
            <a:chExt cx="1440" cy="406"/>
          </a:xfrm>
        </p:grpSpPr>
        <p:graphicFrame>
          <p:nvGraphicFramePr>
            <p:cNvPr id="56359" name="Object 64"/>
            <p:cNvGraphicFramePr>
              <a:graphicFrameLocks noChangeAspect="1"/>
            </p:cNvGraphicFramePr>
            <p:nvPr/>
          </p:nvGraphicFramePr>
          <p:xfrm>
            <a:off x="2448" y="2617"/>
            <a:ext cx="81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99" r:id="rId24" imgW="420370" imgH="136525" progId="Equation.3">
                    <p:embed/>
                  </p:oleObj>
                </mc:Choice>
                <mc:Fallback>
                  <p:oleObj r:id="rId24" imgW="420370" imgH="136525" progId="Equation.3">
                    <p:embed/>
                    <p:pic>
                      <p:nvPicPr>
                        <p:cNvPr id="0" name="图片 3251"/>
                        <p:cNvPicPr/>
                        <p:nvPr/>
                      </p:nvPicPr>
                      <p:blipFill>
                        <a:blip r:embed="rId25">
                          <a:clrChange>
                            <a:clrFrom>
                              <a:srgbClr val="000000"/>
                            </a:clrFrom>
                            <a:clrTo>
                              <a:srgbClr val="CC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48" y="2617"/>
                          <a:ext cx="816" cy="3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60" name="Line 65"/>
            <p:cNvSpPr/>
            <p:nvPr/>
          </p:nvSpPr>
          <p:spPr>
            <a:xfrm flipV="1">
              <a:off x="1824" y="2688"/>
              <a:ext cx="336" cy="144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61" name="Line 66"/>
            <p:cNvSpPr/>
            <p:nvPr/>
          </p:nvSpPr>
          <p:spPr>
            <a:xfrm flipH="1">
              <a:off x="2352" y="2522"/>
              <a:ext cx="288" cy="96"/>
            </a:xfrm>
            <a:prstGeom prst="line">
              <a:avLst/>
            </a:prstGeom>
            <a:ln w="28575" cap="flat" cmpd="sng">
              <a:solidFill>
                <a:srgbClr val="CC00CC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4883" name="Object 67"/>
          <p:cNvGraphicFramePr>
            <a:graphicFrameLocks noChangeAspect="1"/>
          </p:cNvGraphicFramePr>
          <p:nvPr/>
        </p:nvGraphicFramePr>
        <p:xfrm>
          <a:off x="7602538" y="2309813"/>
          <a:ext cx="40481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0" r:id="rId26" imgW="152400" imgH="203200" progId="Equation.3">
                  <p:embed/>
                </p:oleObj>
              </mc:Choice>
              <mc:Fallback>
                <p:oleObj r:id="rId26" imgW="152400" imgH="2032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602538" y="2309813"/>
                        <a:ext cx="404812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84" name="Object 68"/>
          <p:cNvGraphicFramePr>
            <a:graphicFrameLocks noChangeAspect="1"/>
          </p:cNvGraphicFramePr>
          <p:nvPr/>
        </p:nvGraphicFramePr>
        <p:xfrm>
          <a:off x="3800475" y="3571875"/>
          <a:ext cx="271463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1" r:id="rId28" imgW="68580" imgH="83820" progId="Equation.3">
                  <p:embed/>
                </p:oleObj>
              </mc:Choice>
              <mc:Fallback>
                <p:oleObj r:id="rId28" imgW="68580" imgH="8382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29">
                        <a:clrChange>
                          <a:clrFrom>
                            <a:srgbClr val="000000"/>
                          </a:clrFrom>
                          <a:clrTo>
                            <a:srgbClr val="CC00CC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800475" y="3571875"/>
                        <a:ext cx="271463" cy="323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85" name="Text Box 69"/>
          <p:cNvSpPr txBox="1"/>
          <p:nvPr/>
        </p:nvSpPr>
        <p:spPr>
          <a:xfrm>
            <a:off x="177800" y="5570538"/>
            <a:ext cx="2728913" cy="523875"/>
          </a:xfrm>
          <a:prstGeom prst="rect">
            <a:avLst/>
          </a:prstGeom>
          <a:gradFill rotWithShape="0">
            <a:gsLst>
              <a:gs pos="0">
                <a:srgbClr val="FFE7FF"/>
              </a:gs>
              <a:gs pos="50000">
                <a:srgbClr val="FFFFFF"/>
              </a:gs>
              <a:gs pos="100000">
                <a:srgbClr val="FFE7FF"/>
              </a:gs>
            </a:gsLst>
            <a:lin ang="5400000" scaled="1"/>
            <a:tileRect/>
          </a:gradFill>
          <a:ln w="9525" cap="flat" cmpd="sng">
            <a:solidFill>
              <a:srgbClr val="CC00CC"/>
            </a:solidFill>
            <a:prstDash val="solid"/>
            <a:miter/>
            <a:headEnd type="none" w="med" len="med"/>
            <a:tailEnd type="none" w="sm" len="lg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3366"/>
                </a:solidFill>
                <a:latin typeface="Arial" panose="020B0604020202020204" pitchFamily="34" charset="0"/>
              </a:rPr>
              <a:t>菲涅耳半波带法</a:t>
            </a:r>
          </a:p>
        </p:txBody>
      </p:sp>
      <p:grpSp>
        <p:nvGrpSpPr>
          <p:cNvPr id="10" name="Group 77"/>
          <p:cNvGrpSpPr/>
          <p:nvPr/>
        </p:nvGrpSpPr>
        <p:grpSpPr>
          <a:xfrm>
            <a:off x="2057400" y="1676400"/>
            <a:ext cx="661988" cy="2020888"/>
            <a:chOff x="1344" y="1056"/>
            <a:chExt cx="417" cy="1273"/>
          </a:xfrm>
        </p:grpSpPr>
        <p:sp>
          <p:nvSpPr>
            <p:cNvPr id="56356" name="Freeform 41"/>
            <p:cNvSpPr/>
            <p:nvPr/>
          </p:nvSpPr>
          <p:spPr>
            <a:xfrm>
              <a:off x="1759" y="1624"/>
              <a:ext cx="2" cy="705"/>
            </a:xfrm>
            <a:custGeom>
              <a:avLst/>
              <a:gdLst>
                <a:gd name="txL" fmla="*/ 0 w 2"/>
                <a:gd name="txT" fmla="*/ 0 h 774"/>
                <a:gd name="txR" fmla="*/ 2 w 2"/>
                <a:gd name="txB" fmla="*/ 774 h 774"/>
              </a:gdLst>
              <a:ahLst/>
              <a:cxnLst>
                <a:cxn ang="0">
                  <a:pos x="2" y="0"/>
                </a:cxn>
                <a:cxn ang="0">
                  <a:pos x="0" y="334"/>
                </a:cxn>
              </a:cxnLst>
              <a:rect l="txL" t="txT" r="txR" b="txB"/>
              <a:pathLst>
                <a:path w="2" h="774">
                  <a:moveTo>
                    <a:pt x="2" y="0"/>
                  </a:moveTo>
                  <a:lnTo>
                    <a:pt x="0" y="774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dash"/>
              <a:round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57" name="AutoShape 73"/>
            <p:cNvSpPr/>
            <p:nvPr/>
          </p:nvSpPr>
          <p:spPr>
            <a:xfrm>
              <a:off x="1344" y="1056"/>
              <a:ext cx="273" cy="289"/>
            </a:xfrm>
            <a:prstGeom prst="wedgeRoundRectCallout">
              <a:avLst>
                <a:gd name="adj1" fmla="val 101282"/>
                <a:gd name="adj2" fmla="val 250347"/>
                <a:gd name="adj3" fmla="val 16667"/>
              </a:avLst>
            </a:prstGeom>
            <a:solidFill>
              <a:srgbClr val="D3EBED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 eaLnBrk="1" hangingPunct="1"/>
              <a:endParaRPr lang="zh-CN" altLang="zh-CN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56358" name="Object 42"/>
            <p:cNvGraphicFramePr>
              <a:graphicFrameLocks noChangeAspect="1"/>
            </p:cNvGraphicFramePr>
            <p:nvPr/>
          </p:nvGraphicFramePr>
          <p:xfrm>
            <a:off x="1392" y="1056"/>
            <a:ext cx="18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02" r:id="rId30" imgW="78740" imgH="136525" progId="Equation.3">
                    <p:embed/>
                  </p:oleObj>
                </mc:Choice>
                <mc:Fallback>
                  <p:oleObj r:id="rId30" imgW="78740" imgH="136525" progId="Equation.3">
                    <p:embed/>
                    <p:pic>
                      <p:nvPicPr>
                        <p:cNvPr id="0" name="图片 3254"/>
                        <p:cNvPicPr/>
                        <p:nvPr/>
                      </p:nvPicPr>
                      <p:blipFill>
                        <a:blip r:embed="rId31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92" y="1056"/>
                          <a:ext cx="182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85"/>
          <p:cNvGrpSpPr/>
          <p:nvPr/>
        </p:nvGrpSpPr>
        <p:grpSpPr>
          <a:xfrm>
            <a:off x="3505200" y="1636713"/>
            <a:ext cx="1487488" cy="950912"/>
            <a:chOff x="2256" y="1031"/>
            <a:chExt cx="937" cy="599"/>
          </a:xfrm>
        </p:grpSpPr>
        <p:sp>
          <p:nvSpPr>
            <p:cNvPr id="56350" name="Arc 35"/>
            <p:cNvSpPr/>
            <p:nvPr/>
          </p:nvSpPr>
          <p:spPr>
            <a:xfrm>
              <a:off x="2605" y="1498"/>
              <a:ext cx="42" cy="13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351" name="Group 84"/>
            <p:cNvGrpSpPr/>
            <p:nvPr/>
          </p:nvGrpSpPr>
          <p:grpSpPr>
            <a:xfrm>
              <a:off x="2256" y="1031"/>
              <a:ext cx="937" cy="265"/>
              <a:chOff x="2304" y="1007"/>
              <a:chExt cx="937" cy="265"/>
            </a:xfrm>
          </p:grpSpPr>
          <p:sp>
            <p:nvSpPr>
              <p:cNvPr id="56352" name="AutoShape 82"/>
              <p:cNvSpPr/>
              <p:nvPr/>
            </p:nvSpPr>
            <p:spPr>
              <a:xfrm>
                <a:off x="2304" y="1008"/>
                <a:ext cx="816" cy="264"/>
              </a:xfrm>
              <a:prstGeom prst="wedgeRoundRectCallout">
                <a:avLst>
                  <a:gd name="adj1" fmla="val 4532"/>
                  <a:gd name="adj2" fmla="val 143181"/>
                  <a:gd name="adj3" fmla="val 16667"/>
                </a:avLst>
              </a:prstGeom>
              <a:solidFill>
                <a:srgbClr val="D3EBED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 eaLnBrk="1" hangingPunct="1"/>
                <a:endParaRPr lang="zh-CN" altLang="zh-CN" sz="2800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56353" name="Group 79"/>
              <p:cNvGrpSpPr/>
              <p:nvPr/>
            </p:nvGrpSpPr>
            <p:grpSpPr>
              <a:xfrm>
                <a:off x="2337" y="1007"/>
                <a:ext cx="904" cy="250"/>
                <a:chOff x="2312" y="1056"/>
                <a:chExt cx="904" cy="250"/>
              </a:xfrm>
            </p:grpSpPr>
            <p:graphicFrame>
              <p:nvGraphicFramePr>
                <p:cNvPr id="56354" name="Object 34"/>
                <p:cNvGraphicFramePr>
                  <a:graphicFrameLocks noChangeAspect="1"/>
                </p:cNvGraphicFramePr>
                <p:nvPr/>
              </p:nvGraphicFramePr>
              <p:xfrm>
                <a:off x="2851" y="1089"/>
                <a:ext cx="153" cy="21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9003" r:id="rId32" imgW="83820" imgH="131445" progId="Equation.3">
                        <p:embed/>
                      </p:oleObj>
                    </mc:Choice>
                    <mc:Fallback>
                      <p:oleObj r:id="rId32" imgW="83820" imgH="131445" progId="Equation.3">
                        <p:embed/>
                        <p:pic>
                          <p:nvPicPr>
                            <p:cNvPr id="0" name="图片 3249"/>
                            <p:cNvPicPr/>
                            <p:nvPr/>
                          </p:nvPicPr>
                          <p:blipFill>
                            <a:blip r:embed="rId33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FF0000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51" y="1089"/>
                              <a:ext cx="153" cy="21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56355" name="Text Box 36"/>
                <p:cNvSpPr txBox="1"/>
                <p:nvPr/>
              </p:nvSpPr>
              <p:spPr>
                <a:xfrm>
                  <a:off x="2312" y="1056"/>
                  <a:ext cx="904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sz="2000" dirty="0">
                      <a:solidFill>
                        <a:srgbClr val="FF0000"/>
                      </a:solidFill>
                      <a:latin typeface="Times New Roman" panose="02020603050405020304" pitchFamily="18" charset="0"/>
                    </a:rPr>
                    <a:t>衍射角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sp>
        <p:nvSpPr>
          <p:cNvPr id="56349" name="Text Box 87"/>
          <p:cNvSpPr txBox="1"/>
          <p:nvPr/>
        </p:nvSpPr>
        <p:spPr>
          <a:xfrm>
            <a:off x="1763713" y="50800"/>
            <a:ext cx="5688012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夫 琅 禾 费 单 缝 衍 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8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" name="Group 2"/>
          <p:cNvGrpSpPr/>
          <p:nvPr/>
        </p:nvGrpSpPr>
        <p:grpSpPr>
          <a:xfrm>
            <a:off x="3741738" y="958850"/>
            <a:ext cx="4784725" cy="5137150"/>
            <a:chOff x="2400" y="384"/>
            <a:chExt cx="3216" cy="3744"/>
          </a:xfrm>
        </p:grpSpPr>
        <p:grpSp>
          <p:nvGrpSpPr>
            <p:cNvPr id="57454" name="Group 3"/>
            <p:cNvGrpSpPr/>
            <p:nvPr/>
          </p:nvGrpSpPr>
          <p:grpSpPr>
            <a:xfrm>
              <a:off x="2400" y="384"/>
              <a:ext cx="3216" cy="3744"/>
              <a:chOff x="2400" y="384"/>
              <a:chExt cx="3216" cy="3744"/>
            </a:xfrm>
          </p:grpSpPr>
          <p:grpSp>
            <p:nvGrpSpPr>
              <p:cNvPr id="57458" name="Group 4"/>
              <p:cNvGrpSpPr/>
              <p:nvPr/>
            </p:nvGrpSpPr>
            <p:grpSpPr>
              <a:xfrm>
                <a:off x="2400" y="384"/>
                <a:ext cx="3216" cy="3744"/>
                <a:chOff x="2400" y="384"/>
                <a:chExt cx="3216" cy="3744"/>
              </a:xfrm>
            </p:grpSpPr>
            <p:grpSp>
              <p:nvGrpSpPr>
                <p:cNvPr id="57462" name="Group 5"/>
                <p:cNvGrpSpPr/>
                <p:nvPr/>
              </p:nvGrpSpPr>
              <p:grpSpPr>
                <a:xfrm>
                  <a:off x="2400" y="384"/>
                  <a:ext cx="3216" cy="3744"/>
                  <a:chOff x="2400" y="384"/>
                  <a:chExt cx="3216" cy="3744"/>
                </a:xfrm>
              </p:grpSpPr>
              <p:sp>
                <p:nvSpPr>
                  <p:cNvPr id="57464" name="Rectangle 6"/>
                  <p:cNvSpPr/>
                  <p:nvPr/>
                </p:nvSpPr>
                <p:spPr>
                  <a:xfrm>
                    <a:off x="2400" y="384"/>
                    <a:ext cx="3216" cy="3744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tx2"/>
                    </a:solidFill>
                    <a:prstDash val="solid"/>
                    <a:miter/>
                    <a:headEnd type="none" w="med" len="med"/>
                    <a:tailEnd type="none" w="sm" len="lg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57465" name="Line 7"/>
                  <p:cNvSpPr/>
                  <p:nvPr/>
                </p:nvSpPr>
                <p:spPr>
                  <a:xfrm>
                    <a:off x="2544" y="1440"/>
                    <a:ext cx="3024" cy="0"/>
                  </a:xfrm>
                  <a:prstGeom prst="line">
                    <a:avLst/>
                  </a:prstGeom>
                  <a:ln w="19050" cap="flat" cmpd="sng">
                    <a:solidFill>
                      <a:schemeClr val="tx1"/>
                    </a:solidFill>
                    <a:prstDash val="lgDashDot"/>
                    <a:headEnd type="none" w="sm" len="lg"/>
                    <a:tailEnd type="non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848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5263" y="433"/>
                    <a:ext cx="34" cy="1776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bg1"/>
                      </a:gs>
                      <a:gs pos="100000">
                        <a:schemeClr val="bg1">
                          <a:gamma/>
                          <a:shade val="0"/>
                          <a:invGamma/>
                        </a:schemeClr>
                      </a:gs>
                    </a:gsLst>
                    <a:lin ang="0" scaled="1"/>
                  </a:gradFill>
                  <a:ln w="1905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aphicFrame>
                <p:nvGraphicFramePr>
                  <p:cNvPr id="57467" name="Object 9"/>
                  <p:cNvGraphicFramePr>
                    <a:graphicFrameLocks noChangeAspect="1"/>
                  </p:cNvGraphicFramePr>
                  <p:nvPr/>
                </p:nvGraphicFramePr>
                <p:xfrm>
                  <a:off x="5344" y="1497"/>
                  <a:ext cx="176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0098" r:id="rId3" imgW="78740" imgH="94615" progId="Equation.3">
                          <p:embed/>
                        </p:oleObj>
                      </mc:Choice>
                      <mc:Fallback>
                        <p:oleObj r:id="rId3" imgW="78740" imgH="94615" progId="Equation.3">
                          <p:embed/>
                          <p:pic>
                            <p:nvPicPr>
                              <p:cNvPr id="0" name="图片 3255"/>
                              <p:cNvPicPr/>
                              <p:nvPr/>
                            </p:nvPicPr>
                            <p:blipFill>
                              <a:blip r:embed="rId4">
                                <a:clrChange>
                                  <a:clrFrom>
                                    <a:srgbClr val="000000"/>
                                  </a:clrFrom>
                                  <a:clrTo>
                                    <a:srgbClr val="003366"/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5344" y="1497"/>
                                <a:ext cx="176" cy="231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7468" name="Object 10"/>
                  <p:cNvGraphicFramePr>
                    <a:graphicFrameLocks noChangeAspect="1"/>
                  </p:cNvGraphicFramePr>
                  <p:nvPr/>
                </p:nvGraphicFramePr>
                <p:xfrm>
                  <a:off x="4954" y="408"/>
                  <a:ext cx="232" cy="31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0099" r:id="rId5" imgW="57785" imgH="78740" progId="Equation.3">
                          <p:embed/>
                        </p:oleObj>
                      </mc:Choice>
                      <mc:Fallback>
                        <p:oleObj r:id="rId5" imgW="57785" imgH="78740" progId="Equation.3">
                          <p:embed/>
                          <p:pic>
                            <p:nvPicPr>
                              <p:cNvPr id="0" name="图片 3256"/>
                              <p:cNvPicPr/>
                              <p:nvPr/>
                            </p:nvPicPr>
                            <p:blipFill>
                              <a:blip r:embed="rId6">
                                <a:clrChange>
                                  <a:clrFrom>
                                    <a:srgbClr val="000000"/>
                                  </a:clrFrom>
                                  <a:clrTo>
                                    <a:srgbClr val="003366"/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954" y="408"/>
                                <a:ext cx="232" cy="31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3585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3157" y="674"/>
                    <a:ext cx="63" cy="382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tx1"/>
                      </a:gs>
                      <a:gs pos="50000">
                        <a:schemeClr val="tx1">
                          <a:gamma/>
                          <a:tint val="20000"/>
                          <a:invGamma/>
                        </a:schemeClr>
                      </a:gs>
                      <a:gs pos="100000">
                        <a:schemeClr val="tx1"/>
                      </a:gs>
                    </a:gsLst>
                    <a:lin ang="0" scaled="1"/>
                  </a:gradFill>
                  <a:ln w="1905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aphicFrame>
                <p:nvGraphicFramePr>
                  <p:cNvPr id="57470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2897" y="404"/>
                  <a:ext cx="243" cy="27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0100" r:id="rId7" imgW="78740" imgH="78740" progId="Equation.3">
                          <p:embed/>
                        </p:oleObj>
                      </mc:Choice>
                      <mc:Fallback>
                        <p:oleObj r:id="rId7" imgW="78740" imgH="78740" progId="Equation.3">
                          <p:embed/>
                          <p:pic>
                            <p:nvPicPr>
                              <p:cNvPr id="0" name="图片 3257"/>
                              <p:cNvPicPr/>
                              <p:nvPr/>
                            </p:nvPicPr>
                            <p:blipFill>
                              <a:blip r:embed="rId8">
                                <a:clrChange>
                                  <a:clrFrom>
                                    <a:srgbClr val="000000"/>
                                  </a:clrFrom>
                                  <a:clrTo>
                                    <a:srgbClr val="003366"/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897" y="404"/>
                                <a:ext cx="243" cy="277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57471" name="Line 13"/>
                  <p:cNvSpPr/>
                  <p:nvPr/>
                </p:nvSpPr>
                <p:spPr>
                  <a:xfrm>
                    <a:off x="2695" y="1437"/>
                    <a:ext cx="521" cy="3"/>
                  </a:xfrm>
                  <a:prstGeom prst="line">
                    <a:avLst/>
                  </a:prstGeom>
                  <a:ln w="19050" cap="flat" cmpd="sng">
                    <a:solidFill>
                      <a:srgbClr val="0000FF"/>
                    </a:solidFill>
                    <a:prstDash val="solid"/>
                    <a:headEnd type="none" w="sm" len="lg"/>
                    <a:tailEnd type="non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72" name="Line 14"/>
                  <p:cNvSpPr/>
                  <p:nvPr/>
                </p:nvSpPr>
                <p:spPr>
                  <a:xfrm flipH="1">
                    <a:off x="2525" y="1050"/>
                    <a:ext cx="271" cy="0"/>
                  </a:xfrm>
                  <a:prstGeom prst="line">
                    <a:avLst/>
                  </a:prstGeom>
                  <a:ln w="19050" cap="flat" cmpd="sng">
                    <a:solidFill>
                      <a:srgbClr val="0000FF"/>
                    </a:solidFill>
                    <a:prstDash val="solid"/>
                    <a:headEnd type="triangle" w="sm" len="lg"/>
                    <a:tailEnd type="non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73" name="Line 15"/>
                  <p:cNvSpPr/>
                  <p:nvPr/>
                </p:nvSpPr>
                <p:spPr>
                  <a:xfrm flipH="1">
                    <a:off x="2525" y="1437"/>
                    <a:ext cx="271" cy="0"/>
                  </a:xfrm>
                  <a:prstGeom prst="line">
                    <a:avLst/>
                  </a:prstGeom>
                  <a:ln w="19050" cap="flat" cmpd="sng">
                    <a:solidFill>
                      <a:srgbClr val="0000FF"/>
                    </a:solidFill>
                    <a:prstDash val="solid"/>
                    <a:headEnd type="triangle" w="sm" len="lg"/>
                    <a:tailEnd type="non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74" name="Line 16"/>
                  <p:cNvSpPr/>
                  <p:nvPr/>
                </p:nvSpPr>
                <p:spPr>
                  <a:xfrm flipH="1">
                    <a:off x="2525" y="1824"/>
                    <a:ext cx="271" cy="0"/>
                  </a:xfrm>
                  <a:prstGeom prst="line">
                    <a:avLst/>
                  </a:prstGeom>
                  <a:ln w="19050" cap="flat" cmpd="sng">
                    <a:solidFill>
                      <a:srgbClr val="0000FF"/>
                    </a:solidFill>
                    <a:prstDash val="solid"/>
                    <a:headEnd type="triangle" w="sm" len="lg"/>
                    <a:tailEnd type="none" w="sm" len="lg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aphicFrame>
                <p:nvGraphicFramePr>
                  <p:cNvPr id="57475" name="Object 17"/>
                  <p:cNvGraphicFramePr>
                    <a:graphicFrameLocks noChangeAspect="1"/>
                  </p:cNvGraphicFramePr>
                  <p:nvPr/>
                </p:nvGraphicFramePr>
                <p:xfrm>
                  <a:off x="2853" y="720"/>
                  <a:ext cx="315" cy="3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0101" r:id="rId9" imgW="68580" imgH="78740" progId="Equation.3">
                          <p:embed/>
                        </p:oleObj>
                      </mc:Choice>
                      <mc:Fallback>
                        <p:oleObj r:id="rId9" imgW="68580" imgH="78740" progId="Equation.3">
                          <p:embed/>
                          <p:pic>
                            <p:nvPicPr>
                              <p:cNvPr id="0" name="图片 3258"/>
                              <p:cNvPicPr/>
                              <p:nvPr/>
                            </p:nvPicPr>
                            <p:blipFill>
                              <a:blip r:embed="rId10">
                                <a:clrChange>
                                  <a:clrFrom>
                                    <a:srgbClr val="000000"/>
                                  </a:clrFrom>
                                  <a:clrTo>
                                    <a:srgbClr val="003366"/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853" y="720"/>
                                <a:ext cx="315" cy="340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57476" name="Object 18"/>
                  <p:cNvGraphicFramePr>
                    <a:graphicFrameLocks noChangeAspect="1"/>
                  </p:cNvGraphicFramePr>
                  <p:nvPr/>
                </p:nvGraphicFramePr>
                <p:xfrm>
                  <a:off x="2853" y="1776"/>
                  <a:ext cx="315" cy="3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0102" r:id="rId11" imgW="68580" imgH="78740" progId="Equation.3">
                          <p:embed/>
                        </p:oleObj>
                      </mc:Choice>
                      <mc:Fallback>
                        <p:oleObj r:id="rId11" imgW="68580" imgH="78740" progId="Equation.3">
                          <p:embed/>
                          <p:pic>
                            <p:nvPicPr>
                              <p:cNvPr id="0" name="图片 3259"/>
                              <p:cNvPicPr/>
                              <p:nvPr/>
                            </p:nvPicPr>
                            <p:blipFill>
                              <a:blip r:embed="rId12">
                                <a:clrChange>
                                  <a:clrFrom>
                                    <a:srgbClr val="000000"/>
                                  </a:clrFrom>
                                  <a:clrTo>
                                    <a:srgbClr val="003366"/>
                                  </a:clrTo>
                                </a:clrChange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853" y="1776"/>
                                <a:ext cx="315" cy="340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35859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164" y="1824"/>
                    <a:ext cx="52" cy="354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chemeClr val="tx1"/>
                      </a:gs>
                      <a:gs pos="50000">
                        <a:schemeClr val="tx1">
                          <a:gamma/>
                          <a:tint val="20000"/>
                          <a:invGamma/>
                        </a:schemeClr>
                      </a:gs>
                      <a:gs pos="100000">
                        <a:schemeClr val="tx1"/>
                      </a:gs>
                    </a:gsLst>
                    <a:lin ang="0" scaled="1"/>
                  </a:gradFill>
                  <a:ln w="19050">
                    <a:solidFill>
                      <a:schemeClr val="tx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32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graphicFrame>
              <p:nvGraphicFramePr>
                <p:cNvPr id="57463" name="Object 20"/>
                <p:cNvGraphicFramePr>
                  <a:graphicFrameLocks noChangeAspect="1"/>
                </p:cNvGraphicFramePr>
                <p:nvPr/>
              </p:nvGraphicFramePr>
              <p:xfrm>
                <a:off x="5280" y="864"/>
                <a:ext cx="288" cy="3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103" r:id="rId13" imgW="68580" imgH="105410" progId="Equation.3">
                        <p:embed/>
                      </p:oleObj>
                    </mc:Choice>
                    <mc:Fallback>
                      <p:oleObj r:id="rId13" imgW="68580" imgH="105410" progId="Equation.3">
                        <p:embed/>
                        <p:pic>
                          <p:nvPicPr>
                            <p:cNvPr id="0" name="图片 3261"/>
                            <p:cNvPicPr/>
                            <p:nvPr/>
                          </p:nvPicPr>
                          <p:blipFill>
                            <a:blip r:embed="rId14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3366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280" y="864"/>
                              <a:ext cx="288" cy="384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57459" name="Group 21"/>
              <p:cNvGrpSpPr/>
              <p:nvPr/>
            </p:nvGrpSpPr>
            <p:grpSpPr>
              <a:xfrm>
                <a:off x="3456" y="528"/>
                <a:ext cx="288" cy="336"/>
                <a:chOff x="3456" y="528"/>
                <a:chExt cx="288" cy="336"/>
              </a:xfrm>
            </p:grpSpPr>
            <p:sp>
              <p:nvSpPr>
                <p:cNvPr id="57460" name="AutoShape 22"/>
                <p:cNvSpPr/>
                <p:nvPr/>
              </p:nvSpPr>
              <p:spPr>
                <a:xfrm>
                  <a:off x="3456" y="528"/>
                  <a:ext cx="288" cy="336"/>
                </a:xfrm>
                <a:prstGeom prst="wedgeRoundRectCallout">
                  <a:avLst>
                    <a:gd name="adj1" fmla="val -10069"/>
                    <a:gd name="adj2" fmla="val 100894"/>
                    <a:gd name="adj3" fmla="val 16667"/>
                  </a:avLst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  <a:tileRect/>
                </a:gradFill>
                <a:ln w="9525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pPr algn="ctr" eaLnBrk="1" hangingPunct="1">
                    <a:spcBef>
                      <a:spcPct val="50000"/>
                    </a:spcBef>
                  </a:pPr>
                  <a:endParaRPr lang="zh-CN" altLang="zh-CN" sz="2800" dirty="0">
                    <a:latin typeface="Arial" panose="020B0604020202020204" pitchFamily="34" charset="0"/>
                  </a:endParaRPr>
                </a:p>
              </p:txBody>
            </p:sp>
            <p:graphicFrame>
              <p:nvGraphicFramePr>
                <p:cNvPr id="57461" name="Object 23"/>
                <p:cNvGraphicFramePr>
                  <a:graphicFrameLocks noChangeAspect="1"/>
                </p:cNvGraphicFramePr>
                <p:nvPr/>
              </p:nvGraphicFramePr>
              <p:xfrm>
                <a:off x="3504" y="576"/>
                <a:ext cx="213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104" r:id="rId15" imgW="83820" imgH="131445" progId="Equation.3">
                        <p:embed/>
                      </p:oleObj>
                    </mc:Choice>
                    <mc:Fallback>
                      <p:oleObj r:id="rId15" imgW="83820" imgH="131445" progId="Equation.3">
                        <p:embed/>
                        <p:pic>
                          <p:nvPicPr>
                            <p:cNvPr id="0" name="图片 3260"/>
                            <p:cNvPicPr/>
                            <p:nvPr/>
                          </p:nvPicPr>
                          <p:blipFill>
                            <a:blip r:embed="rId16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3366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04" y="576"/>
                              <a:ext cx="213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57455" name="Group 24"/>
            <p:cNvGrpSpPr/>
            <p:nvPr/>
          </p:nvGrpSpPr>
          <p:grpSpPr>
            <a:xfrm>
              <a:off x="2705" y="1050"/>
              <a:ext cx="463" cy="774"/>
              <a:chOff x="2705" y="1050"/>
              <a:chExt cx="463" cy="774"/>
            </a:xfrm>
          </p:grpSpPr>
          <p:sp>
            <p:nvSpPr>
              <p:cNvPr id="57456" name="Line 25"/>
              <p:cNvSpPr/>
              <p:nvPr/>
            </p:nvSpPr>
            <p:spPr>
              <a:xfrm flipV="1">
                <a:off x="2705" y="1050"/>
                <a:ext cx="45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57" name="Line 26"/>
              <p:cNvSpPr/>
              <p:nvPr/>
            </p:nvSpPr>
            <p:spPr>
              <a:xfrm>
                <a:off x="2705" y="1824"/>
                <a:ext cx="46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35867" name="Object 27"/>
          <p:cNvGraphicFramePr>
            <a:graphicFrameLocks noChangeAspect="1"/>
          </p:cNvGraphicFramePr>
          <p:nvPr/>
        </p:nvGraphicFramePr>
        <p:xfrm>
          <a:off x="304800" y="2994025"/>
          <a:ext cx="312896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5" r:id="rId17" imgW="683260" imgH="173355" progId="Equation.3">
                  <p:embed/>
                </p:oleObj>
              </mc:Choice>
              <mc:Fallback>
                <p:oleObj r:id="rId17" imgW="683260" imgH="173355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18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" y="2994025"/>
                        <a:ext cx="3128963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8" name="Object 28"/>
          <p:cNvGraphicFramePr>
            <a:graphicFrameLocks noChangeAspect="1"/>
          </p:cNvGraphicFramePr>
          <p:nvPr/>
        </p:nvGraphicFramePr>
        <p:xfrm>
          <a:off x="304800" y="4953000"/>
          <a:ext cx="35052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6" r:id="rId19" imgW="882650" imgH="173355" progId="Equation.3">
                  <p:embed/>
                </p:oleObj>
              </mc:Choice>
              <mc:Fallback>
                <p:oleObj r:id="rId19" imgW="882650" imgH="173355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20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4800" y="4953000"/>
                        <a:ext cx="3505200" cy="809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70" name="Object 30"/>
          <p:cNvGraphicFramePr>
            <a:graphicFrameLocks noChangeAspect="1"/>
          </p:cNvGraphicFramePr>
          <p:nvPr/>
        </p:nvGraphicFramePr>
        <p:xfrm>
          <a:off x="538163" y="5657850"/>
          <a:ext cx="258603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07" r:id="rId21" imgW="925195" imgH="189230" progId="Equation.3">
                  <p:embed/>
                </p:oleObj>
              </mc:Choice>
              <mc:Fallback>
                <p:oleObj r:id="rId21" imgW="925195" imgH="189230" progId="Equation.3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8163" y="5657850"/>
                        <a:ext cx="2586037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42"/>
          <p:cNvGrpSpPr/>
          <p:nvPr/>
        </p:nvGrpSpPr>
        <p:grpSpPr>
          <a:xfrm>
            <a:off x="4549775" y="4383088"/>
            <a:ext cx="1670050" cy="1652587"/>
            <a:chOff x="2914" y="2761"/>
            <a:chExt cx="1052" cy="1041"/>
          </a:xfrm>
        </p:grpSpPr>
        <p:graphicFrame>
          <p:nvGraphicFramePr>
            <p:cNvPr id="57437" name="Object 33"/>
            <p:cNvGraphicFramePr>
              <a:graphicFrameLocks noChangeAspect="1"/>
            </p:cNvGraphicFramePr>
            <p:nvPr/>
          </p:nvGraphicFramePr>
          <p:xfrm>
            <a:off x="2928" y="2768"/>
            <a:ext cx="22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08" r:id="rId23" imgW="83820" imgH="110490" progId="Equation.3">
                    <p:embed/>
                  </p:oleObj>
                </mc:Choice>
                <mc:Fallback>
                  <p:oleObj r:id="rId23" imgW="83820" imgH="110490" progId="Equation.3">
                    <p:embed/>
                    <p:pic>
                      <p:nvPicPr>
                        <p:cNvPr id="0" name="图片 3265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28" y="2768"/>
                          <a:ext cx="228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38" name="Object 34"/>
            <p:cNvGraphicFramePr>
              <a:graphicFrameLocks noChangeAspect="1"/>
            </p:cNvGraphicFramePr>
            <p:nvPr/>
          </p:nvGraphicFramePr>
          <p:xfrm>
            <a:off x="2914" y="3172"/>
            <a:ext cx="226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09" r:id="rId25" imgW="94615" imgH="110490" progId="Equation.3">
                    <p:embed/>
                  </p:oleObj>
                </mc:Choice>
                <mc:Fallback>
                  <p:oleObj r:id="rId25" imgW="94615" imgH="110490" progId="Equation.3">
                    <p:embed/>
                    <p:pic>
                      <p:nvPicPr>
                        <p:cNvPr id="0" name="图片 3266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14" y="3172"/>
                          <a:ext cx="226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39" name="Object 35"/>
            <p:cNvGraphicFramePr>
              <a:graphicFrameLocks noChangeAspect="1"/>
            </p:cNvGraphicFramePr>
            <p:nvPr/>
          </p:nvGraphicFramePr>
          <p:xfrm>
            <a:off x="3410" y="3123"/>
            <a:ext cx="23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0" r:id="rId27" imgW="68580" imgH="83820" progId="Equation.3">
                    <p:embed/>
                  </p:oleObj>
                </mc:Choice>
                <mc:Fallback>
                  <p:oleObj r:id="rId27" imgW="68580" imgH="83820" progId="Equation.3">
                    <p:embed/>
                    <p:pic>
                      <p:nvPicPr>
                        <p:cNvPr id="0" name="图片 3267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10" y="3123"/>
                          <a:ext cx="231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7440" name="Group 141"/>
            <p:cNvGrpSpPr/>
            <p:nvPr/>
          </p:nvGrpSpPr>
          <p:grpSpPr>
            <a:xfrm>
              <a:off x="3170" y="2761"/>
              <a:ext cx="796" cy="1041"/>
              <a:chOff x="3170" y="2761"/>
              <a:chExt cx="796" cy="1041"/>
            </a:xfrm>
          </p:grpSpPr>
          <p:grpSp>
            <p:nvGrpSpPr>
              <p:cNvPr id="57441" name="Group 37"/>
              <p:cNvGrpSpPr/>
              <p:nvPr/>
            </p:nvGrpSpPr>
            <p:grpSpPr>
              <a:xfrm>
                <a:off x="3170" y="2761"/>
                <a:ext cx="431" cy="1041"/>
                <a:chOff x="3216" y="2880"/>
                <a:chExt cx="460" cy="1204"/>
              </a:xfrm>
            </p:grpSpPr>
            <p:sp>
              <p:nvSpPr>
                <p:cNvPr id="57446" name="Freeform 38" descr="浅色上对角线"/>
                <p:cNvSpPr/>
                <p:nvPr/>
              </p:nvSpPr>
              <p:spPr>
                <a:xfrm>
                  <a:off x="3230" y="3388"/>
                  <a:ext cx="280" cy="686"/>
                </a:xfrm>
                <a:custGeom>
                  <a:avLst/>
                  <a:gdLst>
                    <a:gd name="txL" fmla="*/ 0 w 280"/>
                    <a:gd name="txT" fmla="*/ 0 h 686"/>
                    <a:gd name="txR" fmla="*/ 280 w 280"/>
                    <a:gd name="txB" fmla="*/ 686 h 686"/>
                  </a:gdLst>
                  <a:ahLst/>
                  <a:cxnLst>
                    <a:cxn ang="0">
                      <a:pos x="0" y="0"/>
                    </a:cxn>
                    <a:cxn ang="0">
                      <a:pos x="280" y="668"/>
                    </a:cxn>
                    <a:cxn ang="0">
                      <a:pos x="200" y="686"/>
                    </a:cxn>
                    <a:cxn ang="0">
                      <a:pos x="20" y="244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80" h="686">
                      <a:moveTo>
                        <a:pt x="0" y="0"/>
                      </a:moveTo>
                      <a:lnTo>
                        <a:pt x="280" y="668"/>
                      </a:lnTo>
                      <a:lnTo>
                        <a:pt x="200" y="686"/>
                      </a:lnTo>
                      <a:lnTo>
                        <a:pt x="20" y="2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29"/>
                </a:blip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47" name="Freeform 39" descr="浅色上对角线"/>
                <p:cNvSpPr/>
                <p:nvPr/>
              </p:nvSpPr>
              <p:spPr>
                <a:xfrm>
                  <a:off x="3216" y="2888"/>
                  <a:ext cx="460" cy="1124"/>
                </a:xfrm>
                <a:custGeom>
                  <a:avLst/>
                  <a:gdLst>
                    <a:gd name="txL" fmla="*/ 0 w 460"/>
                    <a:gd name="txT" fmla="*/ 0 h 1124"/>
                    <a:gd name="txR" fmla="*/ 460 w 460"/>
                    <a:gd name="txB" fmla="*/ 1124 h 1124"/>
                  </a:gdLst>
                  <a:ahLst/>
                  <a:cxnLst>
                    <a:cxn ang="0">
                      <a:pos x="12" y="0"/>
                    </a:cxn>
                    <a:cxn ang="0">
                      <a:pos x="460" y="1084"/>
                    </a:cxn>
                    <a:cxn ang="0">
                      <a:pos x="380" y="1124"/>
                    </a:cxn>
                    <a:cxn ang="0">
                      <a:pos x="0" y="259"/>
                    </a:cxn>
                    <a:cxn ang="0">
                      <a:pos x="12" y="0"/>
                    </a:cxn>
                  </a:cxnLst>
                  <a:rect l="txL" t="txT" r="txR" b="txB"/>
                  <a:pathLst>
                    <a:path w="460" h="1124">
                      <a:moveTo>
                        <a:pt x="12" y="0"/>
                      </a:moveTo>
                      <a:lnTo>
                        <a:pt x="460" y="1084"/>
                      </a:lnTo>
                      <a:lnTo>
                        <a:pt x="380" y="1124"/>
                      </a:lnTo>
                      <a:lnTo>
                        <a:pt x="0" y="25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blipFill rotWithShape="0">
                  <a:blip r:embed="rId29"/>
                </a:blipFill>
                <a:ln w="127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48" name="Freeform 40" descr="浅色横线"/>
                <p:cNvSpPr/>
                <p:nvPr/>
              </p:nvSpPr>
              <p:spPr>
                <a:xfrm>
                  <a:off x="3230" y="3152"/>
                  <a:ext cx="376" cy="892"/>
                </a:xfrm>
                <a:custGeom>
                  <a:avLst/>
                  <a:gdLst>
                    <a:gd name="txL" fmla="*/ 0 w 376"/>
                    <a:gd name="txT" fmla="*/ 0 h 892"/>
                    <a:gd name="txR" fmla="*/ 376 w 376"/>
                    <a:gd name="txB" fmla="*/ 892 h 892"/>
                  </a:gdLst>
                  <a:ahLst/>
                  <a:cxnLst>
                    <a:cxn ang="0">
                      <a:pos x="0" y="0"/>
                    </a:cxn>
                    <a:cxn ang="0">
                      <a:pos x="376" y="864"/>
                    </a:cxn>
                    <a:cxn ang="0">
                      <a:pos x="274" y="892"/>
                    </a:cxn>
                    <a:cxn ang="0">
                      <a:pos x="48" y="344"/>
                    </a:cxn>
                    <a:cxn ang="0">
                      <a:pos x="0" y="24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76" h="892">
                      <a:moveTo>
                        <a:pt x="0" y="0"/>
                      </a:moveTo>
                      <a:lnTo>
                        <a:pt x="376" y="864"/>
                      </a:lnTo>
                      <a:lnTo>
                        <a:pt x="274" y="892"/>
                      </a:lnTo>
                      <a:lnTo>
                        <a:pt x="48" y="344"/>
                      </a:lnTo>
                      <a:lnTo>
                        <a:pt x="0" y="2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30"/>
                </a:blip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57449" name="Group 41"/>
                <p:cNvGrpSpPr/>
                <p:nvPr/>
              </p:nvGrpSpPr>
              <p:grpSpPr>
                <a:xfrm>
                  <a:off x="3216" y="2880"/>
                  <a:ext cx="460" cy="1204"/>
                  <a:chOff x="3236" y="2880"/>
                  <a:chExt cx="460" cy="1204"/>
                </a:xfrm>
              </p:grpSpPr>
              <p:sp>
                <p:nvSpPr>
                  <p:cNvPr id="57450" name="Freeform 42" descr="宽上对角线"/>
                  <p:cNvSpPr/>
                  <p:nvPr/>
                </p:nvSpPr>
                <p:spPr>
                  <a:xfrm>
                    <a:off x="3252" y="3624"/>
                    <a:ext cx="188" cy="460"/>
                  </a:xfrm>
                  <a:custGeom>
                    <a:avLst/>
                    <a:gdLst>
                      <a:gd name="txL" fmla="*/ 0 w 188"/>
                      <a:gd name="txT" fmla="*/ 0 h 460"/>
                      <a:gd name="txR" fmla="*/ 188 w 188"/>
                      <a:gd name="txB" fmla="*/ 460 h 4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88" y="460"/>
                      </a:cxn>
                    </a:cxnLst>
                    <a:rect l="txL" t="txT" r="txR" b="txB"/>
                    <a:pathLst>
                      <a:path w="188" h="460">
                        <a:moveTo>
                          <a:pt x="0" y="0"/>
                        </a:moveTo>
                        <a:lnTo>
                          <a:pt x="188" y="460"/>
                        </a:lnTo>
                      </a:path>
                    </a:pathLst>
                  </a:custGeom>
                  <a:blipFill rotWithShape="0">
                    <a:blip r:embed="rId31"/>
                  </a:blipFill>
                  <a:ln w="1905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51" name="Freeform 43" descr="宽上对角线"/>
                  <p:cNvSpPr/>
                  <p:nvPr/>
                </p:nvSpPr>
                <p:spPr>
                  <a:xfrm>
                    <a:off x="3252" y="2880"/>
                    <a:ext cx="444" cy="1092"/>
                  </a:xfrm>
                  <a:custGeom>
                    <a:avLst/>
                    <a:gdLst>
                      <a:gd name="txL" fmla="*/ 0 w 444"/>
                      <a:gd name="txT" fmla="*/ 0 h 1092"/>
                      <a:gd name="txR" fmla="*/ 444 w 444"/>
                      <a:gd name="txB" fmla="*/ 1092 h 109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44" y="1092"/>
                      </a:cxn>
                    </a:cxnLst>
                    <a:rect l="txL" t="txT" r="txR" b="txB"/>
                    <a:pathLst>
                      <a:path w="444" h="1092">
                        <a:moveTo>
                          <a:pt x="0" y="0"/>
                        </a:moveTo>
                        <a:lnTo>
                          <a:pt x="444" y="1092"/>
                        </a:lnTo>
                      </a:path>
                    </a:pathLst>
                  </a:custGeom>
                  <a:blipFill rotWithShape="0">
                    <a:blip r:embed="rId31"/>
                  </a:blipFill>
                  <a:ln w="1905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52" name="Freeform 44" descr="宽上对角线"/>
                  <p:cNvSpPr/>
                  <p:nvPr/>
                </p:nvSpPr>
                <p:spPr>
                  <a:xfrm>
                    <a:off x="3236" y="3122"/>
                    <a:ext cx="380" cy="890"/>
                  </a:xfrm>
                  <a:custGeom>
                    <a:avLst/>
                    <a:gdLst>
                      <a:gd name="txL" fmla="*/ 0 w 380"/>
                      <a:gd name="txT" fmla="*/ 0 h 890"/>
                      <a:gd name="txR" fmla="*/ 380 w 380"/>
                      <a:gd name="txB" fmla="*/ 890 h 89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380" y="890"/>
                      </a:cxn>
                    </a:cxnLst>
                    <a:rect l="txL" t="txT" r="txR" b="txB"/>
                    <a:pathLst>
                      <a:path w="380" h="890">
                        <a:moveTo>
                          <a:pt x="0" y="0"/>
                        </a:moveTo>
                        <a:lnTo>
                          <a:pt x="380" y="890"/>
                        </a:lnTo>
                      </a:path>
                    </a:pathLst>
                  </a:custGeom>
                  <a:blipFill rotWithShape="0">
                    <a:blip r:embed="rId31"/>
                  </a:blipFill>
                  <a:ln w="1905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53" name="Freeform 45" descr="宽上对角线"/>
                  <p:cNvSpPr/>
                  <p:nvPr/>
                </p:nvSpPr>
                <p:spPr>
                  <a:xfrm>
                    <a:off x="3236" y="3374"/>
                    <a:ext cx="280" cy="676"/>
                  </a:xfrm>
                  <a:custGeom>
                    <a:avLst/>
                    <a:gdLst>
                      <a:gd name="txL" fmla="*/ 0 w 280"/>
                      <a:gd name="txT" fmla="*/ 0 h 676"/>
                      <a:gd name="txR" fmla="*/ 280 w 280"/>
                      <a:gd name="txB" fmla="*/ 676 h 67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280" y="676"/>
                      </a:cxn>
                    </a:cxnLst>
                    <a:rect l="txL" t="txT" r="txR" b="txB"/>
                    <a:pathLst>
                      <a:path w="280" h="676">
                        <a:moveTo>
                          <a:pt x="0" y="0"/>
                        </a:moveTo>
                        <a:lnTo>
                          <a:pt x="280" y="676"/>
                        </a:lnTo>
                      </a:path>
                    </a:pathLst>
                  </a:custGeom>
                  <a:blipFill rotWithShape="0">
                    <a:blip r:embed="rId31"/>
                  </a:blipFill>
                  <a:ln w="1905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57442" name="Group 140"/>
              <p:cNvGrpSpPr/>
              <p:nvPr/>
            </p:nvGrpSpPr>
            <p:grpSpPr>
              <a:xfrm>
                <a:off x="3198" y="3504"/>
                <a:ext cx="594" cy="159"/>
                <a:chOff x="3198" y="3454"/>
                <a:chExt cx="594" cy="209"/>
              </a:xfrm>
            </p:grpSpPr>
            <p:sp>
              <p:nvSpPr>
                <p:cNvPr id="57444" name="Freeform 47"/>
                <p:cNvSpPr/>
                <p:nvPr/>
              </p:nvSpPr>
              <p:spPr>
                <a:xfrm>
                  <a:off x="3198" y="3567"/>
                  <a:ext cx="272" cy="96"/>
                </a:xfrm>
                <a:custGeom>
                  <a:avLst/>
                  <a:gdLst>
                    <a:gd name="txL" fmla="*/ 0 w 340"/>
                    <a:gd name="txT" fmla="*/ 0 h 132"/>
                    <a:gd name="txR" fmla="*/ 340 w 340"/>
                    <a:gd name="txB" fmla="*/ 132 h 132"/>
                  </a:gdLst>
                  <a:ahLst/>
                  <a:cxnLst>
                    <a:cxn ang="0">
                      <a:pos x="0" y="8"/>
                    </a:cxn>
                    <a:cxn ang="0">
                      <a:pos x="46" y="0"/>
                    </a:cxn>
                  </a:cxnLst>
                  <a:rect l="txL" t="txT" r="txR" b="txB"/>
                  <a:pathLst>
                    <a:path w="340" h="132">
                      <a:moveTo>
                        <a:pt x="0" y="132"/>
                      </a:moveTo>
                      <a:lnTo>
                        <a:pt x="340" y="0"/>
                      </a:lnTo>
                    </a:path>
                  </a:pathLst>
                </a:custGeom>
                <a:noFill/>
                <a:ln w="381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45" name="Freeform 48"/>
                <p:cNvSpPr/>
                <p:nvPr/>
              </p:nvSpPr>
              <p:spPr>
                <a:xfrm>
                  <a:off x="3519" y="3454"/>
                  <a:ext cx="273" cy="98"/>
                </a:xfrm>
                <a:custGeom>
                  <a:avLst/>
                  <a:gdLst>
                    <a:gd name="txL" fmla="*/ 0 w 308"/>
                    <a:gd name="txT" fmla="*/ 0 h 120"/>
                    <a:gd name="txR" fmla="*/ 308 w 308"/>
                    <a:gd name="txB" fmla="*/ 120 h 120"/>
                  </a:gdLst>
                  <a:ahLst/>
                  <a:cxnLst>
                    <a:cxn ang="0">
                      <a:pos x="105" y="0"/>
                    </a:cxn>
                    <a:cxn ang="0">
                      <a:pos x="0" y="20"/>
                    </a:cxn>
                  </a:cxnLst>
                  <a:rect l="txL" t="txT" r="txR" b="txB"/>
                  <a:pathLst>
                    <a:path w="308" h="120">
                      <a:moveTo>
                        <a:pt x="308" y="0"/>
                      </a:moveTo>
                      <a:lnTo>
                        <a:pt x="0" y="120"/>
                      </a:lnTo>
                    </a:path>
                  </a:pathLst>
                </a:custGeom>
                <a:noFill/>
                <a:ln w="381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57443" name="Object 49"/>
              <p:cNvGraphicFramePr>
                <a:graphicFrameLocks noChangeAspect="1"/>
              </p:cNvGraphicFramePr>
              <p:nvPr/>
            </p:nvGraphicFramePr>
            <p:xfrm>
              <a:off x="3600" y="3595"/>
              <a:ext cx="366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111" r:id="rId32" imgW="173355" imgH="83820" progId="Equation.3">
                      <p:embed/>
                    </p:oleObj>
                  </mc:Choice>
                  <mc:Fallback>
                    <p:oleObj r:id="rId32" imgW="173355" imgH="83820" progId="Equation.3">
                      <p:embed/>
                      <p:pic>
                        <p:nvPicPr>
                          <p:cNvPr id="0" name="图片 3268"/>
                          <p:cNvPicPr/>
                          <p:nvPr/>
                        </p:nvPicPr>
                        <p:blipFill>
                          <a:blip r:embed="rId33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600" y="3595"/>
                            <a:ext cx="366" cy="1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3" name="Group 50"/>
          <p:cNvGrpSpPr/>
          <p:nvPr/>
        </p:nvGrpSpPr>
        <p:grpSpPr>
          <a:xfrm>
            <a:off x="671513" y="3659188"/>
            <a:ext cx="2470150" cy="1382712"/>
            <a:chOff x="359" y="2400"/>
            <a:chExt cx="1660" cy="1008"/>
          </a:xfrm>
        </p:grpSpPr>
        <p:sp>
          <p:nvSpPr>
            <p:cNvPr id="57427" name="Rectangle 51" descr="浅色上对角线"/>
            <p:cNvSpPr/>
            <p:nvPr/>
          </p:nvSpPr>
          <p:spPr>
            <a:xfrm>
              <a:off x="694" y="2544"/>
              <a:ext cx="1007" cy="256"/>
            </a:xfrm>
            <a:prstGeom prst="rect">
              <a:avLst/>
            </a:prstGeom>
            <a:blipFill rotWithShape="0">
              <a:blip r:embed="rId29"/>
            </a:blip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8" name="Rectangle 52" descr="浅色下对角线"/>
            <p:cNvSpPr/>
            <p:nvPr/>
          </p:nvSpPr>
          <p:spPr>
            <a:xfrm>
              <a:off x="694" y="2800"/>
              <a:ext cx="1007" cy="256"/>
            </a:xfrm>
            <a:prstGeom prst="rect">
              <a:avLst/>
            </a:prstGeom>
            <a:blipFill rotWithShape="0">
              <a:blip r:embed="rId34"/>
            </a:blip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9" name="Rectangle 53" descr="浅色上对角线"/>
            <p:cNvSpPr/>
            <p:nvPr/>
          </p:nvSpPr>
          <p:spPr>
            <a:xfrm>
              <a:off x="694" y="3056"/>
              <a:ext cx="1007" cy="256"/>
            </a:xfrm>
            <a:prstGeom prst="rect">
              <a:avLst/>
            </a:prstGeom>
            <a:blipFill rotWithShape="0">
              <a:blip r:embed="rId29"/>
            </a:blip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7430" name="Group 54"/>
            <p:cNvGrpSpPr/>
            <p:nvPr/>
          </p:nvGrpSpPr>
          <p:grpSpPr>
            <a:xfrm>
              <a:off x="359" y="2544"/>
              <a:ext cx="336" cy="768"/>
              <a:chOff x="359" y="2544"/>
              <a:chExt cx="336" cy="768"/>
            </a:xfrm>
          </p:grpSpPr>
          <p:sp>
            <p:nvSpPr>
              <p:cNvPr id="57433" name="Line 55"/>
              <p:cNvSpPr/>
              <p:nvPr/>
            </p:nvSpPr>
            <p:spPr>
              <a:xfrm flipH="1">
                <a:off x="359" y="2544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34" name="Line 56"/>
              <p:cNvSpPr/>
              <p:nvPr/>
            </p:nvSpPr>
            <p:spPr>
              <a:xfrm flipH="1">
                <a:off x="359" y="331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35" name="Line 57"/>
              <p:cNvSpPr/>
              <p:nvPr/>
            </p:nvSpPr>
            <p:spPr>
              <a:xfrm>
                <a:off x="455" y="2544"/>
                <a:ext cx="0" cy="76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7436" name="Object 58"/>
              <p:cNvGraphicFramePr>
                <a:graphicFrameLocks noChangeAspect="1"/>
              </p:cNvGraphicFramePr>
              <p:nvPr/>
            </p:nvGraphicFramePr>
            <p:xfrm>
              <a:off x="445" y="2736"/>
              <a:ext cx="202" cy="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112" r:id="rId35" imgW="78740" imgH="136525" progId="Equation.3">
                      <p:embed/>
                    </p:oleObj>
                  </mc:Choice>
                  <mc:Fallback>
                    <p:oleObj r:id="rId35" imgW="78740" imgH="136525" progId="Equation.3">
                      <p:embed/>
                      <p:pic>
                        <p:nvPicPr>
                          <p:cNvPr id="0" name="图片 3269"/>
                          <p:cNvPicPr/>
                          <p:nvPr/>
                        </p:nvPicPr>
                        <p:blipFill>
                          <a:blip r:embed="rId36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45" y="2736"/>
                            <a:ext cx="202" cy="31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7431" name="Object 59"/>
            <p:cNvGraphicFramePr>
              <a:graphicFrameLocks noChangeAspect="1"/>
            </p:cNvGraphicFramePr>
            <p:nvPr/>
          </p:nvGraphicFramePr>
          <p:xfrm>
            <a:off x="1708" y="2400"/>
            <a:ext cx="31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3" r:id="rId37" imgW="68580" imgH="78740" progId="Equation.3">
                    <p:embed/>
                  </p:oleObj>
                </mc:Choice>
                <mc:Fallback>
                  <p:oleObj r:id="rId37" imgW="68580" imgH="78740" progId="Equation.3">
                    <p:embed/>
                    <p:pic>
                      <p:nvPicPr>
                        <p:cNvPr id="0" name="图片 3270"/>
                        <p:cNvPicPr/>
                        <p:nvPr/>
                      </p:nvPicPr>
                      <p:blipFill>
                        <a:blip r:embed="rId38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08" y="2400"/>
                          <a:ext cx="311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32" name="Object 60"/>
            <p:cNvGraphicFramePr>
              <a:graphicFrameLocks noChangeAspect="1"/>
            </p:cNvGraphicFramePr>
            <p:nvPr/>
          </p:nvGraphicFramePr>
          <p:xfrm>
            <a:off x="1704" y="3120"/>
            <a:ext cx="26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4" r:id="rId39" imgW="68580" imgH="78740" progId="Equation.3">
                    <p:embed/>
                  </p:oleObj>
                </mc:Choice>
                <mc:Fallback>
                  <p:oleObj r:id="rId39" imgW="68580" imgH="78740" progId="Equation.3">
                    <p:embed/>
                    <p:pic>
                      <p:nvPicPr>
                        <p:cNvPr id="0" name="图片 3271"/>
                        <p:cNvPicPr/>
                        <p:nvPr/>
                      </p:nvPicPr>
                      <p:blipFill>
                        <a:blip r:embed="rId4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04" y="3120"/>
                          <a:ext cx="267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61"/>
          <p:cNvGrpSpPr/>
          <p:nvPr/>
        </p:nvGrpSpPr>
        <p:grpSpPr>
          <a:xfrm>
            <a:off x="671513" y="1289050"/>
            <a:ext cx="2470150" cy="1900238"/>
            <a:chOff x="288" y="1152"/>
            <a:chExt cx="1660" cy="1385"/>
          </a:xfrm>
        </p:grpSpPr>
        <p:sp>
          <p:nvSpPr>
            <p:cNvPr id="57415" name="Rectangle 62" descr="浅色上对角线"/>
            <p:cNvSpPr/>
            <p:nvPr/>
          </p:nvSpPr>
          <p:spPr>
            <a:xfrm>
              <a:off x="624" y="1296"/>
              <a:ext cx="1008" cy="384"/>
            </a:xfrm>
            <a:prstGeom prst="rect">
              <a:avLst/>
            </a:prstGeom>
            <a:blipFill rotWithShape="0">
              <a:blip r:embed="rId41"/>
            </a:blip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16" name="Line 63"/>
            <p:cNvSpPr/>
            <p:nvPr/>
          </p:nvSpPr>
          <p:spPr>
            <a:xfrm flipH="1">
              <a:off x="288" y="12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7" name="Line 64"/>
            <p:cNvSpPr/>
            <p:nvPr/>
          </p:nvSpPr>
          <p:spPr>
            <a:xfrm flipH="1">
              <a:off x="288" y="206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8" name="Line 65"/>
            <p:cNvSpPr/>
            <p:nvPr/>
          </p:nvSpPr>
          <p:spPr>
            <a:xfrm>
              <a:off x="384" y="1296"/>
              <a:ext cx="0" cy="76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7419" name="Object 66"/>
            <p:cNvGraphicFramePr>
              <a:graphicFrameLocks noChangeAspect="1"/>
            </p:cNvGraphicFramePr>
            <p:nvPr/>
          </p:nvGraphicFramePr>
          <p:xfrm>
            <a:off x="374" y="1488"/>
            <a:ext cx="20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5" r:id="rId42" imgW="78740" imgH="136525" progId="Equation.3">
                    <p:embed/>
                  </p:oleObj>
                </mc:Choice>
                <mc:Fallback>
                  <p:oleObj r:id="rId42" imgW="78740" imgH="136525" progId="Equation.3">
                    <p:embed/>
                    <p:pic>
                      <p:nvPicPr>
                        <p:cNvPr id="0" name="图片 3272"/>
                        <p:cNvPicPr/>
                        <p:nvPr/>
                      </p:nvPicPr>
                      <p:blipFill>
                        <a:blip r:embed="rId43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4" y="1488"/>
                          <a:ext cx="202" cy="3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420" name="Line 67"/>
            <p:cNvSpPr/>
            <p:nvPr/>
          </p:nvSpPr>
          <p:spPr>
            <a:xfrm>
              <a:off x="624" y="2208"/>
              <a:ext cx="100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1" name="Text Box 68"/>
            <p:cNvSpPr txBox="1"/>
            <p:nvPr/>
          </p:nvSpPr>
          <p:spPr>
            <a:xfrm>
              <a:off x="816" y="2159"/>
              <a:ext cx="602" cy="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缝长</a:t>
              </a:r>
            </a:p>
          </p:txBody>
        </p:sp>
        <p:graphicFrame>
          <p:nvGraphicFramePr>
            <p:cNvPr id="57422" name="Object 69"/>
            <p:cNvGraphicFramePr>
              <a:graphicFrameLocks noChangeAspect="1"/>
            </p:cNvGraphicFramePr>
            <p:nvPr/>
          </p:nvGraphicFramePr>
          <p:xfrm>
            <a:off x="1637" y="1152"/>
            <a:ext cx="31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6" r:id="rId44" imgW="68580" imgH="78740" progId="Equation.3">
                    <p:embed/>
                  </p:oleObj>
                </mc:Choice>
                <mc:Fallback>
                  <p:oleObj r:id="rId44" imgW="68580" imgH="78740" progId="Equation.3">
                    <p:embed/>
                    <p:pic>
                      <p:nvPicPr>
                        <p:cNvPr id="0" name="图片 3273"/>
                        <p:cNvPicPr/>
                        <p:nvPr/>
                      </p:nvPicPr>
                      <p:blipFill>
                        <a:blip r:embed="rId45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37" y="1152"/>
                          <a:ext cx="311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423" name="Object 70"/>
            <p:cNvGraphicFramePr>
              <a:graphicFrameLocks noChangeAspect="1"/>
            </p:cNvGraphicFramePr>
            <p:nvPr/>
          </p:nvGraphicFramePr>
          <p:xfrm>
            <a:off x="1633" y="1872"/>
            <a:ext cx="26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7" r:id="rId46" imgW="68580" imgH="78740" progId="Equation.3">
                    <p:embed/>
                  </p:oleObj>
                </mc:Choice>
                <mc:Fallback>
                  <p:oleObj r:id="rId46" imgW="68580" imgH="78740" progId="Equation.3">
                    <p:embed/>
                    <p:pic>
                      <p:nvPicPr>
                        <p:cNvPr id="0" name="图片 3274"/>
                        <p:cNvPicPr/>
                        <p:nvPr/>
                      </p:nvPicPr>
                      <p:blipFill>
                        <a:blip r:embed="rId47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33" y="1872"/>
                          <a:ext cx="267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424" name="Rectangle 71" descr="浅色下对角线"/>
            <p:cNvSpPr/>
            <p:nvPr/>
          </p:nvSpPr>
          <p:spPr>
            <a:xfrm>
              <a:off x="624" y="1680"/>
              <a:ext cx="1008" cy="384"/>
            </a:xfrm>
            <a:prstGeom prst="rect">
              <a:avLst/>
            </a:prstGeom>
            <a:blipFill rotWithShape="0">
              <a:blip r:embed="rId48"/>
            </a:blip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425" name="Line 72"/>
            <p:cNvSpPr/>
            <p:nvPr/>
          </p:nvSpPr>
          <p:spPr>
            <a:xfrm>
              <a:off x="624" y="2064"/>
              <a:ext cx="0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26" name="Line 73"/>
            <p:cNvSpPr/>
            <p:nvPr/>
          </p:nvSpPr>
          <p:spPr>
            <a:xfrm>
              <a:off x="1630" y="2064"/>
              <a:ext cx="2" cy="2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353" name="Line 109"/>
          <p:cNvSpPr/>
          <p:nvPr/>
        </p:nvSpPr>
        <p:spPr>
          <a:xfrm>
            <a:off x="4956175" y="1881188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7354" name="Group 123"/>
          <p:cNvGrpSpPr/>
          <p:nvPr/>
        </p:nvGrpSpPr>
        <p:grpSpPr>
          <a:xfrm>
            <a:off x="4884738" y="1493838"/>
            <a:ext cx="3141662" cy="1441450"/>
            <a:chOff x="3168" y="773"/>
            <a:chExt cx="2160" cy="1051"/>
          </a:xfrm>
        </p:grpSpPr>
        <p:sp>
          <p:nvSpPr>
            <p:cNvPr id="57409" name="Freeform 124"/>
            <p:cNvSpPr/>
            <p:nvPr/>
          </p:nvSpPr>
          <p:spPr>
            <a:xfrm>
              <a:off x="3168" y="816"/>
              <a:ext cx="1056" cy="240"/>
            </a:xfrm>
            <a:custGeom>
              <a:avLst/>
              <a:gdLst>
                <a:gd name="txL" fmla="*/ 0 w 959"/>
                <a:gd name="txT" fmla="*/ 0 h 432"/>
                <a:gd name="txR" fmla="*/ 959 w 959"/>
                <a:gd name="txB" fmla="*/ 432 h 432"/>
              </a:gdLst>
              <a:ahLst/>
              <a:cxnLst>
                <a:cxn ang="0">
                  <a:pos x="0" y="2"/>
                </a:cxn>
                <a:cxn ang="0">
                  <a:pos x="2285" y="0"/>
                </a:cxn>
              </a:cxnLst>
              <a:rect l="txL" t="txT" r="txR" b="txB"/>
              <a:pathLst>
                <a:path w="959" h="432">
                  <a:moveTo>
                    <a:pt x="0" y="432"/>
                  </a:moveTo>
                  <a:lnTo>
                    <a:pt x="959" y="0"/>
                  </a:lnTo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0" name="Line 125"/>
            <p:cNvSpPr/>
            <p:nvPr/>
          </p:nvSpPr>
          <p:spPr>
            <a:xfrm rot="-282648" flipV="1">
              <a:off x="4270" y="1151"/>
              <a:ext cx="1058" cy="381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1" name="Line 126"/>
            <p:cNvSpPr/>
            <p:nvPr/>
          </p:nvSpPr>
          <p:spPr>
            <a:xfrm rot="-282648">
              <a:off x="4271" y="773"/>
              <a:ext cx="1008" cy="377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2" name="Freeform 127"/>
            <p:cNvSpPr/>
            <p:nvPr/>
          </p:nvSpPr>
          <p:spPr>
            <a:xfrm>
              <a:off x="3216" y="1200"/>
              <a:ext cx="1056" cy="240"/>
            </a:xfrm>
            <a:custGeom>
              <a:avLst/>
              <a:gdLst>
                <a:gd name="txL" fmla="*/ 0 w 959"/>
                <a:gd name="txT" fmla="*/ 0 h 432"/>
                <a:gd name="txR" fmla="*/ 959 w 959"/>
                <a:gd name="txB" fmla="*/ 432 h 432"/>
              </a:gdLst>
              <a:ahLst/>
              <a:cxnLst>
                <a:cxn ang="0">
                  <a:pos x="0" y="2"/>
                </a:cxn>
                <a:cxn ang="0">
                  <a:pos x="2285" y="0"/>
                </a:cxn>
              </a:cxnLst>
              <a:rect l="txL" t="txT" r="txR" b="txB"/>
              <a:pathLst>
                <a:path w="959" h="432">
                  <a:moveTo>
                    <a:pt x="0" y="432"/>
                  </a:moveTo>
                  <a:lnTo>
                    <a:pt x="959" y="0"/>
                  </a:lnTo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3" name="Freeform 128"/>
            <p:cNvSpPr/>
            <p:nvPr/>
          </p:nvSpPr>
          <p:spPr>
            <a:xfrm>
              <a:off x="3216" y="1584"/>
              <a:ext cx="1056" cy="240"/>
            </a:xfrm>
            <a:custGeom>
              <a:avLst/>
              <a:gdLst>
                <a:gd name="txL" fmla="*/ 0 w 959"/>
                <a:gd name="txT" fmla="*/ 0 h 432"/>
                <a:gd name="txR" fmla="*/ 959 w 959"/>
                <a:gd name="txB" fmla="*/ 432 h 432"/>
              </a:gdLst>
              <a:ahLst/>
              <a:cxnLst>
                <a:cxn ang="0">
                  <a:pos x="0" y="2"/>
                </a:cxn>
                <a:cxn ang="0">
                  <a:pos x="2285" y="0"/>
                </a:cxn>
              </a:cxnLst>
              <a:rect l="txL" t="txT" r="txR" b="txB"/>
              <a:pathLst>
                <a:path w="959" h="432">
                  <a:moveTo>
                    <a:pt x="0" y="432"/>
                  </a:moveTo>
                  <a:lnTo>
                    <a:pt x="959" y="0"/>
                  </a:lnTo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14" name="Line 129"/>
            <p:cNvSpPr/>
            <p:nvPr/>
          </p:nvSpPr>
          <p:spPr>
            <a:xfrm rot="-282648">
              <a:off x="4286" y="1150"/>
              <a:ext cx="993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355" name="Group 130"/>
          <p:cNvGrpSpPr/>
          <p:nvPr/>
        </p:nvGrpSpPr>
        <p:grpSpPr>
          <a:xfrm>
            <a:off x="5884863" y="958850"/>
            <a:ext cx="658812" cy="2473325"/>
            <a:chOff x="3840" y="384"/>
            <a:chExt cx="443" cy="1802"/>
          </a:xfrm>
        </p:grpSpPr>
        <p:graphicFrame>
          <p:nvGraphicFramePr>
            <p:cNvPr id="57407" name="Object 131"/>
            <p:cNvGraphicFramePr>
              <a:graphicFrameLocks noChangeAspect="1"/>
            </p:cNvGraphicFramePr>
            <p:nvPr/>
          </p:nvGraphicFramePr>
          <p:xfrm>
            <a:off x="3840" y="384"/>
            <a:ext cx="24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18" r:id="rId49" imgW="57785" imgH="78740" progId="Equation.3">
                    <p:embed/>
                  </p:oleObj>
                </mc:Choice>
                <mc:Fallback>
                  <p:oleObj r:id="rId49" imgW="57785" imgH="78740" progId="Equation.3">
                    <p:embed/>
                    <p:pic>
                      <p:nvPicPr>
                        <p:cNvPr id="0" name="图片 3275"/>
                        <p:cNvPicPr/>
                        <p:nvPr/>
                      </p:nvPicPr>
                      <p:blipFill>
                        <a:blip r:embed="rId5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40" y="384"/>
                          <a:ext cx="241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408" name="Oval 132"/>
            <p:cNvSpPr/>
            <p:nvPr/>
          </p:nvSpPr>
          <p:spPr>
            <a:xfrm>
              <a:off x="4032" y="528"/>
              <a:ext cx="251" cy="1658"/>
            </a:xfrm>
            <a:prstGeom prst="ellipse">
              <a:avLst/>
            </a:prstGeom>
            <a:solidFill>
              <a:srgbClr val="00FFCC">
                <a:alpha val="50195"/>
              </a:srgbClr>
            </a:solidFill>
            <a:ln w="19050" cap="flat" cmpd="sng">
              <a:solidFill>
                <a:srgbClr val="0066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46"/>
          <p:cNvGrpSpPr/>
          <p:nvPr/>
        </p:nvGrpSpPr>
        <p:grpSpPr>
          <a:xfrm>
            <a:off x="4456113" y="1816100"/>
            <a:ext cx="1639887" cy="1671638"/>
            <a:chOff x="2855" y="1144"/>
            <a:chExt cx="1033" cy="1053"/>
          </a:xfrm>
        </p:grpSpPr>
        <p:grpSp>
          <p:nvGrpSpPr>
            <p:cNvPr id="57394" name="Group 138"/>
            <p:cNvGrpSpPr/>
            <p:nvPr/>
          </p:nvGrpSpPr>
          <p:grpSpPr>
            <a:xfrm>
              <a:off x="2855" y="1144"/>
              <a:ext cx="720" cy="1037"/>
              <a:chOff x="2855" y="1144"/>
              <a:chExt cx="720" cy="1037"/>
            </a:xfrm>
          </p:grpSpPr>
          <p:graphicFrame>
            <p:nvGraphicFramePr>
              <p:cNvPr id="57400" name="Object 111"/>
              <p:cNvGraphicFramePr>
                <a:graphicFrameLocks noChangeAspect="1"/>
              </p:cNvGraphicFramePr>
              <p:nvPr/>
            </p:nvGraphicFramePr>
            <p:xfrm>
              <a:off x="3343" y="1559"/>
              <a:ext cx="232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119" r:id="rId51" imgW="68580" imgH="83820" progId="Equation.3">
                      <p:embed/>
                    </p:oleObj>
                  </mc:Choice>
                  <mc:Fallback>
                    <p:oleObj r:id="rId51" imgW="68580" imgH="83820" progId="Equation.3">
                      <p:embed/>
                      <p:pic>
                        <p:nvPicPr>
                          <p:cNvPr id="0" name="图片 3276"/>
                          <p:cNvPicPr/>
                          <p:nvPr/>
                        </p:nvPicPr>
                        <p:blipFill>
                          <a:blip r:embed="rId52"/>
                          <a:stretch>
                            <a:fillRect/>
                          </a:stretch>
                        </p:blipFill>
                        <p:spPr>
                          <a:xfrm>
                            <a:off x="3343" y="1559"/>
                            <a:ext cx="232" cy="24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401" name="Object 113"/>
              <p:cNvGraphicFramePr>
                <a:graphicFrameLocks noChangeAspect="1"/>
              </p:cNvGraphicFramePr>
              <p:nvPr/>
            </p:nvGraphicFramePr>
            <p:xfrm>
              <a:off x="2855" y="1227"/>
              <a:ext cx="360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120" r:id="rId53" imgW="83820" imgH="110490" progId="Equation.3">
                      <p:embed/>
                    </p:oleObj>
                  </mc:Choice>
                  <mc:Fallback>
                    <p:oleObj r:id="rId53" imgW="83820" imgH="110490" progId="Equation.3">
                      <p:embed/>
                      <p:pic>
                        <p:nvPicPr>
                          <p:cNvPr id="0" name="图片 3277"/>
                          <p:cNvPicPr/>
                          <p:nvPr/>
                        </p:nvPicPr>
                        <p:blipFill>
                          <a:blip r:embed="rId54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855" y="1227"/>
                            <a:ext cx="360" cy="33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7402" name="Freeform 116" descr="浅色上对角线"/>
              <p:cNvSpPr/>
              <p:nvPr/>
            </p:nvSpPr>
            <p:spPr>
              <a:xfrm>
                <a:off x="3160" y="1144"/>
                <a:ext cx="270" cy="1037"/>
              </a:xfrm>
              <a:custGeom>
                <a:avLst/>
                <a:gdLst>
                  <a:gd name="txL" fmla="*/ 0 w 288"/>
                  <a:gd name="txT" fmla="*/ 0 h 1200"/>
                  <a:gd name="txR" fmla="*/ 288 w 288"/>
                  <a:gd name="txB" fmla="*/ 1200 h 1200"/>
                </a:gdLst>
                <a:ahLst/>
                <a:cxnLst>
                  <a:cxn ang="0">
                    <a:pos x="0" y="0"/>
                  </a:cxn>
                  <a:cxn ang="0">
                    <a:pos x="161" y="310"/>
                  </a:cxn>
                  <a:cxn ang="0">
                    <a:pos x="107" y="321"/>
                  </a:cxn>
                  <a:cxn ang="0">
                    <a:pos x="0" y="116"/>
                  </a:cxn>
                  <a:cxn ang="0">
                    <a:pos x="0" y="12"/>
                  </a:cxn>
                </a:cxnLst>
                <a:rect l="txL" t="txT" r="txR" b="txB"/>
                <a:pathLst>
                  <a:path w="288" h="1200">
                    <a:moveTo>
                      <a:pt x="0" y="0"/>
                    </a:moveTo>
                    <a:lnTo>
                      <a:pt x="288" y="1152"/>
                    </a:lnTo>
                    <a:lnTo>
                      <a:pt x="192" y="1200"/>
                    </a:lnTo>
                    <a:lnTo>
                      <a:pt x="0" y="432"/>
                    </a:lnTo>
                    <a:lnTo>
                      <a:pt x="0" y="48"/>
                    </a:lnTo>
                  </a:path>
                </a:pathLst>
              </a:custGeom>
              <a:blipFill rotWithShape="0">
                <a:blip r:embed="rId55"/>
              </a:blip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3" name="Freeform 117" descr="浅色下对角线"/>
              <p:cNvSpPr/>
              <p:nvPr/>
            </p:nvSpPr>
            <p:spPr>
              <a:xfrm>
                <a:off x="3160" y="1517"/>
                <a:ext cx="180" cy="664"/>
              </a:xfrm>
              <a:custGeom>
                <a:avLst/>
                <a:gdLst>
                  <a:gd name="txL" fmla="*/ 0 w 192"/>
                  <a:gd name="txT" fmla="*/ 0 h 768"/>
                  <a:gd name="txR" fmla="*/ 192 w 192"/>
                  <a:gd name="txB" fmla="*/ 768 h 768"/>
                </a:gdLst>
                <a:ahLst/>
                <a:cxnLst>
                  <a:cxn ang="0">
                    <a:pos x="107" y="208"/>
                  </a:cxn>
                  <a:cxn ang="0">
                    <a:pos x="0" y="0"/>
                  </a:cxn>
                  <a:cxn ang="0">
                    <a:pos x="0" y="103"/>
                  </a:cxn>
                  <a:cxn ang="0">
                    <a:pos x="53" y="208"/>
                  </a:cxn>
                  <a:cxn ang="0">
                    <a:pos x="107" y="208"/>
                  </a:cxn>
                </a:cxnLst>
                <a:rect l="txL" t="txT" r="txR" b="txB"/>
                <a:pathLst>
                  <a:path w="192" h="768">
                    <a:moveTo>
                      <a:pt x="192" y="768"/>
                    </a:moveTo>
                    <a:lnTo>
                      <a:pt x="0" y="0"/>
                    </a:lnTo>
                    <a:lnTo>
                      <a:pt x="0" y="384"/>
                    </a:lnTo>
                    <a:lnTo>
                      <a:pt x="96" y="768"/>
                    </a:lnTo>
                    <a:lnTo>
                      <a:pt x="192" y="768"/>
                    </a:lnTo>
                    <a:close/>
                  </a:path>
                </a:pathLst>
              </a:custGeom>
              <a:blipFill rotWithShape="0">
                <a:blip r:embed="rId56"/>
              </a:blip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4" name="Line 118"/>
              <p:cNvSpPr/>
              <p:nvPr/>
            </p:nvSpPr>
            <p:spPr>
              <a:xfrm>
                <a:off x="3160" y="1185"/>
                <a:ext cx="270" cy="95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5" name="Line 119"/>
              <p:cNvSpPr/>
              <p:nvPr/>
            </p:nvSpPr>
            <p:spPr>
              <a:xfrm>
                <a:off x="3160" y="1517"/>
                <a:ext cx="180" cy="66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6" name="Line 120"/>
              <p:cNvSpPr/>
              <p:nvPr/>
            </p:nvSpPr>
            <p:spPr>
              <a:xfrm>
                <a:off x="3169" y="1849"/>
                <a:ext cx="90" cy="33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395" name="Group 145"/>
            <p:cNvGrpSpPr/>
            <p:nvPr/>
          </p:nvGrpSpPr>
          <p:grpSpPr>
            <a:xfrm>
              <a:off x="3075" y="1968"/>
              <a:ext cx="813" cy="229"/>
              <a:chOff x="3075" y="1968"/>
              <a:chExt cx="813" cy="229"/>
            </a:xfrm>
          </p:grpSpPr>
          <p:graphicFrame>
            <p:nvGraphicFramePr>
              <p:cNvPr id="57396" name="Object 115"/>
              <p:cNvGraphicFramePr>
                <a:graphicFrameLocks noChangeAspect="1"/>
              </p:cNvGraphicFramePr>
              <p:nvPr/>
            </p:nvGraphicFramePr>
            <p:xfrm>
              <a:off x="3456" y="2016"/>
              <a:ext cx="432" cy="1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121" r:id="rId57" imgW="173355" imgH="83820" progId="Equation.3">
                      <p:embed/>
                    </p:oleObj>
                  </mc:Choice>
                  <mc:Fallback>
                    <p:oleObj r:id="rId57" imgW="173355" imgH="83820" progId="Equation.3">
                      <p:embed/>
                      <p:pic>
                        <p:nvPicPr>
                          <p:cNvPr id="0" name="图片 3278"/>
                          <p:cNvPicPr/>
                          <p:nvPr/>
                        </p:nvPicPr>
                        <p:blipFill>
                          <a:blip r:embed="rId58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456" y="2016"/>
                            <a:ext cx="432" cy="18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7397" name="Group 144"/>
              <p:cNvGrpSpPr/>
              <p:nvPr/>
            </p:nvGrpSpPr>
            <p:grpSpPr>
              <a:xfrm>
                <a:off x="3075" y="1968"/>
                <a:ext cx="528" cy="144"/>
                <a:chOff x="3120" y="1968"/>
                <a:chExt cx="535" cy="159"/>
              </a:xfrm>
            </p:grpSpPr>
            <p:sp>
              <p:nvSpPr>
                <p:cNvPr id="57398" name="Line 121"/>
                <p:cNvSpPr/>
                <p:nvPr/>
              </p:nvSpPr>
              <p:spPr>
                <a:xfrm flipV="1">
                  <a:off x="3120" y="2060"/>
                  <a:ext cx="223" cy="67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99" name="Line 137"/>
                <p:cNvSpPr/>
                <p:nvPr/>
              </p:nvSpPr>
              <p:spPr>
                <a:xfrm flipH="1">
                  <a:off x="3418" y="1968"/>
                  <a:ext cx="237" cy="71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2" name="Group 149"/>
          <p:cNvGrpSpPr/>
          <p:nvPr/>
        </p:nvGrpSpPr>
        <p:grpSpPr>
          <a:xfrm>
            <a:off x="3741738" y="3527425"/>
            <a:ext cx="4792662" cy="2503488"/>
            <a:chOff x="2405" y="2222"/>
            <a:chExt cx="3019" cy="1577"/>
          </a:xfrm>
        </p:grpSpPr>
        <p:sp>
          <p:nvSpPr>
            <p:cNvPr id="57359" name="Line 75"/>
            <p:cNvSpPr/>
            <p:nvPr/>
          </p:nvSpPr>
          <p:spPr>
            <a:xfrm>
              <a:off x="2405" y="2222"/>
              <a:ext cx="3019" cy="0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360" name="Group 76"/>
            <p:cNvGrpSpPr/>
            <p:nvPr/>
          </p:nvGrpSpPr>
          <p:grpSpPr>
            <a:xfrm rot="-83261">
              <a:off x="3124" y="2512"/>
              <a:ext cx="1036" cy="912"/>
              <a:chOff x="3120" y="2688"/>
              <a:chExt cx="912" cy="1008"/>
            </a:xfrm>
          </p:grpSpPr>
          <p:sp>
            <p:nvSpPr>
              <p:cNvPr id="57390" name="Line 77"/>
              <p:cNvSpPr/>
              <p:nvPr/>
            </p:nvSpPr>
            <p:spPr>
              <a:xfrm flipV="1">
                <a:off x="3120" y="2688"/>
                <a:ext cx="864" cy="272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1" name="Line 78"/>
              <p:cNvSpPr/>
              <p:nvPr/>
            </p:nvSpPr>
            <p:spPr>
              <a:xfrm flipV="1">
                <a:off x="3120" y="2928"/>
                <a:ext cx="912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2" name="Line 79"/>
              <p:cNvSpPr/>
              <p:nvPr/>
            </p:nvSpPr>
            <p:spPr>
              <a:xfrm flipV="1">
                <a:off x="3120" y="3168"/>
                <a:ext cx="912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3" name="Line 80"/>
              <p:cNvSpPr/>
              <p:nvPr/>
            </p:nvSpPr>
            <p:spPr>
              <a:xfrm flipV="1">
                <a:off x="3120" y="3408"/>
                <a:ext cx="912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361" name="Group 81"/>
            <p:cNvGrpSpPr/>
            <p:nvPr/>
          </p:nvGrpSpPr>
          <p:grpSpPr>
            <a:xfrm>
              <a:off x="4115" y="2513"/>
              <a:ext cx="989" cy="622"/>
              <a:chOff x="4224" y="2592"/>
              <a:chExt cx="1056" cy="720"/>
            </a:xfrm>
          </p:grpSpPr>
          <p:sp>
            <p:nvSpPr>
              <p:cNvPr id="57386" name="Line 82"/>
              <p:cNvSpPr/>
              <p:nvPr/>
            </p:nvSpPr>
            <p:spPr>
              <a:xfrm>
                <a:off x="4272" y="2832"/>
                <a:ext cx="1008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7" name="Line 83"/>
              <p:cNvSpPr/>
              <p:nvPr/>
            </p:nvSpPr>
            <p:spPr>
              <a:xfrm flipV="1">
                <a:off x="4272" y="2832"/>
                <a:ext cx="1008" cy="233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8" name="Line 84"/>
              <p:cNvSpPr/>
              <p:nvPr/>
            </p:nvSpPr>
            <p:spPr>
              <a:xfrm>
                <a:off x="4224" y="2592"/>
                <a:ext cx="1056" cy="24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9" name="Line 85"/>
              <p:cNvSpPr/>
              <p:nvPr/>
            </p:nvSpPr>
            <p:spPr>
              <a:xfrm flipV="1">
                <a:off x="4272" y="2832"/>
                <a:ext cx="1008" cy="48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62" name="Line 86"/>
            <p:cNvSpPr/>
            <p:nvPr/>
          </p:nvSpPr>
          <p:spPr>
            <a:xfrm>
              <a:off x="2630" y="3094"/>
              <a:ext cx="27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Dot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7" name="Rectangle 87"/>
            <p:cNvSpPr>
              <a:spLocks noChangeArrowheads="1"/>
            </p:cNvSpPr>
            <p:nvPr/>
          </p:nvSpPr>
          <p:spPr bwMode="auto">
            <a:xfrm>
              <a:off x="5088" y="2264"/>
              <a:ext cx="32" cy="153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7364" name="Object 88"/>
            <p:cNvGraphicFramePr>
              <a:graphicFrameLocks noChangeAspect="1"/>
            </p:cNvGraphicFramePr>
            <p:nvPr/>
          </p:nvGraphicFramePr>
          <p:xfrm>
            <a:off x="5164" y="3101"/>
            <a:ext cx="16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22" r:id="rId59" imgW="78740" imgH="94615" progId="Equation.3">
                    <p:embed/>
                  </p:oleObj>
                </mc:Choice>
                <mc:Fallback>
                  <p:oleObj r:id="rId59" imgW="78740" imgH="94615" progId="Equation.3">
                    <p:embed/>
                    <p:pic>
                      <p:nvPicPr>
                        <p:cNvPr id="0" name="图片 3280"/>
                        <p:cNvPicPr/>
                        <p:nvPr/>
                      </p:nvPicPr>
                      <p:blipFill>
                        <a:blip r:embed="rId6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64" y="3101"/>
                          <a:ext cx="165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929" name="Rectangle 89"/>
            <p:cNvSpPr>
              <a:spLocks noChangeArrowheads="1"/>
            </p:cNvSpPr>
            <p:nvPr/>
          </p:nvSpPr>
          <p:spPr bwMode="auto">
            <a:xfrm>
              <a:off x="3114" y="2431"/>
              <a:ext cx="56" cy="331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chemeClr val="tx1">
                    <a:gamma/>
                    <a:tint val="20000"/>
                    <a:invGamma/>
                  </a:schemeClr>
                </a:gs>
                <a:gs pos="100000">
                  <a:schemeClr val="tx1"/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930" name="Rectangle 90"/>
            <p:cNvSpPr>
              <a:spLocks noChangeArrowheads="1"/>
            </p:cNvSpPr>
            <p:nvPr/>
          </p:nvSpPr>
          <p:spPr bwMode="auto">
            <a:xfrm>
              <a:off x="3121" y="3426"/>
              <a:ext cx="49" cy="306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chemeClr val="tx1">
                    <a:gamma/>
                    <a:tint val="20000"/>
                    <a:invGamma/>
                  </a:schemeClr>
                </a:gs>
                <a:gs pos="100000">
                  <a:schemeClr val="tx1"/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7367" name="Object 91"/>
            <p:cNvGraphicFramePr>
              <a:graphicFrameLocks noChangeAspect="1"/>
            </p:cNvGraphicFramePr>
            <p:nvPr/>
          </p:nvGraphicFramePr>
          <p:xfrm>
            <a:off x="5104" y="2471"/>
            <a:ext cx="270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23" r:id="rId61" imgW="68580" imgH="105410" progId="Equation.3">
                    <p:embed/>
                  </p:oleObj>
                </mc:Choice>
                <mc:Fallback>
                  <p:oleObj r:id="rId61" imgW="68580" imgH="105410" progId="Equation.3">
                    <p:embed/>
                    <p:pic>
                      <p:nvPicPr>
                        <p:cNvPr id="0" name="图片 3281"/>
                        <p:cNvPicPr/>
                        <p:nvPr/>
                      </p:nvPicPr>
                      <p:blipFill>
                        <a:blip r:embed="rId62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104" y="2471"/>
                          <a:ext cx="270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8" name="Object 92"/>
            <p:cNvGraphicFramePr>
              <a:graphicFrameLocks noChangeAspect="1"/>
            </p:cNvGraphicFramePr>
            <p:nvPr/>
          </p:nvGraphicFramePr>
          <p:xfrm>
            <a:off x="2833" y="2471"/>
            <a:ext cx="29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24" r:id="rId63" imgW="68580" imgH="78740" progId="Equation.3">
                    <p:embed/>
                  </p:oleObj>
                </mc:Choice>
                <mc:Fallback>
                  <p:oleObj r:id="rId63" imgW="68580" imgH="78740" progId="Equation.3">
                    <p:embed/>
                    <p:pic>
                      <p:nvPicPr>
                        <p:cNvPr id="0" name="图片 3282"/>
                        <p:cNvPicPr/>
                        <p:nvPr/>
                      </p:nvPicPr>
                      <p:blipFill>
                        <a:blip r:embed="rId6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33" y="2471"/>
                          <a:ext cx="292" cy="2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69" name="Object 93"/>
            <p:cNvGraphicFramePr>
              <a:graphicFrameLocks noChangeAspect="1"/>
            </p:cNvGraphicFramePr>
            <p:nvPr/>
          </p:nvGraphicFramePr>
          <p:xfrm>
            <a:off x="2810" y="3384"/>
            <a:ext cx="295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25" r:id="rId65" imgW="68580" imgH="78740" progId="Equation.3">
                    <p:embed/>
                  </p:oleObj>
                </mc:Choice>
                <mc:Fallback>
                  <p:oleObj r:id="rId65" imgW="68580" imgH="78740" progId="Equation.3">
                    <p:embed/>
                    <p:pic>
                      <p:nvPicPr>
                        <p:cNvPr id="0" name="图片 3279"/>
                        <p:cNvPicPr/>
                        <p:nvPr/>
                      </p:nvPicPr>
                      <p:blipFill>
                        <a:blip r:embed="rId6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10" y="3384"/>
                          <a:ext cx="295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70" name="Line 94"/>
            <p:cNvSpPr/>
            <p:nvPr/>
          </p:nvSpPr>
          <p:spPr>
            <a:xfrm>
              <a:off x="3170" y="2762"/>
              <a:ext cx="6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371" name="Group 96"/>
            <p:cNvGrpSpPr/>
            <p:nvPr/>
          </p:nvGrpSpPr>
          <p:grpSpPr>
            <a:xfrm>
              <a:off x="2540" y="2762"/>
              <a:ext cx="603" cy="664"/>
              <a:chOff x="2592" y="2880"/>
              <a:chExt cx="643" cy="768"/>
            </a:xfrm>
          </p:grpSpPr>
          <p:sp>
            <p:nvSpPr>
              <p:cNvPr id="57378" name="Line 97"/>
              <p:cNvSpPr/>
              <p:nvPr/>
            </p:nvSpPr>
            <p:spPr>
              <a:xfrm flipV="1">
                <a:off x="2762" y="3168"/>
                <a:ext cx="47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79" name="Line 98"/>
              <p:cNvSpPr/>
              <p:nvPr/>
            </p:nvSpPr>
            <p:spPr>
              <a:xfrm>
                <a:off x="2762" y="3408"/>
                <a:ext cx="47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0" name="Line 99"/>
              <p:cNvSpPr/>
              <p:nvPr/>
            </p:nvSpPr>
            <p:spPr>
              <a:xfrm flipV="1">
                <a:off x="2762" y="3648"/>
                <a:ext cx="47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1" name="Line 100"/>
              <p:cNvSpPr/>
              <p:nvPr/>
            </p:nvSpPr>
            <p:spPr>
              <a:xfrm>
                <a:off x="2772" y="2880"/>
                <a:ext cx="46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2" name="Line 101"/>
              <p:cNvSpPr/>
              <p:nvPr/>
            </p:nvSpPr>
            <p:spPr>
              <a:xfrm flipH="1">
                <a:off x="2592" y="3168"/>
                <a:ext cx="271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3" name="Line 102"/>
              <p:cNvSpPr/>
              <p:nvPr/>
            </p:nvSpPr>
            <p:spPr>
              <a:xfrm flipH="1">
                <a:off x="2592" y="3408"/>
                <a:ext cx="271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4" name="Line 103"/>
              <p:cNvSpPr/>
              <p:nvPr/>
            </p:nvSpPr>
            <p:spPr>
              <a:xfrm flipH="1">
                <a:off x="2592" y="3647"/>
                <a:ext cx="271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5" name="Line 104"/>
              <p:cNvSpPr/>
              <p:nvPr/>
            </p:nvSpPr>
            <p:spPr>
              <a:xfrm flipH="1">
                <a:off x="2592" y="2880"/>
                <a:ext cx="271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57372" name="Object 105"/>
            <p:cNvGraphicFramePr>
              <a:graphicFrameLocks noChangeAspect="1"/>
            </p:cNvGraphicFramePr>
            <p:nvPr/>
          </p:nvGraphicFramePr>
          <p:xfrm>
            <a:off x="2897" y="2273"/>
            <a:ext cx="2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26" r:id="rId67" imgW="78740" imgH="78740" progId="Equation.3">
                    <p:embed/>
                  </p:oleObj>
                </mc:Choice>
                <mc:Fallback>
                  <p:oleObj r:id="rId67" imgW="78740" imgH="78740" progId="Equation.3">
                    <p:embed/>
                    <p:pic>
                      <p:nvPicPr>
                        <p:cNvPr id="0" name="图片 3283"/>
                        <p:cNvPicPr/>
                        <p:nvPr/>
                      </p:nvPicPr>
                      <p:blipFill>
                        <a:blip r:embed="rId68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97" y="2273"/>
                          <a:ext cx="228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73" name="Object 106"/>
            <p:cNvGraphicFramePr>
              <a:graphicFrameLocks noChangeAspect="1"/>
            </p:cNvGraphicFramePr>
            <p:nvPr/>
          </p:nvGraphicFramePr>
          <p:xfrm>
            <a:off x="3710" y="2305"/>
            <a:ext cx="22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27" r:id="rId69" imgW="57785" imgH="78740" progId="Equation.3">
                    <p:embed/>
                  </p:oleObj>
                </mc:Choice>
                <mc:Fallback>
                  <p:oleObj r:id="rId69" imgW="57785" imgH="78740" progId="Equation.3">
                    <p:embed/>
                    <p:pic>
                      <p:nvPicPr>
                        <p:cNvPr id="0" name="图片 3284"/>
                        <p:cNvPicPr/>
                        <p:nvPr/>
                      </p:nvPicPr>
                      <p:blipFill>
                        <a:blip r:embed="rId7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10" y="2305"/>
                          <a:ext cx="226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374" name="Object 107"/>
            <p:cNvGraphicFramePr>
              <a:graphicFrameLocks noChangeAspect="1"/>
            </p:cNvGraphicFramePr>
            <p:nvPr/>
          </p:nvGraphicFramePr>
          <p:xfrm>
            <a:off x="4789" y="2284"/>
            <a:ext cx="21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28" r:id="rId71" imgW="57785" imgH="78740" progId="Equation.3">
                    <p:embed/>
                  </p:oleObj>
                </mc:Choice>
                <mc:Fallback>
                  <p:oleObj r:id="rId71" imgW="57785" imgH="78740" progId="Equation.3">
                    <p:embed/>
                    <p:pic>
                      <p:nvPicPr>
                        <p:cNvPr id="0" name="图片 3285"/>
                        <p:cNvPicPr/>
                        <p:nvPr/>
                      </p:nvPicPr>
                      <p:blipFill>
                        <a:blip r:embed="rId72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89" y="2284"/>
                          <a:ext cx="218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75" name="Oval 108"/>
            <p:cNvSpPr/>
            <p:nvPr/>
          </p:nvSpPr>
          <p:spPr>
            <a:xfrm>
              <a:off x="3924" y="2305"/>
              <a:ext cx="236" cy="1433"/>
            </a:xfrm>
            <a:prstGeom prst="ellipse">
              <a:avLst/>
            </a:prstGeom>
            <a:solidFill>
              <a:srgbClr val="00FFCC">
                <a:alpha val="50195"/>
              </a:srgbClr>
            </a:solidFill>
            <a:ln w="19050" cap="flat" cmpd="sng">
              <a:solidFill>
                <a:srgbClr val="0066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7376" name="AutoShape 147"/>
            <p:cNvSpPr/>
            <p:nvPr/>
          </p:nvSpPr>
          <p:spPr>
            <a:xfrm>
              <a:off x="3380" y="2286"/>
              <a:ext cx="270" cy="291"/>
            </a:xfrm>
            <a:prstGeom prst="wedgeRoundRectCallout">
              <a:avLst>
                <a:gd name="adj1" fmla="val -10069"/>
                <a:gd name="adj2" fmla="val 100894"/>
                <a:gd name="adj3" fmla="val 16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</a:pPr>
              <a:endParaRPr lang="zh-CN" altLang="zh-CN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57377" name="Object 148"/>
            <p:cNvGraphicFramePr>
              <a:graphicFrameLocks noChangeAspect="1"/>
            </p:cNvGraphicFramePr>
            <p:nvPr/>
          </p:nvGraphicFramePr>
          <p:xfrm>
            <a:off x="3425" y="2328"/>
            <a:ext cx="20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29" r:id="rId73" imgW="83820" imgH="131445" progId="Equation.3">
                    <p:embed/>
                  </p:oleObj>
                </mc:Choice>
                <mc:Fallback>
                  <p:oleObj r:id="rId73" imgW="83820" imgH="131445" progId="Equation.3">
                    <p:embed/>
                    <p:pic>
                      <p:nvPicPr>
                        <p:cNvPr id="0" name="图片 3286"/>
                        <p:cNvPicPr/>
                        <p:nvPr/>
                      </p:nvPicPr>
                      <p:blipFill>
                        <a:blip r:embed="rId7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25" y="2328"/>
                          <a:ext cx="20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58" name="Rectangle 150"/>
          <p:cNvSpPr/>
          <p:nvPr/>
        </p:nvSpPr>
        <p:spPr>
          <a:xfrm>
            <a:off x="2771775" y="123825"/>
            <a:ext cx="41052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菲涅耳半波带法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2"/>
          <p:cNvSpPr/>
          <p:nvPr/>
        </p:nvSpPr>
        <p:spPr>
          <a:xfrm>
            <a:off x="457200" y="3663950"/>
            <a:ext cx="280988" cy="2193925"/>
          </a:xfrm>
          <a:prstGeom prst="leftBrace">
            <a:avLst>
              <a:gd name="adj1" fmla="val 65065"/>
              <a:gd name="adj2" fmla="val 50000"/>
            </a:avLst>
          </a:prstGeom>
          <a:noFill/>
          <a:ln w="28575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5737225" y="5654675"/>
          <a:ext cx="274478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2" r:id="rId3" imgW="1077595" imgH="199390" progId="Equation.3">
                  <p:embed/>
                </p:oleObj>
              </mc:Choice>
              <mc:Fallback>
                <p:oleObj r:id="rId3" imgW="1077595" imgH="199390" progId="Equation.3">
                  <p:embed/>
                  <p:pic>
                    <p:nvPicPr>
                      <p:cNvPr id="0" name="图片 328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37225" y="5654675"/>
                        <a:ext cx="2744788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685800" y="3810000"/>
            <a:ext cx="7010400" cy="1008063"/>
            <a:chOff x="288" y="2400"/>
            <a:chExt cx="4663" cy="624"/>
          </a:xfrm>
        </p:grpSpPr>
        <p:graphicFrame>
          <p:nvGraphicFramePr>
            <p:cNvPr id="58450" name="Object 5"/>
            <p:cNvGraphicFramePr>
              <a:graphicFrameLocks noChangeAspect="1"/>
            </p:cNvGraphicFramePr>
            <p:nvPr/>
          </p:nvGraphicFramePr>
          <p:xfrm>
            <a:off x="288" y="2400"/>
            <a:ext cx="2256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3" r:id="rId5" imgW="1487170" imgH="383540" progId="Equation.3">
                    <p:embed/>
                  </p:oleObj>
                </mc:Choice>
                <mc:Fallback>
                  <p:oleObj r:id="rId5" imgW="1487170" imgH="383540" progId="Equation.3">
                    <p:embed/>
                    <p:pic>
                      <p:nvPicPr>
                        <p:cNvPr id="0" name="图片 3288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" y="2400"/>
                          <a:ext cx="2256" cy="6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0" name="Text Box 6"/>
            <p:cNvSpPr txBox="1">
              <a:spLocks noChangeArrowheads="1"/>
            </p:cNvSpPr>
            <p:nvPr/>
          </p:nvSpPr>
          <p:spPr bwMode="auto">
            <a:xfrm>
              <a:off x="2502" y="2553"/>
              <a:ext cx="2449" cy="3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800" kern="1200" cap="none" spc="0" normalizeH="0" baseline="0" noProof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干涉相消</a:t>
              </a:r>
              <a:r>
                <a:rPr kumimoji="0" lang="en-US" altLang="zh-CN" sz="2800" kern="1200" cap="none" spc="0" normalizeH="0" baseline="0" noProof="0">
                  <a:solidFill>
                    <a:srgbClr val="0000C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zh-CN" altLang="en-US" sz="2800" kern="1200" cap="none" spc="0" normalizeH="0" baseline="0" noProof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暗纹</a:t>
              </a:r>
              <a:r>
                <a:rPr kumimoji="0" lang="en-US" altLang="zh-CN" sz="2800" kern="1200" cap="none" spc="0" normalizeH="0" baseline="0" noProof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)</a:t>
              </a:r>
              <a:endParaRPr kumimoji="0" lang="en-US" altLang="zh-CN" sz="2800" kern="1200" cap="none" spc="0" normalizeH="0" baseline="0" noProof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685800" y="4572000"/>
            <a:ext cx="8382000" cy="990600"/>
            <a:chOff x="288" y="2968"/>
            <a:chExt cx="5094" cy="632"/>
          </a:xfrm>
        </p:grpSpPr>
        <p:graphicFrame>
          <p:nvGraphicFramePr>
            <p:cNvPr id="58448" name="Object 8"/>
            <p:cNvGraphicFramePr>
              <a:graphicFrameLocks noChangeAspect="1"/>
            </p:cNvGraphicFramePr>
            <p:nvPr/>
          </p:nvGraphicFramePr>
          <p:xfrm>
            <a:off x="288" y="2968"/>
            <a:ext cx="2112" cy="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4" r:id="rId7" imgW="1355725" imgH="383540" progId="Equation.3">
                    <p:embed/>
                  </p:oleObj>
                </mc:Choice>
                <mc:Fallback>
                  <p:oleObj r:id="rId7" imgW="1355725" imgH="383540" progId="Equation.3">
                    <p:embed/>
                    <p:pic>
                      <p:nvPicPr>
                        <p:cNvPr id="0" name="图片 3289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" y="2968"/>
                          <a:ext cx="2112" cy="6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3" name="Text Box 9"/>
            <p:cNvSpPr txBox="1">
              <a:spLocks noChangeArrowheads="1"/>
            </p:cNvSpPr>
            <p:nvPr/>
          </p:nvSpPr>
          <p:spPr bwMode="auto">
            <a:xfrm>
              <a:off x="2496" y="3121"/>
              <a:ext cx="2886" cy="3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sz="2800" kern="1200" cap="none" spc="0" normalizeH="0" baseline="0" noProof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干涉加强</a:t>
              </a:r>
              <a:r>
                <a:rPr kumimoji="0" lang="en-US" altLang="zh-CN" sz="2800" kern="1200" cap="none" spc="0" normalizeH="0" baseline="0" noProof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(</a:t>
              </a:r>
              <a:r>
                <a:rPr kumimoji="0" lang="zh-CN" altLang="en-US" sz="2800" kern="1200" cap="none" spc="0" normalizeH="0" baseline="0" noProof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明纹</a:t>
              </a:r>
              <a:r>
                <a:rPr kumimoji="0" lang="en-US" altLang="zh-CN" sz="2800" kern="1200" cap="none" spc="0" normalizeH="0" baseline="0" noProof="0">
                  <a:solidFill>
                    <a:srgbClr val="CC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)</a:t>
              </a:r>
            </a:p>
          </p:txBody>
        </p:sp>
      </p:grpSp>
      <p:grpSp>
        <p:nvGrpSpPr>
          <p:cNvPr id="4" name="Group 10"/>
          <p:cNvGrpSpPr/>
          <p:nvPr/>
        </p:nvGrpSpPr>
        <p:grpSpPr>
          <a:xfrm>
            <a:off x="746125" y="5308600"/>
            <a:ext cx="5349875" cy="1016000"/>
            <a:chOff x="336" y="3456"/>
            <a:chExt cx="3408" cy="658"/>
          </a:xfrm>
        </p:grpSpPr>
        <p:graphicFrame>
          <p:nvGraphicFramePr>
            <p:cNvPr id="58446" name="Object 11"/>
            <p:cNvGraphicFramePr>
              <a:graphicFrameLocks noChangeAspect="1"/>
            </p:cNvGraphicFramePr>
            <p:nvPr/>
          </p:nvGraphicFramePr>
          <p:xfrm>
            <a:off x="336" y="3456"/>
            <a:ext cx="1248" cy="6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5" r:id="rId9" imgW="998220" imgH="462280" progId="Equation.3">
                    <p:embed/>
                  </p:oleObj>
                </mc:Choice>
                <mc:Fallback>
                  <p:oleObj r:id="rId9" imgW="998220" imgH="462280" progId="Equation.3">
                    <p:embed/>
                    <p:pic>
                      <p:nvPicPr>
                        <p:cNvPr id="0" name="图片 3290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6" y="3456"/>
                          <a:ext cx="1248" cy="6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47" name="Text Box 12"/>
            <p:cNvSpPr txBox="1"/>
            <p:nvPr/>
          </p:nvSpPr>
          <p:spPr>
            <a:xfrm>
              <a:off x="1632" y="3658"/>
              <a:ext cx="211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</a:t>
              </a:r>
              <a:r>
                <a:rPr lang="zh-CN" altLang="en-US" sz="28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介于</a:t>
              </a:r>
              <a:r>
                <a:rPr lang="zh-CN" altLang="en-US" sz="2800" dirty="0">
                  <a:solidFill>
                    <a:srgbClr val="CC0000"/>
                  </a:solidFill>
                  <a:latin typeface="Times New Roman" panose="02020603050405020304" pitchFamily="18" charset="0"/>
                </a:rPr>
                <a:t>明</a:t>
              </a:r>
              <a:r>
                <a:rPr lang="zh-CN" altLang="en-US" sz="2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暗</a:t>
              </a:r>
              <a:r>
                <a:rPr lang="zh-CN" altLang="en-US" sz="28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之间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5" name="Group 81"/>
          <p:cNvGrpSpPr/>
          <p:nvPr/>
        </p:nvGrpSpPr>
        <p:grpSpPr>
          <a:xfrm>
            <a:off x="6956425" y="4006850"/>
            <a:ext cx="2263775" cy="585788"/>
            <a:chOff x="4190" y="2524"/>
            <a:chExt cx="1426" cy="369"/>
          </a:xfrm>
        </p:grpSpPr>
        <p:sp>
          <p:nvSpPr>
            <p:cNvPr id="36933" name="Rectangle 69"/>
            <p:cNvSpPr>
              <a:spLocks noChangeArrowheads="1"/>
            </p:cNvSpPr>
            <p:nvPr/>
          </p:nvSpPr>
          <p:spPr bwMode="auto">
            <a:xfrm>
              <a:off x="4190" y="2524"/>
              <a:ext cx="1330" cy="356"/>
            </a:xfrm>
            <a:prstGeom prst="rect">
              <a:avLst/>
            </a:prstGeom>
            <a:gradFill rotWithShape="0">
              <a:gsLst>
                <a:gs pos="0">
                  <a:srgbClr val="D6ECEE"/>
                </a:gs>
                <a:gs pos="50000">
                  <a:schemeClr val="bg1"/>
                </a:gs>
                <a:gs pos="100000">
                  <a:srgbClr val="D6ECEE"/>
                </a:gs>
              </a:gsLst>
              <a:lin ang="5400000" scaled="1"/>
            </a:gradFill>
            <a:ln w="9525">
              <a:solidFill>
                <a:srgbClr val="0000FF"/>
              </a:solidFill>
              <a:miter lim="800000"/>
              <a:tailEnd type="none" w="sm" len="lg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8443" name="Group 80"/>
            <p:cNvGrpSpPr/>
            <p:nvPr/>
          </p:nvGrpSpPr>
          <p:grpSpPr>
            <a:xfrm>
              <a:off x="4196" y="2534"/>
              <a:ext cx="1420" cy="359"/>
              <a:chOff x="4196" y="2534"/>
              <a:chExt cx="1420" cy="359"/>
            </a:xfrm>
          </p:grpSpPr>
          <p:sp>
            <p:nvSpPr>
              <p:cNvPr id="58444" name="Text Box 70"/>
              <p:cNvSpPr txBox="1"/>
              <p:nvPr/>
            </p:nvSpPr>
            <p:spPr>
              <a:xfrm>
                <a:off x="4196" y="2566"/>
                <a:ext cx="1420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>
                    <a:latin typeface="Arial" panose="020B0604020202020204" pitchFamily="34" charset="0"/>
                  </a:rPr>
                  <a:t>     </a:t>
                </a:r>
                <a:r>
                  <a:rPr lang="zh-CN" altLang="en-US" sz="2800" dirty="0">
                    <a:solidFill>
                      <a:srgbClr val="003366"/>
                    </a:solidFill>
                    <a:latin typeface="Arial" panose="020B0604020202020204" pitchFamily="34" charset="0"/>
                  </a:rPr>
                  <a:t>个半波带</a:t>
                </a:r>
              </a:p>
            </p:txBody>
          </p:sp>
          <p:graphicFrame>
            <p:nvGraphicFramePr>
              <p:cNvPr id="58445" name="Object 71"/>
              <p:cNvGraphicFramePr>
                <a:graphicFrameLocks noChangeAspect="1"/>
              </p:cNvGraphicFramePr>
              <p:nvPr/>
            </p:nvGraphicFramePr>
            <p:xfrm>
              <a:off x="4202" y="2534"/>
              <a:ext cx="406" cy="3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76" r:id="rId11" imgW="105410" imgH="83820" progId="Equation.3">
                      <p:embed/>
                    </p:oleObj>
                  </mc:Choice>
                  <mc:Fallback>
                    <p:oleObj r:id="rId11" imgW="105410" imgH="83820" progId="Equation.3">
                      <p:embed/>
                      <p:pic>
                        <p:nvPicPr>
                          <p:cNvPr id="0" name="图片 3291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202" y="2534"/>
                            <a:ext cx="406" cy="34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82"/>
          <p:cNvGrpSpPr/>
          <p:nvPr/>
        </p:nvGrpSpPr>
        <p:grpSpPr>
          <a:xfrm>
            <a:off x="6745288" y="4692650"/>
            <a:ext cx="2322512" cy="874713"/>
            <a:chOff x="4057" y="2956"/>
            <a:chExt cx="1463" cy="551"/>
          </a:xfrm>
        </p:grpSpPr>
        <p:sp>
          <p:nvSpPr>
            <p:cNvPr id="58439" name="Rectangle 73"/>
            <p:cNvSpPr/>
            <p:nvPr/>
          </p:nvSpPr>
          <p:spPr>
            <a:xfrm>
              <a:off x="4190" y="2956"/>
              <a:ext cx="1330" cy="548"/>
            </a:xfrm>
            <a:prstGeom prst="rect">
              <a:avLst/>
            </a:prstGeom>
            <a:gradFill rotWithShape="0">
              <a:gsLst>
                <a:gs pos="0">
                  <a:srgbClr val="FFEBEB"/>
                </a:gs>
                <a:gs pos="50000">
                  <a:srgbClr val="FFFFFF"/>
                </a:gs>
                <a:gs pos="100000">
                  <a:srgbClr val="FFEBEB"/>
                </a:gs>
              </a:gsLst>
              <a:lin ang="5400000" scaled="1"/>
              <a:tileRect/>
            </a:gra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8440" name="Text Box 74"/>
            <p:cNvSpPr txBox="1"/>
            <p:nvPr/>
          </p:nvSpPr>
          <p:spPr>
            <a:xfrm>
              <a:off x="4057" y="3181"/>
              <a:ext cx="1419" cy="3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latin typeface="Arial" panose="020B0604020202020204" pitchFamily="34" charset="0"/>
                </a:rPr>
                <a:t>     </a:t>
              </a:r>
              <a:r>
                <a:rPr lang="zh-CN" altLang="en-US" sz="2800" dirty="0">
                  <a:solidFill>
                    <a:srgbClr val="003366"/>
                  </a:solidFill>
                  <a:latin typeface="Arial" panose="020B0604020202020204" pitchFamily="34" charset="0"/>
                </a:rPr>
                <a:t>个半波带</a:t>
              </a:r>
            </a:p>
          </p:txBody>
        </p:sp>
        <p:graphicFrame>
          <p:nvGraphicFramePr>
            <p:cNvPr id="58441" name="Object 75"/>
            <p:cNvGraphicFramePr>
              <a:graphicFrameLocks noChangeAspect="1"/>
            </p:cNvGraphicFramePr>
            <p:nvPr/>
          </p:nvGraphicFramePr>
          <p:xfrm>
            <a:off x="4424" y="2956"/>
            <a:ext cx="698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7" r:id="rId13" imgW="236220" imgH="83820" progId="Equation.3">
                    <p:embed/>
                  </p:oleObj>
                </mc:Choice>
                <mc:Fallback>
                  <p:oleObj r:id="rId13" imgW="236220" imgH="83820" progId="Equation.3">
                    <p:embed/>
                    <p:pic>
                      <p:nvPicPr>
                        <p:cNvPr id="0" name="图片 3292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424" y="2956"/>
                          <a:ext cx="698" cy="3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76"/>
          <p:cNvGrpSpPr/>
          <p:nvPr/>
        </p:nvGrpSpPr>
        <p:grpSpPr>
          <a:xfrm>
            <a:off x="762000" y="3505200"/>
            <a:ext cx="5638800" cy="519113"/>
            <a:chOff x="336" y="2160"/>
            <a:chExt cx="4127" cy="358"/>
          </a:xfrm>
        </p:grpSpPr>
        <p:graphicFrame>
          <p:nvGraphicFramePr>
            <p:cNvPr id="58437" name="Object 77"/>
            <p:cNvGraphicFramePr>
              <a:graphicFrameLocks noChangeAspect="1"/>
            </p:cNvGraphicFramePr>
            <p:nvPr/>
          </p:nvGraphicFramePr>
          <p:xfrm>
            <a:off x="336" y="2169"/>
            <a:ext cx="120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8" r:id="rId15" imgW="814705" imgH="157480" progId="Equation.3">
                    <p:embed/>
                  </p:oleObj>
                </mc:Choice>
                <mc:Fallback>
                  <p:oleObj r:id="rId15" imgW="814705" imgH="157480" progId="Equation.3">
                    <p:embed/>
                    <p:pic>
                      <p:nvPicPr>
                        <p:cNvPr id="0" name="图片 3293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36" y="2169"/>
                          <a:ext cx="120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38" name="Text Box 78"/>
            <p:cNvSpPr txBox="1"/>
            <p:nvPr/>
          </p:nvSpPr>
          <p:spPr>
            <a:xfrm>
              <a:off x="2500" y="2160"/>
              <a:ext cx="1963" cy="3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Arial" panose="020B0604020202020204" pitchFamily="34" charset="0"/>
                </a:rPr>
                <a:t>中央明纹中心</a:t>
              </a:r>
            </a:p>
          </p:txBody>
        </p:sp>
      </p:grpSp>
      <p:grpSp>
        <p:nvGrpSpPr>
          <p:cNvPr id="58378" name="Group 140"/>
          <p:cNvGrpSpPr/>
          <p:nvPr/>
        </p:nvGrpSpPr>
        <p:grpSpPr>
          <a:xfrm>
            <a:off x="879475" y="914400"/>
            <a:ext cx="7578725" cy="2514600"/>
            <a:chOff x="554" y="576"/>
            <a:chExt cx="4774" cy="1584"/>
          </a:xfrm>
        </p:grpSpPr>
        <p:sp>
          <p:nvSpPr>
            <p:cNvPr id="58380" name="Rectangle 14"/>
            <p:cNvSpPr/>
            <p:nvPr/>
          </p:nvSpPr>
          <p:spPr>
            <a:xfrm>
              <a:off x="554" y="576"/>
              <a:ext cx="4774" cy="158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58381" name="Object 63"/>
            <p:cNvGraphicFramePr>
              <a:graphicFrameLocks noChangeAspect="1"/>
            </p:cNvGraphicFramePr>
            <p:nvPr/>
          </p:nvGraphicFramePr>
          <p:xfrm>
            <a:off x="3662" y="720"/>
            <a:ext cx="1371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79" r:id="rId17" imgW="504190" imgH="83820" progId="Equation.3">
                    <p:embed/>
                  </p:oleObj>
                </mc:Choice>
                <mc:Fallback>
                  <p:oleObj r:id="rId17" imgW="504190" imgH="83820" progId="Equation.3">
                    <p:embed/>
                    <p:pic>
                      <p:nvPicPr>
                        <p:cNvPr id="0" name="图片 3294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62" y="720"/>
                          <a:ext cx="1371" cy="3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82" name="Object 64"/>
            <p:cNvGraphicFramePr>
              <a:graphicFrameLocks noChangeAspect="1"/>
            </p:cNvGraphicFramePr>
            <p:nvPr/>
          </p:nvGraphicFramePr>
          <p:xfrm>
            <a:off x="4102" y="1013"/>
            <a:ext cx="754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0" r:id="rId19" imgW="556895" imgH="462280" progId="Equation.3">
                    <p:embed/>
                  </p:oleObj>
                </mc:Choice>
                <mc:Fallback>
                  <p:oleObj r:id="rId19" imgW="556895" imgH="462280" progId="Equation.3">
                    <p:embed/>
                    <p:pic>
                      <p:nvPicPr>
                        <p:cNvPr id="0" name="图片 3295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02" y="1013"/>
                          <a:ext cx="754" cy="6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8383" name="Group 65"/>
            <p:cNvGrpSpPr/>
            <p:nvPr/>
          </p:nvGrpSpPr>
          <p:grpSpPr>
            <a:xfrm>
              <a:off x="3481" y="1703"/>
              <a:ext cx="1774" cy="327"/>
              <a:chOff x="3648" y="1728"/>
              <a:chExt cx="1920" cy="363"/>
            </a:xfrm>
          </p:grpSpPr>
          <p:sp>
            <p:nvSpPr>
              <p:cNvPr id="58435" name="Text Box 66"/>
              <p:cNvSpPr txBox="1"/>
              <p:nvPr/>
            </p:nvSpPr>
            <p:spPr>
              <a:xfrm>
                <a:off x="3648" y="1728"/>
                <a:ext cx="1920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03366"/>
                    </a:solidFill>
                    <a:latin typeface="Arial" panose="020B0604020202020204" pitchFamily="34" charset="0"/>
                  </a:rPr>
                  <a:t>（     个半波带）</a:t>
                </a:r>
              </a:p>
            </p:txBody>
          </p:sp>
          <p:graphicFrame>
            <p:nvGraphicFramePr>
              <p:cNvPr id="58436" name="Object 67"/>
              <p:cNvGraphicFramePr>
                <a:graphicFrameLocks noChangeAspect="1"/>
              </p:cNvGraphicFramePr>
              <p:nvPr/>
            </p:nvGraphicFramePr>
            <p:xfrm>
              <a:off x="3984" y="1728"/>
              <a:ext cx="210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81" r:id="rId21" imgW="105410" imgH="157480" progId="Equation.3">
                      <p:embed/>
                    </p:oleObj>
                  </mc:Choice>
                  <mc:Fallback>
                    <p:oleObj r:id="rId21" imgW="105410" imgH="157480" progId="Equation.3">
                      <p:embed/>
                      <p:pic>
                        <p:nvPicPr>
                          <p:cNvPr id="0" name="图片 3296"/>
                          <p:cNvPicPr/>
                          <p:nvPr/>
                        </p:nvPicPr>
                        <p:blipFill>
                          <a:blip r:embed="rId22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984" y="1728"/>
                            <a:ext cx="210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8384" name="Object 83"/>
            <p:cNvGraphicFramePr>
              <a:graphicFrameLocks noChangeAspect="1"/>
            </p:cNvGraphicFramePr>
            <p:nvPr/>
          </p:nvGraphicFramePr>
          <p:xfrm>
            <a:off x="1058" y="1088"/>
            <a:ext cx="22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2" r:id="rId23" imgW="83820" imgH="110490" progId="Equation.3">
                    <p:embed/>
                  </p:oleObj>
                </mc:Choice>
                <mc:Fallback>
                  <p:oleObj r:id="rId23" imgW="83820" imgH="110490" progId="Equation.3">
                    <p:embed/>
                    <p:pic>
                      <p:nvPicPr>
                        <p:cNvPr id="0" name="图片 3297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8" y="1088"/>
                          <a:ext cx="228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85" name="Object 84"/>
            <p:cNvGraphicFramePr>
              <a:graphicFrameLocks noChangeAspect="1"/>
            </p:cNvGraphicFramePr>
            <p:nvPr/>
          </p:nvGraphicFramePr>
          <p:xfrm>
            <a:off x="1044" y="1492"/>
            <a:ext cx="226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3" r:id="rId25" imgW="94615" imgH="110490" progId="Equation.3">
                    <p:embed/>
                  </p:oleObj>
                </mc:Choice>
                <mc:Fallback>
                  <p:oleObj r:id="rId25" imgW="94615" imgH="110490" progId="Equation.3">
                    <p:embed/>
                    <p:pic>
                      <p:nvPicPr>
                        <p:cNvPr id="0" name="图片 3298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44" y="1492"/>
                          <a:ext cx="226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86" name="Object 85"/>
            <p:cNvGraphicFramePr>
              <a:graphicFrameLocks noChangeAspect="1"/>
            </p:cNvGraphicFramePr>
            <p:nvPr/>
          </p:nvGraphicFramePr>
          <p:xfrm>
            <a:off x="1540" y="1443"/>
            <a:ext cx="23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4" r:id="rId27" imgW="68580" imgH="83820" progId="Equation.3">
                    <p:embed/>
                  </p:oleObj>
                </mc:Choice>
                <mc:Fallback>
                  <p:oleObj r:id="rId27" imgW="68580" imgH="83820" progId="Equation.3">
                    <p:embed/>
                    <p:pic>
                      <p:nvPicPr>
                        <p:cNvPr id="0" name="图片 3299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540" y="1443"/>
                          <a:ext cx="231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8387" name="Group 86"/>
            <p:cNvGrpSpPr/>
            <p:nvPr/>
          </p:nvGrpSpPr>
          <p:grpSpPr>
            <a:xfrm>
              <a:off x="1300" y="1081"/>
              <a:ext cx="796" cy="1041"/>
              <a:chOff x="3170" y="2761"/>
              <a:chExt cx="796" cy="1041"/>
            </a:xfrm>
          </p:grpSpPr>
          <p:grpSp>
            <p:nvGrpSpPr>
              <p:cNvPr id="58422" name="Group 87"/>
              <p:cNvGrpSpPr/>
              <p:nvPr/>
            </p:nvGrpSpPr>
            <p:grpSpPr>
              <a:xfrm>
                <a:off x="3170" y="2761"/>
                <a:ext cx="431" cy="1041"/>
                <a:chOff x="3216" y="2880"/>
                <a:chExt cx="460" cy="1204"/>
              </a:xfrm>
            </p:grpSpPr>
            <p:sp>
              <p:nvSpPr>
                <p:cNvPr id="58427" name="Freeform 88" descr="浅色上对角线"/>
                <p:cNvSpPr/>
                <p:nvPr/>
              </p:nvSpPr>
              <p:spPr>
                <a:xfrm>
                  <a:off x="3230" y="3388"/>
                  <a:ext cx="280" cy="686"/>
                </a:xfrm>
                <a:custGeom>
                  <a:avLst/>
                  <a:gdLst>
                    <a:gd name="txL" fmla="*/ 0 w 280"/>
                    <a:gd name="txT" fmla="*/ 0 h 686"/>
                    <a:gd name="txR" fmla="*/ 280 w 280"/>
                    <a:gd name="txB" fmla="*/ 686 h 686"/>
                  </a:gdLst>
                  <a:ahLst/>
                  <a:cxnLst>
                    <a:cxn ang="0">
                      <a:pos x="0" y="0"/>
                    </a:cxn>
                    <a:cxn ang="0">
                      <a:pos x="280" y="668"/>
                    </a:cxn>
                    <a:cxn ang="0">
                      <a:pos x="200" y="686"/>
                    </a:cxn>
                    <a:cxn ang="0">
                      <a:pos x="20" y="244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80" h="686">
                      <a:moveTo>
                        <a:pt x="0" y="0"/>
                      </a:moveTo>
                      <a:lnTo>
                        <a:pt x="280" y="668"/>
                      </a:lnTo>
                      <a:lnTo>
                        <a:pt x="200" y="686"/>
                      </a:lnTo>
                      <a:lnTo>
                        <a:pt x="20" y="2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29"/>
                </a:blip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28" name="Freeform 89" descr="浅色上对角线"/>
                <p:cNvSpPr/>
                <p:nvPr/>
              </p:nvSpPr>
              <p:spPr>
                <a:xfrm>
                  <a:off x="3216" y="2888"/>
                  <a:ext cx="460" cy="1124"/>
                </a:xfrm>
                <a:custGeom>
                  <a:avLst/>
                  <a:gdLst>
                    <a:gd name="txL" fmla="*/ 0 w 460"/>
                    <a:gd name="txT" fmla="*/ 0 h 1124"/>
                    <a:gd name="txR" fmla="*/ 460 w 460"/>
                    <a:gd name="txB" fmla="*/ 1124 h 1124"/>
                  </a:gdLst>
                  <a:ahLst/>
                  <a:cxnLst>
                    <a:cxn ang="0">
                      <a:pos x="12" y="0"/>
                    </a:cxn>
                    <a:cxn ang="0">
                      <a:pos x="460" y="1084"/>
                    </a:cxn>
                    <a:cxn ang="0">
                      <a:pos x="380" y="1124"/>
                    </a:cxn>
                    <a:cxn ang="0">
                      <a:pos x="0" y="259"/>
                    </a:cxn>
                    <a:cxn ang="0">
                      <a:pos x="12" y="0"/>
                    </a:cxn>
                  </a:cxnLst>
                  <a:rect l="txL" t="txT" r="txR" b="txB"/>
                  <a:pathLst>
                    <a:path w="460" h="1124">
                      <a:moveTo>
                        <a:pt x="12" y="0"/>
                      </a:moveTo>
                      <a:lnTo>
                        <a:pt x="460" y="1084"/>
                      </a:lnTo>
                      <a:lnTo>
                        <a:pt x="380" y="1124"/>
                      </a:lnTo>
                      <a:lnTo>
                        <a:pt x="0" y="25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blipFill rotWithShape="0">
                  <a:blip r:embed="rId29"/>
                </a:blipFill>
                <a:ln w="1270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29" name="Freeform 90" descr="浅色横线"/>
                <p:cNvSpPr/>
                <p:nvPr/>
              </p:nvSpPr>
              <p:spPr>
                <a:xfrm>
                  <a:off x="3230" y="3152"/>
                  <a:ext cx="376" cy="892"/>
                </a:xfrm>
                <a:custGeom>
                  <a:avLst/>
                  <a:gdLst>
                    <a:gd name="txL" fmla="*/ 0 w 376"/>
                    <a:gd name="txT" fmla="*/ 0 h 892"/>
                    <a:gd name="txR" fmla="*/ 376 w 376"/>
                    <a:gd name="txB" fmla="*/ 892 h 892"/>
                  </a:gdLst>
                  <a:ahLst/>
                  <a:cxnLst>
                    <a:cxn ang="0">
                      <a:pos x="0" y="0"/>
                    </a:cxn>
                    <a:cxn ang="0">
                      <a:pos x="376" y="864"/>
                    </a:cxn>
                    <a:cxn ang="0">
                      <a:pos x="274" y="892"/>
                    </a:cxn>
                    <a:cxn ang="0">
                      <a:pos x="48" y="344"/>
                    </a:cxn>
                    <a:cxn ang="0">
                      <a:pos x="0" y="24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376" h="892">
                      <a:moveTo>
                        <a:pt x="0" y="0"/>
                      </a:moveTo>
                      <a:lnTo>
                        <a:pt x="376" y="864"/>
                      </a:lnTo>
                      <a:lnTo>
                        <a:pt x="274" y="892"/>
                      </a:lnTo>
                      <a:lnTo>
                        <a:pt x="48" y="344"/>
                      </a:lnTo>
                      <a:lnTo>
                        <a:pt x="0" y="2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30"/>
                </a:blip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58430" name="Group 91"/>
                <p:cNvGrpSpPr/>
                <p:nvPr/>
              </p:nvGrpSpPr>
              <p:grpSpPr>
                <a:xfrm>
                  <a:off x="3216" y="2880"/>
                  <a:ext cx="460" cy="1204"/>
                  <a:chOff x="3236" y="2880"/>
                  <a:chExt cx="460" cy="1204"/>
                </a:xfrm>
              </p:grpSpPr>
              <p:sp>
                <p:nvSpPr>
                  <p:cNvPr id="58431" name="Freeform 92" descr="宽上对角线"/>
                  <p:cNvSpPr/>
                  <p:nvPr/>
                </p:nvSpPr>
                <p:spPr>
                  <a:xfrm>
                    <a:off x="3252" y="3624"/>
                    <a:ext cx="188" cy="460"/>
                  </a:xfrm>
                  <a:custGeom>
                    <a:avLst/>
                    <a:gdLst>
                      <a:gd name="txL" fmla="*/ 0 w 188"/>
                      <a:gd name="txT" fmla="*/ 0 h 460"/>
                      <a:gd name="txR" fmla="*/ 188 w 188"/>
                      <a:gd name="txB" fmla="*/ 460 h 46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88" y="460"/>
                      </a:cxn>
                    </a:cxnLst>
                    <a:rect l="txL" t="txT" r="txR" b="txB"/>
                    <a:pathLst>
                      <a:path w="188" h="460">
                        <a:moveTo>
                          <a:pt x="0" y="0"/>
                        </a:moveTo>
                        <a:lnTo>
                          <a:pt x="188" y="460"/>
                        </a:lnTo>
                      </a:path>
                    </a:pathLst>
                  </a:custGeom>
                  <a:blipFill rotWithShape="0">
                    <a:blip r:embed="rId31"/>
                  </a:blipFill>
                  <a:ln w="1905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432" name="Freeform 93" descr="宽上对角线"/>
                  <p:cNvSpPr/>
                  <p:nvPr/>
                </p:nvSpPr>
                <p:spPr>
                  <a:xfrm>
                    <a:off x="3252" y="2880"/>
                    <a:ext cx="444" cy="1092"/>
                  </a:xfrm>
                  <a:custGeom>
                    <a:avLst/>
                    <a:gdLst>
                      <a:gd name="txL" fmla="*/ 0 w 444"/>
                      <a:gd name="txT" fmla="*/ 0 h 1092"/>
                      <a:gd name="txR" fmla="*/ 444 w 444"/>
                      <a:gd name="txB" fmla="*/ 1092 h 109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44" y="1092"/>
                      </a:cxn>
                    </a:cxnLst>
                    <a:rect l="txL" t="txT" r="txR" b="txB"/>
                    <a:pathLst>
                      <a:path w="444" h="1092">
                        <a:moveTo>
                          <a:pt x="0" y="0"/>
                        </a:moveTo>
                        <a:lnTo>
                          <a:pt x="444" y="1092"/>
                        </a:lnTo>
                      </a:path>
                    </a:pathLst>
                  </a:custGeom>
                  <a:blipFill rotWithShape="0">
                    <a:blip r:embed="rId31"/>
                  </a:blipFill>
                  <a:ln w="1905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433" name="Freeform 94" descr="宽上对角线"/>
                  <p:cNvSpPr/>
                  <p:nvPr/>
                </p:nvSpPr>
                <p:spPr>
                  <a:xfrm>
                    <a:off x="3236" y="3122"/>
                    <a:ext cx="380" cy="890"/>
                  </a:xfrm>
                  <a:custGeom>
                    <a:avLst/>
                    <a:gdLst>
                      <a:gd name="txL" fmla="*/ 0 w 380"/>
                      <a:gd name="txT" fmla="*/ 0 h 890"/>
                      <a:gd name="txR" fmla="*/ 380 w 380"/>
                      <a:gd name="txB" fmla="*/ 890 h 89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380" y="890"/>
                      </a:cxn>
                    </a:cxnLst>
                    <a:rect l="txL" t="txT" r="txR" b="txB"/>
                    <a:pathLst>
                      <a:path w="380" h="890">
                        <a:moveTo>
                          <a:pt x="0" y="0"/>
                        </a:moveTo>
                        <a:lnTo>
                          <a:pt x="380" y="890"/>
                        </a:lnTo>
                      </a:path>
                    </a:pathLst>
                  </a:custGeom>
                  <a:blipFill rotWithShape="0">
                    <a:blip r:embed="rId31"/>
                  </a:blipFill>
                  <a:ln w="1905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8434" name="Freeform 95" descr="宽上对角线"/>
                  <p:cNvSpPr/>
                  <p:nvPr/>
                </p:nvSpPr>
                <p:spPr>
                  <a:xfrm>
                    <a:off x="3236" y="3374"/>
                    <a:ext cx="280" cy="676"/>
                  </a:xfrm>
                  <a:custGeom>
                    <a:avLst/>
                    <a:gdLst>
                      <a:gd name="txL" fmla="*/ 0 w 280"/>
                      <a:gd name="txT" fmla="*/ 0 h 676"/>
                      <a:gd name="txR" fmla="*/ 280 w 280"/>
                      <a:gd name="txB" fmla="*/ 676 h 67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280" y="676"/>
                      </a:cxn>
                    </a:cxnLst>
                    <a:rect l="txL" t="txT" r="txR" b="txB"/>
                    <a:pathLst>
                      <a:path w="280" h="676">
                        <a:moveTo>
                          <a:pt x="0" y="0"/>
                        </a:moveTo>
                        <a:lnTo>
                          <a:pt x="280" y="676"/>
                        </a:lnTo>
                      </a:path>
                    </a:pathLst>
                  </a:custGeom>
                  <a:blipFill rotWithShape="0">
                    <a:blip r:embed="rId31"/>
                  </a:blipFill>
                  <a:ln w="19050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58423" name="Group 96"/>
              <p:cNvGrpSpPr/>
              <p:nvPr/>
            </p:nvGrpSpPr>
            <p:grpSpPr>
              <a:xfrm>
                <a:off x="3198" y="3504"/>
                <a:ext cx="594" cy="159"/>
                <a:chOff x="3198" y="3454"/>
                <a:chExt cx="594" cy="209"/>
              </a:xfrm>
            </p:grpSpPr>
            <p:sp>
              <p:nvSpPr>
                <p:cNvPr id="58425" name="Freeform 97"/>
                <p:cNvSpPr/>
                <p:nvPr/>
              </p:nvSpPr>
              <p:spPr>
                <a:xfrm>
                  <a:off x="3198" y="3567"/>
                  <a:ext cx="272" cy="96"/>
                </a:xfrm>
                <a:custGeom>
                  <a:avLst/>
                  <a:gdLst>
                    <a:gd name="txL" fmla="*/ 0 w 340"/>
                    <a:gd name="txT" fmla="*/ 0 h 132"/>
                    <a:gd name="txR" fmla="*/ 340 w 340"/>
                    <a:gd name="txB" fmla="*/ 132 h 132"/>
                  </a:gdLst>
                  <a:ahLst/>
                  <a:cxnLst>
                    <a:cxn ang="0">
                      <a:pos x="0" y="8"/>
                    </a:cxn>
                    <a:cxn ang="0">
                      <a:pos x="46" y="0"/>
                    </a:cxn>
                  </a:cxnLst>
                  <a:rect l="txL" t="txT" r="txR" b="txB"/>
                  <a:pathLst>
                    <a:path w="340" h="132">
                      <a:moveTo>
                        <a:pt x="0" y="132"/>
                      </a:moveTo>
                      <a:lnTo>
                        <a:pt x="340" y="0"/>
                      </a:lnTo>
                    </a:path>
                  </a:pathLst>
                </a:custGeom>
                <a:noFill/>
                <a:ln w="381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426" name="Freeform 98"/>
                <p:cNvSpPr/>
                <p:nvPr/>
              </p:nvSpPr>
              <p:spPr>
                <a:xfrm>
                  <a:off x="3519" y="3454"/>
                  <a:ext cx="273" cy="98"/>
                </a:xfrm>
                <a:custGeom>
                  <a:avLst/>
                  <a:gdLst>
                    <a:gd name="txL" fmla="*/ 0 w 308"/>
                    <a:gd name="txT" fmla="*/ 0 h 120"/>
                    <a:gd name="txR" fmla="*/ 308 w 308"/>
                    <a:gd name="txB" fmla="*/ 120 h 120"/>
                  </a:gdLst>
                  <a:ahLst/>
                  <a:cxnLst>
                    <a:cxn ang="0">
                      <a:pos x="105" y="0"/>
                    </a:cxn>
                    <a:cxn ang="0">
                      <a:pos x="0" y="20"/>
                    </a:cxn>
                  </a:cxnLst>
                  <a:rect l="txL" t="txT" r="txR" b="txB"/>
                  <a:pathLst>
                    <a:path w="308" h="120">
                      <a:moveTo>
                        <a:pt x="308" y="0"/>
                      </a:moveTo>
                      <a:lnTo>
                        <a:pt x="0" y="120"/>
                      </a:lnTo>
                    </a:path>
                  </a:pathLst>
                </a:custGeom>
                <a:noFill/>
                <a:ln w="38100" cap="flat" cmpd="sng">
                  <a:solidFill>
                    <a:srgbClr val="FF0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58424" name="Object 99"/>
              <p:cNvGraphicFramePr>
                <a:graphicFrameLocks noChangeAspect="1"/>
              </p:cNvGraphicFramePr>
              <p:nvPr/>
            </p:nvGraphicFramePr>
            <p:xfrm>
              <a:off x="3600" y="3595"/>
              <a:ext cx="366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85" r:id="rId32" imgW="173355" imgH="83820" progId="Equation.3">
                      <p:embed/>
                    </p:oleObj>
                  </mc:Choice>
                  <mc:Fallback>
                    <p:oleObj r:id="rId32" imgW="173355" imgH="83820" progId="Equation.3">
                      <p:embed/>
                      <p:pic>
                        <p:nvPicPr>
                          <p:cNvPr id="0" name="图片 3300"/>
                          <p:cNvPicPr/>
                          <p:nvPr/>
                        </p:nvPicPr>
                        <p:blipFill>
                          <a:blip r:embed="rId33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600" y="3595"/>
                            <a:ext cx="366" cy="1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8388" name="Group 100"/>
            <p:cNvGrpSpPr/>
            <p:nvPr/>
          </p:nvGrpSpPr>
          <p:grpSpPr>
            <a:xfrm rot="-83261">
              <a:off x="1254" y="832"/>
              <a:ext cx="1036" cy="912"/>
              <a:chOff x="3120" y="2688"/>
              <a:chExt cx="912" cy="1008"/>
            </a:xfrm>
          </p:grpSpPr>
          <p:sp>
            <p:nvSpPr>
              <p:cNvPr id="58418" name="Line 101"/>
              <p:cNvSpPr/>
              <p:nvPr/>
            </p:nvSpPr>
            <p:spPr>
              <a:xfrm flipV="1">
                <a:off x="3120" y="2688"/>
                <a:ext cx="864" cy="272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19" name="Line 102"/>
              <p:cNvSpPr/>
              <p:nvPr/>
            </p:nvSpPr>
            <p:spPr>
              <a:xfrm flipV="1">
                <a:off x="3120" y="2928"/>
                <a:ext cx="912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20" name="Line 103"/>
              <p:cNvSpPr/>
              <p:nvPr/>
            </p:nvSpPr>
            <p:spPr>
              <a:xfrm flipV="1">
                <a:off x="3120" y="3168"/>
                <a:ext cx="912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21" name="Line 104"/>
              <p:cNvSpPr/>
              <p:nvPr/>
            </p:nvSpPr>
            <p:spPr>
              <a:xfrm flipV="1">
                <a:off x="3120" y="3408"/>
                <a:ext cx="912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8389" name="Group 105"/>
            <p:cNvGrpSpPr/>
            <p:nvPr/>
          </p:nvGrpSpPr>
          <p:grpSpPr>
            <a:xfrm>
              <a:off x="2245" y="833"/>
              <a:ext cx="989" cy="622"/>
              <a:chOff x="4224" y="2592"/>
              <a:chExt cx="1056" cy="720"/>
            </a:xfrm>
          </p:grpSpPr>
          <p:sp>
            <p:nvSpPr>
              <p:cNvPr id="58414" name="Line 106"/>
              <p:cNvSpPr/>
              <p:nvPr/>
            </p:nvSpPr>
            <p:spPr>
              <a:xfrm>
                <a:off x="4272" y="2832"/>
                <a:ext cx="1008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15" name="Line 107"/>
              <p:cNvSpPr/>
              <p:nvPr/>
            </p:nvSpPr>
            <p:spPr>
              <a:xfrm flipV="1">
                <a:off x="4272" y="2832"/>
                <a:ext cx="1008" cy="233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16" name="Line 108"/>
              <p:cNvSpPr/>
              <p:nvPr/>
            </p:nvSpPr>
            <p:spPr>
              <a:xfrm>
                <a:off x="4224" y="2592"/>
                <a:ext cx="1056" cy="24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17" name="Line 109"/>
              <p:cNvSpPr/>
              <p:nvPr/>
            </p:nvSpPr>
            <p:spPr>
              <a:xfrm flipV="1">
                <a:off x="4272" y="2832"/>
                <a:ext cx="1008" cy="48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390" name="Line 110"/>
            <p:cNvSpPr/>
            <p:nvPr/>
          </p:nvSpPr>
          <p:spPr>
            <a:xfrm>
              <a:off x="760" y="1414"/>
              <a:ext cx="27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lgDashDot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75" name="Rectangle 111"/>
            <p:cNvSpPr>
              <a:spLocks noChangeArrowheads="1"/>
            </p:cNvSpPr>
            <p:nvPr/>
          </p:nvSpPr>
          <p:spPr bwMode="auto">
            <a:xfrm>
              <a:off x="3218" y="584"/>
              <a:ext cx="32" cy="153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8392" name="Object 112"/>
            <p:cNvGraphicFramePr>
              <a:graphicFrameLocks noChangeAspect="1"/>
            </p:cNvGraphicFramePr>
            <p:nvPr/>
          </p:nvGraphicFramePr>
          <p:xfrm>
            <a:off x="3294" y="1421"/>
            <a:ext cx="16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6" r:id="rId34" imgW="78740" imgH="94615" progId="Equation.3">
                    <p:embed/>
                  </p:oleObj>
                </mc:Choice>
                <mc:Fallback>
                  <p:oleObj r:id="rId34" imgW="78740" imgH="94615" progId="Equation.3">
                    <p:embed/>
                    <p:pic>
                      <p:nvPicPr>
                        <p:cNvPr id="0" name="图片 3302"/>
                        <p:cNvPicPr/>
                        <p:nvPr/>
                      </p:nvPicPr>
                      <p:blipFill>
                        <a:blip r:embed="rId35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94" y="1421"/>
                          <a:ext cx="165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77" name="Rectangle 113"/>
            <p:cNvSpPr>
              <a:spLocks noChangeArrowheads="1"/>
            </p:cNvSpPr>
            <p:nvPr/>
          </p:nvSpPr>
          <p:spPr bwMode="auto">
            <a:xfrm>
              <a:off x="1244" y="751"/>
              <a:ext cx="56" cy="331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chemeClr val="tx1">
                    <a:gamma/>
                    <a:tint val="20000"/>
                    <a:invGamma/>
                  </a:schemeClr>
                </a:gs>
                <a:gs pos="100000">
                  <a:schemeClr val="tx1"/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78" name="Rectangle 114"/>
            <p:cNvSpPr>
              <a:spLocks noChangeArrowheads="1"/>
            </p:cNvSpPr>
            <p:nvPr/>
          </p:nvSpPr>
          <p:spPr bwMode="auto">
            <a:xfrm>
              <a:off x="1251" y="1746"/>
              <a:ext cx="49" cy="306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chemeClr val="tx1">
                    <a:gamma/>
                    <a:tint val="20000"/>
                    <a:invGamma/>
                  </a:schemeClr>
                </a:gs>
                <a:gs pos="100000">
                  <a:schemeClr val="tx1"/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8395" name="Object 115"/>
            <p:cNvGraphicFramePr>
              <a:graphicFrameLocks noChangeAspect="1"/>
            </p:cNvGraphicFramePr>
            <p:nvPr/>
          </p:nvGraphicFramePr>
          <p:xfrm>
            <a:off x="3234" y="791"/>
            <a:ext cx="270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7" r:id="rId36" imgW="68580" imgH="105410" progId="Equation.3">
                    <p:embed/>
                  </p:oleObj>
                </mc:Choice>
                <mc:Fallback>
                  <p:oleObj r:id="rId36" imgW="68580" imgH="105410" progId="Equation.3">
                    <p:embed/>
                    <p:pic>
                      <p:nvPicPr>
                        <p:cNvPr id="0" name="图片 3303"/>
                        <p:cNvPicPr/>
                        <p:nvPr/>
                      </p:nvPicPr>
                      <p:blipFill>
                        <a:blip r:embed="rId37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34" y="791"/>
                          <a:ext cx="270" cy="3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6" name="Object 116"/>
            <p:cNvGraphicFramePr>
              <a:graphicFrameLocks noChangeAspect="1"/>
            </p:cNvGraphicFramePr>
            <p:nvPr/>
          </p:nvGraphicFramePr>
          <p:xfrm>
            <a:off x="963" y="791"/>
            <a:ext cx="292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8" r:id="rId38" imgW="68580" imgH="78740" progId="Equation.3">
                    <p:embed/>
                  </p:oleObj>
                </mc:Choice>
                <mc:Fallback>
                  <p:oleObj r:id="rId38" imgW="68580" imgH="78740" progId="Equation.3">
                    <p:embed/>
                    <p:pic>
                      <p:nvPicPr>
                        <p:cNvPr id="0" name="图片 3304"/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963" y="791"/>
                          <a:ext cx="292" cy="2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97" name="Object 117"/>
            <p:cNvGraphicFramePr>
              <a:graphicFrameLocks noChangeAspect="1"/>
            </p:cNvGraphicFramePr>
            <p:nvPr/>
          </p:nvGraphicFramePr>
          <p:xfrm>
            <a:off x="940" y="1704"/>
            <a:ext cx="295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9" r:id="rId40" imgW="68580" imgH="78740" progId="Equation.3">
                    <p:embed/>
                  </p:oleObj>
                </mc:Choice>
                <mc:Fallback>
                  <p:oleObj r:id="rId40" imgW="68580" imgH="78740" progId="Equation.3">
                    <p:embed/>
                    <p:pic>
                      <p:nvPicPr>
                        <p:cNvPr id="0" name="图片 3301"/>
                        <p:cNvPicPr/>
                        <p:nvPr/>
                      </p:nvPicPr>
                      <p:blipFill>
                        <a:blip r:embed="rId41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40" y="1704"/>
                          <a:ext cx="295" cy="2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98" name="Line 118"/>
            <p:cNvSpPr/>
            <p:nvPr/>
          </p:nvSpPr>
          <p:spPr>
            <a:xfrm>
              <a:off x="1300" y="1082"/>
              <a:ext cx="67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8399" name="Group 120"/>
            <p:cNvGrpSpPr/>
            <p:nvPr/>
          </p:nvGrpSpPr>
          <p:grpSpPr>
            <a:xfrm>
              <a:off x="670" y="1082"/>
              <a:ext cx="603" cy="664"/>
              <a:chOff x="2592" y="2880"/>
              <a:chExt cx="643" cy="768"/>
            </a:xfrm>
          </p:grpSpPr>
          <p:sp>
            <p:nvSpPr>
              <p:cNvPr id="58406" name="Line 121"/>
              <p:cNvSpPr/>
              <p:nvPr/>
            </p:nvSpPr>
            <p:spPr>
              <a:xfrm flipV="1">
                <a:off x="2762" y="3168"/>
                <a:ext cx="47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07" name="Line 122"/>
              <p:cNvSpPr/>
              <p:nvPr/>
            </p:nvSpPr>
            <p:spPr>
              <a:xfrm>
                <a:off x="2762" y="3408"/>
                <a:ext cx="47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08" name="Line 123"/>
              <p:cNvSpPr/>
              <p:nvPr/>
            </p:nvSpPr>
            <p:spPr>
              <a:xfrm flipV="1">
                <a:off x="2762" y="3648"/>
                <a:ext cx="47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09" name="Line 124"/>
              <p:cNvSpPr/>
              <p:nvPr/>
            </p:nvSpPr>
            <p:spPr>
              <a:xfrm>
                <a:off x="2772" y="2880"/>
                <a:ext cx="463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10" name="Line 125"/>
              <p:cNvSpPr/>
              <p:nvPr/>
            </p:nvSpPr>
            <p:spPr>
              <a:xfrm flipH="1">
                <a:off x="2592" y="3168"/>
                <a:ext cx="271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11" name="Line 126"/>
              <p:cNvSpPr/>
              <p:nvPr/>
            </p:nvSpPr>
            <p:spPr>
              <a:xfrm flipH="1">
                <a:off x="2592" y="3408"/>
                <a:ext cx="271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12" name="Line 127"/>
              <p:cNvSpPr/>
              <p:nvPr/>
            </p:nvSpPr>
            <p:spPr>
              <a:xfrm flipH="1">
                <a:off x="2592" y="3647"/>
                <a:ext cx="271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13" name="Line 128"/>
              <p:cNvSpPr/>
              <p:nvPr/>
            </p:nvSpPr>
            <p:spPr>
              <a:xfrm flipH="1">
                <a:off x="2592" y="2880"/>
                <a:ext cx="271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58400" name="Object 129"/>
            <p:cNvGraphicFramePr>
              <a:graphicFrameLocks noChangeAspect="1"/>
            </p:cNvGraphicFramePr>
            <p:nvPr/>
          </p:nvGraphicFramePr>
          <p:xfrm>
            <a:off x="1027" y="593"/>
            <a:ext cx="22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0" r:id="rId42" imgW="78740" imgH="78740" progId="Equation.3">
                    <p:embed/>
                  </p:oleObj>
                </mc:Choice>
                <mc:Fallback>
                  <p:oleObj r:id="rId42" imgW="78740" imgH="78740" progId="Equation.3">
                    <p:embed/>
                    <p:pic>
                      <p:nvPicPr>
                        <p:cNvPr id="0" name="图片 3305"/>
                        <p:cNvPicPr/>
                        <p:nvPr/>
                      </p:nvPicPr>
                      <p:blipFill>
                        <a:blip r:embed="rId43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27" y="593"/>
                          <a:ext cx="228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01" name="Object 130"/>
            <p:cNvGraphicFramePr>
              <a:graphicFrameLocks noChangeAspect="1"/>
            </p:cNvGraphicFramePr>
            <p:nvPr/>
          </p:nvGraphicFramePr>
          <p:xfrm>
            <a:off x="1840" y="625"/>
            <a:ext cx="226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1" r:id="rId44" imgW="57785" imgH="78740" progId="Equation.3">
                    <p:embed/>
                  </p:oleObj>
                </mc:Choice>
                <mc:Fallback>
                  <p:oleObj r:id="rId44" imgW="57785" imgH="78740" progId="Equation.3">
                    <p:embed/>
                    <p:pic>
                      <p:nvPicPr>
                        <p:cNvPr id="0" name="图片 3306"/>
                        <p:cNvPicPr/>
                        <p:nvPr/>
                      </p:nvPicPr>
                      <p:blipFill>
                        <a:blip r:embed="rId45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40" y="625"/>
                          <a:ext cx="226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402" name="Object 131"/>
            <p:cNvGraphicFramePr>
              <a:graphicFrameLocks noChangeAspect="1"/>
            </p:cNvGraphicFramePr>
            <p:nvPr/>
          </p:nvGraphicFramePr>
          <p:xfrm>
            <a:off x="2919" y="604"/>
            <a:ext cx="21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2" r:id="rId46" imgW="57785" imgH="78740" progId="Equation.3">
                    <p:embed/>
                  </p:oleObj>
                </mc:Choice>
                <mc:Fallback>
                  <p:oleObj r:id="rId46" imgW="57785" imgH="78740" progId="Equation.3">
                    <p:embed/>
                    <p:pic>
                      <p:nvPicPr>
                        <p:cNvPr id="0" name="图片 3307"/>
                        <p:cNvPicPr/>
                        <p:nvPr/>
                      </p:nvPicPr>
                      <p:blipFill>
                        <a:blip r:embed="rId47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19" y="604"/>
                          <a:ext cx="218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03" name="Oval 132"/>
            <p:cNvSpPr/>
            <p:nvPr/>
          </p:nvSpPr>
          <p:spPr>
            <a:xfrm>
              <a:off x="2054" y="625"/>
              <a:ext cx="236" cy="1433"/>
            </a:xfrm>
            <a:prstGeom prst="ellipse">
              <a:avLst/>
            </a:prstGeom>
            <a:solidFill>
              <a:srgbClr val="00FFCC">
                <a:alpha val="50195"/>
              </a:srgbClr>
            </a:solidFill>
            <a:ln w="19050" cap="flat" cmpd="sng">
              <a:solidFill>
                <a:srgbClr val="0066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8404" name="AutoShape 138"/>
            <p:cNvSpPr/>
            <p:nvPr/>
          </p:nvSpPr>
          <p:spPr>
            <a:xfrm>
              <a:off x="1488" y="606"/>
              <a:ext cx="270" cy="291"/>
            </a:xfrm>
            <a:prstGeom prst="wedgeRoundRectCallout">
              <a:avLst>
                <a:gd name="adj1" fmla="val -10069"/>
                <a:gd name="adj2" fmla="val 100894"/>
                <a:gd name="adj3" fmla="val 16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</a:pPr>
              <a:endParaRPr lang="zh-CN" altLang="zh-CN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58405" name="Object 139"/>
            <p:cNvGraphicFramePr>
              <a:graphicFrameLocks noChangeAspect="1"/>
            </p:cNvGraphicFramePr>
            <p:nvPr/>
          </p:nvGraphicFramePr>
          <p:xfrm>
            <a:off x="1533" y="648"/>
            <a:ext cx="20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3" r:id="rId48" imgW="83820" imgH="131445" progId="Equation.3">
                    <p:embed/>
                  </p:oleObj>
                </mc:Choice>
                <mc:Fallback>
                  <p:oleObj r:id="rId48" imgW="83820" imgH="131445" progId="Equation.3">
                    <p:embed/>
                    <p:pic>
                      <p:nvPicPr>
                        <p:cNvPr id="0" name="图片 3308"/>
                        <p:cNvPicPr/>
                        <p:nvPr/>
                      </p:nvPicPr>
                      <p:blipFill>
                        <a:blip r:embed="rId49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33" y="648"/>
                          <a:ext cx="200" cy="2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379" name="Rectangle 141"/>
          <p:cNvSpPr/>
          <p:nvPr/>
        </p:nvSpPr>
        <p:spPr>
          <a:xfrm>
            <a:off x="3203575" y="123825"/>
            <a:ext cx="4105275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菲涅耳半波带法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400" y="2811463"/>
            <a:ext cx="7915275" cy="3360737"/>
            <a:chOff x="240" y="1776"/>
            <a:chExt cx="5328" cy="2352"/>
          </a:xfrm>
        </p:grpSpPr>
        <p:sp>
          <p:nvSpPr>
            <p:cNvPr id="59413" name="Rectangle 3"/>
            <p:cNvSpPr/>
            <p:nvPr/>
          </p:nvSpPr>
          <p:spPr>
            <a:xfrm>
              <a:off x="240" y="1776"/>
              <a:ext cx="5328" cy="235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9414" name="Group 4"/>
            <p:cNvGrpSpPr/>
            <p:nvPr/>
          </p:nvGrpSpPr>
          <p:grpSpPr>
            <a:xfrm>
              <a:off x="432" y="1824"/>
              <a:ext cx="5018" cy="1824"/>
              <a:chOff x="432" y="1824"/>
              <a:chExt cx="5018" cy="1824"/>
            </a:xfrm>
          </p:grpSpPr>
          <p:graphicFrame>
            <p:nvGraphicFramePr>
              <p:cNvPr id="59415" name="Object 5"/>
              <p:cNvGraphicFramePr>
                <a:graphicFrameLocks noChangeAspect="1"/>
              </p:cNvGraphicFramePr>
              <p:nvPr/>
            </p:nvGraphicFramePr>
            <p:xfrm>
              <a:off x="4944" y="3120"/>
              <a:ext cx="506" cy="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41" r:id="rId3" imgW="189230" imgH="83820" progId="Equation.3">
                      <p:embed/>
                    </p:oleObj>
                  </mc:Choice>
                  <mc:Fallback>
                    <p:oleObj r:id="rId3" imgW="189230" imgH="83820" progId="Equation.3">
                      <p:embed/>
                      <p:pic>
                        <p:nvPicPr>
                          <p:cNvPr id="0" name="图片 3309"/>
                          <p:cNvPicPr/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944" y="3120"/>
                            <a:ext cx="506" cy="325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416" name="Line 6"/>
              <p:cNvSpPr/>
              <p:nvPr/>
            </p:nvSpPr>
            <p:spPr>
              <a:xfrm flipV="1">
                <a:off x="2640" y="1824"/>
                <a:ext cx="0" cy="1296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9417" name="Group 7"/>
              <p:cNvGrpSpPr/>
              <p:nvPr/>
            </p:nvGrpSpPr>
            <p:grpSpPr>
              <a:xfrm>
                <a:off x="720" y="2976"/>
                <a:ext cx="3888" cy="144"/>
                <a:chOff x="864" y="1632"/>
                <a:chExt cx="3888" cy="96"/>
              </a:xfrm>
            </p:grpSpPr>
            <p:sp>
              <p:nvSpPr>
                <p:cNvPr id="59430" name="Line 8"/>
                <p:cNvSpPr/>
                <p:nvPr/>
              </p:nvSpPr>
              <p:spPr>
                <a:xfrm>
                  <a:off x="3408" y="1632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31" name="Line 9"/>
                <p:cNvSpPr/>
                <p:nvPr/>
              </p:nvSpPr>
              <p:spPr>
                <a:xfrm>
                  <a:off x="4080" y="1632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32" name="Line 10"/>
                <p:cNvSpPr/>
                <p:nvPr/>
              </p:nvSpPr>
              <p:spPr>
                <a:xfrm>
                  <a:off x="4752" y="1632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33" name="Line 11"/>
                <p:cNvSpPr/>
                <p:nvPr/>
              </p:nvSpPr>
              <p:spPr>
                <a:xfrm>
                  <a:off x="2174" y="1632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34" name="Line 12"/>
                <p:cNvSpPr/>
                <p:nvPr/>
              </p:nvSpPr>
              <p:spPr>
                <a:xfrm>
                  <a:off x="1488" y="1632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435" name="Line 13"/>
                <p:cNvSpPr/>
                <p:nvPr/>
              </p:nvSpPr>
              <p:spPr>
                <a:xfrm>
                  <a:off x="864" y="1632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9418" name="Freeform 14"/>
              <p:cNvSpPr/>
              <p:nvPr/>
            </p:nvSpPr>
            <p:spPr>
              <a:xfrm>
                <a:off x="2028" y="2112"/>
                <a:ext cx="1230" cy="1014"/>
              </a:xfrm>
              <a:custGeom>
                <a:avLst/>
                <a:gdLst>
                  <a:gd name="txL" fmla="*/ 0 w 1230"/>
                  <a:gd name="txT" fmla="*/ 0 h 1014"/>
                  <a:gd name="txR" fmla="*/ 1230 w 1230"/>
                  <a:gd name="txB" fmla="*/ 1014 h 1014"/>
                </a:gdLst>
                <a:ahLst/>
                <a:cxnLst>
                  <a:cxn ang="0">
                    <a:pos x="0" y="1014"/>
                  </a:cxn>
                  <a:cxn ang="0">
                    <a:pos x="192" y="819"/>
                  </a:cxn>
                  <a:cxn ang="0">
                    <a:pos x="605" y="0"/>
                  </a:cxn>
                  <a:cxn ang="0">
                    <a:pos x="1046" y="819"/>
                  </a:cxn>
                  <a:cxn ang="0">
                    <a:pos x="1230" y="1008"/>
                  </a:cxn>
                </a:cxnLst>
                <a:rect l="txL" t="txT" r="txR" b="txB"/>
                <a:pathLst>
                  <a:path w="1230" h="1014">
                    <a:moveTo>
                      <a:pt x="0" y="1014"/>
                    </a:moveTo>
                    <a:cubicBezTo>
                      <a:pt x="31" y="982"/>
                      <a:pt x="91" y="988"/>
                      <a:pt x="192" y="819"/>
                    </a:cubicBezTo>
                    <a:cubicBezTo>
                      <a:pt x="293" y="650"/>
                      <a:pt x="463" y="0"/>
                      <a:pt x="605" y="0"/>
                    </a:cubicBezTo>
                    <a:cubicBezTo>
                      <a:pt x="747" y="0"/>
                      <a:pt x="942" y="651"/>
                      <a:pt x="1046" y="819"/>
                    </a:cubicBezTo>
                    <a:cubicBezTo>
                      <a:pt x="1150" y="987"/>
                      <a:pt x="1192" y="969"/>
                      <a:pt x="1230" y="1008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9419" name="Object 15"/>
              <p:cNvGraphicFramePr>
                <a:graphicFrameLocks noChangeAspect="1"/>
              </p:cNvGraphicFramePr>
              <p:nvPr/>
            </p:nvGraphicFramePr>
            <p:xfrm>
              <a:off x="2688" y="1824"/>
              <a:ext cx="332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42" r:id="rId5" imgW="165100" imgH="228600" progId="Equation.3">
                      <p:embed/>
                    </p:oleObj>
                  </mc:Choice>
                  <mc:Fallback>
                    <p:oleObj r:id="rId5" imgW="165100" imgH="228600" progId="Equation.3">
                      <p:embed/>
                      <p:pic>
                        <p:nvPicPr>
                          <p:cNvPr id="0" name="图片 3310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688" y="1824"/>
                            <a:ext cx="332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420" name="Line 16"/>
              <p:cNvSpPr/>
              <p:nvPr/>
            </p:nvSpPr>
            <p:spPr>
              <a:xfrm>
                <a:off x="432" y="3120"/>
                <a:ext cx="480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9421" name="Object 17"/>
              <p:cNvGraphicFramePr>
                <a:graphicFrameLocks noChangeAspect="1"/>
              </p:cNvGraphicFramePr>
              <p:nvPr/>
            </p:nvGraphicFramePr>
            <p:xfrm>
              <a:off x="2544" y="3216"/>
              <a:ext cx="208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43" r:id="rId7" imgW="78740" imgH="94615" progId="Equation.3">
                      <p:embed/>
                    </p:oleObj>
                  </mc:Choice>
                  <mc:Fallback>
                    <p:oleObj r:id="rId7" imgW="78740" imgH="94615" progId="Equation.3">
                      <p:embed/>
                      <p:pic>
                        <p:nvPicPr>
                          <p:cNvPr id="0" name="图片 3311"/>
                          <p:cNvPicPr/>
                          <p:nvPr/>
                        </p:nvPicPr>
                        <p:blipFill>
                          <a:blip r:embed="rId8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544" y="3216"/>
                            <a:ext cx="208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9422" name="Freeform 18"/>
              <p:cNvSpPr/>
              <p:nvPr/>
            </p:nvSpPr>
            <p:spPr>
              <a:xfrm>
                <a:off x="3264" y="2967"/>
                <a:ext cx="1452" cy="161"/>
              </a:xfrm>
              <a:custGeom>
                <a:avLst/>
                <a:gdLst>
                  <a:gd name="txL" fmla="*/ 0 w 1452"/>
                  <a:gd name="txT" fmla="*/ 0 h 161"/>
                  <a:gd name="txR" fmla="*/ 1452 w 1452"/>
                  <a:gd name="txB" fmla="*/ 161 h 161"/>
                </a:gdLst>
                <a:ahLst/>
                <a:cxnLst>
                  <a:cxn ang="0">
                    <a:pos x="0" y="145"/>
                  </a:cxn>
                  <a:cxn ang="0">
                    <a:pos x="288" y="1"/>
                  </a:cxn>
                  <a:cxn ang="0">
                    <a:pos x="689" y="153"/>
                  </a:cxn>
                  <a:cxn ang="0">
                    <a:pos x="986" y="44"/>
                  </a:cxn>
                  <a:cxn ang="0">
                    <a:pos x="1344" y="145"/>
                  </a:cxn>
                  <a:cxn ang="0">
                    <a:pos x="1452" y="141"/>
                  </a:cxn>
                </a:cxnLst>
                <a:rect l="txL" t="txT" r="txR" b="txB"/>
                <a:pathLst>
                  <a:path w="1452" h="161">
                    <a:moveTo>
                      <a:pt x="0" y="145"/>
                    </a:moveTo>
                    <a:cubicBezTo>
                      <a:pt x="88" y="73"/>
                      <a:pt x="173" y="0"/>
                      <a:pt x="288" y="1"/>
                    </a:cubicBezTo>
                    <a:cubicBezTo>
                      <a:pt x="403" y="2"/>
                      <a:pt x="573" y="146"/>
                      <a:pt x="689" y="153"/>
                    </a:cubicBezTo>
                    <a:cubicBezTo>
                      <a:pt x="805" y="160"/>
                      <a:pt x="877" y="45"/>
                      <a:pt x="986" y="44"/>
                    </a:cubicBezTo>
                    <a:cubicBezTo>
                      <a:pt x="1095" y="43"/>
                      <a:pt x="1266" y="129"/>
                      <a:pt x="1344" y="145"/>
                    </a:cubicBezTo>
                    <a:cubicBezTo>
                      <a:pt x="1422" y="161"/>
                      <a:pt x="1430" y="142"/>
                      <a:pt x="1452" y="141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23" name="Freeform 19"/>
              <p:cNvSpPr/>
              <p:nvPr/>
            </p:nvSpPr>
            <p:spPr>
              <a:xfrm>
                <a:off x="576" y="2961"/>
                <a:ext cx="1446" cy="170"/>
              </a:xfrm>
              <a:custGeom>
                <a:avLst/>
                <a:gdLst>
                  <a:gd name="txL" fmla="*/ 0 w 1446"/>
                  <a:gd name="txT" fmla="*/ 0 h 170"/>
                  <a:gd name="txR" fmla="*/ 1446 w 1446"/>
                  <a:gd name="txB" fmla="*/ 170 h 170"/>
                </a:gdLst>
                <a:ahLst/>
                <a:cxnLst>
                  <a:cxn ang="0">
                    <a:pos x="1446" y="159"/>
                  </a:cxn>
                  <a:cxn ang="0">
                    <a:pos x="1154" y="0"/>
                  </a:cxn>
                  <a:cxn ang="0">
                    <a:pos x="765" y="159"/>
                  </a:cxn>
                  <a:cxn ang="0">
                    <a:pos x="477" y="40"/>
                  </a:cxn>
                  <a:cxn ang="0">
                    <a:pos x="132" y="153"/>
                  </a:cxn>
                  <a:cxn ang="0">
                    <a:pos x="0" y="140"/>
                  </a:cxn>
                </a:cxnLst>
                <a:rect l="txL" t="txT" r="txR" b="txB"/>
                <a:pathLst>
                  <a:path w="1446" h="170">
                    <a:moveTo>
                      <a:pt x="1446" y="159"/>
                    </a:moveTo>
                    <a:cubicBezTo>
                      <a:pt x="1397" y="131"/>
                      <a:pt x="1267" y="0"/>
                      <a:pt x="1154" y="0"/>
                    </a:cubicBezTo>
                    <a:cubicBezTo>
                      <a:pt x="1041" y="0"/>
                      <a:pt x="878" y="152"/>
                      <a:pt x="765" y="159"/>
                    </a:cubicBezTo>
                    <a:cubicBezTo>
                      <a:pt x="652" y="166"/>
                      <a:pt x="582" y="41"/>
                      <a:pt x="477" y="40"/>
                    </a:cubicBezTo>
                    <a:cubicBezTo>
                      <a:pt x="372" y="39"/>
                      <a:pt x="211" y="136"/>
                      <a:pt x="132" y="153"/>
                    </a:cubicBezTo>
                    <a:cubicBezTo>
                      <a:pt x="53" y="170"/>
                      <a:pt x="27" y="143"/>
                      <a:pt x="0" y="140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9424" name="Object 20"/>
              <p:cNvGraphicFramePr>
                <a:graphicFrameLocks noChangeAspect="1"/>
              </p:cNvGraphicFramePr>
              <p:nvPr/>
            </p:nvGraphicFramePr>
            <p:xfrm>
              <a:off x="3115" y="3120"/>
              <a:ext cx="245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44" r:id="rId9" imgW="110490" imgH="383540" progId="Equation.3">
                      <p:embed/>
                    </p:oleObj>
                  </mc:Choice>
                  <mc:Fallback>
                    <p:oleObj r:id="rId9" imgW="110490" imgH="383540" progId="Equation.3">
                      <p:embed/>
                      <p:pic>
                        <p:nvPicPr>
                          <p:cNvPr id="0" name="图片 3312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115" y="3120"/>
                            <a:ext cx="245" cy="5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425" name="Object 21"/>
              <p:cNvGraphicFramePr>
                <a:graphicFrameLocks noChangeAspect="1"/>
              </p:cNvGraphicFramePr>
              <p:nvPr/>
            </p:nvGraphicFramePr>
            <p:xfrm>
              <a:off x="3648" y="3120"/>
              <a:ext cx="434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45" r:id="rId11" imgW="226060" imgH="383540" progId="Equation.3">
                      <p:embed/>
                    </p:oleObj>
                  </mc:Choice>
                  <mc:Fallback>
                    <p:oleObj r:id="rId11" imgW="226060" imgH="383540" progId="Equation.3">
                      <p:embed/>
                      <p:pic>
                        <p:nvPicPr>
                          <p:cNvPr id="0" name="图片 3313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648" y="3120"/>
                            <a:ext cx="434" cy="5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426" name="Object 22"/>
              <p:cNvGraphicFramePr>
                <a:graphicFrameLocks noChangeAspect="1"/>
              </p:cNvGraphicFramePr>
              <p:nvPr/>
            </p:nvGraphicFramePr>
            <p:xfrm>
              <a:off x="4368" y="3120"/>
              <a:ext cx="404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46" r:id="rId13" imgW="210185" imgH="383540" progId="Equation.3">
                      <p:embed/>
                    </p:oleObj>
                  </mc:Choice>
                  <mc:Fallback>
                    <p:oleObj r:id="rId13" imgW="210185" imgH="383540" progId="Equation.3">
                      <p:embed/>
                      <p:pic>
                        <p:nvPicPr>
                          <p:cNvPr id="0" name="图片 3314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368" y="3120"/>
                            <a:ext cx="404" cy="5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427" name="Object 23"/>
              <p:cNvGraphicFramePr>
                <a:graphicFrameLocks noChangeAspect="1"/>
              </p:cNvGraphicFramePr>
              <p:nvPr/>
            </p:nvGraphicFramePr>
            <p:xfrm>
              <a:off x="1776" y="3120"/>
              <a:ext cx="352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47" r:id="rId15" imgW="241935" imgH="383540" progId="Equation.3">
                      <p:embed/>
                    </p:oleObj>
                  </mc:Choice>
                  <mc:Fallback>
                    <p:oleObj r:id="rId15" imgW="241935" imgH="383540" progId="Equation.3">
                      <p:embed/>
                      <p:pic>
                        <p:nvPicPr>
                          <p:cNvPr id="0" name="图片 3315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776" y="3120"/>
                            <a:ext cx="352" cy="5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428" name="Object 24"/>
              <p:cNvGraphicFramePr>
                <a:graphicFrameLocks noChangeAspect="1"/>
              </p:cNvGraphicFramePr>
              <p:nvPr/>
            </p:nvGraphicFramePr>
            <p:xfrm>
              <a:off x="1056" y="3120"/>
              <a:ext cx="41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48" r:id="rId17" imgW="346710" imgH="383540" progId="Equation.3">
                      <p:embed/>
                    </p:oleObj>
                  </mc:Choice>
                  <mc:Fallback>
                    <p:oleObj r:id="rId17" imgW="346710" imgH="383540" progId="Equation.3">
                      <p:embed/>
                      <p:pic>
                        <p:nvPicPr>
                          <p:cNvPr id="0" name="图片 3316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056" y="3120"/>
                            <a:ext cx="411" cy="5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429" name="Object 25"/>
              <p:cNvGraphicFramePr>
                <a:graphicFrameLocks noChangeAspect="1"/>
              </p:cNvGraphicFramePr>
              <p:nvPr/>
            </p:nvGraphicFramePr>
            <p:xfrm>
              <a:off x="528" y="3120"/>
              <a:ext cx="41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049" r:id="rId19" imgW="341630" imgH="383540" progId="Equation.3">
                      <p:embed/>
                    </p:oleObj>
                  </mc:Choice>
                  <mc:Fallback>
                    <p:oleObj r:id="rId19" imgW="341630" imgH="383540" progId="Equation.3">
                      <p:embed/>
                      <p:pic>
                        <p:nvPicPr>
                          <p:cNvPr id="0" name="图片 3317"/>
                          <p:cNvPicPr/>
                          <p:nvPr/>
                        </p:nvPicPr>
                        <p:blipFill>
                          <a:blip r:embed="rId20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28" y="3120"/>
                            <a:ext cx="411" cy="52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9395" name="Text Box 26"/>
          <p:cNvSpPr txBox="1"/>
          <p:nvPr/>
        </p:nvSpPr>
        <p:spPr>
          <a:xfrm>
            <a:off x="2981325" y="50800"/>
            <a:ext cx="34623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CC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光强分布</a:t>
            </a:r>
          </a:p>
        </p:txBody>
      </p:sp>
      <p:grpSp>
        <p:nvGrpSpPr>
          <p:cNvPr id="5" name="Group 27"/>
          <p:cNvGrpSpPr/>
          <p:nvPr/>
        </p:nvGrpSpPr>
        <p:grpSpPr>
          <a:xfrm>
            <a:off x="1181100" y="5554663"/>
            <a:ext cx="6345238" cy="549275"/>
            <a:chOff x="672" y="2304"/>
            <a:chExt cx="4272" cy="384"/>
          </a:xfrm>
        </p:grpSpPr>
        <p:sp>
          <p:nvSpPr>
            <p:cNvPr id="59403" name="Rectangle 28"/>
            <p:cNvSpPr/>
            <p:nvPr/>
          </p:nvSpPr>
          <p:spPr>
            <a:xfrm>
              <a:off x="672" y="2304"/>
              <a:ext cx="4272" cy="384"/>
            </a:xfrm>
            <a:prstGeom prst="rect">
              <a:avLst/>
            </a:prstGeom>
            <a:solidFill>
              <a:srgbClr val="333333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04" name="Rectangle 29"/>
            <p:cNvSpPr/>
            <p:nvPr/>
          </p:nvSpPr>
          <p:spPr>
            <a:xfrm>
              <a:off x="2208" y="2304"/>
              <a:ext cx="1152" cy="384"/>
            </a:xfrm>
            <a:prstGeom prst="rect">
              <a:avLst/>
            </a:prstGeom>
            <a:gradFill rotWithShape="0">
              <a:gsLst>
                <a:gs pos="0">
                  <a:srgbClr val="292921"/>
                </a:gs>
                <a:gs pos="50000">
                  <a:srgbClr val="FFFFCC"/>
                </a:gs>
                <a:gs pos="100000">
                  <a:srgbClr val="29292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05" name="Rectangle 30"/>
            <p:cNvSpPr/>
            <p:nvPr/>
          </p:nvSpPr>
          <p:spPr>
            <a:xfrm>
              <a:off x="3552" y="2304"/>
              <a:ext cx="384" cy="384"/>
            </a:xfrm>
            <a:prstGeom prst="rect">
              <a:avLst/>
            </a:prstGeom>
            <a:gradFill rotWithShape="0">
              <a:gsLst>
                <a:gs pos="0">
                  <a:srgbClr val="292921"/>
                </a:gs>
                <a:gs pos="50000">
                  <a:srgbClr val="FFFFCC"/>
                </a:gs>
                <a:gs pos="100000">
                  <a:srgbClr val="29292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06" name="Rectangle 31"/>
            <p:cNvSpPr/>
            <p:nvPr/>
          </p:nvSpPr>
          <p:spPr>
            <a:xfrm>
              <a:off x="1632" y="2304"/>
              <a:ext cx="384" cy="384"/>
            </a:xfrm>
            <a:prstGeom prst="rect">
              <a:avLst/>
            </a:prstGeom>
            <a:gradFill rotWithShape="0">
              <a:gsLst>
                <a:gs pos="0">
                  <a:srgbClr val="292921"/>
                </a:gs>
                <a:gs pos="50000">
                  <a:srgbClr val="FFFFCC"/>
                </a:gs>
                <a:gs pos="100000">
                  <a:srgbClr val="29292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07" name="Rectangle 32"/>
            <p:cNvSpPr/>
            <p:nvPr/>
          </p:nvSpPr>
          <p:spPr>
            <a:xfrm>
              <a:off x="4272" y="2304"/>
              <a:ext cx="240" cy="384"/>
            </a:xfrm>
            <a:prstGeom prst="rect">
              <a:avLst/>
            </a:prstGeom>
            <a:gradFill rotWithShape="0">
              <a:gsLst>
                <a:gs pos="0">
                  <a:srgbClr val="292921"/>
                </a:gs>
                <a:gs pos="50000">
                  <a:srgbClr val="FFFFCC"/>
                </a:gs>
                <a:gs pos="100000">
                  <a:srgbClr val="29292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08" name="Rectangle 33"/>
            <p:cNvSpPr/>
            <p:nvPr/>
          </p:nvSpPr>
          <p:spPr>
            <a:xfrm>
              <a:off x="1104" y="2304"/>
              <a:ext cx="240" cy="384"/>
            </a:xfrm>
            <a:prstGeom prst="rect">
              <a:avLst/>
            </a:prstGeom>
            <a:gradFill rotWithShape="0">
              <a:gsLst>
                <a:gs pos="0">
                  <a:srgbClr val="292921"/>
                </a:gs>
                <a:gs pos="50000">
                  <a:srgbClr val="FFFFCC"/>
                </a:gs>
                <a:gs pos="100000">
                  <a:srgbClr val="29292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09" name="Rectangle 34"/>
            <p:cNvSpPr/>
            <p:nvPr/>
          </p:nvSpPr>
          <p:spPr>
            <a:xfrm>
              <a:off x="4272" y="2304"/>
              <a:ext cx="240" cy="384"/>
            </a:xfrm>
            <a:prstGeom prst="rect">
              <a:avLst/>
            </a:prstGeom>
            <a:solidFill>
              <a:srgbClr val="292929">
                <a:alpha val="50195"/>
              </a:srgbClr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10" name="Rectangle 35"/>
            <p:cNvSpPr/>
            <p:nvPr/>
          </p:nvSpPr>
          <p:spPr>
            <a:xfrm>
              <a:off x="1104" y="2304"/>
              <a:ext cx="240" cy="384"/>
            </a:xfrm>
            <a:prstGeom prst="rect">
              <a:avLst/>
            </a:prstGeom>
            <a:solidFill>
              <a:srgbClr val="292929">
                <a:alpha val="50195"/>
              </a:srgbClr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11" name="Rectangle 36"/>
            <p:cNvSpPr/>
            <p:nvPr/>
          </p:nvSpPr>
          <p:spPr>
            <a:xfrm>
              <a:off x="1680" y="2304"/>
              <a:ext cx="288" cy="384"/>
            </a:xfrm>
            <a:prstGeom prst="rect">
              <a:avLst/>
            </a:prstGeom>
            <a:solidFill>
              <a:srgbClr val="808080">
                <a:alpha val="50195"/>
              </a:srgbClr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9412" name="Rectangle 37"/>
            <p:cNvSpPr/>
            <p:nvPr/>
          </p:nvSpPr>
          <p:spPr>
            <a:xfrm>
              <a:off x="3600" y="2304"/>
              <a:ext cx="288" cy="384"/>
            </a:xfrm>
            <a:prstGeom prst="rect">
              <a:avLst/>
            </a:prstGeom>
            <a:solidFill>
              <a:srgbClr val="808080">
                <a:alpha val="50195"/>
              </a:srgbClr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52"/>
          <p:cNvGrpSpPr/>
          <p:nvPr/>
        </p:nvGrpSpPr>
        <p:grpSpPr>
          <a:xfrm>
            <a:off x="1219200" y="1066800"/>
            <a:ext cx="7772400" cy="1720850"/>
            <a:chOff x="768" y="672"/>
            <a:chExt cx="4896" cy="1084"/>
          </a:xfrm>
        </p:grpSpPr>
        <p:graphicFrame>
          <p:nvGraphicFramePr>
            <p:cNvPr id="59398" name="Object 47"/>
            <p:cNvGraphicFramePr>
              <a:graphicFrameLocks noChangeAspect="1"/>
            </p:cNvGraphicFramePr>
            <p:nvPr/>
          </p:nvGraphicFramePr>
          <p:xfrm>
            <a:off x="1008" y="672"/>
            <a:ext cx="2352" cy="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50" r:id="rId21" imgW="1487170" imgH="383540" progId="Equation.3">
                    <p:embed/>
                  </p:oleObj>
                </mc:Choice>
                <mc:Fallback>
                  <p:oleObj r:id="rId21" imgW="1487170" imgH="383540" progId="Equation.3">
                    <p:embed/>
                    <p:pic>
                      <p:nvPicPr>
                        <p:cNvPr id="0" name="图片 3318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08" y="672"/>
                          <a:ext cx="2352" cy="6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6" name="Text Box 48"/>
            <p:cNvSpPr txBox="1">
              <a:spLocks noChangeArrowheads="1"/>
            </p:cNvSpPr>
            <p:nvPr/>
          </p:nvSpPr>
          <p:spPr bwMode="auto">
            <a:xfrm>
              <a:off x="3312" y="768"/>
              <a:ext cx="2352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kern="1200" cap="none" spc="0" normalizeH="0" baseline="0" noProof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干涉相消（</a:t>
              </a:r>
              <a:r>
                <a:rPr kumimoji="0" lang="zh-CN" altLang="en-US" kern="1200" cap="none" spc="0" normalizeH="0" baseline="0" noProof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暗纹</a:t>
              </a:r>
              <a:r>
                <a:rPr kumimoji="0" lang="zh-CN" altLang="en-US" kern="1200" cap="none" spc="0" normalizeH="0" baseline="0" noProof="0">
                  <a:solidFill>
                    <a:srgbClr val="0000CC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  <a:endParaRPr kumimoji="0" lang="zh-CN" altLang="en-US" kern="1200" cap="none" spc="0" normalizeH="0" baseline="0" noProof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9400" name="Object 49"/>
            <p:cNvGraphicFramePr>
              <a:graphicFrameLocks noChangeAspect="1"/>
            </p:cNvGraphicFramePr>
            <p:nvPr/>
          </p:nvGraphicFramePr>
          <p:xfrm>
            <a:off x="1008" y="1152"/>
            <a:ext cx="2016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51" r:id="rId23" imgW="1355725" imgH="383540" progId="Equation.3">
                    <p:embed/>
                  </p:oleObj>
                </mc:Choice>
                <mc:Fallback>
                  <p:oleObj r:id="rId23" imgW="1355725" imgH="383540" progId="Equation.3">
                    <p:embed/>
                    <p:pic>
                      <p:nvPicPr>
                        <p:cNvPr id="0" name="图片 3319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08" y="1152"/>
                          <a:ext cx="2016" cy="6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38" name="Text Box 50"/>
            <p:cNvSpPr txBox="1">
              <a:spLocks noChangeArrowheads="1"/>
            </p:cNvSpPr>
            <p:nvPr/>
          </p:nvSpPr>
          <p:spPr bwMode="auto">
            <a:xfrm>
              <a:off x="3312" y="1296"/>
              <a:ext cx="2256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spcBef>
                  <a:spcPct val="50000"/>
                </a:spcBef>
                <a:buClrTx/>
                <a:buSzTx/>
                <a:buFontTx/>
                <a:buNone/>
                <a:defRPr/>
              </a:pPr>
              <a:r>
                <a:rPr kumimoji="0" lang="zh-CN" altLang="en-US" kern="1200" cap="none" spc="0" normalizeH="0" baseline="0" noProof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干涉加强（</a:t>
              </a:r>
              <a:r>
                <a:rPr kumimoji="0" lang="zh-CN" altLang="en-US" kern="1200" cap="none" spc="0" normalizeH="0" baseline="0" noProof="0">
                  <a:solidFill>
                    <a:srgbClr val="CC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明纹</a:t>
              </a:r>
              <a:r>
                <a:rPr kumimoji="0" lang="zh-CN" altLang="en-US" kern="1200" cap="none" spc="0" normalizeH="0" baseline="0" noProof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）</a:t>
              </a:r>
            </a:p>
          </p:txBody>
        </p:sp>
        <p:sp>
          <p:nvSpPr>
            <p:cNvPr id="59402" name="AutoShape 51"/>
            <p:cNvSpPr/>
            <p:nvPr/>
          </p:nvSpPr>
          <p:spPr>
            <a:xfrm>
              <a:off x="768" y="864"/>
              <a:ext cx="192" cy="672"/>
            </a:xfrm>
            <a:prstGeom prst="leftBrace">
              <a:avLst>
                <a:gd name="adj1" fmla="val 29166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90" name="Text Box 1066"/>
          <p:cNvSpPr txBox="1"/>
          <p:nvPr/>
        </p:nvSpPr>
        <p:spPr>
          <a:xfrm>
            <a:off x="192088" y="1041400"/>
            <a:ext cx="5334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第一暗纹的衍射角</a:t>
            </a:r>
          </a:p>
        </p:txBody>
      </p:sp>
      <p:graphicFrame>
        <p:nvGraphicFramePr>
          <p:cNvPr id="56320" name="Object 1024"/>
          <p:cNvGraphicFramePr>
            <a:graphicFrameLocks noChangeAspect="1"/>
          </p:cNvGraphicFramePr>
          <p:nvPr/>
        </p:nvGraphicFramePr>
        <p:xfrm>
          <a:off x="649288" y="4292600"/>
          <a:ext cx="251460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5" r:id="rId3" imgW="898525" imgH="383540" progId="Equation.3">
                  <p:embed/>
                </p:oleObj>
              </mc:Choice>
              <mc:Fallback>
                <p:oleObj r:id="rId3" imgW="898525" imgH="383540" progId="Equation.3">
                  <p:embed/>
                  <p:pic>
                    <p:nvPicPr>
                      <p:cNvPr id="0" name="图片 332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9288" y="4292600"/>
                        <a:ext cx="2514600" cy="962025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9525" cap="flat" cmpd="sng">
                        <a:solidFill>
                          <a:srgbClr val="006666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92" name="Rectangle 1068"/>
          <p:cNvSpPr/>
          <p:nvPr/>
        </p:nvSpPr>
        <p:spPr>
          <a:xfrm>
            <a:off x="349250" y="3429000"/>
            <a:ext cx="4459288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第一暗纹距中心的距离</a:t>
            </a:r>
          </a:p>
        </p:txBody>
      </p:sp>
      <p:graphicFrame>
        <p:nvGraphicFramePr>
          <p:cNvPr id="56321" name="Object 1025"/>
          <p:cNvGraphicFramePr>
            <a:graphicFrameLocks noChangeAspect="1"/>
          </p:cNvGraphicFramePr>
          <p:nvPr/>
        </p:nvGraphicFramePr>
        <p:xfrm>
          <a:off x="649288" y="1879600"/>
          <a:ext cx="2057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6" r:id="rId5" imgW="867410" imgH="383540" progId="Equation.3">
                  <p:embed/>
                </p:oleObj>
              </mc:Choice>
              <mc:Fallback>
                <p:oleObj r:id="rId5" imgW="867410" imgH="383540" progId="Equation.3">
                  <p:embed/>
                  <p:pic>
                    <p:nvPicPr>
                      <p:cNvPr id="0" name="图片 332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49288" y="1879600"/>
                        <a:ext cx="2057400" cy="9652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chemeClr val="accent1"/>
                          </a:gs>
                          <a:gs pos="50000">
                            <a:srgbClr val="FFFFFF"/>
                          </a:gs>
                          <a:gs pos="100000">
                            <a:schemeClr val="accent1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006666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422" name="Group 1087"/>
          <p:cNvGrpSpPr/>
          <p:nvPr/>
        </p:nvGrpSpPr>
        <p:grpSpPr>
          <a:xfrm>
            <a:off x="4679950" y="1989138"/>
            <a:ext cx="4114800" cy="2590800"/>
            <a:chOff x="2832" y="1296"/>
            <a:chExt cx="2592" cy="1632"/>
          </a:xfrm>
        </p:grpSpPr>
        <p:graphicFrame>
          <p:nvGraphicFramePr>
            <p:cNvPr id="60424" name="Object 1026"/>
            <p:cNvGraphicFramePr>
              <a:graphicFrameLocks noChangeAspect="1"/>
            </p:cNvGraphicFramePr>
            <p:nvPr/>
          </p:nvGraphicFramePr>
          <p:xfrm>
            <a:off x="3479" y="1728"/>
            <a:ext cx="22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67" r:id="rId7" imgW="177800" imgH="241300" progId="Equation.3">
                    <p:embed/>
                  </p:oleObj>
                </mc:Choice>
                <mc:Fallback>
                  <p:oleObj r:id="rId7" imgW="177800" imgH="241300" progId="Equation.3">
                    <p:embed/>
                    <p:pic>
                      <p:nvPicPr>
                        <p:cNvPr id="0" name="图片 332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79" y="1728"/>
                          <a:ext cx="221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0425" name="Group 1077"/>
            <p:cNvGrpSpPr/>
            <p:nvPr/>
          </p:nvGrpSpPr>
          <p:grpSpPr>
            <a:xfrm>
              <a:off x="2832" y="1296"/>
              <a:ext cx="2592" cy="1632"/>
              <a:chOff x="2832" y="1296"/>
              <a:chExt cx="2592" cy="1632"/>
            </a:xfrm>
          </p:grpSpPr>
          <p:sp>
            <p:nvSpPr>
              <p:cNvPr id="60432" name="Rectangle 1027"/>
              <p:cNvSpPr/>
              <p:nvPr/>
            </p:nvSpPr>
            <p:spPr>
              <a:xfrm>
                <a:off x="2832" y="1296"/>
                <a:ext cx="2592" cy="1632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60433" name="Group 1028"/>
              <p:cNvGrpSpPr/>
              <p:nvPr/>
            </p:nvGrpSpPr>
            <p:grpSpPr>
              <a:xfrm>
                <a:off x="3378" y="1902"/>
                <a:ext cx="318" cy="162"/>
                <a:chOff x="2064" y="3150"/>
                <a:chExt cx="1050" cy="162"/>
              </a:xfrm>
            </p:grpSpPr>
            <p:sp>
              <p:nvSpPr>
                <p:cNvPr id="60455" name="Freeform 1029"/>
                <p:cNvSpPr/>
                <p:nvPr/>
              </p:nvSpPr>
              <p:spPr>
                <a:xfrm>
                  <a:off x="2064" y="3150"/>
                  <a:ext cx="1050" cy="162"/>
                </a:xfrm>
                <a:custGeom>
                  <a:avLst/>
                  <a:gdLst>
                    <a:gd name="txL" fmla="*/ 0 w 1050"/>
                    <a:gd name="txT" fmla="*/ 0 h 162"/>
                    <a:gd name="txR" fmla="*/ 1050 w 1050"/>
                    <a:gd name="txB" fmla="*/ 162 h 162"/>
                  </a:gdLst>
                  <a:ahLst/>
                  <a:cxnLst>
                    <a:cxn ang="0">
                      <a:pos x="1044" y="0"/>
                    </a:cxn>
                    <a:cxn ang="0">
                      <a:pos x="0" y="162"/>
                    </a:cxn>
                    <a:cxn ang="0">
                      <a:pos x="1050" y="162"/>
                    </a:cxn>
                    <a:cxn ang="0">
                      <a:pos x="1044" y="0"/>
                    </a:cxn>
                  </a:cxnLst>
                  <a:rect l="txL" t="txT" r="txR" b="txB"/>
                  <a:pathLst>
                    <a:path w="1050" h="162">
                      <a:moveTo>
                        <a:pt x="1044" y="0"/>
                      </a:moveTo>
                      <a:lnTo>
                        <a:pt x="0" y="162"/>
                      </a:lnTo>
                      <a:lnTo>
                        <a:pt x="1050" y="162"/>
                      </a:lnTo>
                      <a:lnTo>
                        <a:pt x="1044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0000">
                        <a:alpha val="100000"/>
                      </a:srgbClr>
                    </a:gs>
                    <a:gs pos="100000">
                      <a:schemeClr val="bg1">
                        <a:alpha val="100000"/>
                      </a:schemeClr>
                    </a:gs>
                  </a:gsLst>
                  <a:lin ang="0" scaled="1"/>
                  <a:tileRect/>
                </a:gra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56" name="Line 1030"/>
                <p:cNvSpPr/>
                <p:nvPr/>
              </p:nvSpPr>
              <p:spPr>
                <a:xfrm>
                  <a:off x="2064" y="3312"/>
                  <a:ext cx="864" cy="0"/>
                </a:xfrm>
                <a:prstGeom prst="line">
                  <a:avLst/>
                </a:prstGeom>
                <a:ln w="19050" cap="flat" cmpd="sng">
                  <a:solidFill>
                    <a:srgbClr val="FF0000"/>
                  </a:solidFill>
                  <a:prstDash val="solid"/>
                  <a:headEnd type="none" w="sm" len="lg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434" name="Line 1031"/>
              <p:cNvSpPr/>
              <p:nvPr/>
            </p:nvSpPr>
            <p:spPr>
              <a:xfrm>
                <a:off x="2923" y="2208"/>
                <a:ext cx="2365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lgDashDot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56" name="Rectangle 1032"/>
              <p:cNvSpPr>
                <a:spLocks noChangeArrowheads="1"/>
              </p:cNvSpPr>
              <p:nvPr/>
            </p:nvSpPr>
            <p:spPr bwMode="auto">
              <a:xfrm>
                <a:off x="4924" y="1632"/>
                <a:ext cx="45" cy="1152"/>
              </a:xfrm>
              <a:prstGeom prst="rect">
                <a:avLst/>
              </a:prstGeom>
              <a:gradFill rotWithShape="0">
                <a:gsLst>
                  <a:gs pos="0">
                    <a:schemeClr val="bg1">
                      <a:gamma/>
                      <a:shade val="0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436" name="Freeform 1033"/>
              <p:cNvSpPr/>
              <p:nvPr/>
            </p:nvSpPr>
            <p:spPr>
              <a:xfrm>
                <a:off x="3020" y="2046"/>
                <a:ext cx="1" cy="348"/>
              </a:xfrm>
              <a:custGeom>
                <a:avLst/>
                <a:gdLst>
                  <a:gd name="txL" fmla="*/ 0 w 1"/>
                  <a:gd name="txT" fmla="*/ 0 h 348"/>
                  <a:gd name="txR" fmla="*/ 1 w 1"/>
                  <a:gd name="txB" fmla="*/ 348 h 348"/>
                </a:gdLst>
                <a:ahLst/>
                <a:cxnLst>
                  <a:cxn ang="0">
                    <a:pos x="0" y="0"/>
                  </a:cxn>
                  <a:cxn ang="0">
                    <a:pos x="0" y="348"/>
                  </a:cxn>
                </a:cxnLst>
                <a:rect l="txL" t="txT" r="txR" b="txB"/>
                <a:pathLst>
                  <a:path w="1" h="348">
                    <a:moveTo>
                      <a:pt x="0" y="0"/>
                    </a:moveTo>
                    <a:lnTo>
                      <a:pt x="0" y="348"/>
                    </a:lnTo>
                  </a:path>
                </a:pathLst>
              </a:custGeom>
              <a:noFill/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0437" name="Object 1029"/>
              <p:cNvGraphicFramePr>
                <a:graphicFrameLocks noChangeAspect="1"/>
              </p:cNvGraphicFramePr>
              <p:nvPr/>
            </p:nvGraphicFramePr>
            <p:xfrm>
              <a:off x="3098" y="1488"/>
              <a:ext cx="274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068" r:id="rId9" imgW="78740" imgH="78740" progId="Equation.3">
                      <p:embed/>
                    </p:oleObj>
                  </mc:Choice>
                  <mc:Fallback>
                    <p:oleObj r:id="rId9" imgW="78740" imgH="78740" progId="Equation.3">
                      <p:embed/>
                      <p:pic>
                        <p:nvPicPr>
                          <p:cNvPr id="0" name="图片 3324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098" y="1488"/>
                            <a:ext cx="274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0438" name="Object 1030"/>
              <p:cNvGraphicFramePr>
                <a:graphicFrameLocks noChangeAspect="1"/>
              </p:cNvGraphicFramePr>
              <p:nvPr/>
            </p:nvGraphicFramePr>
            <p:xfrm>
              <a:off x="4651" y="1440"/>
              <a:ext cx="269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069" r:id="rId11" imgW="57785" imgH="78740" progId="Equation.3">
                      <p:embed/>
                    </p:oleObj>
                  </mc:Choice>
                  <mc:Fallback>
                    <p:oleObj r:id="rId11" imgW="57785" imgH="78740" progId="Equation.3">
                      <p:embed/>
                      <p:pic>
                        <p:nvPicPr>
                          <p:cNvPr id="0" name="图片 3323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651" y="1440"/>
                            <a:ext cx="269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439" name="Rectangle 1036"/>
              <p:cNvSpPr/>
              <p:nvPr/>
            </p:nvSpPr>
            <p:spPr>
              <a:xfrm>
                <a:off x="3343" y="1728"/>
                <a:ext cx="36" cy="324"/>
              </a:xfrm>
              <a:prstGeom prst="rect">
                <a:avLst/>
              </a:prstGeom>
              <a:solidFill>
                <a:srgbClr val="66330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0440" name="Rectangle 1037"/>
              <p:cNvSpPr/>
              <p:nvPr/>
            </p:nvSpPr>
            <p:spPr>
              <a:xfrm>
                <a:off x="3343" y="2352"/>
                <a:ext cx="36" cy="288"/>
              </a:xfrm>
              <a:prstGeom prst="rect">
                <a:avLst/>
              </a:prstGeom>
              <a:solidFill>
                <a:srgbClr val="663300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0441" name="Line 1038"/>
              <p:cNvSpPr/>
              <p:nvPr/>
            </p:nvSpPr>
            <p:spPr>
              <a:xfrm>
                <a:off x="2933" y="2064"/>
                <a:ext cx="86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2" name="Line 1039"/>
              <p:cNvSpPr/>
              <p:nvPr/>
            </p:nvSpPr>
            <p:spPr>
              <a:xfrm>
                <a:off x="2933" y="2352"/>
                <a:ext cx="864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3" name="Line 1040"/>
              <p:cNvSpPr/>
              <p:nvPr/>
            </p:nvSpPr>
            <p:spPr>
              <a:xfrm flipV="1">
                <a:off x="3343" y="1872"/>
                <a:ext cx="454" cy="192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4" name="Line 1041"/>
              <p:cNvSpPr/>
              <p:nvPr/>
            </p:nvSpPr>
            <p:spPr>
              <a:xfrm flipV="1">
                <a:off x="3343" y="2208"/>
                <a:ext cx="454" cy="161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5" name="Line 1042"/>
              <p:cNvSpPr/>
              <p:nvPr/>
            </p:nvSpPr>
            <p:spPr>
              <a:xfrm>
                <a:off x="3797" y="1872"/>
                <a:ext cx="1183" cy="0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0446" name="Object 1031"/>
              <p:cNvGraphicFramePr>
                <a:graphicFrameLocks noChangeAspect="1"/>
              </p:cNvGraphicFramePr>
              <p:nvPr/>
            </p:nvGraphicFramePr>
            <p:xfrm>
              <a:off x="3687" y="1440"/>
              <a:ext cx="25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070" r:id="rId13" imgW="57785" imgH="78740" progId="Equation.3">
                      <p:embed/>
                    </p:oleObj>
                  </mc:Choice>
                  <mc:Fallback>
                    <p:oleObj r:id="rId13" imgW="57785" imgH="78740" progId="Equation.3">
                      <p:embed/>
                      <p:pic>
                        <p:nvPicPr>
                          <p:cNvPr id="0" name="图片 3325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687" y="1440"/>
                            <a:ext cx="256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447" name="Line 1044"/>
              <p:cNvSpPr/>
              <p:nvPr/>
            </p:nvSpPr>
            <p:spPr>
              <a:xfrm flipV="1">
                <a:off x="3752" y="1872"/>
                <a:ext cx="1182" cy="358"/>
              </a:xfrm>
              <a:prstGeom prst="line">
                <a:avLst/>
              </a:prstGeom>
              <a:ln w="19050" cap="flat" cmpd="sng">
                <a:solidFill>
                  <a:srgbClr val="FF66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0448" name="Object 1032"/>
              <p:cNvGraphicFramePr>
                <a:graphicFrameLocks noChangeAspect="1"/>
              </p:cNvGraphicFramePr>
              <p:nvPr/>
            </p:nvGraphicFramePr>
            <p:xfrm>
              <a:off x="5015" y="2208"/>
              <a:ext cx="16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071" r:id="rId15" imgW="165100" imgH="190500" progId="Equation.3">
                      <p:embed/>
                    </p:oleObj>
                  </mc:Choice>
                  <mc:Fallback>
                    <p:oleObj r:id="rId15" imgW="165100" imgH="190500" progId="Equation.3">
                      <p:embed/>
                      <p:pic>
                        <p:nvPicPr>
                          <p:cNvPr id="0" name="图片 3326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5015" y="2208"/>
                            <a:ext cx="164" cy="24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0449" name="Object 1033"/>
              <p:cNvGraphicFramePr>
                <a:graphicFrameLocks noChangeAspect="1"/>
              </p:cNvGraphicFramePr>
              <p:nvPr/>
            </p:nvGraphicFramePr>
            <p:xfrm>
              <a:off x="3115" y="2064"/>
              <a:ext cx="184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072" r:id="rId17" imgW="78740" imgH="136525" progId="Equation.3">
                      <p:embed/>
                    </p:oleObj>
                  </mc:Choice>
                  <mc:Fallback>
                    <p:oleObj r:id="rId17" imgW="78740" imgH="136525" progId="Equation.3">
                      <p:embed/>
                      <p:pic>
                        <p:nvPicPr>
                          <p:cNvPr id="0" name="图片 3327"/>
                          <p:cNvPicPr/>
                          <p:nvPr/>
                        </p:nvPicPr>
                        <p:blipFill>
                          <a:blip r:embed="rId18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115" y="2064"/>
                            <a:ext cx="184" cy="31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450" name="Line 1048"/>
              <p:cNvSpPr/>
              <p:nvPr/>
            </p:nvSpPr>
            <p:spPr>
              <a:xfrm>
                <a:off x="3797" y="2064"/>
                <a:ext cx="1137" cy="14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51" name="Line 1049"/>
              <p:cNvSpPr/>
              <p:nvPr/>
            </p:nvSpPr>
            <p:spPr>
              <a:xfrm flipV="1">
                <a:off x="3797" y="2208"/>
                <a:ext cx="1137" cy="144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52" name="Oval 1050"/>
              <p:cNvSpPr/>
              <p:nvPr/>
            </p:nvSpPr>
            <p:spPr>
              <a:xfrm>
                <a:off x="3741" y="1728"/>
                <a:ext cx="137" cy="960"/>
              </a:xfrm>
              <a:prstGeom prst="ellipse">
                <a:avLst/>
              </a:prstGeom>
              <a:solidFill>
                <a:srgbClr val="00FFCC">
                  <a:alpha val="50195"/>
                </a:srgbClr>
              </a:solidFill>
              <a:ln w="19050" cap="flat" cmpd="sng">
                <a:solidFill>
                  <a:srgbClr val="0066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60453" name="Line 1051"/>
              <p:cNvSpPr/>
              <p:nvPr/>
            </p:nvSpPr>
            <p:spPr>
              <a:xfrm flipV="1">
                <a:off x="3787" y="2688"/>
                <a:ext cx="118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0454" name="Object 1034"/>
              <p:cNvGraphicFramePr>
                <a:graphicFrameLocks noChangeAspect="1"/>
              </p:cNvGraphicFramePr>
              <p:nvPr/>
            </p:nvGraphicFramePr>
            <p:xfrm>
              <a:off x="4287" y="2352"/>
              <a:ext cx="354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073" r:id="rId19" imgW="110490" imgH="173355" progId="Equation.3">
                      <p:embed/>
                    </p:oleObj>
                  </mc:Choice>
                  <mc:Fallback>
                    <p:oleObj r:id="rId19" imgW="110490" imgH="173355" progId="Equation.3">
                      <p:embed/>
                      <p:pic>
                        <p:nvPicPr>
                          <p:cNvPr id="0" name="图片 3328"/>
                          <p:cNvPicPr/>
                          <p:nvPr/>
                        </p:nvPicPr>
                        <p:blipFill>
                          <a:blip r:embed="rId20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287" y="2352"/>
                            <a:ext cx="354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0426" name="Group 1070"/>
            <p:cNvGrpSpPr/>
            <p:nvPr/>
          </p:nvGrpSpPr>
          <p:grpSpPr>
            <a:xfrm>
              <a:off x="4934" y="1872"/>
              <a:ext cx="445" cy="336"/>
              <a:chOff x="5099" y="2976"/>
              <a:chExt cx="469" cy="336"/>
            </a:xfrm>
          </p:grpSpPr>
          <p:sp>
            <p:nvSpPr>
              <p:cNvPr id="60429" name="Line 1071"/>
              <p:cNvSpPr/>
              <p:nvPr/>
            </p:nvSpPr>
            <p:spPr>
              <a:xfrm>
                <a:off x="5099" y="2976"/>
                <a:ext cx="37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0430" name="Object 1028"/>
              <p:cNvGraphicFramePr>
                <a:graphicFrameLocks noChangeAspect="1"/>
              </p:cNvGraphicFramePr>
              <p:nvPr/>
            </p:nvGraphicFramePr>
            <p:xfrm>
              <a:off x="5347" y="3024"/>
              <a:ext cx="221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074" r:id="rId21" imgW="83820" imgH="94615" progId="Equation.3">
                      <p:embed/>
                    </p:oleObj>
                  </mc:Choice>
                  <mc:Fallback>
                    <p:oleObj r:id="rId21" imgW="83820" imgH="94615" progId="Equation.3">
                      <p:embed/>
                      <p:pic>
                        <p:nvPicPr>
                          <p:cNvPr id="0" name="图片 3329"/>
                          <p:cNvPicPr/>
                          <p:nvPr/>
                        </p:nvPicPr>
                        <p:blipFill>
                          <a:blip r:embed="rId22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5347" y="3024"/>
                            <a:ext cx="221" cy="25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0431" name="Line 1073"/>
              <p:cNvSpPr/>
              <p:nvPr/>
            </p:nvSpPr>
            <p:spPr>
              <a:xfrm>
                <a:off x="5291" y="2976"/>
                <a:ext cx="0" cy="33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27" name="AutoShape 1075"/>
            <p:cNvSpPr/>
            <p:nvPr/>
          </p:nvSpPr>
          <p:spPr>
            <a:xfrm>
              <a:off x="3441" y="1584"/>
              <a:ext cx="207" cy="240"/>
            </a:xfrm>
            <a:prstGeom prst="wedgeRoundRectCallout">
              <a:avLst>
                <a:gd name="adj1" fmla="val 2176"/>
                <a:gd name="adj2" fmla="val 132917"/>
                <a:gd name="adj3" fmla="val 16667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</a:pPr>
              <a:endParaRPr lang="zh-CN" altLang="zh-CN" sz="2800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60428" name="Object 1027"/>
            <p:cNvGraphicFramePr>
              <a:graphicFrameLocks noChangeAspect="1"/>
            </p:cNvGraphicFramePr>
            <p:nvPr/>
          </p:nvGraphicFramePr>
          <p:xfrm>
            <a:off x="3471" y="1611"/>
            <a:ext cx="159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75" r:id="rId23" imgW="177800" imgH="241300" progId="Equation.3">
                    <p:embed/>
                  </p:oleObj>
                </mc:Choice>
                <mc:Fallback>
                  <p:oleObj r:id="rId23" imgW="177800" imgH="241300" progId="Equation.3">
                    <p:embed/>
                    <p:pic>
                      <p:nvPicPr>
                        <p:cNvPr id="0" name="图片 333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71" y="1611"/>
                          <a:ext cx="159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423" name="Rectangle 1089"/>
          <p:cNvSpPr/>
          <p:nvPr/>
        </p:nvSpPr>
        <p:spPr>
          <a:xfrm>
            <a:off x="3924300" y="38100"/>
            <a:ext cx="20875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结果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6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6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90" grpId="0"/>
      <p:bldP spid="5329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1"/>
          <p:cNvGrpSpPr/>
          <p:nvPr/>
        </p:nvGrpSpPr>
        <p:grpSpPr>
          <a:xfrm>
            <a:off x="590550" y="5181600"/>
            <a:ext cx="8401050" cy="609600"/>
            <a:chOff x="324" y="2544"/>
            <a:chExt cx="5292" cy="384"/>
          </a:xfrm>
        </p:grpSpPr>
        <p:sp>
          <p:nvSpPr>
            <p:cNvPr id="61462" name="Text Box 3"/>
            <p:cNvSpPr txBox="1"/>
            <p:nvPr/>
          </p:nvSpPr>
          <p:spPr>
            <a:xfrm>
              <a:off x="324" y="2544"/>
              <a:ext cx="52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Blip>
                  <a:blip r:embed="rId3"/>
                </a:buBlip>
              </a:pPr>
              <a:r>
                <a:rPr lang="en-US" altLang="zh-CN" dirty="0">
                  <a:solidFill>
                    <a:srgbClr val="003366"/>
                  </a:solidFill>
                  <a:latin typeface="宋体" panose="02010600030101010101" pitchFamily="2" charset="-122"/>
                </a:rPr>
                <a:t>   </a:t>
              </a:r>
              <a:r>
                <a:rPr lang="zh-CN" altLang="en-US" dirty="0">
                  <a:solidFill>
                    <a:srgbClr val="003366"/>
                  </a:solidFill>
                  <a:latin typeface="宋体" panose="02010600030101010101" pitchFamily="2" charset="-122"/>
                </a:rPr>
                <a:t>一定， 越大， 越大，衍射效应越明显</a:t>
              </a:r>
              <a:r>
                <a:rPr lang="en-US" altLang="zh-CN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.</a:t>
              </a:r>
            </a:p>
          </p:txBody>
        </p:sp>
        <p:grpSp>
          <p:nvGrpSpPr>
            <p:cNvPr id="61463" name="Group 40"/>
            <p:cNvGrpSpPr/>
            <p:nvPr/>
          </p:nvGrpSpPr>
          <p:grpSpPr>
            <a:xfrm>
              <a:off x="768" y="2544"/>
              <a:ext cx="2038" cy="384"/>
              <a:chOff x="768" y="2544"/>
              <a:chExt cx="2038" cy="384"/>
            </a:xfrm>
          </p:grpSpPr>
          <p:graphicFrame>
            <p:nvGraphicFramePr>
              <p:cNvPr id="61464" name="Object 1032"/>
              <p:cNvGraphicFramePr>
                <a:graphicFrameLocks noChangeAspect="1"/>
              </p:cNvGraphicFramePr>
              <p:nvPr/>
            </p:nvGraphicFramePr>
            <p:xfrm>
              <a:off x="768" y="2544"/>
              <a:ext cx="21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89" r:id="rId4" imgW="78740" imgH="136525" progId="Equation.3">
                      <p:embed/>
                    </p:oleObj>
                  </mc:Choice>
                  <mc:Fallback>
                    <p:oleObj r:id="rId4" imgW="78740" imgH="136525" progId="Equation.3">
                      <p:embed/>
                      <p:pic>
                        <p:nvPicPr>
                          <p:cNvPr id="0" name="图片 3331"/>
                          <p:cNvPicPr/>
                          <p:nvPr/>
                        </p:nvPicPr>
                        <p:blipFill>
                          <a:blip r:embed="rId5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768" y="2544"/>
                            <a:ext cx="218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465" name="Object 1033"/>
              <p:cNvGraphicFramePr>
                <a:graphicFrameLocks noChangeAspect="1"/>
              </p:cNvGraphicFramePr>
              <p:nvPr/>
            </p:nvGraphicFramePr>
            <p:xfrm>
              <a:off x="1584" y="2592"/>
              <a:ext cx="230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90" r:id="rId6" imgW="94615" imgH="131445" progId="Equation.3">
                      <p:embed/>
                    </p:oleObj>
                  </mc:Choice>
                  <mc:Fallback>
                    <p:oleObj r:id="rId6" imgW="94615" imgH="131445" progId="Equation.3">
                      <p:embed/>
                      <p:pic>
                        <p:nvPicPr>
                          <p:cNvPr id="0" name="图片 3332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584" y="2592"/>
                            <a:ext cx="230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466" name="Object 1034"/>
              <p:cNvGraphicFramePr>
                <a:graphicFrameLocks noChangeAspect="1"/>
              </p:cNvGraphicFramePr>
              <p:nvPr/>
            </p:nvGraphicFramePr>
            <p:xfrm>
              <a:off x="2544" y="2544"/>
              <a:ext cx="262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91" r:id="rId8" imgW="110490" imgH="184150" progId="Equation.3">
                      <p:embed/>
                    </p:oleObj>
                  </mc:Choice>
                  <mc:Fallback>
                    <p:oleObj r:id="rId8" imgW="110490" imgH="184150" progId="Equation.3">
                      <p:embed/>
                      <p:pic>
                        <p:nvPicPr>
                          <p:cNvPr id="0" name="图片 3333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544" y="2544"/>
                            <a:ext cx="262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5562600" y="2667000"/>
            <a:ext cx="2286000" cy="588963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50000">
                <a:srgbClr val="FFFFFF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2"/>
            </a:solidFill>
            <a:miter lim="800000"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solidFill>
                  <a:srgbClr val="00336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光直线传播</a:t>
            </a:r>
          </a:p>
        </p:txBody>
      </p:sp>
      <p:graphicFrame>
        <p:nvGraphicFramePr>
          <p:cNvPr id="57344" name="Object 1024"/>
          <p:cNvGraphicFramePr>
            <a:graphicFrameLocks noChangeAspect="1"/>
          </p:cNvGraphicFramePr>
          <p:nvPr/>
        </p:nvGraphicFramePr>
        <p:xfrm>
          <a:off x="5467350" y="1652588"/>
          <a:ext cx="22288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2" r:id="rId10" imgW="604520" imgH="236220" progId="Equation.3">
                  <p:embed/>
                </p:oleObj>
              </mc:Choice>
              <mc:Fallback>
                <p:oleObj r:id="rId10" imgW="604520" imgH="236220" progId="Equation.3">
                  <p:embed/>
                  <p:pic>
                    <p:nvPicPr>
                      <p:cNvPr id="0" name="图片 3335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467350" y="1652588"/>
                        <a:ext cx="2228850" cy="1050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3"/>
          <p:cNvGrpSpPr/>
          <p:nvPr/>
        </p:nvGrpSpPr>
        <p:grpSpPr>
          <a:xfrm>
            <a:off x="2363788" y="1824038"/>
            <a:ext cx="3638550" cy="619125"/>
            <a:chOff x="1489" y="1149"/>
            <a:chExt cx="2292" cy="390"/>
          </a:xfrm>
        </p:grpSpPr>
        <p:sp>
          <p:nvSpPr>
            <p:cNvPr id="61459" name="Text Box 10"/>
            <p:cNvSpPr txBox="1"/>
            <p:nvPr/>
          </p:nvSpPr>
          <p:spPr>
            <a:xfrm>
              <a:off x="1489" y="1149"/>
              <a:ext cx="229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宋体" panose="02010600030101010101" pitchFamily="2" charset="-122"/>
                </a:rPr>
                <a:t>  </a:t>
              </a:r>
              <a:r>
                <a:rPr lang="zh-CN" altLang="en-US" dirty="0">
                  <a:solidFill>
                    <a:srgbClr val="003366"/>
                  </a:solidFill>
                  <a:latin typeface="宋体" panose="02010600030101010101" pitchFamily="2" charset="-122"/>
                </a:rPr>
                <a:t>增</a:t>
              </a:r>
              <a:r>
                <a:rPr lang="zh-CN" altLang="en-US" dirty="0">
                  <a:solidFill>
                    <a:srgbClr val="CC0000"/>
                  </a:solidFill>
                  <a:latin typeface="宋体" panose="02010600030101010101" pitchFamily="2" charset="-122"/>
                </a:rPr>
                <a:t>大</a:t>
              </a:r>
              <a:r>
                <a:rPr lang="zh-CN" altLang="en-US" dirty="0">
                  <a:latin typeface="宋体" panose="02010600030101010101" pitchFamily="2" charset="-122"/>
                </a:rPr>
                <a:t>， </a:t>
              </a:r>
              <a:r>
                <a:rPr lang="zh-CN" altLang="en-US" dirty="0">
                  <a:solidFill>
                    <a:srgbClr val="003366"/>
                  </a:solidFill>
                  <a:latin typeface="宋体" panose="02010600030101010101" pitchFamily="2" charset="-122"/>
                </a:rPr>
                <a:t>减</a:t>
              </a:r>
              <a:r>
                <a:rPr lang="zh-CN" altLang="en-US" dirty="0">
                  <a:solidFill>
                    <a:srgbClr val="0000FF"/>
                  </a:solidFill>
                  <a:latin typeface="宋体" panose="02010600030101010101" pitchFamily="2" charset="-122"/>
                </a:rPr>
                <a:t>小</a:t>
              </a:r>
            </a:p>
          </p:txBody>
        </p:sp>
        <p:graphicFrame>
          <p:nvGraphicFramePr>
            <p:cNvPr id="61460" name="Object 1030"/>
            <p:cNvGraphicFramePr>
              <a:graphicFrameLocks noChangeAspect="1"/>
            </p:cNvGraphicFramePr>
            <p:nvPr/>
          </p:nvGraphicFramePr>
          <p:xfrm>
            <a:off x="2473" y="1152"/>
            <a:ext cx="263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3" r:id="rId12" imgW="110490" imgH="184150" progId="Equation.3">
                    <p:embed/>
                  </p:oleObj>
                </mc:Choice>
                <mc:Fallback>
                  <p:oleObj r:id="rId12" imgW="110490" imgH="184150" progId="Equation.3">
                    <p:embed/>
                    <p:pic>
                      <p:nvPicPr>
                        <p:cNvPr id="0" name="图片 3334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73" y="1152"/>
                          <a:ext cx="263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1" name="Object 1031"/>
            <p:cNvGraphicFramePr>
              <a:graphicFrameLocks noChangeAspect="1"/>
            </p:cNvGraphicFramePr>
            <p:nvPr/>
          </p:nvGraphicFramePr>
          <p:xfrm>
            <a:off x="1614" y="1149"/>
            <a:ext cx="20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4" r:id="rId14" imgW="78740" imgH="136525" progId="Equation.3">
                    <p:embed/>
                  </p:oleObj>
                </mc:Choice>
                <mc:Fallback>
                  <p:oleObj r:id="rId14" imgW="78740" imgH="136525" progId="Equation.3">
                    <p:embed/>
                    <p:pic>
                      <p:nvPicPr>
                        <p:cNvPr id="0" name="图片 3336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14" y="1149"/>
                          <a:ext cx="207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3"/>
          <p:cNvGrpSpPr/>
          <p:nvPr/>
        </p:nvGrpSpPr>
        <p:grpSpPr>
          <a:xfrm>
            <a:off x="533400" y="2544763"/>
            <a:ext cx="2495550" cy="579437"/>
            <a:chOff x="96" y="1209"/>
            <a:chExt cx="1572" cy="365"/>
          </a:xfrm>
        </p:grpSpPr>
        <p:sp>
          <p:nvSpPr>
            <p:cNvPr id="61457" name="Text Box 14"/>
            <p:cNvSpPr txBox="1"/>
            <p:nvPr/>
          </p:nvSpPr>
          <p:spPr>
            <a:xfrm>
              <a:off x="96" y="1209"/>
              <a:ext cx="15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Blip>
                  <a:blip r:embed="rId3"/>
                </a:buBlip>
              </a:pPr>
              <a:r>
                <a:rPr lang="en-US" altLang="zh-CN" dirty="0">
                  <a:latin typeface="宋体" panose="02010600030101010101" pitchFamily="2" charset="-122"/>
                </a:rPr>
                <a:t>   </a:t>
              </a:r>
              <a:r>
                <a:rPr lang="zh-CN" altLang="en-US" dirty="0">
                  <a:solidFill>
                    <a:srgbClr val="003366"/>
                  </a:solidFill>
                  <a:latin typeface="宋体" panose="02010600030101010101" pitchFamily="2" charset="-122"/>
                </a:rPr>
                <a:t>一定</a:t>
              </a:r>
            </a:p>
          </p:txBody>
        </p:sp>
        <p:graphicFrame>
          <p:nvGraphicFramePr>
            <p:cNvPr id="61458" name="Object 1029"/>
            <p:cNvGraphicFramePr>
              <a:graphicFrameLocks noChangeAspect="1"/>
            </p:cNvGraphicFramePr>
            <p:nvPr/>
          </p:nvGraphicFramePr>
          <p:xfrm>
            <a:off x="420" y="1231"/>
            <a:ext cx="243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5" r:id="rId16" imgW="94615" imgH="131445" progId="Equation.3">
                    <p:embed/>
                  </p:oleObj>
                </mc:Choice>
                <mc:Fallback>
                  <p:oleObj r:id="rId16" imgW="94615" imgH="131445" progId="Equation.3">
                    <p:embed/>
                    <p:pic>
                      <p:nvPicPr>
                        <p:cNvPr id="0" name="图片 3337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0" y="1231"/>
                          <a:ext cx="243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2"/>
          <p:cNvGrpSpPr/>
          <p:nvPr/>
        </p:nvGrpSpPr>
        <p:grpSpPr>
          <a:xfrm>
            <a:off x="2555875" y="3357563"/>
            <a:ext cx="3740150" cy="671512"/>
            <a:chOff x="1617" y="2073"/>
            <a:chExt cx="2356" cy="423"/>
          </a:xfrm>
        </p:grpSpPr>
        <p:sp>
          <p:nvSpPr>
            <p:cNvPr id="61454" name="Rectangle 17"/>
            <p:cNvSpPr/>
            <p:nvPr/>
          </p:nvSpPr>
          <p:spPr>
            <a:xfrm>
              <a:off x="1729" y="2073"/>
              <a:ext cx="22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dirty="0">
                  <a:solidFill>
                    <a:srgbClr val="003366"/>
                  </a:solidFill>
                  <a:latin typeface="宋体" panose="02010600030101010101" pitchFamily="2" charset="-122"/>
                </a:rPr>
                <a:t>减</a:t>
              </a:r>
              <a:r>
                <a:rPr lang="zh-CN" altLang="en-US" dirty="0">
                  <a:solidFill>
                    <a:srgbClr val="0000FF"/>
                  </a:solidFill>
                  <a:latin typeface="宋体" panose="02010600030101010101" pitchFamily="2" charset="-122"/>
                </a:rPr>
                <a:t>小</a:t>
              </a:r>
              <a:r>
                <a:rPr lang="zh-CN" altLang="en-US" dirty="0">
                  <a:latin typeface="宋体" panose="02010600030101010101" pitchFamily="2" charset="-122"/>
                </a:rPr>
                <a:t>， </a:t>
              </a:r>
              <a:r>
                <a:rPr lang="zh-CN" altLang="en-US" dirty="0">
                  <a:solidFill>
                    <a:srgbClr val="003366"/>
                  </a:solidFill>
                  <a:latin typeface="宋体" panose="02010600030101010101" pitchFamily="2" charset="-122"/>
                </a:rPr>
                <a:t>增</a:t>
              </a:r>
              <a:r>
                <a:rPr lang="zh-CN" altLang="en-US" dirty="0">
                  <a:solidFill>
                    <a:srgbClr val="CC0000"/>
                  </a:solidFill>
                  <a:latin typeface="宋体" panose="02010600030101010101" pitchFamily="2" charset="-122"/>
                </a:rPr>
                <a:t>大</a:t>
              </a:r>
            </a:p>
          </p:txBody>
        </p:sp>
        <p:graphicFrame>
          <p:nvGraphicFramePr>
            <p:cNvPr id="61455" name="Object 1027"/>
            <p:cNvGraphicFramePr>
              <a:graphicFrameLocks noChangeAspect="1"/>
            </p:cNvGraphicFramePr>
            <p:nvPr/>
          </p:nvGraphicFramePr>
          <p:xfrm>
            <a:off x="2475" y="2112"/>
            <a:ext cx="26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6" r:id="rId18" imgW="110490" imgH="184150" progId="Equation.3">
                    <p:embed/>
                  </p:oleObj>
                </mc:Choice>
                <mc:Fallback>
                  <p:oleObj r:id="rId18" imgW="110490" imgH="184150" progId="Equation.3">
                    <p:embed/>
                    <p:pic>
                      <p:nvPicPr>
                        <p:cNvPr id="0" name="图片 3338"/>
                        <p:cNvPicPr/>
                        <p:nvPr/>
                      </p:nvPicPr>
                      <p:blipFill>
                        <a:blip r:embed="rId19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75" y="2112"/>
                          <a:ext cx="261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6" name="Object 1028"/>
            <p:cNvGraphicFramePr>
              <a:graphicFrameLocks noChangeAspect="1"/>
            </p:cNvGraphicFramePr>
            <p:nvPr/>
          </p:nvGraphicFramePr>
          <p:xfrm>
            <a:off x="1617" y="2129"/>
            <a:ext cx="207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7" r:id="rId20" imgW="78740" imgH="136525" progId="Equation.3">
                    <p:embed/>
                  </p:oleObj>
                </mc:Choice>
                <mc:Fallback>
                  <p:oleObj r:id="rId20" imgW="78740" imgH="136525" progId="Equation.3">
                    <p:embed/>
                    <p:pic>
                      <p:nvPicPr>
                        <p:cNvPr id="0" name="图片 3339"/>
                        <p:cNvPicPr/>
                        <p:nvPr/>
                      </p:nvPicPr>
                      <p:blipFill>
                        <a:blip r:embed="rId21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617" y="2129"/>
                          <a:ext cx="207" cy="3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345" name="Object 1025"/>
          <p:cNvGraphicFramePr>
            <a:graphicFrameLocks noChangeAspect="1"/>
          </p:cNvGraphicFramePr>
          <p:nvPr/>
        </p:nvGraphicFramePr>
        <p:xfrm>
          <a:off x="5532438" y="3203575"/>
          <a:ext cx="208756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8" r:id="rId22" imgW="609600" imgH="236220" progId="Equation.3">
                  <p:embed/>
                </p:oleObj>
              </mc:Choice>
              <mc:Fallback>
                <p:oleObj r:id="rId22" imgW="609600" imgH="236220" progId="Equation.3">
                  <p:embed/>
                  <p:pic>
                    <p:nvPicPr>
                      <p:cNvPr id="0" name="图片 3340"/>
                      <p:cNvPicPr/>
                      <p:nvPr/>
                    </p:nvPicPr>
                    <p:blipFill>
                      <a:blip r:embed="rId23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32438" y="3203575"/>
                        <a:ext cx="2087562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1" name="AutoShape 21"/>
          <p:cNvSpPr/>
          <p:nvPr/>
        </p:nvSpPr>
        <p:spPr>
          <a:xfrm>
            <a:off x="2362200" y="1905000"/>
            <a:ext cx="76200" cy="1981200"/>
          </a:xfrm>
          <a:prstGeom prst="leftBrace">
            <a:avLst>
              <a:gd name="adj1" fmla="val 216666"/>
              <a:gd name="adj2" fmla="val 50000"/>
            </a:avLst>
          </a:prstGeom>
          <a:noFill/>
          <a:ln w="28575" cap="flat" cmpd="sng">
            <a:solidFill>
              <a:srgbClr val="0033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982" name="Text Box 22"/>
          <p:cNvSpPr txBox="1"/>
          <p:nvPr/>
        </p:nvSpPr>
        <p:spPr>
          <a:xfrm>
            <a:off x="5638800" y="4343400"/>
            <a:ext cx="2057400" cy="588963"/>
          </a:xfrm>
          <a:prstGeom prst="rect">
            <a:avLst/>
          </a:prstGeom>
          <a:gradFill rotWithShape="0">
            <a:gsLst>
              <a:gs pos="0">
                <a:srgbClr val="FFD9FF"/>
              </a:gs>
              <a:gs pos="50000">
                <a:srgbClr val="FFFFFF"/>
              </a:gs>
              <a:gs pos="100000">
                <a:srgbClr val="FFD9FF"/>
              </a:gs>
            </a:gsLst>
            <a:lin ang="5400000" scaled="1"/>
            <a:tileRect/>
          </a:gradFill>
          <a:ln w="9525" cap="flat" cmpd="sng">
            <a:solidFill>
              <a:srgbClr val="CC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3366"/>
                </a:solidFill>
                <a:latin typeface="Arial" panose="020B0604020202020204" pitchFamily="34" charset="0"/>
              </a:rPr>
              <a:t>衍射最大</a:t>
            </a:r>
          </a:p>
        </p:txBody>
      </p:sp>
      <p:graphicFrame>
        <p:nvGraphicFramePr>
          <p:cNvPr id="57346" name="Object 1026"/>
          <p:cNvGraphicFramePr>
            <a:graphicFrameLocks noChangeAspect="1"/>
          </p:cNvGraphicFramePr>
          <p:nvPr/>
        </p:nvGraphicFramePr>
        <p:xfrm>
          <a:off x="4724400" y="863600"/>
          <a:ext cx="2057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99" r:id="rId24" imgW="867410" imgH="383540" progId="Equation.3">
                  <p:embed/>
                </p:oleObj>
              </mc:Choice>
              <mc:Fallback>
                <p:oleObj r:id="rId24" imgW="867410" imgH="383540" progId="Equation.3">
                  <p:embed/>
                  <p:pic>
                    <p:nvPicPr>
                      <p:cNvPr id="0" name="图片 3341"/>
                      <p:cNvPicPr/>
                      <p:nvPr/>
                    </p:nvPicPr>
                    <p:blipFill>
                      <a:blip r:embed="rId25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24400" y="863600"/>
                        <a:ext cx="20574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Rectangle 25"/>
          <p:cNvSpPr/>
          <p:nvPr/>
        </p:nvSpPr>
        <p:spPr>
          <a:xfrm>
            <a:off x="1143000" y="1020763"/>
            <a:ext cx="3505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3366"/>
                </a:solidFill>
                <a:latin typeface="Times New Roman" panose="02020603050405020304" pitchFamily="18" charset="0"/>
              </a:rPr>
              <a:t>第一暗纹的衍射角</a:t>
            </a:r>
          </a:p>
        </p:txBody>
      </p:sp>
      <p:sp>
        <p:nvSpPr>
          <p:cNvPr id="61453" name="Rectangle 44"/>
          <p:cNvSpPr/>
          <p:nvPr/>
        </p:nvSpPr>
        <p:spPr>
          <a:xfrm>
            <a:off x="3924300" y="107950"/>
            <a:ext cx="1800225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讨 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57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40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7" grpId="0" animBg="1"/>
      <p:bldP spid="40981" grpId="0" animBg="1"/>
      <p:bldP spid="4098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6"/>
          <p:cNvGrpSpPr/>
          <p:nvPr/>
        </p:nvGrpSpPr>
        <p:grpSpPr>
          <a:xfrm>
            <a:off x="755650" y="1477645"/>
            <a:ext cx="3296285" cy="797560"/>
            <a:chOff x="528" y="2784"/>
            <a:chExt cx="2256" cy="605"/>
          </a:xfrm>
        </p:grpSpPr>
        <p:sp>
          <p:nvSpPr>
            <p:cNvPr id="62480" name="Text Box 27"/>
            <p:cNvSpPr txBox="1"/>
            <p:nvPr/>
          </p:nvSpPr>
          <p:spPr>
            <a:xfrm>
              <a:off x="528" y="2898"/>
              <a:ext cx="1248" cy="3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CC0000"/>
                  </a:solidFill>
                  <a:latin typeface="宋体" panose="02010600030101010101" pitchFamily="2" charset="-122"/>
                </a:rPr>
                <a:t>角范围 </a:t>
              </a:r>
            </a:p>
          </p:txBody>
        </p:sp>
        <p:graphicFrame>
          <p:nvGraphicFramePr>
            <p:cNvPr id="62481" name="Object 3"/>
            <p:cNvGraphicFramePr>
              <a:graphicFrameLocks noChangeAspect="1"/>
            </p:cNvGraphicFramePr>
            <p:nvPr/>
          </p:nvGraphicFramePr>
          <p:xfrm>
            <a:off x="1344" y="2784"/>
            <a:ext cx="1440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83" r:id="rId8" imgW="1040765" imgH="383540" progId="Equation.3">
                    <p:embed/>
                  </p:oleObj>
                </mc:Choice>
                <mc:Fallback>
                  <p:oleObj r:id="rId8" imgW="1040765" imgH="383540" progId="Equation.3">
                    <p:embed/>
                    <p:pic>
                      <p:nvPicPr>
                        <p:cNvPr id="0" name="图片 3342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44" y="2784"/>
                          <a:ext cx="1440" cy="6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9"/>
          <p:cNvGrpSpPr/>
          <p:nvPr/>
        </p:nvGrpSpPr>
        <p:grpSpPr>
          <a:xfrm>
            <a:off x="4500245" y="1500505"/>
            <a:ext cx="3458482" cy="855518"/>
            <a:chOff x="3120" y="2755"/>
            <a:chExt cx="2135" cy="513"/>
          </a:xfrm>
        </p:grpSpPr>
        <p:sp>
          <p:nvSpPr>
            <p:cNvPr id="62478" name="Rectangle 30"/>
            <p:cNvSpPr/>
            <p:nvPr/>
          </p:nvSpPr>
          <p:spPr>
            <a:xfrm>
              <a:off x="3120" y="2878"/>
              <a:ext cx="1968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800" dirty="0">
                  <a:solidFill>
                    <a:srgbClr val="CC0000"/>
                  </a:solidFill>
                  <a:latin typeface="宋体" panose="02010600030101010101" pitchFamily="2" charset="-122"/>
                </a:rPr>
                <a:t>线范围</a:t>
              </a:r>
            </a:p>
          </p:txBody>
        </p:sp>
        <p:graphicFrame>
          <p:nvGraphicFramePr>
            <p:cNvPr id="62479" name="Object 2"/>
            <p:cNvGraphicFramePr>
              <a:graphicFrameLocks noChangeAspect="1"/>
            </p:cNvGraphicFramePr>
            <p:nvPr/>
          </p:nvGraphicFramePr>
          <p:xfrm>
            <a:off x="3888" y="2755"/>
            <a:ext cx="1367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84" r:id="rId10" imgW="1082675" imgH="383540" progId="Equation.3">
                    <p:embed/>
                  </p:oleObj>
                </mc:Choice>
                <mc:Fallback>
                  <p:oleObj r:id="rId10" imgW="1082675" imgH="383540" progId="Equation.3">
                    <p:embed/>
                    <p:pic>
                      <p:nvPicPr>
                        <p:cNvPr id="0" name="图片 3343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88" y="2755"/>
                          <a:ext cx="1367" cy="51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2"/>
          <p:cNvGrpSpPr/>
          <p:nvPr/>
        </p:nvGrpSpPr>
        <p:grpSpPr>
          <a:xfrm>
            <a:off x="767080" y="2346960"/>
            <a:ext cx="5683250" cy="903605"/>
            <a:chOff x="816" y="2832"/>
            <a:chExt cx="3888" cy="624"/>
          </a:xfrm>
        </p:grpSpPr>
        <p:sp>
          <p:nvSpPr>
            <p:cNvPr id="62474" name="Rectangle 33"/>
            <p:cNvSpPr/>
            <p:nvPr/>
          </p:nvSpPr>
          <p:spPr>
            <a:xfrm>
              <a:off x="816" y="2832"/>
              <a:ext cx="3888" cy="624"/>
            </a:xfrm>
            <a:prstGeom prst="rect">
              <a:avLst/>
            </a:prstGeom>
            <a:gradFill rotWithShape="0">
              <a:gsLst>
                <a:gs pos="0">
                  <a:srgbClr val="DEF1F2"/>
                </a:gs>
                <a:gs pos="50000">
                  <a:srgbClr val="FFFFFF"/>
                </a:gs>
                <a:gs pos="100000">
                  <a:srgbClr val="DEF1F2"/>
                </a:gs>
              </a:gsLst>
              <a:lin ang="5400000" scaled="1"/>
              <a:tileRect/>
            </a:gradFill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grpSp>
          <p:nvGrpSpPr>
            <p:cNvPr id="62475" name="Group 41"/>
            <p:cNvGrpSpPr/>
            <p:nvPr/>
          </p:nvGrpSpPr>
          <p:grpSpPr>
            <a:xfrm>
              <a:off x="864" y="2868"/>
              <a:ext cx="3534" cy="564"/>
              <a:chOff x="864" y="2868"/>
              <a:chExt cx="3534" cy="564"/>
            </a:xfrm>
          </p:grpSpPr>
          <p:sp>
            <p:nvSpPr>
              <p:cNvPr id="62476" name="Text Box 34"/>
              <p:cNvSpPr txBox="1"/>
              <p:nvPr/>
            </p:nvSpPr>
            <p:spPr>
              <a:xfrm>
                <a:off x="864" y="2947"/>
                <a:ext cx="2688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03366"/>
                    </a:solidFill>
                    <a:latin typeface="宋体" panose="02010600030101010101" pitchFamily="2" charset="-122"/>
                  </a:rPr>
                  <a:t>中央明纹的宽度</a:t>
                </a:r>
              </a:p>
            </p:txBody>
          </p:sp>
          <p:graphicFrame>
            <p:nvGraphicFramePr>
              <p:cNvPr id="62477" name="Object 1"/>
              <p:cNvGraphicFramePr>
                <a:graphicFrameLocks noChangeAspect="1"/>
              </p:cNvGraphicFramePr>
              <p:nvPr/>
            </p:nvGraphicFramePr>
            <p:xfrm>
              <a:off x="2835" y="2868"/>
              <a:ext cx="1563" cy="5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085" r:id="rId12" imgW="1050925" imgH="383540" progId="Equation.3">
                      <p:embed/>
                    </p:oleObj>
                  </mc:Choice>
                  <mc:Fallback>
                    <p:oleObj r:id="rId12" imgW="1050925" imgH="383540" progId="Equation.3">
                      <p:embed/>
                      <p:pic>
                        <p:nvPicPr>
                          <p:cNvPr id="0" name="图片 3344"/>
                          <p:cNvPicPr/>
                          <p:nvPr/>
                        </p:nvPicPr>
                        <p:blipFill>
                          <a:blip r:embed="rId13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835" y="2868"/>
                            <a:ext cx="1563" cy="56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62469" name="Text Box 36"/>
          <p:cNvSpPr txBox="1"/>
          <p:nvPr/>
        </p:nvSpPr>
        <p:spPr>
          <a:xfrm>
            <a:off x="323850" y="909320"/>
            <a:ext cx="245173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rgbClr val="003366"/>
                </a:solidFill>
                <a:latin typeface="Arial" panose="020B0604020202020204" pitchFamily="34" charset="0"/>
              </a:rPr>
              <a:t>中央明纹</a:t>
            </a:r>
          </a:p>
        </p:txBody>
      </p:sp>
      <p:grpSp>
        <p:nvGrpSpPr>
          <p:cNvPr id="62470" name="Group 43"/>
          <p:cNvGrpSpPr/>
          <p:nvPr/>
        </p:nvGrpSpPr>
        <p:grpSpPr>
          <a:xfrm>
            <a:off x="3060065" y="911225"/>
            <a:ext cx="3620770" cy="522605"/>
            <a:chOff x="2517" y="754"/>
            <a:chExt cx="2592" cy="329"/>
          </a:xfrm>
        </p:grpSpPr>
        <p:sp>
          <p:nvSpPr>
            <p:cNvPr id="62472" name="Rectangle 39"/>
            <p:cNvSpPr/>
            <p:nvPr/>
          </p:nvSpPr>
          <p:spPr>
            <a:xfrm>
              <a:off x="2517" y="754"/>
              <a:ext cx="259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（          的两暗纹间）</a:t>
              </a:r>
            </a:p>
          </p:txBody>
        </p:sp>
        <p:graphicFrame>
          <p:nvGraphicFramePr>
            <p:cNvPr id="62473" name="Object 0"/>
            <p:cNvGraphicFramePr>
              <a:graphicFrameLocks noChangeAspect="1"/>
            </p:cNvGraphicFramePr>
            <p:nvPr/>
          </p:nvGraphicFramePr>
          <p:xfrm>
            <a:off x="2885" y="790"/>
            <a:ext cx="422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86" r:id="rId14" imgW="315595" imgH="136525" progId="Equation.3">
                    <p:embed/>
                  </p:oleObj>
                </mc:Choice>
                <mc:Fallback>
                  <p:oleObj r:id="rId14" imgW="315595" imgH="136525" progId="Equation.3">
                    <p:embed/>
                    <p:pic>
                      <p:nvPicPr>
                        <p:cNvPr id="0" name="图片 3345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5" y="790"/>
                          <a:ext cx="422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471" name="Rectangle 44"/>
          <p:cNvSpPr/>
          <p:nvPr/>
        </p:nvSpPr>
        <p:spPr>
          <a:xfrm>
            <a:off x="3924300" y="107950"/>
            <a:ext cx="208756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讨 论</a:t>
            </a:r>
          </a:p>
        </p:txBody>
      </p:sp>
      <p:sp>
        <p:nvSpPr>
          <p:cNvPr id="63490" name="Text Box 2"/>
          <p:cNvSpPr txBox="1"/>
          <p:nvPr>
            <p:custDataLst>
              <p:tags r:id="rId2"/>
            </p:custDataLst>
          </p:nvPr>
        </p:nvSpPr>
        <p:spPr>
          <a:xfrm>
            <a:off x="323215" y="3397885"/>
            <a:ext cx="356743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800" dirty="0">
                <a:solidFill>
                  <a:srgbClr val="002060"/>
                </a:solidFill>
                <a:latin typeface="宋体" panose="02010600030101010101" pitchFamily="2" charset="-122"/>
              </a:rPr>
              <a:t>k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级明纹</a:t>
            </a:r>
            <a:r>
              <a:rPr lang="zh-CN" altLang="en-US" sz="2800" dirty="0">
                <a:solidFill>
                  <a:srgbClr val="003366"/>
                </a:solidFill>
                <a:latin typeface="Arial" panose="020B0604020202020204" pitchFamily="34" charset="0"/>
              </a:rPr>
              <a:t>宽度</a:t>
            </a:r>
          </a:p>
        </p:txBody>
      </p:sp>
      <p:grpSp>
        <p:nvGrpSpPr>
          <p:cNvPr id="5" name="Group 22"/>
          <p:cNvGrpSpPr/>
          <p:nvPr/>
        </p:nvGrpSpPr>
        <p:grpSpPr>
          <a:xfrm>
            <a:off x="766763" y="3989388"/>
            <a:ext cx="6450224" cy="1066800"/>
            <a:chOff x="497" y="2352"/>
            <a:chExt cx="4064" cy="672"/>
          </a:xfrm>
        </p:grpSpPr>
        <p:sp>
          <p:nvSpPr>
            <p:cNvPr id="44043" name="Rectangle 1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97" y="2352"/>
              <a:ext cx="4064" cy="672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rgbClr val="006666"/>
              </a:solidFill>
              <a:miter lim="800000"/>
              <a:tailEnd type="none" w="sm" len="lg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3501" name="Object 12"/>
            <p:cNvGraphicFramePr>
              <a:graphicFrameLocks noChangeAspect="1"/>
            </p:cNvGraphicFramePr>
            <p:nvPr>
              <p:custDataLst>
                <p:tags r:id="rId5"/>
              </p:custDataLst>
            </p:nvPr>
          </p:nvGraphicFramePr>
          <p:xfrm>
            <a:off x="595" y="2353"/>
            <a:ext cx="1988" cy="5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87" r:id="rId16" imgW="893445" imgH="236220" progId="Equation.3">
                    <p:embed/>
                  </p:oleObj>
                </mc:Choice>
                <mc:Fallback>
                  <p:oleObj r:id="rId16" imgW="893445" imgH="236220" progId="Equation.3">
                    <p:embed/>
                    <p:pic>
                      <p:nvPicPr>
                        <p:cNvPr id="0" name="图片 3347"/>
                        <p:cNvPicPr/>
                        <p:nvPr/>
                      </p:nvPicPr>
                      <p:blipFill>
                        <a:blip r:embed="rId17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95" y="2353"/>
                          <a:ext cx="1988" cy="5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02" name="Text Box 13"/>
            <p:cNvSpPr txBox="1"/>
            <p:nvPr>
              <p:custDataLst>
                <p:tags r:id="rId6"/>
              </p:custDataLst>
            </p:nvPr>
          </p:nvSpPr>
          <p:spPr>
            <a:xfrm>
              <a:off x="2671" y="2397"/>
              <a:ext cx="1826" cy="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3366"/>
                  </a:solidFill>
                  <a:latin typeface="Arial" panose="020B0604020202020204" pitchFamily="34" charset="0"/>
                </a:rPr>
                <a:t>除了中央明纹外其它明纹的宽度</a:t>
              </a:r>
            </a:p>
          </p:txBody>
        </p:sp>
      </p:grpSp>
      <p:sp>
        <p:nvSpPr>
          <p:cNvPr id="63494" name="Text Box 2"/>
          <p:cNvSpPr txBox="1"/>
          <p:nvPr>
            <p:custDataLst>
              <p:tags r:id="rId3"/>
            </p:custDataLst>
          </p:nvPr>
        </p:nvSpPr>
        <p:spPr>
          <a:xfrm>
            <a:off x="467360" y="5373370"/>
            <a:ext cx="827595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  <a:cs typeface="Times New Roman" panose="02020603050405020304" pitchFamily="18" charset="0"/>
              </a:rPr>
              <a:t>(4) </a:t>
            </a:r>
            <a:r>
              <a:rPr lang="zh-CN" altLang="en-US" sz="2800" dirty="0">
                <a:solidFill>
                  <a:srgbClr val="002060"/>
                </a:solidFill>
                <a:latin typeface="宋体" panose="02010600030101010101" pitchFamily="2" charset="-122"/>
              </a:rPr>
              <a:t>用白光入射，单缝衍射图样的中央明纹是白色的，其两侧则依次呈现为一系列由紫到红的彩色条纹。</a:t>
            </a:r>
            <a:endParaRPr lang="zh-CN" altLang="en-US" sz="2800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4" name="Group 26"/>
          <p:cNvGrpSpPr/>
          <p:nvPr/>
        </p:nvGrpSpPr>
        <p:grpSpPr>
          <a:xfrm>
            <a:off x="609600" y="2133600"/>
            <a:ext cx="8077200" cy="1752600"/>
            <a:chOff x="384" y="1968"/>
            <a:chExt cx="5088" cy="1104"/>
          </a:xfrm>
        </p:grpSpPr>
        <p:sp>
          <p:nvSpPr>
            <p:cNvPr id="64540" name="Rectangle 3"/>
            <p:cNvSpPr/>
            <p:nvPr/>
          </p:nvSpPr>
          <p:spPr>
            <a:xfrm>
              <a:off x="384" y="1968"/>
              <a:ext cx="5088" cy="110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4541" name="Line 4"/>
            <p:cNvSpPr/>
            <p:nvPr/>
          </p:nvSpPr>
          <p:spPr>
            <a:xfrm>
              <a:off x="480" y="2549"/>
              <a:ext cx="26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2" name="Line 8"/>
            <p:cNvSpPr/>
            <p:nvPr/>
          </p:nvSpPr>
          <p:spPr>
            <a:xfrm flipH="1">
              <a:off x="628" y="2405"/>
              <a:ext cx="121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3" name="Line 9"/>
            <p:cNvSpPr/>
            <p:nvPr/>
          </p:nvSpPr>
          <p:spPr>
            <a:xfrm flipH="1">
              <a:off x="624" y="2549"/>
              <a:ext cx="1218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4" name="Line 10"/>
            <p:cNvSpPr/>
            <p:nvPr/>
          </p:nvSpPr>
          <p:spPr>
            <a:xfrm>
              <a:off x="1846" y="2405"/>
              <a:ext cx="986" cy="144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5" name="Line 11"/>
            <p:cNvSpPr/>
            <p:nvPr/>
          </p:nvSpPr>
          <p:spPr>
            <a:xfrm flipV="1">
              <a:off x="1824" y="2549"/>
              <a:ext cx="982" cy="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6" name="Oval 12"/>
            <p:cNvSpPr/>
            <p:nvPr/>
          </p:nvSpPr>
          <p:spPr>
            <a:xfrm>
              <a:off x="1728" y="2233"/>
              <a:ext cx="118" cy="689"/>
            </a:xfrm>
            <a:prstGeom prst="ellipse">
              <a:avLst/>
            </a:prstGeom>
            <a:solidFill>
              <a:srgbClr val="00FF99">
                <a:alpha val="50195"/>
              </a:srgbClr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64547" name="Object 1025"/>
            <p:cNvGraphicFramePr>
              <a:graphicFrameLocks noChangeAspect="1"/>
            </p:cNvGraphicFramePr>
            <p:nvPr/>
          </p:nvGraphicFramePr>
          <p:xfrm>
            <a:off x="2928" y="2549"/>
            <a:ext cx="250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22" r:id="rId3" imgW="78740" imgH="94615" progId="Equation.3">
                    <p:embed/>
                  </p:oleObj>
                </mc:Choice>
                <mc:Fallback>
                  <p:oleObj r:id="rId3" imgW="78740" imgH="94615" progId="Equation.3">
                    <p:embed/>
                    <p:pic>
                      <p:nvPicPr>
                        <p:cNvPr id="0" name="图片 3349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28" y="2549"/>
                          <a:ext cx="250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4" name="Rectangle 18"/>
            <p:cNvSpPr>
              <a:spLocks noChangeArrowheads="1"/>
            </p:cNvSpPr>
            <p:nvPr/>
          </p:nvSpPr>
          <p:spPr bwMode="auto">
            <a:xfrm>
              <a:off x="2832" y="2084"/>
              <a:ext cx="48" cy="930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549" name="Line 19"/>
            <p:cNvSpPr/>
            <p:nvPr/>
          </p:nvSpPr>
          <p:spPr>
            <a:xfrm flipV="1">
              <a:off x="1776" y="2898"/>
              <a:ext cx="105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4550" name="Object 1026"/>
            <p:cNvGraphicFramePr>
              <a:graphicFrameLocks noChangeAspect="1"/>
            </p:cNvGraphicFramePr>
            <p:nvPr/>
          </p:nvGraphicFramePr>
          <p:xfrm>
            <a:off x="2208" y="2584"/>
            <a:ext cx="336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23" r:id="rId5" imgW="110490" imgH="173355" progId="Equation.3">
                    <p:embed/>
                  </p:oleObj>
                </mc:Choice>
                <mc:Fallback>
                  <p:oleObj r:id="rId5" imgW="110490" imgH="173355" progId="Equation.3">
                    <p:embed/>
                    <p:pic>
                      <p:nvPicPr>
                        <p:cNvPr id="0" name="图片 3351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08" y="2584"/>
                          <a:ext cx="336" cy="3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515" name="Object 1024"/>
          <p:cNvGraphicFramePr>
            <a:graphicFrameLocks noChangeAspect="1"/>
          </p:cNvGraphicFramePr>
          <p:nvPr/>
        </p:nvGraphicFramePr>
        <p:xfrm>
          <a:off x="1666875" y="2286000"/>
          <a:ext cx="3143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4" r:id="rId7" imgW="78740" imgH="78740" progId="Equation.3">
                  <p:embed/>
                </p:oleObj>
              </mc:Choice>
              <mc:Fallback>
                <p:oleObj r:id="rId7" imgW="78740" imgH="78740" progId="Equation.3">
                  <p:embed/>
                  <p:pic>
                    <p:nvPicPr>
                      <p:cNvPr id="0" name="图片 335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66875" y="2286000"/>
                        <a:ext cx="31432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516" name="Group 25"/>
          <p:cNvGrpSpPr/>
          <p:nvPr/>
        </p:nvGrpSpPr>
        <p:grpSpPr>
          <a:xfrm>
            <a:off x="1993900" y="2324100"/>
            <a:ext cx="63500" cy="1244600"/>
            <a:chOff x="1256" y="2096"/>
            <a:chExt cx="40" cy="784"/>
          </a:xfrm>
        </p:grpSpPr>
        <p:sp>
          <p:nvSpPr>
            <p:cNvPr id="64536" name="Rectangle 6"/>
            <p:cNvSpPr/>
            <p:nvPr/>
          </p:nvSpPr>
          <p:spPr>
            <a:xfrm>
              <a:off x="1256" y="2192"/>
              <a:ext cx="40" cy="189"/>
            </a:xfrm>
            <a:prstGeom prst="rect">
              <a:avLst/>
            </a:prstGeom>
            <a:solidFill>
              <a:srgbClr val="663300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4537" name="Rectangle 7"/>
            <p:cNvSpPr/>
            <p:nvPr/>
          </p:nvSpPr>
          <p:spPr>
            <a:xfrm>
              <a:off x="1256" y="2691"/>
              <a:ext cx="40" cy="189"/>
            </a:xfrm>
            <a:prstGeom prst="rect">
              <a:avLst/>
            </a:prstGeom>
            <a:solidFill>
              <a:srgbClr val="663300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4538" name="Rectangle 15"/>
            <p:cNvSpPr/>
            <p:nvPr/>
          </p:nvSpPr>
          <p:spPr>
            <a:xfrm>
              <a:off x="1256" y="2096"/>
              <a:ext cx="40" cy="189"/>
            </a:xfrm>
            <a:prstGeom prst="rect">
              <a:avLst/>
            </a:prstGeom>
            <a:solidFill>
              <a:srgbClr val="663300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4539" name="Rectangle 16"/>
            <p:cNvSpPr/>
            <p:nvPr/>
          </p:nvSpPr>
          <p:spPr>
            <a:xfrm>
              <a:off x="1256" y="2595"/>
              <a:ext cx="40" cy="189"/>
            </a:xfrm>
            <a:prstGeom prst="rect">
              <a:avLst/>
            </a:prstGeom>
            <a:solidFill>
              <a:srgbClr val="663300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45077" name="Text Box 21"/>
          <p:cNvSpPr txBox="1"/>
          <p:nvPr/>
        </p:nvSpPr>
        <p:spPr>
          <a:xfrm>
            <a:off x="914400" y="838200"/>
            <a:ext cx="51054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rgbClr val="003366"/>
                </a:solidFill>
                <a:latin typeface="宋体" panose="02010600030101010101" pitchFamily="2" charset="-122"/>
              </a:rPr>
              <a:t>单缝衍射的动态变化</a:t>
            </a:r>
          </a:p>
        </p:txBody>
      </p:sp>
      <p:sp>
        <p:nvSpPr>
          <p:cNvPr id="45078" name="Text Box 22"/>
          <p:cNvSpPr txBox="1"/>
          <p:nvPr/>
        </p:nvSpPr>
        <p:spPr>
          <a:xfrm>
            <a:off x="5410200" y="2255838"/>
            <a:ext cx="3352800" cy="1554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3366"/>
                </a:solidFill>
                <a:latin typeface="宋体" panose="02010600030101010101" pitchFamily="2" charset="-122"/>
              </a:rPr>
              <a:t>单缝上移，零级明纹仍在透镜光轴上</a:t>
            </a:r>
            <a:r>
              <a:rPr lang="en-US" altLang="zh-CN" dirty="0">
                <a:solidFill>
                  <a:srgbClr val="003366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5079" name="Rectangle 23"/>
          <p:cNvSpPr/>
          <p:nvPr/>
        </p:nvSpPr>
        <p:spPr>
          <a:xfrm>
            <a:off x="531813" y="1436688"/>
            <a:ext cx="808037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Blip>
                <a:blip r:embed="rId9"/>
              </a:buBlip>
            </a:pPr>
            <a:r>
              <a:rPr lang="en-US" altLang="zh-CN" sz="2800" dirty="0"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003366"/>
                </a:solidFill>
                <a:latin typeface="宋体" panose="02010600030101010101" pitchFamily="2" charset="-122"/>
              </a:rPr>
              <a:t>单缝</a:t>
            </a:r>
            <a:r>
              <a:rPr lang="zh-CN" altLang="en-US" sz="2800" dirty="0">
                <a:solidFill>
                  <a:srgbClr val="CC0000"/>
                </a:solidFill>
                <a:latin typeface="宋体" panose="02010600030101010101" pitchFamily="2" charset="-122"/>
              </a:rPr>
              <a:t>上下</a:t>
            </a:r>
            <a:r>
              <a:rPr lang="zh-CN" altLang="en-US" sz="2800" dirty="0">
                <a:solidFill>
                  <a:srgbClr val="003366"/>
                </a:solidFill>
                <a:latin typeface="宋体" panose="02010600030101010101" pitchFamily="2" charset="-122"/>
              </a:rPr>
              <a:t>移动，根据透镜成像原理衍射图</a:t>
            </a:r>
            <a:r>
              <a:rPr lang="zh-CN" altLang="en-US" sz="2800" dirty="0">
                <a:solidFill>
                  <a:srgbClr val="CC0000"/>
                </a:solidFill>
                <a:latin typeface="宋体" panose="02010600030101010101" pitchFamily="2" charset="-122"/>
              </a:rPr>
              <a:t>不</a:t>
            </a:r>
            <a:r>
              <a:rPr lang="zh-CN" altLang="en-US" sz="2800" dirty="0">
                <a:solidFill>
                  <a:srgbClr val="003366"/>
                </a:solidFill>
                <a:latin typeface="宋体" panose="02010600030101010101" pitchFamily="2" charset="-122"/>
              </a:rPr>
              <a:t>变 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4520" name="Rectangle 27"/>
          <p:cNvSpPr/>
          <p:nvPr/>
        </p:nvSpPr>
        <p:spPr>
          <a:xfrm>
            <a:off x="3924300" y="38100"/>
            <a:ext cx="216058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讨 论</a:t>
            </a:r>
          </a:p>
        </p:txBody>
      </p:sp>
      <p:sp>
        <p:nvSpPr>
          <p:cNvPr id="64521" name="Text Box 12"/>
          <p:cNvSpPr txBox="1"/>
          <p:nvPr/>
        </p:nvSpPr>
        <p:spPr>
          <a:xfrm>
            <a:off x="609600" y="4086225"/>
            <a:ext cx="74676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CC0000"/>
                </a:solidFill>
                <a:latin typeface="宋体" panose="02010600030101010101" pitchFamily="2" charset="-122"/>
              </a:rPr>
              <a:t>  (6)</a:t>
            </a:r>
            <a:r>
              <a:rPr lang="zh-CN" altLang="en-US" sz="2800" dirty="0">
                <a:solidFill>
                  <a:srgbClr val="003366"/>
                </a:solidFill>
                <a:latin typeface="宋体" panose="02010600030101010101" pitchFamily="2" charset="-122"/>
              </a:rPr>
              <a:t>入射光非垂直入射时光程差的计算</a:t>
            </a:r>
          </a:p>
        </p:txBody>
      </p:sp>
      <p:grpSp>
        <p:nvGrpSpPr>
          <p:cNvPr id="64522" name="Group 33"/>
          <p:cNvGrpSpPr/>
          <p:nvPr/>
        </p:nvGrpSpPr>
        <p:grpSpPr>
          <a:xfrm>
            <a:off x="5292725" y="4778375"/>
            <a:ext cx="3071813" cy="1608138"/>
            <a:chOff x="2928" y="1200"/>
            <a:chExt cx="2448" cy="1584"/>
          </a:xfrm>
        </p:grpSpPr>
        <p:sp>
          <p:nvSpPr>
            <p:cNvPr id="64526" name="Rectangle 3"/>
            <p:cNvSpPr/>
            <p:nvPr/>
          </p:nvSpPr>
          <p:spPr>
            <a:xfrm>
              <a:off x="2928" y="1200"/>
              <a:ext cx="2448" cy="158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4527" name="Rectangle 4"/>
            <p:cNvSpPr/>
            <p:nvPr/>
          </p:nvSpPr>
          <p:spPr>
            <a:xfrm>
              <a:off x="4128" y="1344"/>
              <a:ext cx="48" cy="384"/>
            </a:xfrm>
            <a:prstGeom prst="rect">
              <a:avLst/>
            </a:prstGeom>
            <a:solidFill>
              <a:srgbClr val="66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4528" name="Rectangle 5"/>
            <p:cNvSpPr/>
            <p:nvPr/>
          </p:nvSpPr>
          <p:spPr>
            <a:xfrm>
              <a:off x="4128" y="2304"/>
              <a:ext cx="48" cy="384"/>
            </a:xfrm>
            <a:prstGeom prst="rect">
              <a:avLst/>
            </a:prstGeom>
            <a:solidFill>
              <a:srgbClr val="66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4529" name="Line 6"/>
            <p:cNvSpPr/>
            <p:nvPr/>
          </p:nvSpPr>
          <p:spPr>
            <a:xfrm>
              <a:off x="3120" y="1728"/>
              <a:ext cx="211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4530" name="Object 6"/>
            <p:cNvGraphicFramePr>
              <a:graphicFrameLocks noChangeAspect="1"/>
            </p:cNvGraphicFramePr>
            <p:nvPr/>
          </p:nvGraphicFramePr>
          <p:xfrm>
            <a:off x="3120" y="1776"/>
            <a:ext cx="183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25" r:id="rId10" imgW="78740" imgH="136525" progId="Equation.3">
                    <p:embed/>
                  </p:oleObj>
                </mc:Choice>
                <mc:Fallback>
                  <p:oleObj r:id="rId10" imgW="78740" imgH="136525" progId="Equation.3">
                    <p:embed/>
                    <p:pic>
                      <p:nvPicPr>
                        <p:cNvPr id="0" name="图片 3352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20" y="1776"/>
                          <a:ext cx="183" cy="28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31" name="Line 8"/>
            <p:cNvSpPr/>
            <p:nvPr/>
          </p:nvSpPr>
          <p:spPr>
            <a:xfrm flipV="1">
              <a:off x="3360" y="1728"/>
              <a:ext cx="0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32" name="Line 9"/>
            <p:cNvSpPr/>
            <p:nvPr/>
          </p:nvSpPr>
          <p:spPr>
            <a:xfrm>
              <a:off x="3120" y="2304"/>
              <a:ext cx="211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4533" name="Object 7"/>
            <p:cNvGraphicFramePr>
              <a:graphicFrameLocks noChangeAspect="1"/>
            </p:cNvGraphicFramePr>
            <p:nvPr/>
          </p:nvGraphicFramePr>
          <p:xfrm>
            <a:off x="4176" y="1392"/>
            <a:ext cx="26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26" r:id="rId12" imgW="68580" imgH="78740" progId="Equation.3">
                    <p:embed/>
                  </p:oleObj>
                </mc:Choice>
                <mc:Fallback>
                  <p:oleObj r:id="rId12" imgW="68580" imgH="78740" progId="Equation.3">
                    <p:embed/>
                    <p:pic>
                      <p:nvPicPr>
                        <p:cNvPr id="0" name="图片 3353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76" y="1392"/>
                          <a:ext cx="26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34" name="Object 8"/>
            <p:cNvGraphicFramePr>
              <a:graphicFrameLocks noChangeAspect="1"/>
            </p:cNvGraphicFramePr>
            <p:nvPr/>
          </p:nvGraphicFramePr>
          <p:xfrm>
            <a:off x="3840" y="2352"/>
            <a:ext cx="26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27" r:id="rId14" imgW="68580" imgH="78740" progId="Equation.3">
                    <p:embed/>
                  </p:oleObj>
                </mc:Choice>
                <mc:Fallback>
                  <p:oleObj r:id="rId14" imgW="68580" imgH="78740" progId="Equation.3">
                    <p:embed/>
                    <p:pic>
                      <p:nvPicPr>
                        <p:cNvPr id="0" name="图片 3354"/>
                        <p:cNvPicPr/>
                        <p:nvPr/>
                      </p:nvPicPr>
                      <p:blipFill>
                        <a:blip r:embed="rId15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40" y="2352"/>
                          <a:ext cx="26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35" name="Line 32"/>
            <p:cNvSpPr/>
            <p:nvPr/>
          </p:nvSpPr>
          <p:spPr>
            <a:xfrm>
              <a:off x="4152" y="1752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" name="Object 0"/>
          <p:cNvGraphicFramePr>
            <a:graphicFrameLocks noChangeAspect="1"/>
          </p:cNvGraphicFramePr>
          <p:nvPr/>
        </p:nvGraphicFramePr>
        <p:xfrm>
          <a:off x="1811338" y="5368925"/>
          <a:ext cx="26908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8" r:id="rId16" imgW="1156335" imgH="173355" progId="Equation.3">
                  <p:embed/>
                </p:oleObj>
              </mc:Choice>
              <mc:Fallback>
                <p:oleObj r:id="rId16" imgW="1156335" imgH="173355" progId="Equation.3">
                  <p:embed/>
                  <p:pic>
                    <p:nvPicPr>
                      <p:cNvPr id="0" name="图片 3355"/>
                      <p:cNvPicPr/>
                      <p:nvPr/>
                    </p:nvPicPr>
                    <p:blipFill>
                      <a:blip r:embed="rId17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11338" y="5368925"/>
                        <a:ext cx="2690812" cy="474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"/>
          <p:cNvGraphicFramePr>
            <a:graphicFrameLocks noChangeAspect="1"/>
          </p:cNvGraphicFramePr>
          <p:nvPr/>
        </p:nvGraphicFramePr>
        <p:xfrm>
          <a:off x="1471613" y="4808538"/>
          <a:ext cx="2166937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9" r:id="rId18" imgW="1103630" imgH="157480" progId="Equation.3">
                  <p:embed/>
                </p:oleObj>
              </mc:Choice>
              <mc:Fallback>
                <p:oleObj r:id="rId18" imgW="1103630" imgH="157480" progId="Equation.3">
                  <p:embed/>
                  <p:pic>
                    <p:nvPicPr>
                      <p:cNvPr id="0" name="图片 3356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1613" y="4808538"/>
                        <a:ext cx="2166937" cy="361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5"/>
          <p:cNvSpPr txBox="1"/>
          <p:nvPr/>
        </p:nvSpPr>
        <p:spPr>
          <a:xfrm>
            <a:off x="1046163" y="5980113"/>
            <a:ext cx="361315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3366"/>
                </a:solidFill>
                <a:latin typeface="Times New Roman" panose="02020603050405020304" pitchFamily="18" charset="0"/>
              </a:rPr>
              <a:t>（中央明纹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</a:rPr>
              <a:t>向下</a:t>
            </a:r>
            <a:r>
              <a:rPr lang="zh-CN" altLang="en-US" sz="2800" dirty="0">
                <a:solidFill>
                  <a:srgbClr val="003366"/>
                </a:solidFill>
                <a:latin typeface="Times New Roman" panose="02020603050405020304" pitchFamily="18" charset="0"/>
              </a:rPr>
              <a:t>移动）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77" grpId="0"/>
      <p:bldP spid="45078" grpId="0"/>
      <p:bldP spid="45079" grpId="0"/>
      <p:bldP spid="1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2"/>
          <p:cNvSpPr txBox="1"/>
          <p:nvPr/>
        </p:nvSpPr>
        <p:spPr>
          <a:xfrm>
            <a:off x="1108075" y="44450"/>
            <a:ext cx="756761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zh-CN" sz="3600" dirty="0">
                <a:solidFill>
                  <a:schemeClr val="bg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3600" dirty="0">
                <a:solidFill>
                  <a:schemeClr val="bg1"/>
                </a:solidFill>
                <a:latin typeface="宋体" panose="02010600030101010101" pitchFamily="2" charset="-122"/>
              </a:rPr>
              <a:t>圆孔衍射</a:t>
            </a:r>
            <a:r>
              <a:rPr lang="en-US" altLang="zh-CN" sz="3600" dirty="0">
                <a:solidFill>
                  <a:schemeClr val="bg1"/>
                </a:solidFill>
                <a:latin typeface="宋体" panose="02010600030101010101" pitchFamily="2" charset="-122"/>
              </a:rPr>
              <a:t>-</a:t>
            </a:r>
            <a:r>
              <a:rPr lang="zh-CN" altLang="zh-CN" sz="3600" dirty="0">
                <a:solidFill>
                  <a:schemeClr val="bg1"/>
                </a:solidFill>
                <a:latin typeface="宋体" panose="02010600030101010101" pitchFamily="2" charset="-122"/>
              </a:rPr>
              <a:t>光学仪器的分辨本领</a:t>
            </a:r>
            <a:endParaRPr lang="zh-CN" altLang="en-US" sz="36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>
            <a:off x="762000" y="963295"/>
            <a:ext cx="7696200" cy="3657600"/>
            <a:chOff x="240" y="768"/>
            <a:chExt cx="5328" cy="1968"/>
          </a:xfrm>
        </p:grpSpPr>
        <p:sp>
          <p:nvSpPr>
            <p:cNvPr id="66595" name="Rectangle 3"/>
            <p:cNvSpPr/>
            <p:nvPr/>
          </p:nvSpPr>
          <p:spPr>
            <a:xfrm>
              <a:off x="240" y="768"/>
              <a:ext cx="5328" cy="196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596" name="Rectangle 4" descr="深色下对角线"/>
            <p:cNvSpPr/>
            <p:nvPr/>
          </p:nvSpPr>
          <p:spPr>
            <a:xfrm>
              <a:off x="2064" y="1248"/>
              <a:ext cx="96" cy="240"/>
            </a:xfrm>
            <a:prstGeom prst="rect">
              <a:avLst/>
            </a:prstGeom>
            <a:blipFill rotWithShape="0">
              <a:blip r:embed="rId10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597" name="Rectangle 5" descr="深色下对角线"/>
            <p:cNvSpPr/>
            <p:nvPr/>
          </p:nvSpPr>
          <p:spPr>
            <a:xfrm>
              <a:off x="2064" y="2064"/>
              <a:ext cx="96" cy="240"/>
            </a:xfrm>
            <a:prstGeom prst="rect">
              <a:avLst/>
            </a:prstGeom>
            <a:blipFill rotWithShape="0">
              <a:blip r:embed="rId10"/>
            </a:blip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598" name="Oval 6"/>
            <p:cNvSpPr/>
            <p:nvPr/>
          </p:nvSpPr>
          <p:spPr>
            <a:xfrm>
              <a:off x="2064" y="1488"/>
              <a:ext cx="96" cy="57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rgbClr val="006666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6599" name="Line 7"/>
            <p:cNvSpPr/>
            <p:nvPr/>
          </p:nvSpPr>
          <p:spPr>
            <a:xfrm>
              <a:off x="480" y="1776"/>
              <a:ext cx="364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6600" name="Group 8"/>
            <p:cNvGrpSpPr/>
            <p:nvPr/>
          </p:nvGrpSpPr>
          <p:grpSpPr>
            <a:xfrm>
              <a:off x="480" y="1248"/>
              <a:ext cx="491" cy="912"/>
              <a:chOff x="480" y="1248"/>
              <a:chExt cx="491" cy="912"/>
            </a:xfrm>
          </p:grpSpPr>
          <p:sp>
            <p:nvSpPr>
              <p:cNvPr id="66606" name="Text Box 9"/>
              <p:cNvSpPr txBox="1"/>
              <p:nvPr/>
            </p:nvSpPr>
            <p:spPr>
              <a:xfrm>
                <a:off x="719" y="1488"/>
                <a:ext cx="251" cy="27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*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6607" name="Text Box 10"/>
              <p:cNvSpPr txBox="1"/>
              <p:nvPr/>
            </p:nvSpPr>
            <p:spPr>
              <a:xfrm>
                <a:off x="720" y="1776"/>
                <a:ext cx="251" cy="27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*</a:t>
                </a:r>
                <a:endParaRPr lang="en-US" altLang="zh-CN" sz="2800" dirty="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66608" name="Object 11"/>
              <p:cNvGraphicFramePr>
                <a:graphicFrameLocks noChangeAspect="1"/>
              </p:cNvGraphicFramePr>
              <p:nvPr/>
            </p:nvGraphicFramePr>
            <p:xfrm>
              <a:off x="480" y="1248"/>
              <a:ext cx="318" cy="4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156" r:id="rId11" imgW="68580" imgH="120650" progId="Equation.3">
                      <p:embed/>
                    </p:oleObj>
                  </mc:Choice>
                  <mc:Fallback>
                    <p:oleObj r:id="rId11" imgW="68580" imgH="120650" progId="Equation.3">
                      <p:embed/>
                      <p:pic>
                        <p:nvPicPr>
                          <p:cNvPr id="0" name="图片 3357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80" y="1248"/>
                            <a:ext cx="318" cy="4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609" name="Object 12"/>
              <p:cNvGraphicFramePr>
                <a:graphicFrameLocks noChangeAspect="1"/>
              </p:cNvGraphicFramePr>
              <p:nvPr/>
            </p:nvGraphicFramePr>
            <p:xfrm>
              <a:off x="480" y="1680"/>
              <a:ext cx="338" cy="4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157" r:id="rId13" imgW="78740" imgH="120650" progId="Equation.3">
                      <p:embed/>
                    </p:oleObj>
                  </mc:Choice>
                  <mc:Fallback>
                    <p:oleObj r:id="rId13" imgW="78740" imgH="120650" progId="Equation.3">
                      <p:embed/>
                      <p:pic>
                        <p:nvPicPr>
                          <p:cNvPr id="0" name="图片 3358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80" y="1680"/>
                            <a:ext cx="338" cy="48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6601" name="Line 13"/>
            <p:cNvSpPr/>
            <p:nvPr/>
          </p:nvSpPr>
          <p:spPr>
            <a:xfrm flipH="1">
              <a:off x="1776" y="1488"/>
              <a:ext cx="2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2" name="Line 14"/>
            <p:cNvSpPr/>
            <p:nvPr/>
          </p:nvSpPr>
          <p:spPr>
            <a:xfrm flipH="1">
              <a:off x="1776" y="2064"/>
              <a:ext cx="28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3" name="Line 15"/>
            <p:cNvSpPr/>
            <p:nvPr/>
          </p:nvSpPr>
          <p:spPr>
            <a:xfrm>
              <a:off x="2160" y="2160"/>
              <a:ext cx="12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6604" name="Object 16"/>
            <p:cNvGraphicFramePr>
              <a:graphicFrameLocks noChangeAspect="1"/>
            </p:cNvGraphicFramePr>
            <p:nvPr/>
          </p:nvGraphicFramePr>
          <p:xfrm>
            <a:off x="2640" y="1978"/>
            <a:ext cx="33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58" r:id="rId15" imgW="120650" imgH="184150" progId="Equation.3">
                    <p:embed/>
                  </p:oleObj>
                </mc:Choice>
                <mc:Fallback>
                  <p:oleObj r:id="rId15" imgW="120650" imgH="184150" progId="Equation.3">
                    <p:embed/>
                    <p:pic>
                      <p:nvPicPr>
                        <p:cNvPr id="0" name="图片 3359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40" y="1978"/>
                          <a:ext cx="336" cy="3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1" name="Rectangle 17"/>
            <p:cNvSpPr>
              <a:spLocks noChangeArrowheads="1"/>
            </p:cNvSpPr>
            <p:nvPr/>
          </p:nvSpPr>
          <p:spPr bwMode="auto">
            <a:xfrm>
              <a:off x="3429" y="1056"/>
              <a:ext cx="24" cy="148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0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18"/>
          <p:cNvGrpSpPr/>
          <p:nvPr/>
        </p:nvGrpSpPr>
        <p:grpSpPr>
          <a:xfrm>
            <a:off x="3535363" y="2033270"/>
            <a:ext cx="1247775" cy="981075"/>
            <a:chOff x="2208" y="1392"/>
            <a:chExt cx="864" cy="528"/>
          </a:xfrm>
        </p:grpSpPr>
        <p:sp>
          <p:nvSpPr>
            <p:cNvPr id="66592" name="Freeform 19"/>
            <p:cNvSpPr/>
            <p:nvPr/>
          </p:nvSpPr>
          <p:spPr>
            <a:xfrm>
              <a:off x="2208" y="1728"/>
              <a:ext cx="816" cy="192"/>
            </a:xfrm>
            <a:custGeom>
              <a:avLst/>
              <a:gdLst>
                <a:gd name="txL" fmla="*/ 0 w 816"/>
                <a:gd name="txT" fmla="*/ 0 h 192"/>
                <a:gd name="txR" fmla="*/ 816 w 816"/>
                <a:gd name="txB" fmla="*/ 192 h 192"/>
              </a:gdLst>
              <a:ahLst/>
              <a:cxnLst>
                <a:cxn ang="0">
                  <a:pos x="816" y="0"/>
                </a:cxn>
                <a:cxn ang="0">
                  <a:pos x="0" y="96"/>
                </a:cxn>
                <a:cxn ang="0">
                  <a:pos x="816" y="192"/>
                </a:cxn>
                <a:cxn ang="0">
                  <a:pos x="816" y="0"/>
                </a:cxn>
              </a:cxnLst>
              <a:rect l="txL" t="txT" r="txR" b="txB"/>
              <a:pathLst>
                <a:path w="816" h="192">
                  <a:moveTo>
                    <a:pt x="816" y="0"/>
                  </a:moveTo>
                  <a:lnTo>
                    <a:pt x="0" y="96"/>
                  </a:lnTo>
                  <a:lnTo>
                    <a:pt x="816" y="192"/>
                  </a:lnTo>
                  <a:lnTo>
                    <a:pt x="816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93" name="Arc 20"/>
            <p:cNvSpPr/>
            <p:nvPr/>
          </p:nvSpPr>
          <p:spPr>
            <a:xfrm>
              <a:off x="3024" y="1728"/>
              <a:ext cx="48" cy="187"/>
            </a:xfrm>
            <a:custGeom>
              <a:avLst/>
              <a:gdLst>
                <a:gd name="txL" fmla="*/ 0 w 25007"/>
                <a:gd name="txT" fmla="*/ 0 h 43200"/>
                <a:gd name="txR" fmla="*/ 25007 w 25007"/>
                <a:gd name="txB" fmla="*/ 43200 h 432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007" h="43200" fill="none">
                  <a:moveTo>
                    <a:pt x="3406" y="0"/>
                  </a:moveTo>
                  <a:cubicBezTo>
                    <a:pt x="15336" y="0"/>
                    <a:pt x="25007" y="9670"/>
                    <a:pt x="25007" y="21600"/>
                  </a:cubicBezTo>
                  <a:cubicBezTo>
                    <a:pt x="25007" y="33529"/>
                    <a:pt x="15336" y="43200"/>
                    <a:pt x="3407" y="43200"/>
                  </a:cubicBezTo>
                  <a:cubicBezTo>
                    <a:pt x="2265" y="43200"/>
                    <a:pt x="1126" y="43109"/>
                    <a:pt x="0" y="42929"/>
                  </a:cubicBezTo>
                </a:path>
                <a:path w="25007" h="43200" stroke="0">
                  <a:moveTo>
                    <a:pt x="3406" y="0"/>
                  </a:moveTo>
                  <a:cubicBezTo>
                    <a:pt x="15336" y="0"/>
                    <a:pt x="25007" y="9670"/>
                    <a:pt x="25007" y="21600"/>
                  </a:cubicBezTo>
                  <a:cubicBezTo>
                    <a:pt x="25007" y="33529"/>
                    <a:pt x="15336" y="43200"/>
                    <a:pt x="3407" y="43200"/>
                  </a:cubicBezTo>
                  <a:cubicBezTo>
                    <a:pt x="2265" y="43200"/>
                    <a:pt x="1126" y="43109"/>
                    <a:pt x="0" y="42929"/>
                  </a:cubicBezTo>
                  <a:lnTo>
                    <a:pt x="3407" y="21600"/>
                  </a:lnTo>
                  <a:lnTo>
                    <a:pt x="3406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6594" name="Object 21"/>
            <p:cNvGraphicFramePr>
              <a:graphicFrameLocks noChangeAspect="1"/>
            </p:cNvGraphicFramePr>
            <p:nvPr/>
          </p:nvGraphicFramePr>
          <p:xfrm>
            <a:off x="2688" y="1392"/>
            <a:ext cx="26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59" r:id="rId17" imgW="131445" imgH="199390" progId="Equation.3">
                    <p:embed/>
                  </p:oleObj>
                </mc:Choice>
                <mc:Fallback>
                  <p:oleObj r:id="rId17" imgW="131445" imgH="199390" progId="Equation.3">
                    <p:embed/>
                    <p:pic>
                      <p:nvPicPr>
                        <p:cNvPr id="0" name="图片 3360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88" y="1392"/>
                          <a:ext cx="266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3"/>
          <p:cNvGrpSpPr/>
          <p:nvPr/>
        </p:nvGrpSpPr>
        <p:grpSpPr>
          <a:xfrm>
            <a:off x="1570038" y="2563495"/>
            <a:ext cx="3813175" cy="534988"/>
            <a:chOff x="816" y="1632"/>
            <a:chExt cx="2640" cy="288"/>
          </a:xfrm>
        </p:grpSpPr>
        <p:sp>
          <p:nvSpPr>
            <p:cNvPr id="66590" name="Line 24"/>
            <p:cNvSpPr/>
            <p:nvPr/>
          </p:nvSpPr>
          <p:spPr>
            <a:xfrm flipV="1">
              <a:off x="816" y="1632"/>
              <a:ext cx="2640" cy="288"/>
            </a:xfrm>
            <a:prstGeom prst="line">
              <a:avLst/>
            </a:prstGeom>
            <a:ln w="19050" cap="flat" cmpd="sng">
              <a:solidFill>
                <a:srgbClr val="0099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591" name="Line 25"/>
            <p:cNvSpPr/>
            <p:nvPr/>
          </p:nvSpPr>
          <p:spPr>
            <a:xfrm>
              <a:off x="816" y="1632"/>
              <a:ext cx="2640" cy="28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6"/>
          <p:cNvGrpSpPr/>
          <p:nvPr/>
        </p:nvGrpSpPr>
        <p:grpSpPr>
          <a:xfrm>
            <a:off x="6794500" y="2390458"/>
            <a:ext cx="762000" cy="892175"/>
            <a:chOff x="4416" y="1536"/>
            <a:chExt cx="528" cy="480"/>
          </a:xfrm>
        </p:grpSpPr>
        <p:sp>
          <p:nvSpPr>
            <p:cNvPr id="66588" name="Line 27"/>
            <p:cNvSpPr/>
            <p:nvPr/>
          </p:nvSpPr>
          <p:spPr>
            <a:xfrm>
              <a:off x="4416" y="1632"/>
              <a:ext cx="0" cy="288"/>
            </a:xfrm>
            <a:prstGeom prst="line">
              <a:avLst/>
            </a:prstGeom>
            <a:ln w="12700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6589" name="Object 28"/>
            <p:cNvGraphicFramePr>
              <a:graphicFrameLocks noChangeAspect="1"/>
            </p:cNvGraphicFramePr>
            <p:nvPr/>
          </p:nvGraphicFramePr>
          <p:xfrm>
            <a:off x="4595" y="1536"/>
            <a:ext cx="349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0" r:id="rId19" imgW="226060" imgH="288925" progId="Equation.3">
                    <p:embed/>
                  </p:oleObj>
                </mc:Choice>
                <mc:Fallback>
                  <p:oleObj r:id="rId19" imgW="226060" imgH="288925" progId="Equation.3">
                    <p:embed/>
                    <p:pic>
                      <p:nvPicPr>
                        <p:cNvPr id="0" name="图片 3361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95" y="1536"/>
                          <a:ext cx="349" cy="4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013" name="Object 29"/>
          <p:cNvGraphicFramePr>
            <a:graphicFrameLocks noChangeAspect="1"/>
          </p:cNvGraphicFramePr>
          <p:nvPr/>
        </p:nvGraphicFramePr>
        <p:xfrm>
          <a:off x="5715000" y="3379470"/>
          <a:ext cx="248285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1" r:id="rId21" imgW="1235075" imgH="431165" progId="Equation.3">
                  <p:embed/>
                </p:oleObj>
              </mc:Choice>
              <mc:Fallback>
                <p:oleObj r:id="rId21" imgW="1235075" imgH="431165" progId="Equation.3">
                  <p:embed/>
                  <p:pic>
                    <p:nvPicPr>
                      <p:cNvPr id="0" name="图片 3362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15000" y="3379470"/>
                        <a:ext cx="2482850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4" name="Object 40"/>
          <p:cNvGraphicFramePr>
            <a:graphicFrameLocks noChangeAspect="1"/>
          </p:cNvGraphicFramePr>
          <p:nvPr/>
        </p:nvGraphicFramePr>
        <p:xfrm>
          <a:off x="5638800" y="1029970"/>
          <a:ext cx="248285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2" r:id="rId23" imgW="1408430" imgH="514985" progId="Equation.3">
                  <p:embed/>
                </p:oleObj>
              </mc:Choice>
              <mc:Fallback>
                <p:oleObj r:id="rId23" imgW="1408430" imgH="514985" progId="Equation.3">
                  <p:embed/>
                  <p:pic>
                    <p:nvPicPr>
                      <p:cNvPr id="0" name="图片 3363"/>
                      <p:cNvPicPr/>
                      <p:nvPr/>
                    </p:nvPicPr>
                    <p:blipFill>
                      <a:blip r:embed="rId2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38800" y="1029970"/>
                        <a:ext cx="2482850" cy="1076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2"/>
          <p:cNvGrpSpPr/>
          <p:nvPr/>
        </p:nvGrpSpPr>
        <p:grpSpPr>
          <a:xfrm>
            <a:off x="1033463" y="1085533"/>
            <a:ext cx="4141787" cy="2319337"/>
            <a:chOff x="649" y="1216"/>
            <a:chExt cx="2609" cy="1461"/>
          </a:xfrm>
        </p:grpSpPr>
        <p:grpSp>
          <p:nvGrpSpPr>
            <p:cNvPr id="66581" name="Group 61"/>
            <p:cNvGrpSpPr/>
            <p:nvPr/>
          </p:nvGrpSpPr>
          <p:grpSpPr>
            <a:xfrm>
              <a:off x="649" y="1216"/>
              <a:ext cx="2609" cy="1461"/>
              <a:chOff x="649" y="1216"/>
              <a:chExt cx="2609" cy="1461"/>
            </a:xfrm>
          </p:grpSpPr>
          <p:sp>
            <p:nvSpPr>
              <p:cNvPr id="66583" name="Freeform 42"/>
              <p:cNvSpPr/>
              <p:nvPr/>
            </p:nvSpPr>
            <p:spPr>
              <a:xfrm>
                <a:off x="2053" y="1947"/>
                <a:ext cx="0" cy="730"/>
              </a:xfrm>
              <a:custGeom>
                <a:avLst/>
                <a:gdLst>
                  <a:gd name="txL" fmla="*/ 0 w 1"/>
                  <a:gd name="txT" fmla="*/ 0 h 624"/>
                  <a:gd name="txR" fmla="*/ 0 w 1"/>
                  <a:gd name="txB" fmla="*/ 624 h 624"/>
                </a:gdLst>
                <a:ahLst/>
                <a:cxnLst>
                  <a:cxn ang="0">
                    <a:pos x="0" y="0"/>
                  </a:cxn>
                  <a:cxn ang="0">
                    <a:pos x="0" y="1872"/>
                  </a:cxn>
                </a:cxnLst>
                <a:rect l="txL" t="txT" r="txR" b="txB"/>
                <a:pathLst>
                  <a:path w="1" h="624">
                    <a:moveTo>
                      <a:pt x="0" y="0"/>
                    </a:moveTo>
                    <a:lnTo>
                      <a:pt x="1" y="624"/>
                    </a:ln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4" name="Freeform 44"/>
              <p:cNvSpPr/>
              <p:nvPr/>
            </p:nvSpPr>
            <p:spPr>
              <a:xfrm>
                <a:off x="1070" y="1609"/>
                <a:ext cx="939" cy="513"/>
              </a:xfrm>
              <a:custGeom>
                <a:avLst/>
                <a:gdLst>
                  <a:gd name="txL" fmla="*/ 0 w 1032"/>
                  <a:gd name="txT" fmla="*/ 0 h 438"/>
                  <a:gd name="txR" fmla="*/ 1032 w 1032"/>
                  <a:gd name="txB" fmla="*/ 438 h 438"/>
                </a:gdLst>
                <a:ahLst/>
                <a:cxnLst>
                  <a:cxn ang="0">
                    <a:pos x="146" y="0"/>
                  </a:cxn>
                  <a:cxn ang="0">
                    <a:pos x="532" y="1325"/>
                  </a:cxn>
                  <a:cxn ang="0">
                    <a:pos x="0" y="18"/>
                  </a:cxn>
                  <a:cxn ang="0">
                    <a:pos x="146" y="0"/>
                  </a:cxn>
                </a:cxnLst>
                <a:rect l="txL" t="txT" r="txR" b="txB"/>
                <a:pathLst>
                  <a:path w="1032" h="438">
                    <a:moveTo>
                      <a:pt x="282" y="0"/>
                    </a:moveTo>
                    <a:lnTo>
                      <a:pt x="1032" y="438"/>
                    </a:lnTo>
                    <a:lnTo>
                      <a:pt x="0" y="6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29" name="Rectangle 45"/>
              <p:cNvSpPr>
                <a:spLocks noChangeArrowheads="1"/>
              </p:cNvSpPr>
              <p:nvPr/>
            </p:nvSpPr>
            <p:spPr bwMode="auto">
              <a:xfrm>
                <a:off x="655" y="1216"/>
                <a:ext cx="2278" cy="356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50000">
                    <a:schemeClr val="accent1">
                      <a:gamma/>
                      <a:tint val="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tailEnd type="none" w="sm" len="lg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586" name="Text Box 46"/>
              <p:cNvSpPr txBox="1"/>
              <p:nvPr/>
            </p:nvSpPr>
            <p:spPr>
              <a:xfrm>
                <a:off x="649" y="1230"/>
                <a:ext cx="2609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光学仪器的通光孔径</a:t>
                </a:r>
              </a:p>
            </p:txBody>
          </p:sp>
          <p:graphicFrame>
            <p:nvGraphicFramePr>
              <p:cNvPr id="66587" name="Object 47"/>
              <p:cNvGraphicFramePr>
                <a:graphicFrameLocks noChangeAspect="1"/>
              </p:cNvGraphicFramePr>
              <p:nvPr/>
            </p:nvGraphicFramePr>
            <p:xfrm>
              <a:off x="2560" y="1254"/>
              <a:ext cx="251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163" r:id="rId25" imgW="89535" imgH="89535" progId="Equation.3">
                      <p:embed/>
                    </p:oleObj>
                  </mc:Choice>
                  <mc:Fallback>
                    <p:oleObj r:id="rId25" imgW="89535" imgH="89535" progId="Equation.3">
                      <p:embed/>
                      <p:pic>
                        <p:nvPicPr>
                          <p:cNvPr id="0" name="图片 3364"/>
                          <p:cNvPicPr/>
                          <p:nvPr/>
                        </p:nvPicPr>
                        <p:blipFill>
                          <a:blip r:embed="rId26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560" y="1254"/>
                            <a:ext cx="251" cy="28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6582" name="Freeform 48"/>
            <p:cNvSpPr/>
            <p:nvPr/>
          </p:nvSpPr>
          <p:spPr>
            <a:xfrm>
              <a:off x="1104" y="1592"/>
              <a:ext cx="227" cy="15"/>
            </a:xfrm>
            <a:custGeom>
              <a:avLst/>
              <a:gdLst>
                <a:gd name="txL" fmla="*/ 0 w 227"/>
                <a:gd name="txT" fmla="*/ 0 h 15"/>
                <a:gd name="txR" fmla="*/ 227 w 227"/>
                <a:gd name="txB" fmla="*/ 15 h 15"/>
              </a:gdLst>
              <a:ahLst/>
              <a:cxnLst>
                <a:cxn ang="0">
                  <a:pos x="227" y="0"/>
                </a:cxn>
                <a:cxn ang="0">
                  <a:pos x="0" y="15"/>
                </a:cxn>
              </a:cxnLst>
              <a:rect l="txL" t="txT" r="txR" b="txB"/>
              <a:pathLst>
                <a:path w="227" h="15">
                  <a:moveTo>
                    <a:pt x="227" y="0"/>
                  </a:moveTo>
                  <a:lnTo>
                    <a:pt x="0" y="15"/>
                  </a:lnTo>
                </a:path>
              </a:pathLst>
            </a:custGeom>
            <a:noFill/>
            <a:ln w="57150" cap="flat" cmpd="sng">
              <a:solidFill>
                <a:schemeClr val="accent1">
                  <a:alpha val="100000"/>
                </a:scheme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49"/>
          <p:cNvGrpSpPr/>
          <p:nvPr/>
        </p:nvGrpSpPr>
        <p:grpSpPr>
          <a:xfrm>
            <a:off x="5405438" y="1587183"/>
            <a:ext cx="1598612" cy="2586037"/>
            <a:chOff x="3455" y="1104"/>
            <a:chExt cx="1106" cy="1391"/>
          </a:xfrm>
        </p:grpSpPr>
        <p:grpSp>
          <p:nvGrpSpPr>
            <p:cNvPr id="66571" name="Group 50"/>
            <p:cNvGrpSpPr/>
            <p:nvPr/>
          </p:nvGrpSpPr>
          <p:grpSpPr>
            <a:xfrm rot="5367018">
              <a:off x="3271" y="1291"/>
              <a:ext cx="1055" cy="681"/>
              <a:chOff x="3648" y="2208"/>
              <a:chExt cx="1141" cy="968"/>
            </a:xfrm>
          </p:grpSpPr>
          <p:sp>
            <p:nvSpPr>
              <p:cNvPr id="66578" name="Freeform 51"/>
              <p:cNvSpPr/>
              <p:nvPr/>
            </p:nvSpPr>
            <p:spPr>
              <a:xfrm>
                <a:off x="4512" y="3120"/>
                <a:ext cx="277" cy="48"/>
              </a:xfrm>
              <a:custGeom>
                <a:avLst/>
                <a:gdLst>
                  <a:gd name="txL" fmla="*/ 0 w 240"/>
                  <a:gd name="txT" fmla="*/ 0 h 48"/>
                  <a:gd name="txR" fmla="*/ 240 w 240"/>
                  <a:gd name="txB" fmla="*/ 48 h 48"/>
                </a:gdLst>
                <a:ahLst/>
                <a:cxnLst>
                  <a:cxn ang="0">
                    <a:pos x="0" y="48"/>
                  </a:cxn>
                  <a:cxn ang="0">
                    <a:pos x="262" y="0"/>
                  </a:cxn>
                  <a:cxn ang="0">
                    <a:pos x="656" y="48"/>
                  </a:cxn>
                </a:cxnLst>
                <a:rect l="txL" t="txT" r="txR" b="txB"/>
                <a:pathLst>
                  <a:path w="240" h="48">
                    <a:moveTo>
                      <a:pt x="0" y="48"/>
                    </a:moveTo>
                    <a:cubicBezTo>
                      <a:pt x="28" y="24"/>
                      <a:pt x="56" y="0"/>
                      <a:pt x="96" y="0"/>
                    </a:cubicBezTo>
                    <a:cubicBezTo>
                      <a:pt x="136" y="0"/>
                      <a:pt x="216" y="40"/>
                      <a:pt x="240" y="48"/>
                    </a:cubicBezTo>
                  </a:path>
                </a:pathLst>
              </a:custGeom>
              <a:noFill/>
              <a:ln w="19050" cap="flat" cmpd="sng">
                <a:solidFill>
                  <a:srgbClr val="009900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9" name="Freeform 52"/>
              <p:cNvSpPr/>
              <p:nvPr/>
            </p:nvSpPr>
            <p:spPr>
              <a:xfrm>
                <a:off x="3648" y="3120"/>
                <a:ext cx="277" cy="48"/>
              </a:xfrm>
              <a:custGeom>
                <a:avLst/>
                <a:gdLst>
                  <a:gd name="txL" fmla="*/ 0 w 240"/>
                  <a:gd name="txT" fmla="*/ 0 h 48"/>
                  <a:gd name="txR" fmla="*/ 240 w 240"/>
                  <a:gd name="txB" fmla="*/ 48 h 48"/>
                </a:gdLst>
                <a:ahLst/>
                <a:cxnLst>
                  <a:cxn ang="0">
                    <a:pos x="656" y="48"/>
                  </a:cxn>
                  <a:cxn ang="0">
                    <a:pos x="392" y="0"/>
                  </a:cxn>
                  <a:cxn ang="0">
                    <a:pos x="0" y="48"/>
                  </a:cxn>
                </a:cxnLst>
                <a:rect l="txL" t="txT" r="txR" b="txB"/>
                <a:pathLst>
                  <a:path w="240" h="48">
                    <a:moveTo>
                      <a:pt x="240" y="48"/>
                    </a:moveTo>
                    <a:cubicBezTo>
                      <a:pt x="212" y="24"/>
                      <a:pt x="184" y="0"/>
                      <a:pt x="144" y="0"/>
                    </a:cubicBezTo>
                    <a:cubicBezTo>
                      <a:pt x="104" y="0"/>
                      <a:pt x="24" y="40"/>
                      <a:pt x="0" y="48"/>
                    </a:cubicBezTo>
                  </a:path>
                </a:pathLst>
              </a:custGeom>
              <a:noFill/>
              <a:ln w="19050" cap="flat" cmpd="sng">
                <a:solidFill>
                  <a:srgbClr val="009900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80" name="Freeform 53"/>
              <p:cNvSpPr/>
              <p:nvPr/>
            </p:nvSpPr>
            <p:spPr>
              <a:xfrm>
                <a:off x="3936" y="2208"/>
                <a:ext cx="576" cy="968"/>
              </a:xfrm>
              <a:custGeom>
                <a:avLst/>
                <a:gdLst>
                  <a:gd name="txL" fmla="*/ 0 w 480"/>
                  <a:gd name="txT" fmla="*/ 0 h 968"/>
                  <a:gd name="txR" fmla="*/ 480 w 480"/>
                  <a:gd name="txB" fmla="*/ 968 h 968"/>
                </a:gdLst>
                <a:ahLst/>
                <a:cxnLst>
                  <a:cxn ang="0">
                    <a:pos x="0" y="968"/>
                  </a:cxn>
                  <a:cxn ang="0">
                    <a:pos x="344" y="680"/>
                  </a:cxn>
                  <a:cxn ang="0">
                    <a:pos x="862" y="8"/>
                  </a:cxn>
                  <a:cxn ang="0">
                    <a:pos x="1376" y="728"/>
                  </a:cxn>
                  <a:cxn ang="0">
                    <a:pos x="1720" y="968"/>
                  </a:cxn>
                </a:cxnLst>
                <a:rect l="txL" t="txT" r="txR" b="txB"/>
                <a:pathLst>
                  <a:path w="480" h="968">
                    <a:moveTo>
                      <a:pt x="0" y="968"/>
                    </a:moveTo>
                    <a:cubicBezTo>
                      <a:pt x="28" y="904"/>
                      <a:pt x="56" y="840"/>
                      <a:pt x="96" y="680"/>
                    </a:cubicBezTo>
                    <a:cubicBezTo>
                      <a:pt x="136" y="520"/>
                      <a:pt x="192" y="0"/>
                      <a:pt x="240" y="8"/>
                    </a:cubicBezTo>
                    <a:cubicBezTo>
                      <a:pt x="288" y="16"/>
                      <a:pt x="344" y="568"/>
                      <a:pt x="384" y="728"/>
                    </a:cubicBezTo>
                    <a:cubicBezTo>
                      <a:pt x="424" y="888"/>
                      <a:pt x="464" y="928"/>
                      <a:pt x="480" y="968"/>
                    </a:cubicBezTo>
                  </a:path>
                </a:pathLst>
              </a:custGeom>
              <a:noFill/>
              <a:ln w="19050" cap="flat" cmpd="sng">
                <a:solidFill>
                  <a:srgbClr val="009900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572" name="Line 54"/>
            <p:cNvSpPr/>
            <p:nvPr/>
          </p:nvSpPr>
          <p:spPr>
            <a:xfrm>
              <a:off x="3457" y="1632"/>
              <a:ext cx="110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6573" name="Group 55"/>
            <p:cNvGrpSpPr/>
            <p:nvPr/>
          </p:nvGrpSpPr>
          <p:grpSpPr>
            <a:xfrm rot="5367018">
              <a:off x="3219" y="1578"/>
              <a:ext cx="1152" cy="681"/>
              <a:chOff x="3648" y="2208"/>
              <a:chExt cx="1141" cy="968"/>
            </a:xfrm>
          </p:grpSpPr>
          <p:sp>
            <p:nvSpPr>
              <p:cNvPr id="66575" name="Freeform 56"/>
              <p:cNvSpPr/>
              <p:nvPr/>
            </p:nvSpPr>
            <p:spPr>
              <a:xfrm>
                <a:off x="4512" y="3120"/>
                <a:ext cx="277" cy="48"/>
              </a:xfrm>
              <a:custGeom>
                <a:avLst/>
                <a:gdLst>
                  <a:gd name="txL" fmla="*/ 0 w 240"/>
                  <a:gd name="txT" fmla="*/ 0 h 48"/>
                  <a:gd name="txR" fmla="*/ 240 w 240"/>
                  <a:gd name="txB" fmla="*/ 48 h 48"/>
                </a:gdLst>
                <a:ahLst/>
                <a:cxnLst>
                  <a:cxn ang="0">
                    <a:pos x="0" y="48"/>
                  </a:cxn>
                  <a:cxn ang="0">
                    <a:pos x="262" y="0"/>
                  </a:cxn>
                  <a:cxn ang="0">
                    <a:pos x="656" y="48"/>
                  </a:cxn>
                </a:cxnLst>
                <a:rect l="txL" t="txT" r="txR" b="txB"/>
                <a:pathLst>
                  <a:path w="240" h="48">
                    <a:moveTo>
                      <a:pt x="0" y="48"/>
                    </a:moveTo>
                    <a:cubicBezTo>
                      <a:pt x="28" y="24"/>
                      <a:pt x="56" y="0"/>
                      <a:pt x="96" y="0"/>
                    </a:cubicBezTo>
                    <a:cubicBezTo>
                      <a:pt x="136" y="0"/>
                      <a:pt x="216" y="40"/>
                      <a:pt x="240" y="48"/>
                    </a:cubicBezTo>
                  </a:path>
                </a:pathLst>
              </a:custGeom>
              <a:noFill/>
              <a:ln w="1905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6" name="Freeform 57"/>
              <p:cNvSpPr/>
              <p:nvPr/>
            </p:nvSpPr>
            <p:spPr>
              <a:xfrm>
                <a:off x="3648" y="3120"/>
                <a:ext cx="277" cy="48"/>
              </a:xfrm>
              <a:custGeom>
                <a:avLst/>
                <a:gdLst>
                  <a:gd name="txL" fmla="*/ 0 w 240"/>
                  <a:gd name="txT" fmla="*/ 0 h 48"/>
                  <a:gd name="txR" fmla="*/ 240 w 240"/>
                  <a:gd name="txB" fmla="*/ 48 h 48"/>
                </a:gdLst>
                <a:ahLst/>
                <a:cxnLst>
                  <a:cxn ang="0">
                    <a:pos x="656" y="48"/>
                  </a:cxn>
                  <a:cxn ang="0">
                    <a:pos x="392" y="0"/>
                  </a:cxn>
                  <a:cxn ang="0">
                    <a:pos x="0" y="48"/>
                  </a:cxn>
                </a:cxnLst>
                <a:rect l="txL" t="txT" r="txR" b="txB"/>
                <a:pathLst>
                  <a:path w="240" h="48">
                    <a:moveTo>
                      <a:pt x="240" y="48"/>
                    </a:moveTo>
                    <a:cubicBezTo>
                      <a:pt x="212" y="24"/>
                      <a:pt x="184" y="0"/>
                      <a:pt x="144" y="0"/>
                    </a:cubicBezTo>
                    <a:cubicBezTo>
                      <a:pt x="104" y="0"/>
                      <a:pt x="24" y="40"/>
                      <a:pt x="0" y="48"/>
                    </a:cubicBezTo>
                  </a:path>
                </a:pathLst>
              </a:custGeom>
              <a:noFill/>
              <a:ln w="1905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77" name="Freeform 58"/>
              <p:cNvSpPr/>
              <p:nvPr/>
            </p:nvSpPr>
            <p:spPr>
              <a:xfrm>
                <a:off x="3936" y="2208"/>
                <a:ext cx="576" cy="968"/>
              </a:xfrm>
              <a:custGeom>
                <a:avLst/>
                <a:gdLst>
                  <a:gd name="txL" fmla="*/ 0 w 480"/>
                  <a:gd name="txT" fmla="*/ 0 h 968"/>
                  <a:gd name="txR" fmla="*/ 480 w 480"/>
                  <a:gd name="txB" fmla="*/ 968 h 968"/>
                </a:gdLst>
                <a:ahLst/>
                <a:cxnLst>
                  <a:cxn ang="0">
                    <a:pos x="0" y="968"/>
                  </a:cxn>
                  <a:cxn ang="0">
                    <a:pos x="344" y="680"/>
                  </a:cxn>
                  <a:cxn ang="0">
                    <a:pos x="862" y="8"/>
                  </a:cxn>
                  <a:cxn ang="0">
                    <a:pos x="1376" y="728"/>
                  </a:cxn>
                  <a:cxn ang="0">
                    <a:pos x="1720" y="968"/>
                  </a:cxn>
                </a:cxnLst>
                <a:rect l="txL" t="txT" r="txR" b="txB"/>
                <a:pathLst>
                  <a:path w="480" h="968">
                    <a:moveTo>
                      <a:pt x="0" y="968"/>
                    </a:moveTo>
                    <a:cubicBezTo>
                      <a:pt x="28" y="904"/>
                      <a:pt x="56" y="840"/>
                      <a:pt x="96" y="680"/>
                    </a:cubicBezTo>
                    <a:cubicBezTo>
                      <a:pt x="136" y="520"/>
                      <a:pt x="192" y="0"/>
                      <a:pt x="240" y="8"/>
                    </a:cubicBezTo>
                    <a:cubicBezTo>
                      <a:pt x="288" y="16"/>
                      <a:pt x="344" y="568"/>
                      <a:pt x="384" y="728"/>
                    </a:cubicBezTo>
                    <a:cubicBezTo>
                      <a:pt x="424" y="888"/>
                      <a:pt x="464" y="928"/>
                      <a:pt x="480" y="968"/>
                    </a:cubicBezTo>
                  </a:path>
                </a:pathLst>
              </a:custGeom>
              <a:noFill/>
              <a:ln w="19050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6574" name="Line 59"/>
            <p:cNvSpPr/>
            <p:nvPr/>
          </p:nvSpPr>
          <p:spPr>
            <a:xfrm>
              <a:off x="3456" y="1920"/>
              <a:ext cx="110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Rectangle 31"/>
          <p:cNvSpPr/>
          <p:nvPr>
            <p:custDataLst>
              <p:tags r:id="rId2"/>
            </p:custDataLst>
          </p:nvPr>
        </p:nvSpPr>
        <p:spPr>
          <a:xfrm>
            <a:off x="545465" y="4794250"/>
            <a:ext cx="3566160" cy="827405"/>
          </a:xfrm>
          <a:prstGeom prst="rect">
            <a:avLst/>
          </a:prstGeom>
          <a:gradFill rotWithShape="0">
            <a:gsLst>
              <a:gs pos="0">
                <a:srgbClr val="E1F2F3"/>
              </a:gs>
              <a:gs pos="50000">
                <a:srgbClr val="FFFFFF"/>
              </a:gs>
              <a:gs pos="100000">
                <a:srgbClr val="E1F2F3"/>
              </a:gs>
            </a:gsLst>
            <a:lin ang="5400000" scaled="1"/>
            <a:tileRect/>
          </a:gradFill>
          <a:ln w="9525" cap="flat" cmpd="sng">
            <a:solidFill>
              <a:srgbClr val="006666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67587" name="Object 32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2298065" y="4811395"/>
          <a:ext cx="167767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64" r:id="rId27" imgW="788035" imgH="394335" progId="Equation.3">
                  <p:embed/>
                </p:oleObj>
              </mc:Choice>
              <mc:Fallback>
                <p:oleObj r:id="rId27" imgW="788035" imgH="394335" progId="Equation.3">
                  <p:embed/>
                  <p:pic>
                    <p:nvPicPr>
                      <p:cNvPr id="0" name="图片 3365"/>
                      <p:cNvPicPr/>
                      <p:nvPr/>
                    </p:nvPicPr>
                    <p:blipFill>
                      <a:blip r:embed="rId28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98065" y="4811395"/>
                        <a:ext cx="1677670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8" name="Text Box 33"/>
          <p:cNvSpPr txBox="1"/>
          <p:nvPr>
            <p:custDataLst>
              <p:tags r:id="rId4"/>
            </p:custDataLst>
          </p:nvPr>
        </p:nvSpPr>
        <p:spPr>
          <a:xfrm>
            <a:off x="544830" y="4928553"/>
            <a:ext cx="171323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3366"/>
                </a:solidFill>
                <a:latin typeface="Times New Roman" panose="02020603050405020304" pitchFamily="18" charset="0"/>
              </a:rPr>
              <a:t>最小分辨角</a:t>
            </a:r>
          </a:p>
        </p:txBody>
      </p:sp>
      <p:grpSp>
        <p:nvGrpSpPr>
          <p:cNvPr id="8" name="Group 65"/>
          <p:cNvGrpSpPr/>
          <p:nvPr/>
        </p:nvGrpSpPr>
        <p:grpSpPr>
          <a:xfrm>
            <a:off x="4430395" y="4789805"/>
            <a:ext cx="4092575" cy="831850"/>
            <a:chOff x="576" y="1920"/>
            <a:chExt cx="2578" cy="524"/>
          </a:xfrm>
        </p:grpSpPr>
        <p:sp>
          <p:nvSpPr>
            <p:cNvPr id="67593" name="Rectangle 36"/>
            <p:cNvSpPr/>
            <p:nvPr>
              <p:custDataLst>
                <p:tags r:id="rId6"/>
              </p:custDataLst>
            </p:nvPr>
          </p:nvSpPr>
          <p:spPr>
            <a:xfrm>
              <a:off x="576" y="1920"/>
              <a:ext cx="2578" cy="524"/>
            </a:xfrm>
            <a:prstGeom prst="rect">
              <a:avLst/>
            </a:prstGeom>
            <a:gradFill rotWithShape="0">
              <a:gsLst>
                <a:gs pos="0">
                  <a:srgbClr val="DEF1F2"/>
                </a:gs>
                <a:gs pos="50000">
                  <a:srgbClr val="FFFFFF"/>
                </a:gs>
                <a:gs pos="100000">
                  <a:srgbClr val="DEF1F2"/>
                </a:gs>
              </a:gsLst>
              <a:lin ang="5400000" scaled="1"/>
              <a:tileRect/>
            </a:gradFill>
            <a:ln w="9525" cap="flat" cmpd="sng">
              <a:solidFill>
                <a:srgbClr val="006666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67594" name="Text Box 37"/>
            <p:cNvSpPr txBox="1"/>
            <p:nvPr>
              <p:custDataLst>
                <p:tags r:id="rId7"/>
              </p:custDataLst>
            </p:nvPr>
          </p:nvSpPr>
          <p:spPr>
            <a:xfrm>
              <a:off x="576" y="2011"/>
              <a:ext cx="146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光学仪器分辨率</a:t>
              </a:r>
            </a:p>
          </p:txBody>
        </p:sp>
        <p:graphicFrame>
          <p:nvGraphicFramePr>
            <p:cNvPr id="67595" name="Object 38"/>
            <p:cNvGraphicFramePr>
              <a:graphicFrameLocks noChangeAspect="1"/>
            </p:cNvGraphicFramePr>
            <p:nvPr>
              <p:custDataLst>
                <p:tags r:id="rId8"/>
              </p:custDataLst>
            </p:nvPr>
          </p:nvGraphicFramePr>
          <p:xfrm>
            <a:off x="2018" y="1966"/>
            <a:ext cx="1026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5" r:id="rId29" imgW="893445" imgH="436245" progId="Equation.3">
                    <p:embed/>
                  </p:oleObj>
                </mc:Choice>
                <mc:Fallback>
                  <p:oleObj r:id="rId29" imgW="893445" imgH="436245" progId="Equation.3">
                    <p:embed/>
                    <p:pic>
                      <p:nvPicPr>
                        <p:cNvPr id="0" name="图片 3366"/>
                        <p:cNvPicPr/>
                        <p:nvPr/>
                      </p:nvPicPr>
                      <p:blipFill>
                        <a:blip r:embed="rId3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018" y="1966"/>
                          <a:ext cx="1026" cy="4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7592" name="文本框 2"/>
          <p:cNvSpPr txBox="1"/>
          <p:nvPr>
            <p:custDataLst>
              <p:tags r:id="rId5"/>
            </p:custDataLst>
          </p:nvPr>
        </p:nvSpPr>
        <p:spPr>
          <a:xfrm>
            <a:off x="1290955" y="5828030"/>
            <a:ext cx="6422390" cy="711200"/>
          </a:xfrm>
          <a:prstGeom prst="rect">
            <a:avLst/>
          </a:prstGeom>
          <a:gradFill rotWithShape="0">
            <a:gsLst>
              <a:gs pos="0">
                <a:srgbClr val="DEF1F2"/>
              </a:gs>
              <a:gs pos="50000">
                <a:srgbClr val="FFFFFF"/>
              </a:gs>
              <a:gs pos="100000">
                <a:srgbClr val="DEF1F2"/>
              </a:gs>
            </a:gsLst>
            <a:lin ang="5400000" scaled="1"/>
            <a:tileRect/>
          </a:gradFill>
          <a:ln w="9525" cap="flat" cmpd="sng">
            <a:solidFill>
              <a:srgbClr val="006666"/>
            </a:solidFill>
            <a:prstDash val="solid"/>
            <a:miter/>
            <a:headEnd type="none" w="med" len="med"/>
            <a:tailEnd type="none" w="sm" len="lg"/>
          </a:ln>
        </p:spPr>
        <p:txBody>
          <a:bodyPr wrap="none" anchor="ctr" anchorCtr="0"/>
          <a:lstStyle/>
          <a:p>
            <a:pPr eaLnBrk="1" hangingPunct="1"/>
            <a:r>
              <a:rPr lang="zh-CN" altLang="en-US" sz="2400" dirty="0">
                <a:solidFill>
                  <a:srgbClr val="002060"/>
                </a:solidFill>
                <a:latin typeface="Arial" panose="020B0604020202020204" pitchFamily="34" charset="0"/>
              </a:rPr>
              <a:t> 提高分辨率的办法：增大数值孔径，减小波长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42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1"/>
          <p:cNvSpPr txBox="1"/>
          <p:nvPr/>
        </p:nvSpPr>
        <p:spPr>
          <a:xfrm>
            <a:off x="3362325" y="115888"/>
            <a:ext cx="2722563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</a:rPr>
              <a:t>光栅</a:t>
            </a:r>
            <a:r>
              <a:rPr lang="zh-CN" altLang="en-US" sz="3600" b="1" dirty="0">
                <a:solidFill>
                  <a:srgbClr val="CC0000"/>
                </a:solidFill>
                <a:latin typeface="宋体" panose="02010600030101010101" pitchFamily="2" charset="-122"/>
              </a:rPr>
              <a:t> </a:t>
            </a:r>
            <a:endParaRPr lang="zh-CN" altLang="en-US" sz="3600" b="1" dirty="0">
              <a:latin typeface="宋体" panose="02010600030101010101" pitchFamily="2" charset="-122"/>
            </a:endParaRPr>
          </a:p>
        </p:txBody>
      </p:sp>
      <p:sp>
        <p:nvSpPr>
          <p:cNvPr id="34828" name="Rectangle 12"/>
          <p:cNvSpPr/>
          <p:nvPr/>
        </p:nvSpPr>
        <p:spPr>
          <a:xfrm>
            <a:off x="609600" y="857250"/>
            <a:ext cx="83121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平行</a:t>
            </a:r>
            <a:r>
              <a:rPr lang="zh-CN" altLang="en-US" sz="2800" b="1" dirty="0">
                <a:latin typeface="宋体" panose="02010600030101010101" pitchFamily="2" charset="-122"/>
              </a:rPr>
              <a:t>排列的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许多等宽度</a:t>
            </a:r>
            <a:r>
              <a:rPr lang="zh-CN" altLang="en-US" sz="2800" b="1" dirty="0">
                <a:latin typeface="宋体" panose="02010600030101010101" pitchFamily="2" charset="-122"/>
              </a:rPr>
              <a:t>、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等距离</a:t>
            </a:r>
            <a:r>
              <a:rPr lang="zh-CN" altLang="en-US" sz="2800" b="1" dirty="0">
                <a:solidFill>
                  <a:srgbClr val="003366"/>
                </a:solidFill>
                <a:latin typeface="宋体" panose="02010600030101010101" pitchFamily="2" charset="-122"/>
              </a:rPr>
              <a:t>的狭缝构成光栅</a:t>
            </a:r>
            <a:endParaRPr lang="en-US" altLang="zh-CN" sz="2800" b="1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63"/>
          <p:cNvGrpSpPr/>
          <p:nvPr/>
        </p:nvGrpSpPr>
        <p:grpSpPr>
          <a:xfrm>
            <a:off x="682625" y="1892300"/>
            <a:ext cx="7804150" cy="4127500"/>
            <a:chOff x="474" y="1240"/>
            <a:chExt cx="4916" cy="2696"/>
          </a:xfrm>
        </p:grpSpPr>
        <p:grpSp>
          <p:nvGrpSpPr>
            <p:cNvPr id="3077" name="Group 2"/>
            <p:cNvGrpSpPr/>
            <p:nvPr/>
          </p:nvGrpSpPr>
          <p:grpSpPr>
            <a:xfrm>
              <a:off x="474" y="1240"/>
              <a:ext cx="4916" cy="2696"/>
              <a:chOff x="288" y="1152"/>
              <a:chExt cx="5232" cy="2928"/>
            </a:xfrm>
          </p:grpSpPr>
          <p:sp>
            <p:nvSpPr>
              <p:cNvPr id="3127" name="Rectangle 3"/>
              <p:cNvSpPr/>
              <p:nvPr/>
            </p:nvSpPr>
            <p:spPr>
              <a:xfrm>
                <a:off x="288" y="1152"/>
                <a:ext cx="5232" cy="292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128" name="Group 4"/>
              <p:cNvGrpSpPr/>
              <p:nvPr/>
            </p:nvGrpSpPr>
            <p:grpSpPr>
              <a:xfrm>
                <a:off x="1487" y="1728"/>
                <a:ext cx="73" cy="2064"/>
                <a:chOff x="1487" y="1488"/>
                <a:chExt cx="98" cy="2064"/>
              </a:xfrm>
            </p:grpSpPr>
            <p:sp>
              <p:nvSpPr>
                <p:cNvPr id="3129" name="AutoShape 5" descr="栎木"/>
                <p:cNvSpPr/>
                <p:nvPr/>
              </p:nvSpPr>
              <p:spPr>
                <a:xfrm rot="-5419152">
                  <a:off x="1332" y="1644"/>
                  <a:ext cx="408" cy="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9" y="96"/>
                    </a:cxn>
                    <a:cxn ang="0">
                      <a:pos x="329" y="96"/>
                    </a:cxn>
                    <a:cxn ang="0">
                      <a:pos x="408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600" h="21600">
                      <a:moveTo>
                        <a:pt x="0" y="0"/>
                      </a:moveTo>
                      <a:lnTo>
                        <a:pt x="4163" y="21600"/>
                      </a:lnTo>
                      <a:lnTo>
                        <a:pt x="17437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3"/>
                </a:blipFill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0" name="AutoShape 6" descr="栎木"/>
                <p:cNvSpPr/>
                <p:nvPr/>
              </p:nvSpPr>
              <p:spPr>
                <a:xfrm rot="-5419152">
                  <a:off x="1437" y="2013"/>
                  <a:ext cx="192" cy="9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7" y="97"/>
                    </a:cxn>
                    <a:cxn ang="0">
                      <a:pos x="155" y="97"/>
                    </a:cxn>
                    <a:cxn ang="0">
                      <a:pos x="192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600" h="21600">
                      <a:moveTo>
                        <a:pt x="0" y="0"/>
                      </a:moveTo>
                      <a:lnTo>
                        <a:pt x="4163" y="21600"/>
                      </a:lnTo>
                      <a:lnTo>
                        <a:pt x="17437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3"/>
                </a:blipFill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1" name="AutoShape 7" descr="栎木"/>
                <p:cNvSpPr/>
                <p:nvPr/>
              </p:nvSpPr>
              <p:spPr>
                <a:xfrm rot="-5419152">
                  <a:off x="1438" y="2301"/>
                  <a:ext cx="192" cy="9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7" y="97"/>
                    </a:cxn>
                    <a:cxn ang="0">
                      <a:pos x="155" y="97"/>
                    </a:cxn>
                    <a:cxn ang="0">
                      <a:pos x="192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600" h="21600">
                      <a:moveTo>
                        <a:pt x="0" y="0"/>
                      </a:moveTo>
                      <a:lnTo>
                        <a:pt x="4163" y="21600"/>
                      </a:lnTo>
                      <a:lnTo>
                        <a:pt x="17437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3"/>
                </a:blipFill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2" name="AutoShape 8" descr="栎木"/>
                <p:cNvSpPr/>
                <p:nvPr/>
              </p:nvSpPr>
              <p:spPr>
                <a:xfrm rot="-5419152">
                  <a:off x="1438" y="2589"/>
                  <a:ext cx="192" cy="9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7" y="97"/>
                    </a:cxn>
                    <a:cxn ang="0">
                      <a:pos x="155" y="97"/>
                    </a:cxn>
                    <a:cxn ang="0">
                      <a:pos x="192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600" h="21600">
                      <a:moveTo>
                        <a:pt x="0" y="0"/>
                      </a:moveTo>
                      <a:lnTo>
                        <a:pt x="4163" y="21600"/>
                      </a:lnTo>
                      <a:lnTo>
                        <a:pt x="17437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3"/>
                </a:blipFill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3" name="AutoShape 9" descr="栎木"/>
                <p:cNvSpPr/>
                <p:nvPr/>
              </p:nvSpPr>
              <p:spPr>
                <a:xfrm rot="-5419152">
                  <a:off x="1438" y="2877"/>
                  <a:ext cx="192" cy="9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7" y="97"/>
                    </a:cxn>
                    <a:cxn ang="0">
                      <a:pos x="155" y="97"/>
                    </a:cxn>
                    <a:cxn ang="0">
                      <a:pos x="192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600" h="21600">
                      <a:moveTo>
                        <a:pt x="0" y="0"/>
                      </a:moveTo>
                      <a:lnTo>
                        <a:pt x="4163" y="21600"/>
                      </a:lnTo>
                      <a:lnTo>
                        <a:pt x="17437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3"/>
                </a:blipFill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34" name="AutoShape 10" descr="栎木"/>
                <p:cNvSpPr/>
                <p:nvPr/>
              </p:nvSpPr>
              <p:spPr>
                <a:xfrm rot="-5419152">
                  <a:off x="1320" y="3288"/>
                  <a:ext cx="432" cy="9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83" y="96"/>
                    </a:cxn>
                    <a:cxn ang="0">
                      <a:pos x="349" y="96"/>
                    </a:cxn>
                    <a:cxn ang="0">
                      <a:pos x="432" y="0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21600" h="21600">
                      <a:moveTo>
                        <a:pt x="0" y="0"/>
                      </a:moveTo>
                      <a:lnTo>
                        <a:pt x="4163" y="21600"/>
                      </a:lnTo>
                      <a:lnTo>
                        <a:pt x="17437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 rotWithShape="0">
                  <a:blip r:embed="rId3"/>
                </a:blipFill>
                <a:ln w="952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078" name="Group 13"/>
            <p:cNvGrpSpPr/>
            <p:nvPr/>
          </p:nvGrpSpPr>
          <p:grpSpPr>
            <a:xfrm>
              <a:off x="835" y="2168"/>
              <a:ext cx="2030" cy="1062"/>
              <a:chOff x="672" y="2160"/>
              <a:chExt cx="2160" cy="1153"/>
            </a:xfrm>
          </p:grpSpPr>
          <p:grpSp>
            <p:nvGrpSpPr>
              <p:cNvPr id="3112" name="Group 14"/>
              <p:cNvGrpSpPr/>
              <p:nvPr/>
            </p:nvGrpSpPr>
            <p:grpSpPr>
              <a:xfrm>
                <a:off x="672" y="3024"/>
                <a:ext cx="2160" cy="1"/>
                <a:chOff x="672" y="3504"/>
                <a:chExt cx="2160" cy="0"/>
              </a:xfrm>
            </p:grpSpPr>
            <p:sp>
              <p:nvSpPr>
                <p:cNvPr id="3125" name="Line 15"/>
                <p:cNvSpPr/>
                <p:nvPr/>
              </p:nvSpPr>
              <p:spPr>
                <a:xfrm>
                  <a:off x="1056" y="3504"/>
                  <a:ext cx="1776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6" name="Line 16"/>
                <p:cNvSpPr/>
                <p:nvPr/>
              </p:nvSpPr>
              <p:spPr>
                <a:xfrm>
                  <a:off x="672" y="3504"/>
                  <a:ext cx="624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13" name="Group 17"/>
              <p:cNvGrpSpPr/>
              <p:nvPr/>
            </p:nvGrpSpPr>
            <p:grpSpPr>
              <a:xfrm>
                <a:off x="672" y="3312"/>
                <a:ext cx="2160" cy="1"/>
                <a:chOff x="672" y="3504"/>
                <a:chExt cx="2160" cy="0"/>
              </a:xfrm>
            </p:grpSpPr>
            <p:sp>
              <p:nvSpPr>
                <p:cNvPr id="3123" name="Line 18"/>
                <p:cNvSpPr/>
                <p:nvPr/>
              </p:nvSpPr>
              <p:spPr>
                <a:xfrm>
                  <a:off x="1056" y="3504"/>
                  <a:ext cx="1776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4" name="Line 19"/>
                <p:cNvSpPr/>
                <p:nvPr/>
              </p:nvSpPr>
              <p:spPr>
                <a:xfrm>
                  <a:off x="672" y="3504"/>
                  <a:ext cx="624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14" name="Group 20"/>
              <p:cNvGrpSpPr/>
              <p:nvPr/>
            </p:nvGrpSpPr>
            <p:grpSpPr>
              <a:xfrm>
                <a:off x="672" y="2736"/>
                <a:ext cx="2160" cy="1"/>
                <a:chOff x="672" y="3504"/>
                <a:chExt cx="2160" cy="0"/>
              </a:xfrm>
            </p:grpSpPr>
            <p:sp>
              <p:nvSpPr>
                <p:cNvPr id="3121" name="Line 21"/>
                <p:cNvSpPr/>
                <p:nvPr/>
              </p:nvSpPr>
              <p:spPr>
                <a:xfrm>
                  <a:off x="1056" y="3504"/>
                  <a:ext cx="1776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2" name="Line 22"/>
                <p:cNvSpPr/>
                <p:nvPr/>
              </p:nvSpPr>
              <p:spPr>
                <a:xfrm>
                  <a:off x="672" y="3504"/>
                  <a:ext cx="624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15" name="Group 23"/>
              <p:cNvGrpSpPr/>
              <p:nvPr/>
            </p:nvGrpSpPr>
            <p:grpSpPr>
              <a:xfrm>
                <a:off x="672" y="2448"/>
                <a:ext cx="2160" cy="1"/>
                <a:chOff x="672" y="3504"/>
                <a:chExt cx="2160" cy="0"/>
              </a:xfrm>
            </p:grpSpPr>
            <p:sp>
              <p:nvSpPr>
                <p:cNvPr id="3119" name="Line 24"/>
                <p:cNvSpPr/>
                <p:nvPr/>
              </p:nvSpPr>
              <p:spPr>
                <a:xfrm>
                  <a:off x="1056" y="3504"/>
                  <a:ext cx="1776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20" name="Line 25"/>
                <p:cNvSpPr/>
                <p:nvPr/>
              </p:nvSpPr>
              <p:spPr>
                <a:xfrm>
                  <a:off x="672" y="3504"/>
                  <a:ext cx="624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16" name="Group 26"/>
              <p:cNvGrpSpPr/>
              <p:nvPr/>
            </p:nvGrpSpPr>
            <p:grpSpPr>
              <a:xfrm>
                <a:off x="672" y="2160"/>
                <a:ext cx="2160" cy="1"/>
                <a:chOff x="672" y="3504"/>
                <a:chExt cx="2160" cy="0"/>
              </a:xfrm>
            </p:grpSpPr>
            <p:sp>
              <p:nvSpPr>
                <p:cNvPr id="3117" name="Line 27"/>
                <p:cNvSpPr/>
                <p:nvPr/>
              </p:nvSpPr>
              <p:spPr>
                <a:xfrm>
                  <a:off x="1056" y="3504"/>
                  <a:ext cx="1776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18" name="Line 28"/>
                <p:cNvSpPr/>
                <p:nvPr/>
              </p:nvSpPr>
              <p:spPr>
                <a:xfrm>
                  <a:off x="672" y="3504"/>
                  <a:ext cx="624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079" name="Group 29"/>
            <p:cNvGrpSpPr/>
            <p:nvPr/>
          </p:nvGrpSpPr>
          <p:grpSpPr>
            <a:xfrm>
              <a:off x="2819" y="2168"/>
              <a:ext cx="1985" cy="1061"/>
              <a:chOff x="2784" y="2160"/>
              <a:chExt cx="2112" cy="1152"/>
            </a:xfrm>
          </p:grpSpPr>
          <p:sp>
            <p:nvSpPr>
              <p:cNvPr id="3107" name="Line 30"/>
              <p:cNvSpPr/>
              <p:nvPr/>
            </p:nvSpPr>
            <p:spPr>
              <a:xfrm>
                <a:off x="2784" y="2160"/>
                <a:ext cx="2112" cy="57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08" name="Line 31"/>
              <p:cNvSpPr/>
              <p:nvPr/>
            </p:nvSpPr>
            <p:spPr>
              <a:xfrm>
                <a:off x="2832" y="2448"/>
                <a:ext cx="2064" cy="28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09" name="Line 32"/>
              <p:cNvSpPr/>
              <p:nvPr/>
            </p:nvSpPr>
            <p:spPr>
              <a:xfrm>
                <a:off x="2832" y="2736"/>
                <a:ext cx="206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0" name="Line 33"/>
              <p:cNvSpPr/>
              <p:nvPr/>
            </p:nvSpPr>
            <p:spPr>
              <a:xfrm flipV="1">
                <a:off x="2784" y="2736"/>
                <a:ext cx="2112" cy="28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1" name="Line 34"/>
              <p:cNvSpPr/>
              <p:nvPr/>
            </p:nvSpPr>
            <p:spPr>
              <a:xfrm flipV="1">
                <a:off x="2784" y="2736"/>
                <a:ext cx="2112" cy="57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80" name="Group 35"/>
            <p:cNvGrpSpPr/>
            <p:nvPr/>
          </p:nvGrpSpPr>
          <p:grpSpPr>
            <a:xfrm>
              <a:off x="1602" y="1682"/>
              <a:ext cx="1263" cy="1547"/>
              <a:chOff x="1488" y="1632"/>
              <a:chExt cx="1344" cy="1680"/>
            </a:xfrm>
          </p:grpSpPr>
          <p:sp>
            <p:nvSpPr>
              <p:cNvPr id="3102" name="Line 36"/>
              <p:cNvSpPr/>
              <p:nvPr/>
            </p:nvSpPr>
            <p:spPr>
              <a:xfrm flipV="1">
                <a:off x="1488" y="1632"/>
                <a:ext cx="1344" cy="528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03" name="Line 37"/>
              <p:cNvSpPr/>
              <p:nvPr/>
            </p:nvSpPr>
            <p:spPr>
              <a:xfrm flipV="1">
                <a:off x="1488" y="1920"/>
                <a:ext cx="1344" cy="528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04" name="Line 38"/>
              <p:cNvSpPr/>
              <p:nvPr/>
            </p:nvSpPr>
            <p:spPr>
              <a:xfrm flipV="1">
                <a:off x="1488" y="2208"/>
                <a:ext cx="1344" cy="528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05" name="Line 39"/>
              <p:cNvSpPr/>
              <p:nvPr/>
            </p:nvSpPr>
            <p:spPr>
              <a:xfrm flipV="1">
                <a:off x="1488" y="2496"/>
                <a:ext cx="1344" cy="528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06" name="Line 40"/>
              <p:cNvSpPr/>
              <p:nvPr/>
            </p:nvSpPr>
            <p:spPr>
              <a:xfrm flipV="1">
                <a:off x="1488" y="2784"/>
                <a:ext cx="1344" cy="528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81" name="Group 41"/>
            <p:cNvGrpSpPr/>
            <p:nvPr/>
          </p:nvGrpSpPr>
          <p:grpSpPr>
            <a:xfrm>
              <a:off x="2863" y="1682"/>
              <a:ext cx="2279" cy="1061"/>
              <a:chOff x="2830" y="1632"/>
              <a:chExt cx="2426" cy="1152"/>
            </a:xfrm>
          </p:grpSpPr>
          <p:graphicFrame>
            <p:nvGraphicFramePr>
              <p:cNvPr id="3095" name="Object 42"/>
              <p:cNvGraphicFramePr/>
              <p:nvPr/>
            </p:nvGraphicFramePr>
            <p:xfrm>
              <a:off x="4992" y="1920"/>
              <a:ext cx="264" cy="3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60" r:id="rId4" imgW="62865" imgH="89535" progId="Equation.3">
                      <p:embed/>
                    </p:oleObj>
                  </mc:Choice>
                  <mc:Fallback>
                    <p:oleObj r:id="rId4" imgW="62865" imgH="89535" progId="Equation.3">
                      <p:embed/>
                      <p:pic>
                        <p:nvPicPr>
                          <p:cNvPr id="0" name="图片 2"/>
                          <p:cNvPicPr/>
                          <p:nvPr/>
                        </p:nvPicPr>
                        <p:blipFill>
                          <a:blip r:embed="rId5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992" y="1920"/>
                            <a:ext cx="264" cy="35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096" name="Group 43"/>
              <p:cNvGrpSpPr/>
              <p:nvPr/>
            </p:nvGrpSpPr>
            <p:grpSpPr>
              <a:xfrm>
                <a:off x="2830" y="1632"/>
                <a:ext cx="2065" cy="1152"/>
                <a:chOff x="2830" y="1632"/>
                <a:chExt cx="2065" cy="1152"/>
              </a:xfrm>
            </p:grpSpPr>
            <p:sp>
              <p:nvSpPr>
                <p:cNvPr id="3097" name="Line 44"/>
                <p:cNvSpPr/>
                <p:nvPr/>
              </p:nvSpPr>
              <p:spPr>
                <a:xfrm rot="-3806">
                  <a:off x="2830" y="1632"/>
                  <a:ext cx="2065" cy="384"/>
                </a:xfrm>
                <a:prstGeom prst="line">
                  <a:avLst/>
                </a:prstGeom>
                <a:ln w="28575" cap="flat" cmpd="sng">
                  <a:solidFill>
                    <a:srgbClr val="FF66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" name="Line 45"/>
                <p:cNvSpPr/>
                <p:nvPr/>
              </p:nvSpPr>
              <p:spPr>
                <a:xfrm rot="-3806">
                  <a:off x="2830" y="1919"/>
                  <a:ext cx="2065" cy="96"/>
                </a:xfrm>
                <a:prstGeom prst="line">
                  <a:avLst/>
                </a:prstGeom>
                <a:ln w="28575" cap="flat" cmpd="sng">
                  <a:solidFill>
                    <a:srgbClr val="FF66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" name="Line 46"/>
                <p:cNvSpPr/>
                <p:nvPr/>
              </p:nvSpPr>
              <p:spPr>
                <a:xfrm rot="-3806" flipV="1">
                  <a:off x="2831" y="2016"/>
                  <a:ext cx="2064" cy="479"/>
                </a:xfrm>
                <a:prstGeom prst="line">
                  <a:avLst/>
                </a:prstGeom>
                <a:ln w="28575" cap="flat" cmpd="sng">
                  <a:solidFill>
                    <a:srgbClr val="FF66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" name="Line 47"/>
                <p:cNvSpPr/>
                <p:nvPr/>
              </p:nvSpPr>
              <p:spPr>
                <a:xfrm rot="-3806" flipV="1">
                  <a:off x="2831" y="2016"/>
                  <a:ext cx="2064" cy="192"/>
                </a:xfrm>
                <a:prstGeom prst="line">
                  <a:avLst/>
                </a:prstGeom>
                <a:ln w="28575" cap="flat" cmpd="sng">
                  <a:solidFill>
                    <a:srgbClr val="FF66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" name="Line 48"/>
                <p:cNvSpPr/>
                <p:nvPr/>
              </p:nvSpPr>
              <p:spPr>
                <a:xfrm rot="-3806" flipV="1">
                  <a:off x="2831" y="2016"/>
                  <a:ext cx="2064" cy="768"/>
                </a:xfrm>
                <a:prstGeom prst="line">
                  <a:avLst/>
                </a:prstGeom>
                <a:ln w="28575" cap="flat" cmpd="sng">
                  <a:solidFill>
                    <a:srgbClr val="FF66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082" name="Group 49"/>
            <p:cNvGrpSpPr/>
            <p:nvPr/>
          </p:nvGrpSpPr>
          <p:grpSpPr>
            <a:xfrm>
              <a:off x="564" y="1240"/>
              <a:ext cx="4736" cy="2659"/>
              <a:chOff x="384" y="1144"/>
              <a:chExt cx="5040" cy="2888"/>
            </a:xfrm>
          </p:grpSpPr>
          <p:sp>
            <p:nvSpPr>
              <p:cNvPr id="34866" name="Rectangle 50"/>
              <p:cNvSpPr>
                <a:spLocks noChangeArrowheads="1"/>
              </p:cNvSpPr>
              <p:nvPr/>
            </p:nvSpPr>
            <p:spPr bwMode="auto">
              <a:xfrm>
                <a:off x="4890" y="1440"/>
                <a:ext cx="54" cy="2587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0"/>
                      <a:invGamma/>
                    </a:schemeClr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088" name="Object 51"/>
              <p:cNvGraphicFramePr/>
              <p:nvPr/>
            </p:nvGraphicFramePr>
            <p:xfrm>
              <a:off x="4982" y="2784"/>
              <a:ext cx="250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61" r:id="rId6" imgW="73660" imgH="83820" progId="Equation.3">
                      <p:embed/>
                    </p:oleObj>
                  </mc:Choice>
                  <mc:Fallback>
                    <p:oleObj r:id="rId6" imgW="73660" imgH="83820" progId="Equation.3">
                      <p:embed/>
                      <p:pic>
                        <p:nvPicPr>
                          <p:cNvPr id="0" name="图片 7"/>
                          <p:cNvPicPr/>
                          <p:nvPr/>
                        </p:nvPicPr>
                        <p:blipFill>
                          <a:blip r:embed="rId7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982" y="2784"/>
                            <a:ext cx="250" cy="2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89" name="Object 52"/>
              <p:cNvGraphicFramePr/>
              <p:nvPr/>
            </p:nvGraphicFramePr>
            <p:xfrm>
              <a:off x="2496" y="1144"/>
              <a:ext cx="332" cy="3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62" r:id="rId8" imgW="57785" imgH="73660" progId="Equation.3">
                      <p:embed/>
                    </p:oleObj>
                  </mc:Choice>
                  <mc:Fallback>
                    <p:oleObj r:id="rId8" imgW="57785" imgH="73660" progId="Equation.3">
                      <p:embed/>
                      <p:pic>
                        <p:nvPicPr>
                          <p:cNvPr id="0" name="图片 6"/>
                          <p:cNvPicPr/>
                          <p:nvPr/>
                        </p:nvPicPr>
                        <p:blipFill>
                          <a:blip r:embed="rId9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496" y="1144"/>
                            <a:ext cx="332" cy="3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90" name="Line 53"/>
              <p:cNvSpPr/>
              <p:nvPr/>
            </p:nvSpPr>
            <p:spPr>
              <a:xfrm flipV="1">
                <a:off x="384" y="2736"/>
                <a:ext cx="504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lgDashDot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091" name="Object 54"/>
              <p:cNvGraphicFramePr/>
              <p:nvPr/>
            </p:nvGraphicFramePr>
            <p:xfrm>
              <a:off x="4952" y="1200"/>
              <a:ext cx="328" cy="3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63" r:id="rId10" imgW="57785" imgH="73660" progId="Equation.3">
                      <p:embed/>
                    </p:oleObj>
                  </mc:Choice>
                  <mc:Fallback>
                    <p:oleObj r:id="rId10" imgW="57785" imgH="73660" progId="Equation.3">
                      <p:embed/>
                      <p:pic>
                        <p:nvPicPr>
                          <p:cNvPr id="0" name="图片 3"/>
                          <p:cNvPicPr/>
                          <p:nvPr/>
                        </p:nvPicPr>
                        <p:blipFill>
                          <a:blip r:embed="rId11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4952" y="1200"/>
                            <a:ext cx="328" cy="38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92" name="Object 55"/>
              <p:cNvGraphicFramePr/>
              <p:nvPr/>
            </p:nvGraphicFramePr>
            <p:xfrm>
              <a:off x="3744" y="3408"/>
              <a:ext cx="288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64" r:id="rId12" imgW="62865" imgH="89535" progId="Equation.3">
                      <p:embed/>
                    </p:oleObj>
                  </mc:Choice>
                  <mc:Fallback>
                    <p:oleObj r:id="rId12" imgW="62865" imgH="89535" progId="Equation.3">
                      <p:embed/>
                      <p:pic>
                        <p:nvPicPr>
                          <p:cNvPr id="0" name="图片 4"/>
                          <p:cNvPicPr/>
                          <p:nvPr/>
                        </p:nvPicPr>
                        <p:blipFill>
                          <a:blip r:embed="rId13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744" y="3408"/>
                            <a:ext cx="288" cy="38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93" name="Line 56"/>
              <p:cNvSpPr/>
              <p:nvPr/>
            </p:nvSpPr>
            <p:spPr>
              <a:xfrm>
                <a:off x="2832" y="3744"/>
                <a:ext cx="206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94" name="Oval 57"/>
              <p:cNvSpPr/>
              <p:nvPr/>
            </p:nvSpPr>
            <p:spPr>
              <a:xfrm>
                <a:off x="2736" y="1440"/>
                <a:ext cx="192" cy="2592"/>
              </a:xfrm>
              <a:prstGeom prst="ellipse">
                <a:avLst/>
              </a:prstGeom>
              <a:solidFill>
                <a:srgbClr val="00FF99">
                  <a:alpha val="50195"/>
                </a:srgbClr>
              </a:solidFill>
              <a:ln w="19050" cap="flat" cmpd="sng">
                <a:solidFill>
                  <a:srgbClr val="006666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83" name="Group 58"/>
            <p:cNvGrpSpPr/>
            <p:nvPr/>
          </p:nvGrpSpPr>
          <p:grpSpPr>
            <a:xfrm>
              <a:off x="1241" y="1372"/>
              <a:ext cx="1165" cy="840"/>
              <a:chOff x="1104" y="1296"/>
              <a:chExt cx="1240" cy="912"/>
            </a:xfrm>
          </p:grpSpPr>
          <p:sp>
            <p:nvSpPr>
              <p:cNvPr id="3084" name="Freeform 59"/>
              <p:cNvSpPr/>
              <p:nvPr/>
            </p:nvSpPr>
            <p:spPr>
              <a:xfrm>
                <a:off x="1959" y="1978"/>
                <a:ext cx="57" cy="15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"/>
                  </a:cxn>
                  <a:cxn ang="0">
                    <a:pos x="5" y="19"/>
                  </a:cxn>
                  <a:cxn ang="0">
                    <a:pos x="5" y="10"/>
                  </a:cxn>
                  <a:cxn ang="0">
                    <a:pos x="2" y="18"/>
                  </a:cxn>
                  <a:cxn ang="0">
                    <a:pos x="6" y="20"/>
                  </a:cxn>
                  <a:cxn ang="0">
                    <a:pos x="10" y="12"/>
                  </a:cxn>
                  <a:cxn ang="0">
                    <a:pos x="3" y="18"/>
                  </a:cxn>
                  <a:cxn ang="0">
                    <a:pos x="8" y="22"/>
                  </a:cxn>
                  <a:cxn ang="0">
                    <a:pos x="12" y="27"/>
                  </a:cxn>
                  <a:cxn ang="0">
                    <a:pos x="17" y="33"/>
                  </a:cxn>
                  <a:cxn ang="0">
                    <a:pos x="23" y="26"/>
                  </a:cxn>
                  <a:cxn ang="0">
                    <a:pos x="15" y="30"/>
                  </a:cxn>
                  <a:cxn ang="0">
                    <a:pos x="19" y="37"/>
                  </a:cxn>
                  <a:cxn ang="0">
                    <a:pos x="22" y="45"/>
                  </a:cxn>
                  <a:cxn ang="0">
                    <a:pos x="26" y="55"/>
                  </a:cxn>
                  <a:cxn ang="0">
                    <a:pos x="31" y="76"/>
                  </a:cxn>
                  <a:cxn ang="0">
                    <a:pos x="40" y="72"/>
                  </a:cxn>
                  <a:cxn ang="0">
                    <a:pos x="31" y="72"/>
                  </a:cxn>
                  <a:cxn ang="0">
                    <a:pos x="35" y="97"/>
                  </a:cxn>
                  <a:cxn ang="0">
                    <a:pos x="38" y="124"/>
                  </a:cxn>
                  <a:cxn ang="0">
                    <a:pos x="39" y="153"/>
                  </a:cxn>
                  <a:cxn ang="0">
                    <a:pos x="57" y="153"/>
                  </a:cxn>
                  <a:cxn ang="0">
                    <a:pos x="56" y="124"/>
                  </a:cxn>
                  <a:cxn ang="0">
                    <a:pos x="53" y="97"/>
                  </a:cxn>
                  <a:cxn ang="0">
                    <a:pos x="49" y="72"/>
                  </a:cxn>
                  <a:cxn ang="0">
                    <a:pos x="48" y="69"/>
                  </a:cxn>
                  <a:cxn ang="0">
                    <a:pos x="43" y="48"/>
                  </a:cxn>
                  <a:cxn ang="0">
                    <a:pos x="39" y="38"/>
                  </a:cxn>
                  <a:cxn ang="0">
                    <a:pos x="36" y="30"/>
                  </a:cxn>
                  <a:cxn ang="0">
                    <a:pos x="32" y="23"/>
                  </a:cxn>
                  <a:cxn ang="0">
                    <a:pos x="30" y="20"/>
                  </a:cxn>
                  <a:cxn ang="0">
                    <a:pos x="25" y="14"/>
                  </a:cxn>
                  <a:cxn ang="0">
                    <a:pos x="21" y="9"/>
                  </a:cxn>
                  <a:cxn ang="0">
                    <a:pos x="16" y="5"/>
                  </a:cxn>
                  <a:cxn ang="0">
                    <a:pos x="13" y="3"/>
                  </a:cxn>
                  <a:cxn ang="0">
                    <a:pos x="9" y="1"/>
                  </a:cxn>
                  <a:cxn ang="0">
                    <a:pos x="5" y="1"/>
                  </a:cxn>
                  <a:cxn ang="0">
                    <a:pos x="0" y="0"/>
                  </a:cxn>
                </a:cxnLst>
                <a:rect l="0" t="0" r="0" b="0"/>
                <a:pathLst>
                  <a:path w="57" h="153">
                    <a:moveTo>
                      <a:pt x="0" y="0"/>
                    </a:moveTo>
                    <a:lnTo>
                      <a:pt x="0" y="18"/>
                    </a:lnTo>
                    <a:lnTo>
                      <a:pt x="5" y="19"/>
                    </a:lnTo>
                    <a:lnTo>
                      <a:pt x="5" y="10"/>
                    </a:lnTo>
                    <a:lnTo>
                      <a:pt x="2" y="18"/>
                    </a:lnTo>
                    <a:lnTo>
                      <a:pt x="6" y="20"/>
                    </a:lnTo>
                    <a:lnTo>
                      <a:pt x="10" y="12"/>
                    </a:lnTo>
                    <a:lnTo>
                      <a:pt x="3" y="18"/>
                    </a:lnTo>
                    <a:lnTo>
                      <a:pt x="8" y="22"/>
                    </a:lnTo>
                    <a:lnTo>
                      <a:pt x="12" y="27"/>
                    </a:lnTo>
                    <a:lnTo>
                      <a:pt x="17" y="33"/>
                    </a:lnTo>
                    <a:lnTo>
                      <a:pt x="23" y="26"/>
                    </a:lnTo>
                    <a:lnTo>
                      <a:pt x="15" y="30"/>
                    </a:lnTo>
                    <a:lnTo>
                      <a:pt x="19" y="37"/>
                    </a:lnTo>
                    <a:lnTo>
                      <a:pt x="22" y="45"/>
                    </a:lnTo>
                    <a:lnTo>
                      <a:pt x="26" y="55"/>
                    </a:lnTo>
                    <a:lnTo>
                      <a:pt x="31" y="76"/>
                    </a:lnTo>
                    <a:lnTo>
                      <a:pt x="40" y="72"/>
                    </a:lnTo>
                    <a:lnTo>
                      <a:pt x="31" y="72"/>
                    </a:lnTo>
                    <a:lnTo>
                      <a:pt x="35" y="97"/>
                    </a:lnTo>
                    <a:lnTo>
                      <a:pt x="38" y="124"/>
                    </a:lnTo>
                    <a:lnTo>
                      <a:pt x="39" y="153"/>
                    </a:lnTo>
                    <a:lnTo>
                      <a:pt x="57" y="153"/>
                    </a:lnTo>
                    <a:lnTo>
                      <a:pt x="56" y="124"/>
                    </a:lnTo>
                    <a:lnTo>
                      <a:pt x="53" y="97"/>
                    </a:lnTo>
                    <a:lnTo>
                      <a:pt x="49" y="72"/>
                    </a:lnTo>
                    <a:lnTo>
                      <a:pt x="48" y="69"/>
                    </a:lnTo>
                    <a:lnTo>
                      <a:pt x="43" y="48"/>
                    </a:lnTo>
                    <a:lnTo>
                      <a:pt x="39" y="38"/>
                    </a:lnTo>
                    <a:lnTo>
                      <a:pt x="36" y="30"/>
                    </a:lnTo>
                    <a:lnTo>
                      <a:pt x="32" y="23"/>
                    </a:lnTo>
                    <a:lnTo>
                      <a:pt x="30" y="20"/>
                    </a:lnTo>
                    <a:lnTo>
                      <a:pt x="25" y="14"/>
                    </a:lnTo>
                    <a:lnTo>
                      <a:pt x="21" y="9"/>
                    </a:lnTo>
                    <a:lnTo>
                      <a:pt x="16" y="5"/>
                    </a:lnTo>
                    <a:lnTo>
                      <a:pt x="13" y="3"/>
                    </a:lnTo>
                    <a:lnTo>
                      <a:pt x="9" y="1"/>
                    </a:lnTo>
                    <a:lnTo>
                      <a:pt x="5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FF">
                  <a:alpha val="100000"/>
                </a:srgbClr>
              </a:solidFill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085" name="Object 60"/>
              <p:cNvGraphicFramePr/>
              <p:nvPr/>
            </p:nvGraphicFramePr>
            <p:xfrm>
              <a:off x="2064" y="1816"/>
              <a:ext cx="280" cy="3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165" r:id="rId14" imgW="52705" imgH="78740" progId="Equation.3">
                      <p:embed/>
                    </p:oleObj>
                  </mc:Choice>
                  <mc:Fallback>
                    <p:oleObj r:id="rId14" imgW="52705" imgH="78740" progId="Equation.3">
                      <p:embed/>
                      <p:pic>
                        <p:nvPicPr>
                          <p:cNvPr id="0" name="图片 5"/>
                          <p:cNvPicPr/>
                          <p:nvPr/>
                        </p:nvPicPr>
                        <p:blipFill>
                          <a:blip r:embed="rId15">
                            <a:clrChange>
                              <a:clrFrom>
                                <a:srgbClr val="000000"/>
                              </a:clrFrom>
                              <a:clrTo>
                                <a:srgbClr val="FF0000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064" y="1816"/>
                            <a:ext cx="280" cy="39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86" name="AutoShape 61"/>
              <p:cNvSpPr/>
              <p:nvPr/>
            </p:nvSpPr>
            <p:spPr>
              <a:xfrm>
                <a:off x="1104" y="1296"/>
                <a:ext cx="912" cy="336"/>
              </a:xfrm>
              <a:prstGeom prst="wedgeRectCallout">
                <a:avLst>
                  <a:gd name="adj1" fmla="val 34759"/>
                  <a:gd name="adj2" fmla="val 179764"/>
                </a:avLst>
              </a:prstGeom>
              <a:gradFill rotWithShape="0">
                <a:gsLst>
                  <a:gs pos="0">
                    <a:srgbClr val="FFCCCC"/>
                  </a:gs>
                  <a:gs pos="50000">
                    <a:srgbClr val="FFFFFF"/>
                  </a:gs>
                  <a:gs pos="100000">
                    <a:srgbClr val="FFCCCC"/>
                  </a:gs>
                </a:gsLst>
                <a:lin ang="5400000" scaled="1"/>
                <a:tileRect/>
              </a:gradFill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/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03366"/>
                    </a:solidFill>
                    <a:latin typeface="宋体" panose="02010600030101010101" pitchFamily="2" charset="-122"/>
                  </a:rPr>
                  <a:t>衍射角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1524000"/>
            <a:ext cx="7529513" cy="4718050"/>
            <a:chOff x="3024" y="432"/>
            <a:chExt cx="2640" cy="3648"/>
          </a:xfrm>
        </p:grpSpPr>
        <p:sp>
          <p:nvSpPr>
            <p:cNvPr id="4142" name="Rectangle 3"/>
            <p:cNvSpPr/>
            <p:nvPr/>
          </p:nvSpPr>
          <p:spPr>
            <a:xfrm>
              <a:off x="3024" y="432"/>
              <a:ext cx="2640" cy="364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4143" name="Group 4"/>
            <p:cNvGrpSpPr/>
            <p:nvPr/>
          </p:nvGrpSpPr>
          <p:grpSpPr>
            <a:xfrm>
              <a:off x="4271" y="864"/>
              <a:ext cx="73" cy="1776"/>
              <a:chOff x="4271" y="864"/>
              <a:chExt cx="73" cy="1776"/>
            </a:xfrm>
          </p:grpSpPr>
          <p:sp>
            <p:nvSpPr>
              <p:cNvPr id="4144" name="AutoShape 5" descr="栎木"/>
              <p:cNvSpPr/>
              <p:nvPr/>
            </p:nvSpPr>
            <p:spPr>
              <a:xfrm rot="-5419152">
                <a:off x="4101" y="1030"/>
                <a:ext cx="408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9" y="71"/>
                  </a:cxn>
                  <a:cxn ang="0">
                    <a:pos x="329" y="71"/>
                  </a:cxn>
                  <a:cxn ang="0">
                    <a:pos x="408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3"/>
              </a:blip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5" name="AutoShape 6" descr="栎木"/>
              <p:cNvSpPr/>
              <p:nvPr/>
            </p:nvSpPr>
            <p:spPr>
              <a:xfrm rot="-5419152">
                <a:off x="4211" y="1404"/>
                <a:ext cx="192" cy="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7" y="72"/>
                  </a:cxn>
                  <a:cxn ang="0">
                    <a:pos x="155" y="72"/>
                  </a:cxn>
                  <a:cxn ang="0">
                    <a:pos x="192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3"/>
              </a:blip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6" name="AutoShape 7" descr="栎木"/>
              <p:cNvSpPr/>
              <p:nvPr/>
            </p:nvSpPr>
            <p:spPr>
              <a:xfrm rot="-5419152">
                <a:off x="4212" y="1692"/>
                <a:ext cx="192" cy="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7" y="72"/>
                  </a:cxn>
                  <a:cxn ang="0">
                    <a:pos x="155" y="72"/>
                  </a:cxn>
                  <a:cxn ang="0">
                    <a:pos x="192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3"/>
              </a:blip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7" name="AutoShape 8" descr="栎木"/>
              <p:cNvSpPr/>
              <p:nvPr/>
            </p:nvSpPr>
            <p:spPr>
              <a:xfrm rot="-5419152">
                <a:off x="4212" y="1980"/>
                <a:ext cx="192" cy="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7" y="72"/>
                  </a:cxn>
                  <a:cxn ang="0">
                    <a:pos x="155" y="72"/>
                  </a:cxn>
                  <a:cxn ang="0">
                    <a:pos x="192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3"/>
              </a:blip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8" name="AutoShape 9" descr="栎木"/>
              <p:cNvSpPr/>
              <p:nvPr/>
            </p:nvSpPr>
            <p:spPr>
              <a:xfrm rot="-5419152">
                <a:off x="4089" y="2386"/>
                <a:ext cx="432" cy="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3" y="71"/>
                  </a:cxn>
                  <a:cxn ang="0">
                    <a:pos x="349" y="71"/>
                  </a:cxn>
                  <a:cxn ang="0">
                    <a:pos x="432" y="0"/>
                  </a:cxn>
                  <a:cxn ang="0">
                    <a:pos x="0" y="0"/>
                  </a:cxn>
                </a:cxnLst>
                <a:rect l="0" t="0" r="0" b="0"/>
                <a:pathLst>
                  <a:path w="21600" h="21600">
                    <a:moveTo>
                      <a:pt x="0" y="0"/>
                    </a:moveTo>
                    <a:lnTo>
                      <a:pt x="4163" y="21600"/>
                    </a:lnTo>
                    <a:lnTo>
                      <a:pt x="17437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blipFill rotWithShape="0">
                <a:blip r:embed="rId3"/>
              </a:blip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75"/>
          <p:cNvGrpSpPr/>
          <p:nvPr/>
        </p:nvGrpSpPr>
        <p:grpSpPr>
          <a:xfrm>
            <a:off x="4103688" y="3371850"/>
            <a:ext cx="2144712" cy="1428750"/>
            <a:chOff x="2585" y="2124"/>
            <a:chExt cx="1351" cy="900"/>
          </a:xfrm>
        </p:grpSpPr>
        <p:grpSp>
          <p:nvGrpSpPr>
            <p:cNvPr id="4136" name="Group 74"/>
            <p:cNvGrpSpPr/>
            <p:nvPr/>
          </p:nvGrpSpPr>
          <p:grpSpPr>
            <a:xfrm>
              <a:off x="2585" y="2124"/>
              <a:ext cx="583" cy="756"/>
              <a:chOff x="2585" y="2124"/>
              <a:chExt cx="583" cy="756"/>
            </a:xfrm>
          </p:grpSpPr>
          <p:sp>
            <p:nvSpPr>
              <p:cNvPr id="4138" name="Freeform 60"/>
              <p:cNvSpPr/>
              <p:nvPr/>
            </p:nvSpPr>
            <p:spPr>
              <a:xfrm>
                <a:off x="2688" y="2124"/>
                <a:ext cx="240" cy="7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40" y="744"/>
                  </a:cxn>
                </a:cxnLst>
                <a:rect l="0" t="0" r="0" b="0"/>
                <a:pathLst>
                  <a:path w="432" h="732">
                    <a:moveTo>
                      <a:pt x="0" y="0"/>
                    </a:moveTo>
                    <a:lnTo>
                      <a:pt x="432" y="732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dash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9" name="Freeform 61"/>
              <p:cNvSpPr/>
              <p:nvPr/>
            </p:nvSpPr>
            <p:spPr>
              <a:xfrm>
                <a:off x="2688" y="2417"/>
                <a:ext cx="192" cy="4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2" y="463"/>
                  </a:cxn>
                </a:cxnLst>
                <a:rect l="0" t="0" r="0" b="0"/>
                <a:pathLst>
                  <a:path w="294" h="504">
                    <a:moveTo>
                      <a:pt x="0" y="0"/>
                    </a:moveTo>
                    <a:lnTo>
                      <a:pt x="294" y="504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dash"/>
                <a:round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0" name="Freeform 62"/>
              <p:cNvSpPr/>
              <p:nvPr/>
            </p:nvSpPr>
            <p:spPr>
              <a:xfrm rot="590113">
                <a:off x="2585" y="2723"/>
                <a:ext cx="247" cy="144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247" y="0"/>
                  </a:cxn>
                </a:cxnLst>
                <a:rect l="0" t="0" r="0" b="0"/>
                <a:pathLst>
                  <a:path w="204" h="120">
                    <a:moveTo>
                      <a:pt x="0" y="120"/>
                    </a:moveTo>
                    <a:lnTo>
                      <a:pt x="204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1" name="Freeform 63"/>
              <p:cNvSpPr/>
              <p:nvPr/>
            </p:nvSpPr>
            <p:spPr>
              <a:xfrm rot="-7928">
                <a:off x="2880" y="2666"/>
                <a:ext cx="288" cy="70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288" y="0"/>
                  </a:cxn>
                </a:cxnLst>
                <a:rect l="0" t="0" r="0" b="0"/>
                <a:pathLst>
                  <a:path w="240" h="144">
                    <a:moveTo>
                      <a:pt x="0" y="144"/>
                    </a:moveTo>
                    <a:lnTo>
                      <a:pt x="240" y="0"/>
                    </a:ln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triangl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4137" name="Object 5"/>
            <p:cNvGraphicFramePr/>
            <p:nvPr/>
          </p:nvGraphicFramePr>
          <p:xfrm>
            <a:off x="2976" y="2769"/>
            <a:ext cx="96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4" r:id="rId4" imgW="394335" imgH="89535" progId="Equation.3">
                    <p:embed/>
                  </p:oleObj>
                </mc:Choice>
                <mc:Fallback>
                  <p:oleObj r:id="rId4" imgW="394335" imgH="89535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976" y="2769"/>
                          <a:ext cx="960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0" name="Text Box 57"/>
          <p:cNvSpPr txBox="1"/>
          <p:nvPr/>
        </p:nvSpPr>
        <p:spPr>
          <a:xfrm>
            <a:off x="3209925" y="115888"/>
            <a:ext cx="3576638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CC0000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光栅常数</a:t>
            </a:r>
          </a:p>
        </p:txBody>
      </p:sp>
      <p:grpSp>
        <p:nvGrpSpPr>
          <p:cNvPr id="6" name="Group 10"/>
          <p:cNvGrpSpPr/>
          <p:nvPr/>
        </p:nvGrpSpPr>
        <p:grpSpPr>
          <a:xfrm>
            <a:off x="1096963" y="2139950"/>
            <a:ext cx="5475287" cy="930275"/>
            <a:chOff x="3168" y="967"/>
            <a:chExt cx="1920" cy="720"/>
          </a:xfrm>
        </p:grpSpPr>
        <p:sp>
          <p:nvSpPr>
            <p:cNvPr id="4131" name="Line 11"/>
            <p:cNvSpPr/>
            <p:nvPr/>
          </p:nvSpPr>
          <p:spPr>
            <a:xfrm flipH="1">
              <a:off x="3168" y="1409"/>
              <a:ext cx="19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2" name="Line 12"/>
            <p:cNvSpPr/>
            <p:nvPr/>
          </p:nvSpPr>
          <p:spPr>
            <a:xfrm flipH="1">
              <a:off x="3168" y="1313"/>
              <a:ext cx="110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3" name="Line 13"/>
            <p:cNvSpPr/>
            <p:nvPr/>
          </p:nvSpPr>
          <p:spPr>
            <a:xfrm>
              <a:off x="3478" y="967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4" name="Line 14"/>
            <p:cNvSpPr/>
            <p:nvPr/>
          </p:nvSpPr>
          <p:spPr>
            <a:xfrm>
              <a:off x="3478" y="1399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35" name="Object 4"/>
            <p:cNvGraphicFramePr/>
            <p:nvPr/>
          </p:nvGraphicFramePr>
          <p:xfrm>
            <a:off x="3286" y="1151"/>
            <a:ext cx="21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5" r:id="rId6" imgW="73660" imgH="120650" progId="Equation.3">
                    <p:embed/>
                  </p:oleObj>
                </mc:Choice>
                <mc:Fallback>
                  <p:oleObj r:id="rId6" imgW="73660" imgH="120650" progId="Equation.3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86" y="1151"/>
                          <a:ext cx="218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6"/>
          <p:cNvGrpSpPr/>
          <p:nvPr/>
        </p:nvGrpSpPr>
        <p:grpSpPr>
          <a:xfrm>
            <a:off x="2192338" y="2308225"/>
            <a:ext cx="2052637" cy="915988"/>
            <a:chOff x="3552" y="1098"/>
            <a:chExt cx="720" cy="708"/>
          </a:xfrm>
        </p:grpSpPr>
        <p:sp>
          <p:nvSpPr>
            <p:cNvPr id="4127" name="Line 17"/>
            <p:cNvSpPr/>
            <p:nvPr/>
          </p:nvSpPr>
          <p:spPr>
            <a:xfrm flipH="1">
              <a:off x="3552" y="1591"/>
              <a:ext cx="7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dash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8" name="Line 18"/>
            <p:cNvSpPr/>
            <p:nvPr/>
          </p:nvSpPr>
          <p:spPr>
            <a:xfrm>
              <a:off x="3840" y="1098"/>
              <a:ext cx="0" cy="33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9" name="Line 19"/>
            <p:cNvSpPr/>
            <p:nvPr/>
          </p:nvSpPr>
          <p:spPr>
            <a:xfrm>
              <a:off x="3840" y="1566"/>
              <a:ext cx="0" cy="2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30" name="Object 3"/>
            <p:cNvGraphicFramePr/>
            <p:nvPr/>
          </p:nvGraphicFramePr>
          <p:xfrm>
            <a:off x="3840" y="1324"/>
            <a:ext cx="294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6" r:id="rId8" imgW="57785" imgH="78740" progId="Equation.3">
                    <p:embed/>
                  </p:oleObj>
                </mc:Choice>
                <mc:Fallback>
                  <p:oleObj r:id="rId8" imgW="57785" imgH="7874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40" y="1324"/>
                          <a:ext cx="294" cy="3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1"/>
          <p:cNvGrpSpPr/>
          <p:nvPr/>
        </p:nvGrpSpPr>
        <p:grpSpPr>
          <a:xfrm>
            <a:off x="1096963" y="3340100"/>
            <a:ext cx="3148012" cy="498475"/>
            <a:chOff x="3168" y="1872"/>
            <a:chExt cx="1104" cy="385"/>
          </a:xfrm>
        </p:grpSpPr>
        <p:grpSp>
          <p:nvGrpSpPr>
            <p:cNvPr id="4121" name="Group 22"/>
            <p:cNvGrpSpPr/>
            <p:nvPr/>
          </p:nvGrpSpPr>
          <p:grpSpPr>
            <a:xfrm>
              <a:off x="3168" y="1897"/>
              <a:ext cx="1104" cy="288"/>
              <a:chOff x="3600" y="2880"/>
              <a:chExt cx="672" cy="288"/>
            </a:xfrm>
          </p:grpSpPr>
          <p:sp>
            <p:nvSpPr>
              <p:cNvPr id="4124" name="Rectangle 23" descr="浅色上对角线"/>
              <p:cNvSpPr/>
              <p:nvPr/>
            </p:nvSpPr>
            <p:spPr>
              <a:xfrm>
                <a:off x="3600" y="2880"/>
                <a:ext cx="672" cy="288"/>
              </a:xfrm>
              <a:prstGeom prst="rect">
                <a:avLst/>
              </a:prstGeom>
              <a:blipFill rotWithShape="0">
                <a:blip r:embed="rId10"/>
              </a:blip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25" name="Line 24" descr="浅色上对角线"/>
              <p:cNvSpPr/>
              <p:nvPr/>
            </p:nvSpPr>
            <p:spPr>
              <a:xfrm flipH="1">
                <a:off x="3600" y="2880"/>
                <a:ext cx="67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" name="Line 25" descr="浅色上对角线"/>
              <p:cNvSpPr/>
              <p:nvPr/>
            </p:nvSpPr>
            <p:spPr>
              <a:xfrm flipH="1">
                <a:off x="3600" y="3168"/>
                <a:ext cx="67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22" name="Line 26"/>
            <p:cNvSpPr/>
            <p:nvPr/>
          </p:nvSpPr>
          <p:spPr>
            <a:xfrm>
              <a:off x="4128" y="1897"/>
              <a:ext cx="0" cy="28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23" name="Object 2"/>
            <p:cNvGraphicFramePr/>
            <p:nvPr/>
          </p:nvGraphicFramePr>
          <p:xfrm>
            <a:off x="3264" y="1872"/>
            <a:ext cx="768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7" r:id="rId11" imgW="173355" imgH="78740" progId="Equation.3">
                    <p:embed/>
                  </p:oleObj>
                </mc:Choice>
                <mc:Fallback>
                  <p:oleObj r:id="rId11" imgW="173355" imgH="7874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64" y="1872"/>
                          <a:ext cx="768" cy="3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76"/>
          <p:cNvGrpSpPr/>
          <p:nvPr/>
        </p:nvGrpSpPr>
        <p:grpSpPr>
          <a:xfrm>
            <a:off x="1506538" y="5694363"/>
            <a:ext cx="4284662" cy="517525"/>
            <a:chOff x="949" y="3587"/>
            <a:chExt cx="2699" cy="326"/>
          </a:xfrm>
        </p:grpSpPr>
        <p:sp>
          <p:nvSpPr>
            <p:cNvPr id="4119" name="Rectangle 37"/>
            <p:cNvSpPr/>
            <p:nvPr/>
          </p:nvSpPr>
          <p:spPr>
            <a:xfrm>
              <a:off x="949" y="3587"/>
              <a:ext cx="1931" cy="32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光栅常数：</a:t>
              </a:r>
            </a:p>
          </p:txBody>
        </p:sp>
        <p:graphicFrame>
          <p:nvGraphicFramePr>
            <p:cNvPr id="4120" name="Object 1"/>
            <p:cNvGraphicFramePr/>
            <p:nvPr/>
          </p:nvGraphicFramePr>
          <p:xfrm>
            <a:off x="2160" y="3632"/>
            <a:ext cx="148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8" r:id="rId13" imgW="725170" imgH="152400" progId="Equation.3">
                    <p:embed/>
                  </p:oleObj>
                </mc:Choice>
                <mc:Fallback>
                  <p:oleObj r:id="rId13" imgW="725170" imgH="1524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60" y="3632"/>
                          <a:ext cx="1488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39"/>
          <p:cNvGrpSpPr/>
          <p:nvPr/>
        </p:nvGrpSpPr>
        <p:grpSpPr>
          <a:xfrm>
            <a:off x="4244975" y="1944688"/>
            <a:ext cx="3011488" cy="1800225"/>
            <a:chOff x="4272" y="816"/>
            <a:chExt cx="1056" cy="1392"/>
          </a:xfrm>
        </p:grpSpPr>
        <p:sp>
          <p:nvSpPr>
            <p:cNvPr id="4115" name="Line 40"/>
            <p:cNvSpPr/>
            <p:nvPr/>
          </p:nvSpPr>
          <p:spPr>
            <a:xfrm flipV="1">
              <a:off x="4272" y="816"/>
              <a:ext cx="1056" cy="528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6" name="Line 41"/>
            <p:cNvSpPr/>
            <p:nvPr/>
          </p:nvSpPr>
          <p:spPr>
            <a:xfrm flipV="1">
              <a:off x="4272" y="1104"/>
              <a:ext cx="1056" cy="528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7" name="Line 42"/>
            <p:cNvSpPr/>
            <p:nvPr/>
          </p:nvSpPr>
          <p:spPr>
            <a:xfrm flipV="1">
              <a:off x="4272" y="1392"/>
              <a:ext cx="1056" cy="528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8" name="Line 43"/>
            <p:cNvSpPr/>
            <p:nvPr/>
          </p:nvSpPr>
          <p:spPr>
            <a:xfrm flipV="1">
              <a:off x="4272" y="1680"/>
              <a:ext cx="1056" cy="528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5884" name="AutoShape 44"/>
          <p:cNvSpPr/>
          <p:nvPr/>
        </p:nvSpPr>
        <p:spPr>
          <a:xfrm>
            <a:off x="958850" y="3963988"/>
            <a:ext cx="3149600" cy="434975"/>
          </a:xfrm>
          <a:prstGeom prst="wedgeRectCallout">
            <a:avLst>
              <a:gd name="adj1" fmla="val -2991"/>
              <a:gd name="adj2" fmla="val -102977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sm" len="lg"/>
          </a:ln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光栅常数</a:t>
            </a:r>
          </a:p>
        </p:txBody>
      </p:sp>
      <p:grpSp>
        <p:nvGrpSpPr>
          <p:cNvPr id="12" name="Group 45"/>
          <p:cNvGrpSpPr/>
          <p:nvPr/>
        </p:nvGrpSpPr>
        <p:grpSpPr>
          <a:xfrm>
            <a:off x="4381500" y="1571625"/>
            <a:ext cx="2327275" cy="1179513"/>
            <a:chOff x="4320" y="528"/>
            <a:chExt cx="816" cy="912"/>
          </a:xfrm>
        </p:grpSpPr>
        <p:sp>
          <p:nvSpPr>
            <p:cNvPr id="4112" name="Freeform 46"/>
            <p:cNvSpPr/>
            <p:nvPr/>
          </p:nvSpPr>
          <p:spPr>
            <a:xfrm>
              <a:off x="4608" y="1200"/>
              <a:ext cx="57" cy="1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8"/>
                </a:cxn>
                <a:cxn ang="0">
                  <a:pos x="5" y="19"/>
                </a:cxn>
                <a:cxn ang="0">
                  <a:pos x="5" y="10"/>
                </a:cxn>
                <a:cxn ang="0">
                  <a:pos x="2" y="18"/>
                </a:cxn>
                <a:cxn ang="0">
                  <a:pos x="6" y="20"/>
                </a:cxn>
                <a:cxn ang="0">
                  <a:pos x="10" y="12"/>
                </a:cxn>
                <a:cxn ang="0">
                  <a:pos x="3" y="18"/>
                </a:cxn>
                <a:cxn ang="0">
                  <a:pos x="8" y="22"/>
                </a:cxn>
                <a:cxn ang="0">
                  <a:pos x="12" y="27"/>
                </a:cxn>
                <a:cxn ang="0">
                  <a:pos x="17" y="33"/>
                </a:cxn>
                <a:cxn ang="0">
                  <a:pos x="23" y="26"/>
                </a:cxn>
                <a:cxn ang="0">
                  <a:pos x="15" y="30"/>
                </a:cxn>
                <a:cxn ang="0">
                  <a:pos x="19" y="37"/>
                </a:cxn>
                <a:cxn ang="0">
                  <a:pos x="22" y="45"/>
                </a:cxn>
                <a:cxn ang="0">
                  <a:pos x="26" y="55"/>
                </a:cxn>
                <a:cxn ang="0">
                  <a:pos x="31" y="76"/>
                </a:cxn>
                <a:cxn ang="0">
                  <a:pos x="40" y="72"/>
                </a:cxn>
                <a:cxn ang="0">
                  <a:pos x="31" y="72"/>
                </a:cxn>
                <a:cxn ang="0">
                  <a:pos x="35" y="97"/>
                </a:cxn>
                <a:cxn ang="0">
                  <a:pos x="38" y="124"/>
                </a:cxn>
                <a:cxn ang="0">
                  <a:pos x="39" y="153"/>
                </a:cxn>
                <a:cxn ang="0">
                  <a:pos x="57" y="153"/>
                </a:cxn>
                <a:cxn ang="0">
                  <a:pos x="56" y="124"/>
                </a:cxn>
                <a:cxn ang="0">
                  <a:pos x="53" y="97"/>
                </a:cxn>
                <a:cxn ang="0">
                  <a:pos x="49" y="72"/>
                </a:cxn>
                <a:cxn ang="0">
                  <a:pos x="48" y="69"/>
                </a:cxn>
                <a:cxn ang="0">
                  <a:pos x="43" y="48"/>
                </a:cxn>
                <a:cxn ang="0">
                  <a:pos x="39" y="38"/>
                </a:cxn>
                <a:cxn ang="0">
                  <a:pos x="36" y="30"/>
                </a:cxn>
                <a:cxn ang="0">
                  <a:pos x="32" y="23"/>
                </a:cxn>
                <a:cxn ang="0">
                  <a:pos x="30" y="20"/>
                </a:cxn>
                <a:cxn ang="0">
                  <a:pos x="25" y="14"/>
                </a:cxn>
                <a:cxn ang="0">
                  <a:pos x="21" y="9"/>
                </a:cxn>
                <a:cxn ang="0">
                  <a:pos x="16" y="5"/>
                </a:cxn>
                <a:cxn ang="0">
                  <a:pos x="13" y="3"/>
                </a:cxn>
                <a:cxn ang="0">
                  <a:pos x="9" y="1"/>
                </a:cxn>
                <a:cxn ang="0">
                  <a:pos x="5" y="1"/>
                </a:cxn>
                <a:cxn ang="0">
                  <a:pos x="0" y="0"/>
                </a:cxn>
              </a:cxnLst>
              <a:rect l="0" t="0" r="0" b="0"/>
              <a:pathLst>
                <a:path w="57" h="153">
                  <a:moveTo>
                    <a:pt x="0" y="0"/>
                  </a:moveTo>
                  <a:lnTo>
                    <a:pt x="0" y="18"/>
                  </a:lnTo>
                  <a:lnTo>
                    <a:pt x="5" y="19"/>
                  </a:lnTo>
                  <a:lnTo>
                    <a:pt x="5" y="10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10" y="12"/>
                  </a:lnTo>
                  <a:lnTo>
                    <a:pt x="3" y="18"/>
                  </a:lnTo>
                  <a:lnTo>
                    <a:pt x="8" y="22"/>
                  </a:lnTo>
                  <a:lnTo>
                    <a:pt x="12" y="27"/>
                  </a:lnTo>
                  <a:lnTo>
                    <a:pt x="17" y="33"/>
                  </a:lnTo>
                  <a:lnTo>
                    <a:pt x="23" y="26"/>
                  </a:lnTo>
                  <a:lnTo>
                    <a:pt x="15" y="30"/>
                  </a:lnTo>
                  <a:lnTo>
                    <a:pt x="19" y="37"/>
                  </a:lnTo>
                  <a:lnTo>
                    <a:pt x="22" y="45"/>
                  </a:lnTo>
                  <a:lnTo>
                    <a:pt x="26" y="55"/>
                  </a:lnTo>
                  <a:lnTo>
                    <a:pt x="31" y="76"/>
                  </a:lnTo>
                  <a:lnTo>
                    <a:pt x="40" y="72"/>
                  </a:lnTo>
                  <a:lnTo>
                    <a:pt x="31" y="72"/>
                  </a:lnTo>
                  <a:lnTo>
                    <a:pt x="35" y="97"/>
                  </a:lnTo>
                  <a:lnTo>
                    <a:pt x="38" y="124"/>
                  </a:lnTo>
                  <a:lnTo>
                    <a:pt x="39" y="153"/>
                  </a:lnTo>
                  <a:lnTo>
                    <a:pt x="57" y="153"/>
                  </a:lnTo>
                  <a:lnTo>
                    <a:pt x="56" y="124"/>
                  </a:lnTo>
                  <a:lnTo>
                    <a:pt x="53" y="97"/>
                  </a:lnTo>
                  <a:lnTo>
                    <a:pt x="49" y="72"/>
                  </a:lnTo>
                  <a:lnTo>
                    <a:pt x="48" y="69"/>
                  </a:lnTo>
                  <a:lnTo>
                    <a:pt x="43" y="48"/>
                  </a:lnTo>
                  <a:lnTo>
                    <a:pt x="39" y="38"/>
                  </a:lnTo>
                  <a:lnTo>
                    <a:pt x="36" y="30"/>
                  </a:lnTo>
                  <a:lnTo>
                    <a:pt x="32" y="23"/>
                  </a:lnTo>
                  <a:lnTo>
                    <a:pt x="30" y="20"/>
                  </a:lnTo>
                  <a:lnTo>
                    <a:pt x="25" y="14"/>
                  </a:lnTo>
                  <a:lnTo>
                    <a:pt x="21" y="9"/>
                  </a:lnTo>
                  <a:lnTo>
                    <a:pt x="16" y="5"/>
                  </a:lnTo>
                  <a:lnTo>
                    <a:pt x="13" y="3"/>
                  </a:lnTo>
                  <a:lnTo>
                    <a:pt x="9" y="1"/>
                  </a:lnTo>
                  <a:lnTo>
                    <a:pt x="5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>
                <a:alpha val="100000"/>
              </a:srgbClr>
            </a:solidFill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13" name="Object 0"/>
            <p:cNvGraphicFramePr/>
            <p:nvPr/>
          </p:nvGraphicFramePr>
          <p:xfrm>
            <a:off x="4713" y="1048"/>
            <a:ext cx="28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9" r:id="rId15" imgW="52705" imgH="78740" progId="Equation.3">
                    <p:embed/>
                  </p:oleObj>
                </mc:Choice>
                <mc:Fallback>
                  <p:oleObj r:id="rId15" imgW="52705" imgH="78740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13" y="1048"/>
                          <a:ext cx="28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14" name="AutoShape 48"/>
            <p:cNvSpPr/>
            <p:nvPr/>
          </p:nvSpPr>
          <p:spPr>
            <a:xfrm>
              <a:off x="4320" y="528"/>
              <a:ext cx="816" cy="336"/>
            </a:xfrm>
            <a:prstGeom prst="wedgeRectCallout">
              <a:avLst>
                <a:gd name="adj1" fmla="val -25856"/>
                <a:gd name="adj2" fmla="val 173810"/>
              </a:avLst>
            </a:prstGeom>
            <a:gradFill rotWithShape="0">
              <a:gsLst>
                <a:gs pos="0">
                  <a:srgbClr val="FFCCCC"/>
                </a:gs>
                <a:gs pos="50000">
                  <a:srgbClr val="FFFFFF"/>
                </a:gs>
                <a:gs pos="100000">
                  <a:srgbClr val="FFCCCC"/>
                </a:gs>
              </a:gsLst>
              <a:lin ang="5400000" scaled="1"/>
              <a:tileRect/>
            </a:gra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sm" len="lg"/>
            </a:ln>
          </p:spPr>
          <p:txBody>
            <a:bodyPr/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3366"/>
                  </a:solidFill>
                  <a:latin typeface="宋体" panose="02010600030101010101" pitchFamily="2" charset="-122"/>
                </a:rPr>
                <a:t>衍射角</a:t>
              </a:r>
            </a:p>
          </p:txBody>
        </p:sp>
      </p:grpSp>
      <p:grpSp>
        <p:nvGrpSpPr>
          <p:cNvPr id="13" name="Group 77"/>
          <p:cNvGrpSpPr/>
          <p:nvPr/>
        </p:nvGrpSpPr>
        <p:grpSpPr>
          <a:xfrm>
            <a:off x="1676400" y="4800600"/>
            <a:ext cx="4724400" cy="933450"/>
            <a:chOff x="1248" y="3024"/>
            <a:chExt cx="2976" cy="588"/>
          </a:xfrm>
        </p:grpSpPr>
        <p:sp>
          <p:nvSpPr>
            <p:cNvPr id="4109" name="Text Box 52"/>
            <p:cNvSpPr txBox="1"/>
            <p:nvPr/>
          </p:nvSpPr>
          <p:spPr>
            <a:xfrm>
              <a:off x="1330" y="3024"/>
              <a:ext cx="222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b </a:t>
              </a:r>
              <a:r>
                <a:rPr lang="zh-CN" altLang="en-US" sz="28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：透光部分的宽度</a:t>
              </a:r>
            </a:p>
          </p:txBody>
        </p:sp>
        <p:sp>
          <p:nvSpPr>
            <p:cNvPr id="4110" name="Rectangle 55"/>
            <p:cNvSpPr/>
            <p:nvPr/>
          </p:nvSpPr>
          <p:spPr>
            <a:xfrm>
              <a:off x="1319" y="3285"/>
              <a:ext cx="290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800" i="1" baseline="300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’ </a:t>
              </a:r>
              <a:r>
                <a:rPr lang="zh-CN" altLang="en-US" sz="28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：不透光部分的宽度</a:t>
              </a:r>
            </a:p>
          </p:txBody>
        </p:sp>
        <p:sp>
          <p:nvSpPr>
            <p:cNvPr id="4111" name="AutoShape 56"/>
            <p:cNvSpPr/>
            <p:nvPr/>
          </p:nvSpPr>
          <p:spPr>
            <a:xfrm>
              <a:off x="1248" y="3090"/>
              <a:ext cx="2544" cy="430"/>
            </a:xfrm>
            <a:prstGeom prst="bracketPair">
              <a:avLst>
                <a:gd name="adj" fmla="val 16667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3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8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763"/>
            <a:ext cx="9155113" cy="65992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光栅衍射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371600"/>
            <a:ext cx="8362950" cy="5486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7" name="Text Box 5"/>
          <p:cNvSpPr txBox="1"/>
          <p:nvPr/>
        </p:nvSpPr>
        <p:spPr>
          <a:xfrm>
            <a:off x="685800" y="715963"/>
            <a:ext cx="6934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3366"/>
                </a:solidFill>
                <a:latin typeface="宋体" panose="02010600030101010101" pitchFamily="2" charset="-122"/>
              </a:rPr>
              <a:t>光栅中狭缝条数越多，明纹越细</a:t>
            </a:r>
            <a:r>
              <a:rPr lang="en-US" altLang="zh-CN" sz="32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148" name="Text Box 6"/>
          <p:cNvSpPr txBox="1"/>
          <p:nvPr/>
        </p:nvSpPr>
        <p:spPr>
          <a:xfrm>
            <a:off x="2057400" y="1219200"/>
            <a:ext cx="1295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3366"/>
                </a:solidFill>
                <a:latin typeface="Arial" panose="020B0604020202020204" pitchFamily="34" charset="0"/>
              </a:rPr>
              <a:t>(a)1</a:t>
            </a:r>
            <a:r>
              <a:rPr lang="zh-CN" altLang="en-US" b="1" dirty="0">
                <a:solidFill>
                  <a:srgbClr val="003366"/>
                </a:solidFill>
                <a:latin typeface="Arial" panose="020B0604020202020204" pitchFamily="34" charset="0"/>
              </a:rPr>
              <a:t>条缝</a:t>
            </a:r>
          </a:p>
        </p:txBody>
      </p:sp>
      <p:sp>
        <p:nvSpPr>
          <p:cNvPr id="6149" name="Text Box 7"/>
          <p:cNvSpPr txBox="1"/>
          <p:nvPr/>
        </p:nvSpPr>
        <p:spPr>
          <a:xfrm>
            <a:off x="6464300" y="4611688"/>
            <a:ext cx="1295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3366"/>
                </a:solidFill>
                <a:latin typeface="Arial" panose="020B0604020202020204" pitchFamily="34" charset="0"/>
              </a:rPr>
              <a:t>(f)20</a:t>
            </a:r>
            <a:r>
              <a:rPr lang="zh-CN" altLang="en-US" b="1" dirty="0">
                <a:solidFill>
                  <a:srgbClr val="003366"/>
                </a:solidFill>
                <a:latin typeface="Arial" panose="020B0604020202020204" pitchFamily="34" charset="0"/>
              </a:rPr>
              <a:t>条缝</a:t>
            </a:r>
          </a:p>
        </p:txBody>
      </p:sp>
      <p:sp>
        <p:nvSpPr>
          <p:cNvPr id="6150" name="Text Box 8"/>
          <p:cNvSpPr txBox="1"/>
          <p:nvPr/>
        </p:nvSpPr>
        <p:spPr>
          <a:xfrm>
            <a:off x="6400800" y="2984500"/>
            <a:ext cx="1295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3366"/>
                </a:solidFill>
                <a:latin typeface="Arial" panose="020B0604020202020204" pitchFamily="34" charset="0"/>
              </a:rPr>
              <a:t>(e)6</a:t>
            </a:r>
            <a:r>
              <a:rPr lang="zh-CN" altLang="en-US" b="1" dirty="0">
                <a:solidFill>
                  <a:srgbClr val="003366"/>
                </a:solidFill>
                <a:latin typeface="Arial" panose="020B0604020202020204" pitchFamily="34" charset="0"/>
              </a:rPr>
              <a:t>条缝</a:t>
            </a:r>
          </a:p>
        </p:txBody>
      </p:sp>
      <p:sp>
        <p:nvSpPr>
          <p:cNvPr id="6151" name="Text Box 9"/>
          <p:cNvSpPr txBox="1"/>
          <p:nvPr/>
        </p:nvSpPr>
        <p:spPr>
          <a:xfrm>
            <a:off x="2108200" y="4648200"/>
            <a:ext cx="1295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3366"/>
                </a:solidFill>
                <a:latin typeface="Arial" panose="020B0604020202020204" pitchFamily="34" charset="0"/>
              </a:rPr>
              <a:t>(c)3</a:t>
            </a:r>
            <a:r>
              <a:rPr lang="zh-CN" altLang="en-US" b="1" dirty="0">
                <a:solidFill>
                  <a:srgbClr val="003366"/>
                </a:solidFill>
                <a:latin typeface="Arial" panose="020B0604020202020204" pitchFamily="34" charset="0"/>
              </a:rPr>
              <a:t>条缝</a:t>
            </a:r>
          </a:p>
        </p:txBody>
      </p:sp>
      <p:sp>
        <p:nvSpPr>
          <p:cNvPr id="6152" name="Text Box 10"/>
          <p:cNvSpPr txBox="1"/>
          <p:nvPr/>
        </p:nvSpPr>
        <p:spPr>
          <a:xfrm>
            <a:off x="2057400" y="2921000"/>
            <a:ext cx="1295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3366"/>
                </a:solidFill>
                <a:latin typeface="Arial" panose="020B0604020202020204" pitchFamily="34" charset="0"/>
              </a:rPr>
              <a:t>(b)2</a:t>
            </a:r>
            <a:r>
              <a:rPr lang="zh-CN" altLang="en-US" b="1" dirty="0">
                <a:solidFill>
                  <a:srgbClr val="003366"/>
                </a:solidFill>
                <a:latin typeface="Arial" panose="020B0604020202020204" pitchFamily="34" charset="0"/>
              </a:rPr>
              <a:t>条缝</a:t>
            </a:r>
          </a:p>
        </p:txBody>
      </p:sp>
      <p:sp>
        <p:nvSpPr>
          <p:cNvPr id="6153" name="Text Box 11"/>
          <p:cNvSpPr txBox="1"/>
          <p:nvPr/>
        </p:nvSpPr>
        <p:spPr>
          <a:xfrm>
            <a:off x="6324600" y="1219200"/>
            <a:ext cx="1295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3366"/>
                </a:solidFill>
                <a:latin typeface="Arial" panose="020B0604020202020204" pitchFamily="34" charset="0"/>
              </a:rPr>
              <a:t>(d)5</a:t>
            </a:r>
            <a:r>
              <a:rPr lang="zh-CN" altLang="en-US" b="1" dirty="0">
                <a:solidFill>
                  <a:srgbClr val="003366"/>
                </a:solidFill>
                <a:latin typeface="Arial" panose="020B0604020202020204" pitchFamily="34" charset="0"/>
              </a:rPr>
              <a:t>条缝</a:t>
            </a:r>
          </a:p>
        </p:txBody>
      </p:sp>
      <p:sp>
        <p:nvSpPr>
          <p:cNvPr id="6154" name="Text Box 12"/>
          <p:cNvSpPr txBox="1"/>
          <p:nvPr/>
        </p:nvSpPr>
        <p:spPr>
          <a:xfrm>
            <a:off x="2428875" y="115888"/>
            <a:ext cx="3871913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CC0000"/>
                </a:solidFill>
                <a:latin typeface="Arial" panose="020B0604020202020204" pitchFamily="34" charset="0"/>
              </a:rPr>
              <a:t>  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光栅衍射图样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0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257175"/>
            <a:ext cx="9175750" cy="6613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1" name="文本框 2"/>
          <p:cNvSpPr txBox="1"/>
          <p:nvPr/>
        </p:nvSpPr>
        <p:spPr>
          <a:xfrm>
            <a:off x="-28575" y="2455863"/>
            <a:ext cx="4540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b'</a:t>
            </a:r>
          </a:p>
        </p:txBody>
      </p:sp>
      <p:sp>
        <p:nvSpPr>
          <p:cNvPr id="7172" name="文本框 3"/>
          <p:cNvSpPr txBox="1"/>
          <p:nvPr/>
        </p:nvSpPr>
        <p:spPr>
          <a:xfrm>
            <a:off x="3111500" y="4443413"/>
            <a:ext cx="5461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b'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523875"/>
            <a:ext cx="9093200" cy="6334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5" name="文本框 1"/>
          <p:cNvSpPr txBox="1"/>
          <p:nvPr/>
        </p:nvSpPr>
        <p:spPr>
          <a:xfrm>
            <a:off x="715963" y="1879600"/>
            <a:ext cx="5905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</a:rPr>
              <a:t>b'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/>
          <p:nvPr/>
        </p:nvGraphicFramePr>
        <p:xfrm>
          <a:off x="1524000" y="1676400"/>
          <a:ext cx="533400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18" r:id="rId3" imgW="1040765" imgH="189230" progId="Equation.3">
                  <p:embed/>
                </p:oleObj>
              </mc:Choice>
              <mc:Fallback>
                <p:oleObj r:id="rId3" imgW="1040765" imgH="18923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24000" y="1676400"/>
                        <a:ext cx="5334000" cy="1047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/>
          <p:nvPr/>
        </p:nvGrpSpPr>
        <p:grpSpPr>
          <a:xfrm>
            <a:off x="1295400" y="3573463"/>
            <a:ext cx="7162800" cy="690562"/>
            <a:chOff x="816" y="2304"/>
            <a:chExt cx="4512" cy="435"/>
          </a:xfrm>
        </p:grpSpPr>
        <p:graphicFrame>
          <p:nvGraphicFramePr>
            <p:cNvPr id="13325" name="Object 4"/>
            <p:cNvGraphicFramePr/>
            <p:nvPr/>
          </p:nvGraphicFramePr>
          <p:xfrm>
            <a:off x="816" y="2352"/>
            <a:ext cx="23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19" r:id="rId5" imgW="83820" imgH="110490" progId="Equation.3">
                    <p:embed/>
                  </p:oleObj>
                </mc:Choice>
                <mc:Fallback>
                  <p:oleObj r:id="rId5" imgW="83820" imgH="11049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16" y="2352"/>
                          <a:ext cx="239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26" name="Group 17"/>
            <p:cNvGrpSpPr/>
            <p:nvPr/>
          </p:nvGrpSpPr>
          <p:grpSpPr>
            <a:xfrm>
              <a:off x="1017" y="2304"/>
              <a:ext cx="4311" cy="435"/>
              <a:chOff x="1017" y="2313"/>
              <a:chExt cx="4311" cy="435"/>
            </a:xfrm>
          </p:grpSpPr>
          <p:sp>
            <p:nvSpPr>
              <p:cNvPr id="13327" name="Text Box 5"/>
              <p:cNvSpPr txBox="1"/>
              <p:nvPr/>
            </p:nvSpPr>
            <p:spPr>
              <a:xfrm>
                <a:off x="1017" y="2313"/>
                <a:ext cx="4311" cy="3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3200" b="1" dirty="0">
                    <a:solidFill>
                      <a:srgbClr val="003366"/>
                    </a:solidFill>
                    <a:latin typeface="宋体" panose="02010600030101010101" pitchFamily="2" charset="-122"/>
                  </a:rPr>
                  <a:t>一定，     减少，       增大</a:t>
                </a:r>
                <a:r>
                  <a:rPr lang="zh-CN" altLang="en-US" sz="32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．</a:t>
                </a:r>
              </a:p>
            </p:txBody>
          </p:sp>
          <p:graphicFrame>
            <p:nvGraphicFramePr>
              <p:cNvPr id="13328" name="Object 6"/>
              <p:cNvGraphicFramePr/>
              <p:nvPr/>
            </p:nvGraphicFramePr>
            <p:xfrm>
              <a:off x="1680" y="2352"/>
              <a:ext cx="734" cy="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220" r:id="rId7" imgW="173355" imgH="78740" progId="Equation.3">
                      <p:embed/>
                    </p:oleObj>
                  </mc:Choice>
                  <mc:Fallback>
                    <p:oleObj r:id="rId7" imgW="173355" imgH="78740" progId="Equation.3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8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680" y="2352"/>
                            <a:ext cx="734" cy="35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29" name="Object 7"/>
              <p:cNvGraphicFramePr/>
              <p:nvPr/>
            </p:nvGraphicFramePr>
            <p:xfrm>
              <a:off x="3120" y="2352"/>
              <a:ext cx="1018" cy="3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221" r:id="rId9" imgW="410210" imgH="157480" progId="Equation.3">
                      <p:embed/>
                    </p:oleObj>
                  </mc:Choice>
                  <mc:Fallback>
                    <p:oleObj r:id="rId9" imgW="410210" imgH="157480" progId="Equation.3">
                      <p:embed/>
                      <p:pic>
                        <p:nvPicPr>
                          <p:cNvPr id="0" name="图片 3089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120" y="2352"/>
                            <a:ext cx="1018" cy="39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19"/>
          <p:cNvGrpSpPr/>
          <p:nvPr/>
        </p:nvGrpSpPr>
        <p:grpSpPr>
          <a:xfrm>
            <a:off x="1295400" y="5314950"/>
            <a:ext cx="8839200" cy="628650"/>
            <a:chOff x="816" y="3348"/>
            <a:chExt cx="5568" cy="396"/>
          </a:xfrm>
        </p:grpSpPr>
        <p:graphicFrame>
          <p:nvGraphicFramePr>
            <p:cNvPr id="13321" name="Object 9"/>
            <p:cNvGraphicFramePr/>
            <p:nvPr/>
          </p:nvGraphicFramePr>
          <p:xfrm>
            <a:off x="816" y="3348"/>
            <a:ext cx="825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2" r:id="rId11" imgW="273050" imgH="131445" progId="Equation.3">
                    <p:embed/>
                  </p:oleObj>
                </mc:Choice>
                <mc:Fallback>
                  <p:oleObj r:id="rId11" imgW="273050" imgH="131445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16" y="3348"/>
                          <a:ext cx="825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2" name="Rectangle 10"/>
            <p:cNvSpPr/>
            <p:nvPr/>
          </p:nvSpPr>
          <p:spPr>
            <a:xfrm>
              <a:off x="1603" y="3350"/>
              <a:ext cx="478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3200" b="1" dirty="0">
                  <a:solidFill>
                    <a:srgbClr val="003366"/>
                  </a:solidFill>
                  <a:latin typeface="宋体" panose="02010600030101010101" pitchFamily="2" charset="-122"/>
                </a:rPr>
                <a:t>一定， 增大，         增大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．</a:t>
              </a:r>
            </a:p>
          </p:txBody>
        </p:sp>
        <p:graphicFrame>
          <p:nvGraphicFramePr>
            <p:cNvPr id="13323" name="Object 11"/>
            <p:cNvGraphicFramePr/>
            <p:nvPr/>
          </p:nvGraphicFramePr>
          <p:xfrm>
            <a:off x="2352" y="3396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3" r:id="rId13" imgW="83820" imgH="110490" progId="Equation.3">
                    <p:embed/>
                  </p:oleObj>
                </mc:Choice>
                <mc:Fallback>
                  <p:oleObj r:id="rId13" imgW="83820" imgH="11049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52" y="3396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4" name="Object 12"/>
            <p:cNvGraphicFramePr/>
            <p:nvPr/>
          </p:nvGraphicFramePr>
          <p:xfrm>
            <a:off x="3264" y="3348"/>
            <a:ext cx="1230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4" r:id="rId15" imgW="410210" imgH="157480" progId="Equation.3">
                    <p:embed/>
                  </p:oleObj>
                </mc:Choice>
                <mc:Fallback>
                  <p:oleObj r:id="rId15" imgW="410210" imgH="15748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264" y="3348"/>
                          <a:ext cx="1230" cy="3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25" name="Text Box 13"/>
          <p:cNvSpPr txBox="1"/>
          <p:nvPr/>
        </p:nvSpPr>
        <p:spPr>
          <a:xfrm>
            <a:off x="573088" y="2895600"/>
            <a:ext cx="87852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Blip>
                <a:blip r:embed="rId17"/>
              </a:buBlip>
            </a:pPr>
            <a:r>
              <a:rPr lang="zh-CN" altLang="en-US" sz="3200" b="1" dirty="0">
                <a:latin typeface="Arial" panose="020B0604020202020204" pitchFamily="34" charset="0"/>
              </a:rPr>
              <a:t>　</a:t>
            </a:r>
            <a:r>
              <a:rPr lang="zh-CN" altLang="en-US" sz="3200" b="1" dirty="0">
                <a:solidFill>
                  <a:srgbClr val="003366"/>
                </a:solidFill>
                <a:latin typeface="Arial" panose="020B0604020202020204" pitchFamily="34" charset="0"/>
              </a:rPr>
              <a:t>光栅常数越小，明纹间相隔越远</a:t>
            </a:r>
            <a:r>
              <a:rPr lang="en-US" altLang="zh-CN" sz="32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3318" name="Object 14"/>
          <p:cNvGraphicFramePr/>
          <p:nvPr/>
        </p:nvGraphicFramePr>
        <p:xfrm>
          <a:off x="1066800" y="950913"/>
          <a:ext cx="640080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5" r:id="rId18" imgW="1119505" imgH="89535" progId="Equation.3">
                  <p:embed/>
                </p:oleObj>
              </mc:Choice>
              <mc:Fallback>
                <p:oleObj r:id="rId18" imgW="1119505" imgH="89535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9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66800" y="950913"/>
                        <a:ext cx="6400800" cy="538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7" name="Text Box 15"/>
          <p:cNvSpPr txBox="1"/>
          <p:nvPr/>
        </p:nvSpPr>
        <p:spPr>
          <a:xfrm>
            <a:off x="250825" y="4437063"/>
            <a:ext cx="7772400" cy="1311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Blip>
                <a:blip r:embed="rId17"/>
              </a:buBlip>
            </a:pPr>
            <a:r>
              <a:rPr lang="en-US" altLang="zh-CN" sz="3200" b="1" dirty="0">
                <a:solidFill>
                  <a:srgbClr val="003366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3200" b="1" dirty="0">
                <a:solidFill>
                  <a:srgbClr val="003366"/>
                </a:solidFill>
                <a:latin typeface="Arial" panose="020B0604020202020204" pitchFamily="34" charset="0"/>
              </a:rPr>
              <a:t>入射光波长越大，明纹间相隔越远</a:t>
            </a:r>
            <a:r>
              <a:rPr lang="en-US" altLang="zh-CN" sz="32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  <a:buBlip>
                <a:blip r:embed="rId17"/>
              </a:buBlip>
            </a:pPr>
            <a:endParaRPr lang="en-US" altLang="zh-CN" sz="3200" b="1" dirty="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13320" name="Text Box 20"/>
          <p:cNvSpPr txBox="1"/>
          <p:nvPr/>
        </p:nvSpPr>
        <p:spPr>
          <a:xfrm>
            <a:off x="3925888" y="115888"/>
            <a:ext cx="23749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CC0000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讨论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5" grpId="0"/>
      <p:bldP spid="3892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1220788" y="4000500"/>
            <a:ext cx="6400800" cy="1751013"/>
            <a:chOff x="769" y="2520"/>
            <a:chExt cx="4032" cy="1103"/>
          </a:xfrm>
        </p:grpSpPr>
        <p:sp>
          <p:nvSpPr>
            <p:cNvPr id="39940" name="Freeform 5"/>
            <p:cNvSpPr>
              <a:spLocks noChangeArrowheads="1"/>
            </p:cNvSpPr>
            <p:nvPr/>
          </p:nvSpPr>
          <p:spPr bwMode="auto">
            <a:xfrm rot="-24163">
              <a:off x="2710" y="2520"/>
              <a:ext cx="106" cy="1038"/>
            </a:xfrm>
            <a:custGeom>
              <a:avLst/>
              <a:gdLst>
                <a:gd name="T0" fmla="*/ 0 w 528"/>
                <a:gd name="T1" fmla="*/ 368 h 368"/>
                <a:gd name="T2" fmla="*/ 144 w 528"/>
                <a:gd name="T3" fmla="*/ 272 h 368"/>
                <a:gd name="T4" fmla="*/ 240 w 528"/>
                <a:gd name="T5" fmla="*/ 80 h 368"/>
                <a:gd name="T6" fmla="*/ 336 w 528"/>
                <a:gd name="T7" fmla="*/ 32 h 368"/>
                <a:gd name="T8" fmla="*/ 432 w 528"/>
                <a:gd name="T9" fmla="*/ 272 h 368"/>
                <a:gd name="T10" fmla="*/ 528 w 528"/>
                <a:gd name="T11" fmla="*/ 368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8" h="368">
                  <a:moveTo>
                    <a:pt x="0" y="368"/>
                  </a:moveTo>
                  <a:cubicBezTo>
                    <a:pt x="52" y="344"/>
                    <a:pt x="104" y="320"/>
                    <a:pt x="144" y="272"/>
                  </a:cubicBezTo>
                  <a:cubicBezTo>
                    <a:pt x="184" y="224"/>
                    <a:pt x="208" y="120"/>
                    <a:pt x="240" y="80"/>
                  </a:cubicBezTo>
                  <a:cubicBezTo>
                    <a:pt x="272" y="40"/>
                    <a:pt x="304" y="0"/>
                    <a:pt x="336" y="32"/>
                  </a:cubicBezTo>
                  <a:cubicBezTo>
                    <a:pt x="368" y="64"/>
                    <a:pt x="400" y="216"/>
                    <a:pt x="432" y="272"/>
                  </a:cubicBezTo>
                  <a:cubicBezTo>
                    <a:pt x="464" y="328"/>
                    <a:pt x="496" y="348"/>
                    <a:pt x="528" y="368"/>
                  </a:cubicBezTo>
                </a:path>
              </a:pathLst>
            </a:custGeom>
            <a:solidFill>
              <a:srgbClr val="FF0066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9941" name="Group 46"/>
            <p:cNvGrpSpPr>
              <a:grpSpLocks/>
            </p:cNvGrpSpPr>
            <p:nvPr/>
          </p:nvGrpSpPr>
          <p:grpSpPr bwMode="auto">
            <a:xfrm>
              <a:off x="769" y="2567"/>
              <a:ext cx="4032" cy="1056"/>
              <a:chOff x="769" y="2567"/>
              <a:chExt cx="4032" cy="1056"/>
            </a:xfrm>
          </p:grpSpPr>
          <p:sp>
            <p:nvSpPr>
              <p:cNvPr id="39942" name="Freeform 6"/>
              <p:cNvSpPr>
                <a:spLocks noChangeArrowheads="1"/>
              </p:cNvSpPr>
              <p:nvPr/>
            </p:nvSpPr>
            <p:spPr bwMode="auto">
              <a:xfrm rot="21575837" flipH="1">
                <a:off x="2486" y="2856"/>
                <a:ext cx="75" cy="702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3" name="Freeform 7"/>
              <p:cNvSpPr>
                <a:spLocks noChangeArrowheads="1"/>
              </p:cNvSpPr>
              <p:nvPr/>
            </p:nvSpPr>
            <p:spPr bwMode="auto">
              <a:xfrm rot="-24163">
                <a:off x="2971" y="2806"/>
                <a:ext cx="54" cy="752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4" name="Freeform 8"/>
              <p:cNvSpPr>
                <a:spLocks noChangeArrowheads="1"/>
              </p:cNvSpPr>
              <p:nvPr/>
            </p:nvSpPr>
            <p:spPr bwMode="auto">
              <a:xfrm rot="-24163">
                <a:off x="3196" y="3237"/>
                <a:ext cx="69" cy="3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5" name="Freeform 9"/>
              <p:cNvSpPr>
                <a:spLocks noChangeArrowheads="1"/>
              </p:cNvSpPr>
              <p:nvPr/>
            </p:nvSpPr>
            <p:spPr bwMode="auto">
              <a:xfrm rot="-24163">
                <a:off x="2300" y="3241"/>
                <a:ext cx="52" cy="286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6" name="Freeform 10"/>
              <p:cNvSpPr>
                <a:spLocks noChangeArrowheads="1"/>
              </p:cNvSpPr>
              <p:nvPr/>
            </p:nvSpPr>
            <p:spPr bwMode="auto">
              <a:xfrm rot="-24163">
                <a:off x="3697" y="3335"/>
                <a:ext cx="98" cy="235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7" name="Freeform 11"/>
              <p:cNvSpPr>
                <a:spLocks noChangeArrowheads="1"/>
              </p:cNvSpPr>
              <p:nvPr/>
            </p:nvSpPr>
            <p:spPr bwMode="auto">
              <a:xfrm rot="-24163">
                <a:off x="3889" y="3355"/>
                <a:ext cx="53" cy="171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8" name="Freeform 12"/>
              <p:cNvSpPr>
                <a:spLocks noChangeArrowheads="1"/>
              </p:cNvSpPr>
              <p:nvPr/>
            </p:nvSpPr>
            <p:spPr bwMode="auto">
              <a:xfrm rot="-24163">
                <a:off x="1739" y="3286"/>
                <a:ext cx="59" cy="239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49" name="Freeform 13"/>
              <p:cNvSpPr>
                <a:spLocks noChangeArrowheads="1"/>
              </p:cNvSpPr>
              <p:nvPr/>
            </p:nvSpPr>
            <p:spPr bwMode="auto">
              <a:xfrm rot="-24163">
                <a:off x="1537" y="3383"/>
                <a:ext cx="70" cy="157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0" name="Freeform 14"/>
              <p:cNvSpPr>
                <a:spLocks noChangeArrowheads="1"/>
              </p:cNvSpPr>
              <p:nvPr/>
            </p:nvSpPr>
            <p:spPr bwMode="auto">
              <a:xfrm rot="-24163">
                <a:off x="4392" y="3432"/>
                <a:ext cx="75" cy="87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1" name="Freeform 15"/>
              <p:cNvSpPr>
                <a:spLocks noChangeArrowheads="1"/>
              </p:cNvSpPr>
              <p:nvPr/>
            </p:nvSpPr>
            <p:spPr bwMode="auto">
              <a:xfrm rot="-24163">
                <a:off x="1107" y="3438"/>
                <a:ext cx="76" cy="146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2" name="Freeform 16"/>
              <p:cNvSpPr>
                <a:spLocks noChangeArrowheads="1"/>
              </p:cNvSpPr>
              <p:nvPr/>
            </p:nvSpPr>
            <p:spPr bwMode="auto">
              <a:xfrm rot="-5400000">
                <a:off x="2257" y="1079"/>
                <a:ext cx="1056" cy="4032"/>
              </a:xfrm>
              <a:custGeom>
                <a:avLst/>
                <a:gdLst>
                  <a:gd name="T0" fmla="*/ 63 w 645"/>
                  <a:gd name="T1" fmla="*/ 0 h 1632"/>
                  <a:gd name="T2" fmla="*/ 146 w 645"/>
                  <a:gd name="T3" fmla="*/ 148 h 1632"/>
                  <a:gd name="T4" fmla="*/ 56 w 645"/>
                  <a:gd name="T5" fmla="*/ 263 h 1632"/>
                  <a:gd name="T6" fmla="*/ 166 w 645"/>
                  <a:gd name="T7" fmla="*/ 349 h 1632"/>
                  <a:gd name="T8" fmla="*/ 175 w 645"/>
                  <a:gd name="T9" fmla="*/ 408 h 1632"/>
                  <a:gd name="T10" fmla="*/ 63 w 645"/>
                  <a:gd name="T11" fmla="*/ 544 h 1632"/>
                  <a:gd name="T12" fmla="*/ 550 w 645"/>
                  <a:gd name="T13" fmla="*/ 726 h 1632"/>
                  <a:gd name="T14" fmla="*/ 635 w 645"/>
                  <a:gd name="T15" fmla="*/ 812 h 1632"/>
                  <a:gd name="T16" fmla="*/ 546 w 645"/>
                  <a:gd name="T17" fmla="*/ 894 h 1632"/>
                  <a:gd name="T18" fmla="*/ 63 w 645"/>
                  <a:gd name="T19" fmla="*/ 1088 h 1632"/>
                  <a:gd name="T20" fmla="*/ 175 w 645"/>
                  <a:gd name="T21" fmla="*/ 1218 h 1632"/>
                  <a:gd name="T22" fmla="*/ 166 w 645"/>
                  <a:gd name="T23" fmla="*/ 1267 h 1632"/>
                  <a:gd name="T24" fmla="*/ 63 w 645"/>
                  <a:gd name="T25" fmla="*/ 1360 h 1632"/>
                  <a:gd name="T26" fmla="*/ 146 w 645"/>
                  <a:gd name="T27" fmla="*/ 1496 h 1632"/>
                  <a:gd name="T28" fmla="*/ 63 w 645"/>
                  <a:gd name="T29" fmla="*/ 1632 h 16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5" h="1632">
                    <a:moveTo>
                      <a:pt x="63" y="0"/>
                    </a:moveTo>
                    <a:cubicBezTo>
                      <a:pt x="76" y="25"/>
                      <a:pt x="147" y="104"/>
                      <a:pt x="146" y="148"/>
                    </a:cubicBezTo>
                    <a:cubicBezTo>
                      <a:pt x="145" y="191"/>
                      <a:pt x="53" y="229"/>
                      <a:pt x="56" y="263"/>
                    </a:cubicBezTo>
                    <a:cubicBezTo>
                      <a:pt x="59" y="296"/>
                      <a:pt x="146" y="325"/>
                      <a:pt x="166" y="349"/>
                    </a:cubicBezTo>
                    <a:cubicBezTo>
                      <a:pt x="186" y="373"/>
                      <a:pt x="192" y="376"/>
                      <a:pt x="175" y="408"/>
                    </a:cubicBezTo>
                    <a:cubicBezTo>
                      <a:pt x="157" y="441"/>
                      <a:pt x="0" y="491"/>
                      <a:pt x="63" y="544"/>
                    </a:cubicBezTo>
                    <a:cubicBezTo>
                      <a:pt x="125" y="597"/>
                      <a:pt x="455" y="681"/>
                      <a:pt x="550" y="726"/>
                    </a:cubicBezTo>
                    <a:cubicBezTo>
                      <a:pt x="645" y="771"/>
                      <a:pt x="636" y="784"/>
                      <a:pt x="635" y="812"/>
                    </a:cubicBezTo>
                    <a:cubicBezTo>
                      <a:pt x="634" y="840"/>
                      <a:pt x="641" y="848"/>
                      <a:pt x="546" y="894"/>
                    </a:cubicBezTo>
                    <a:cubicBezTo>
                      <a:pt x="451" y="940"/>
                      <a:pt x="124" y="1034"/>
                      <a:pt x="63" y="1088"/>
                    </a:cubicBezTo>
                    <a:cubicBezTo>
                      <a:pt x="1" y="1141"/>
                      <a:pt x="157" y="1188"/>
                      <a:pt x="175" y="1218"/>
                    </a:cubicBezTo>
                    <a:cubicBezTo>
                      <a:pt x="192" y="1247"/>
                      <a:pt x="185" y="1243"/>
                      <a:pt x="166" y="1267"/>
                    </a:cubicBezTo>
                    <a:cubicBezTo>
                      <a:pt x="148" y="1291"/>
                      <a:pt x="66" y="1322"/>
                      <a:pt x="63" y="1360"/>
                    </a:cubicBezTo>
                    <a:cubicBezTo>
                      <a:pt x="59" y="1398"/>
                      <a:pt x="146" y="1450"/>
                      <a:pt x="146" y="1496"/>
                    </a:cubicBezTo>
                    <a:cubicBezTo>
                      <a:pt x="146" y="1542"/>
                      <a:pt x="80" y="1603"/>
                      <a:pt x="63" y="1632"/>
                    </a:cubicBezTo>
                  </a:path>
                </a:pathLst>
              </a:custGeom>
              <a:noFill/>
              <a:ln w="28575" cap="rnd">
                <a:solidFill>
                  <a:srgbClr val="FF0000"/>
                </a:solidFill>
                <a:prstDash val="sysDot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3" name="Line 17"/>
              <p:cNvSpPr>
                <a:spLocks noChangeShapeType="1"/>
              </p:cNvSpPr>
              <p:nvPr/>
            </p:nvSpPr>
            <p:spPr bwMode="auto">
              <a:xfrm rot="5400000">
                <a:off x="2798" y="1624"/>
                <a:ext cx="0" cy="388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45"/>
          <p:cNvGrpSpPr>
            <a:grpSpLocks/>
          </p:cNvGrpSpPr>
          <p:nvPr/>
        </p:nvGrpSpPr>
        <p:grpSpPr bwMode="auto">
          <a:xfrm>
            <a:off x="976313" y="2359025"/>
            <a:ext cx="6494462" cy="1671638"/>
            <a:chOff x="615" y="1486"/>
            <a:chExt cx="4091" cy="1053"/>
          </a:xfrm>
        </p:grpSpPr>
        <p:grpSp>
          <p:nvGrpSpPr>
            <p:cNvPr id="39955" name="Group 37"/>
            <p:cNvGrpSpPr>
              <a:grpSpLocks/>
            </p:cNvGrpSpPr>
            <p:nvPr/>
          </p:nvGrpSpPr>
          <p:grpSpPr bwMode="auto">
            <a:xfrm>
              <a:off x="649" y="1486"/>
              <a:ext cx="3986" cy="1047"/>
              <a:chOff x="713" y="910"/>
              <a:chExt cx="3986" cy="1047"/>
            </a:xfrm>
          </p:grpSpPr>
          <p:sp>
            <p:nvSpPr>
              <p:cNvPr id="39956" name="Freeform 19"/>
              <p:cNvSpPr>
                <a:spLocks noChangeArrowheads="1"/>
              </p:cNvSpPr>
              <p:nvPr/>
            </p:nvSpPr>
            <p:spPr bwMode="auto">
              <a:xfrm rot="-24163">
                <a:off x="2772" y="910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7" name="Freeform 20"/>
              <p:cNvSpPr>
                <a:spLocks noChangeArrowheads="1"/>
              </p:cNvSpPr>
              <p:nvPr/>
            </p:nvSpPr>
            <p:spPr bwMode="auto">
              <a:xfrm rot="-24163">
                <a:off x="3034" y="910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8" name="Freeform 21"/>
              <p:cNvSpPr>
                <a:spLocks noChangeArrowheads="1"/>
              </p:cNvSpPr>
              <p:nvPr/>
            </p:nvSpPr>
            <p:spPr bwMode="auto">
              <a:xfrm rot="-24163">
                <a:off x="3296" y="910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59" name="Freeform 22"/>
              <p:cNvSpPr>
                <a:spLocks noChangeArrowheads="1"/>
              </p:cNvSpPr>
              <p:nvPr/>
            </p:nvSpPr>
            <p:spPr bwMode="auto">
              <a:xfrm rot="-24163">
                <a:off x="3517" y="910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0" name="Freeform 23"/>
              <p:cNvSpPr>
                <a:spLocks noChangeArrowheads="1"/>
              </p:cNvSpPr>
              <p:nvPr/>
            </p:nvSpPr>
            <p:spPr bwMode="auto">
              <a:xfrm rot="-24163">
                <a:off x="3720" y="918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1" name="Freeform 24"/>
              <p:cNvSpPr>
                <a:spLocks noChangeArrowheads="1"/>
              </p:cNvSpPr>
              <p:nvPr/>
            </p:nvSpPr>
            <p:spPr bwMode="auto">
              <a:xfrm rot="-24163">
                <a:off x="3957" y="918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2" name="Freeform 25"/>
              <p:cNvSpPr>
                <a:spLocks noChangeArrowheads="1"/>
              </p:cNvSpPr>
              <p:nvPr/>
            </p:nvSpPr>
            <p:spPr bwMode="auto">
              <a:xfrm rot="-24163">
                <a:off x="4186" y="918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3" name="Freeform 26"/>
              <p:cNvSpPr>
                <a:spLocks noChangeArrowheads="1"/>
              </p:cNvSpPr>
              <p:nvPr/>
            </p:nvSpPr>
            <p:spPr bwMode="auto">
              <a:xfrm rot="-24163">
                <a:off x="4381" y="918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4" name="Freeform 27"/>
              <p:cNvSpPr>
                <a:spLocks noChangeArrowheads="1"/>
              </p:cNvSpPr>
              <p:nvPr/>
            </p:nvSpPr>
            <p:spPr bwMode="auto">
              <a:xfrm rot="-24163">
                <a:off x="4593" y="918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5" name="Freeform 28"/>
              <p:cNvSpPr>
                <a:spLocks noChangeArrowheads="1"/>
              </p:cNvSpPr>
              <p:nvPr/>
            </p:nvSpPr>
            <p:spPr bwMode="auto">
              <a:xfrm rot="-24163">
                <a:off x="713" y="911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6" name="Freeform 29"/>
              <p:cNvSpPr>
                <a:spLocks noChangeArrowheads="1"/>
              </p:cNvSpPr>
              <p:nvPr/>
            </p:nvSpPr>
            <p:spPr bwMode="auto">
              <a:xfrm rot="-24163">
                <a:off x="975" y="911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7" name="Freeform 30"/>
              <p:cNvSpPr>
                <a:spLocks noChangeArrowheads="1"/>
              </p:cNvSpPr>
              <p:nvPr/>
            </p:nvSpPr>
            <p:spPr bwMode="auto">
              <a:xfrm rot="-24163">
                <a:off x="1237" y="911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8" name="Freeform 31"/>
              <p:cNvSpPr>
                <a:spLocks noChangeArrowheads="1"/>
              </p:cNvSpPr>
              <p:nvPr/>
            </p:nvSpPr>
            <p:spPr bwMode="auto">
              <a:xfrm rot="-24163">
                <a:off x="1458" y="911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Freeform 32"/>
              <p:cNvSpPr>
                <a:spLocks noChangeArrowheads="1"/>
              </p:cNvSpPr>
              <p:nvPr/>
            </p:nvSpPr>
            <p:spPr bwMode="auto">
              <a:xfrm rot="-24163">
                <a:off x="1661" y="919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Freeform 33"/>
              <p:cNvSpPr>
                <a:spLocks noChangeArrowheads="1"/>
              </p:cNvSpPr>
              <p:nvPr/>
            </p:nvSpPr>
            <p:spPr bwMode="auto">
              <a:xfrm rot="-24163">
                <a:off x="1898" y="919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Freeform 34"/>
              <p:cNvSpPr>
                <a:spLocks noChangeArrowheads="1"/>
              </p:cNvSpPr>
              <p:nvPr/>
            </p:nvSpPr>
            <p:spPr bwMode="auto">
              <a:xfrm rot="-24163">
                <a:off x="2127" y="919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2" name="Freeform 35"/>
              <p:cNvSpPr>
                <a:spLocks noChangeArrowheads="1"/>
              </p:cNvSpPr>
              <p:nvPr/>
            </p:nvSpPr>
            <p:spPr bwMode="auto">
              <a:xfrm rot="-24163">
                <a:off x="2322" y="919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3" name="Freeform 36"/>
              <p:cNvSpPr>
                <a:spLocks noChangeArrowheads="1"/>
              </p:cNvSpPr>
              <p:nvPr/>
            </p:nvSpPr>
            <p:spPr bwMode="auto">
              <a:xfrm rot="-24163">
                <a:off x="2534" y="919"/>
                <a:ext cx="106" cy="1038"/>
              </a:xfrm>
              <a:custGeom>
                <a:avLst/>
                <a:gdLst>
                  <a:gd name="T0" fmla="*/ 0 w 528"/>
                  <a:gd name="T1" fmla="*/ 368 h 368"/>
                  <a:gd name="T2" fmla="*/ 144 w 528"/>
                  <a:gd name="T3" fmla="*/ 272 h 368"/>
                  <a:gd name="T4" fmla="*/ 240 w 528"/>
                  <a:gd name="T5" fmla="*/ 80 h 368"/>
                  <a:gd name="T6" fmla="*/ 336 w 528"/>
                  <a:gd name="T7" fmla="*/ 32 h 368"/>
                  <a:gd name="T8" fmla="*/ 432 w 528"/>
                  <a:gd name="T9" fmla="*/ 272 h 368"/>
                  <a:gd name="T10" fmla="*/ 528 w 528"/>
                  <a:gd name="T11" fmla="*/ 36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8" h="368">
                    <a:moveTo>
                      <a:pt x="0" y="368"/>
                    </a:moveTo>
                    <a:cubicBezTo>
                      <a:pt x="52" y="344"/>
                      <a:pt x="104" y="320"/>
                      <a:pt x="144" y="272"/>
                    </a:cubicBezTo>
                    <a:cubicBezTo>
                      <a:pt x="184" y="224"/>
                      <a:pt x="208" y="120"/>
                      <a:pt x="240" y="80"/>
                    </a:cubicBezTo>
                    <a:cubicBezTo>
                      <a:pt x="272" y="40"/>
                      <a:pt x="304" y="0"/>
                      <a:pt x="336" y="32"/>
                    </a:cubicBezTo>
                    <a:cubicBezTo>
                      <a:pt x="368" y="64"/>
                      <a:pt x="400" y="216"/>
                      <a:pt x="432" y="272"/>
                    </a:cubicBezTo>
                    <a:cubicBezTo>
                      <a:pt x="464" y="328"/>
                      <a:pt x="496" y="348"/>
                      <a:pt x="528" y="368"/>
                    </a:cubicBezTo>
                  </a:path>
                </a:pathLst>
              </a:custGeom>
              <a:solidFill>
                <a:srgbClr val="FF0066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9974" name="Line 38"/>
            <p:cNvSpPr>
              <a:spLocks noChangeShapeType="1"/>
            </p:cNvSpPr>
            <p:nvPr/>
          </p:nvSpPr>
          <p:spPr bwMode="auto">
            <a:xfrm rot="5400000">
              <a:off x="2658" y="490"/>
              <a:ext cx="0" cy="409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975" name="Group 44"/>
          <p:cNvGrpSpPr>
            <a:grpSpLocks/>
          </p:cNvGrpSpPr>
          <p:nvPr/>
        </p:nvGrpSpPr>
        <p:grpSpPr bwMode="auto">
          <a:xfrm>
            <a:off x="1057275" y="744538"/>
            <a:ext cx="6494463" cy="1676400"/>
            <a:chOff x="666" y="469"/>
            <a:chExt cx="4091" cy="1056"/>
          </a:xfrm>
        </p:grpSpPr>
        <p:sp>
          <p:nvSpPr>
            <p:cNvPr id="39976" name="Freeform 18"/>
            <p:cNvSpPr>
              <a:spLocks noChangeArrowheads="1"/>
            </p:cNvSpPr>
            <p:nvPr/>
          </p:nvSpPr>
          <p:spPr bwMode="auto">
            <a:xfrm rot="-5400000">
              <a:off x="2198" y="-1019"/>
              <a:ext cx="1056" cy="4032"/>
            </a:xfrm>
            <a:custGeom>
              <a:avLst/>
              <a:gdLst>
                <a:gd name="T0" fmla="*/ 63 w 645"/>
                <a:gd name="T1" fmla="*/ 0 h 1632"/>
                <a:gd name="T2" fmla="*/ 146 w 645"/>
                <a:gd name="T3" fmla="*/ 148 h 1632"/>
                <a:gd name="T4" fmla="*/ 56 w 645"/>
                <a:gd name="T5" fmla="*/ 263 h 1632"/>
                <a:gd name="T6" fmla="*/ 166 w 645"/>
                <a:gd name="T7" fmla="*/ 349 h 1632"/>
                <a:gd name="T8" fmla="*/ 175 w 645"/>
                <a:gd name="T9" fmla="*/ 408 h 1632"/>
                <a:gd name="T10" fmla="*/ 63 w 645"/>
                <a:gd name="T11" fmla="*/ 544 h 1632"/>
                <a:gd name="T12" fmla="*/ 550 w 645"/>
                <a:gd name="T13" fmla="*/ 726 h 1632"/>
                <a:gd name="T14" fmla="*/ 635 w 645"/>
                <a:gd name="T15" fmla="*/ 812 h 1632"/>
                <a:gd name="T16" fmla="*/ 546 w 645"/>
                <a:gd name="T17" fmla="*/ 894 h 1632"/>
                <a:gd name="T18" fmla="*/ 63 w 645"/>
                <a:gd name="T19" fmla="*/ 1088 h 1632"/>
                <a:gd name="T20" fmla="*/ 175 w 645"/>
                <a:gd name="T21" fmla="*/ 1218 h 1632"/>
                <a:gd name="T22" fmla="*/ 166 w 645"/>
                <a:gd name="T23" fmla="*/ 1267 h 1632"/>
                <a:gd name="T24" fmla="*/ 63 w 645"/>
                <a:gd name="T25" fmla="*/ 1360 h 1632"/>
                <a:gd name="T26" fmla="*/ 146 w 645"/>
                <a:gd name="T27" fmla="*/ 1496 h 1632"/>
                <a:gd name="T28" fmla="*/ 63 w 645"/>
                <a:gd name="T29" fmla="*/ 1632 h 1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45" h="1632">
                  <a:moveTo>
                    <a:pt x="63" y="0"/>
                  </a:moveTo>
                  <a:cubicBezTo>
                    <a:pt x="76" y="25"/>
                    <a:pt x="147" y="104"/>
                    <a:pt x="146" y="148"/>
                  </a:cubicBezTo>
                  <a:cubicBezTo>
                    <a:pt x="145" y="191"/>
                    <a:pt x="53" y="229"/>
                    <a:pt x="56" y="263"/>
                  </a:cubicBezTo>
                  <a:cubicBezTo>
                    <a:pt x="59" y="296"/>
                    <a:pt x="146" y="325"/>
                    <a:pt x="166" y="349"/>
                  </a:cubicBezTo>
                  <a:cubicBezTo>
                    <a:pt x="186" y="373"/>
                    <a:pt x="192" y="376"/>
                    <a:pt x="175" y="408"/>
                  </a:cubicBezTo>
                  <a:cubicBezTo>
                    <a:pt x="157" y="441"/>
                    <a:pt x="0" y="491"/>
                    <a:pt x="63" y="544"/>
                  </a:cubicBezTo>
                  <a:cubicBezTo>
                    <a:pt x="125" y="597"/>
                    <a:pt x="455" y="681"/>
                    <a:pt x="550" y="726"/>
                  </a:cubicBezTo>
                  <a:cubicBezTo>
                    <a:pt x="645" y="771"/>
                    <a:pt x="636" y="784"/>
                    <a:pt x="635" y="812"/>
                  </a:cubicBezTo>
                  <a:cubicBezTo>
                    <a:pt x="634" y="840"/>
                    <a:pt x="641" y="848"/>
                    <a:pt x="546" y="894"/>
                  </a:cubicBezTo>
                  <a:cubicBezTo>
                    <a:pt x="451" y="940"/>
                    <a:pt x="124" y="1034"/>
                    <a:pt x="63" y="1088"/>
                  </a:cubicBezTo>
                  <a:cubicBezTo>
                    <a:pt x="1" y="1141"/>
                    <a:pt x="157" y="1188"/>
                    <a:pt x="175" y="1218"/>
                  </a:cubicBezTo>
                  <a:cubicBezTo>
                    <a:pt x="192" y="1247"/>
                    <a:pt x="185" y="1243"/>
                    <a:pt x="166" y="1267"/>
                  </a:cubicBezTo>
                  <a:cubicBezTo>
                    <a:pt x="148" y="1291"/>
                    <a:pt x="66" y="1322"/>
                    <a:pt x="63" y="1360"/>
                  </a:cubicBezTo>
                  <a:cubicBezTo>
                    <a:pt x="59" y="1398"/>
                    <a:pt x="146" y="1450"/>
                    <a:pt x="146" y="1496"/>
                  </a:cubicBezTo>
                  <a:cubicBezTo>
                    <a:pt x="146" y="1542"/>
                    <a:pt x="80" y="1603"/>
                    <a:pt x="63" y="1632"/>
                  </a:cubicBezTo>
                </a:path>
              </a:pathLst>
            </a:cu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7" name="Line 40"/>
            <p:cNvSpPr>
              <a:spLocks noChangeShapeType="1"/>
            </p:cNvSpPr>
            <p:nvPr/>
          </p:nvSpPr>
          <p:spPr bwMode="auto">
            <a:xfrm rot="5400000">
              <a:off x="2709" y="-583"/>
              <a:ext cx="0" cy="409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78" name="Text Box 41"/>
          <p:cNvSpPr txBox="1">
            <a:spLocks noChangeArrowheads="1"/>
          </p:cNvSpPr>
          <p:nvPr/>
        </p:nvSpPr>
        <p:spPr bwMode="auto">
          <a:xfrm>
            <a:off x="7451725" y="1641475"/>
            <a:ext cx="1330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/>
              <a:t>单缝衍射</a:t>
            </a:r>
          </a:p>
        </p:txBody>
      </p:sp>
      <p:sp>
        <p:nvSpPr>
          <p:cNvPr id="116778" name="Text Box 42"/>
          <p:cNvSpPr txBox="1">
            <a:spLocks noChangeArrowheads="1"/>
          </p:cNvSpPr>
          <p:nvPr/>
        </p:nvSpPr>
        <p:spPr bwMode="auto">
          <a:xfrm>
            <a:off x="7491413" y="3389313"/>
            <a:ext cx="1330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/>
              <a:t>多缝干涉</a:t>
            </a:r>
          </a:p>
        </p:txBody>
      </p:sp>
      <p:sp>
        <p:nvSpPr>
          <p:cNvPr id="116779" name="Text Box 43"/>
          <p:cNvSpPr txBox="1">
            <a:spLocks noChangeArrowheads="1"/>
          </p:cNvSpPr>
          <p:nvPr/>
        </p:nvSpPr>
        <p:spPr bwMode="auto">
          <a:xfrm>
            <a:off x="7545388" y="5003800"/>
            <a:ext cx="1330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/>
              <a:t>双重效果</a:t>
            </a:r>
          </a:p>
        </p:txBody>
      </p: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3892550" y="5786438"/>
            <a:ext cx="1292225" cy="650875"/>
            <a:chOff x="2452" y="3645"/>
            <a:chExt cx="814" cy="410"/>
          </a:xfrm>
        </p:grpSpPr>
        <p:sp>
          <p:nvSpPr>
            <p:cNvPr id="39982" name="Line 48"/>
            <p:cNvSpPr>
              <a:spLocks noChangeShapeType="1"/>
            </p:cNvSpPr>
            <p:nvPr/>
          </p:nvSpPr>
          <p:spPr bwMode="auto">
            <a:xfrm>
              <a:off x="2765" y="3645"/>
              <a:ext cx="0" cy="2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83" name="Text Box 49"/>
            <p:cNvSpPr txBox="1">
              <a:spLocks noChangeArrowheads="1"/>
            </p:cNvSpPr>
            <p:nvPr/>
          </p:nvSpPr>
          <p:spPr bwMode="auto">
            <a:xfrm>
              <a:off x="2452" y="3843"/>
              <a:ext cx="81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/>
                <a:t>零级主极大</a:t>
              </a:r>
            </a:p>
          </p:txBody>
        </p:sp>
      </p:grpSp>
      <p:grpSp>
        <p:nvGrpSpPr>
          <p:cNvPr id="8" name="Group 55"/>
          <p:cNvGrpSpPr>
            <a:grpSpLocks/>
          </p:cNvGrpSpPr>
          <p:nvPr/>
        </p:nvGrpSpPr>
        <p:grpSpPr bwMode="auto">
          <a:xfrm>
            <a:off x="4614863" y="5657850"/>
            <a:ext cx="1476375" cy="461963"/>
            <a:chOff x="2907" y="3564"/>
            <a:chExt cx="930" cy="291"/>
          </a:xfrm>
        </p:grpSpPr>
        <p:sp>
          <p:nvSpPr>
            <p:cNvPr id="39985" name="Text Box 51"/>
            <p:cNvSpPr txBox="1">
              <a:spLocks noChangeArrowheads="1"/>
            </p:cNvSpPr>
            <p:nvPr/>
          </p:nvSpPr>
          <p:spPr bwMode="auto">
            <a:xfrm>
              <a:off x="2907" y="3564"/>
              <a:ext cx="1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1</a:t>
              </a:r>
            </a:p>
          </p:txBody>
        </p:sp>
        <p:sp>
          <p:nvSpPr>
            <p:cNvPr id="39986" name="Text Box 52"/>
            <p:cNvSpPr txBox="1">
              <a:spLocks noChangeArrowheads="1"/>
            </p:cNvSpPr>
            <p:nvPr/>
          </p:nvSpPr>
          <p:spPr bwMode="auto">
            <a:xfrm>
              <a:off x="3152" y="3566"/>
              <a:ext cx="1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2</a:t>
              </a:r>
            </a:p>
          </p:txBody>
        </p:sp>
        <p:sp>
          <p:nvSpPr>
            <p:cNvPr id="39987" name="Text Box 53"/>
            <p:cNvSpPr txBox="1">
              <a:spLocks noChangeArrowheads="1"/>
            </p:cNvSpPr>
            <p:nvPr/>
          </p:nvSpPr>
          <p:spPr bwMode="auto">
            <a:xfrm>
              <a:off x="3422" y="3566"/>
              <a:ext cx="1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3</a:t>
              </a:r>
            </a:p>
          </p:txBody>
        </p:sp>
        <p:sp>
          <p:nvSpPr>
            <p:cNvPr id="39988" name="Text Box 54"/>
            <p:cNvSpPr txBox="1">
              <a:spLocks noChangeArrowheads="1"/>
            </p:cNvSpPr>
            <p:nvPr/>
          </p:nvSpPr>
          <p:spPr bwMode="auto">
            <a:xfrm>
              <a:off x="3666" y="3567"/>
              <a:ext cx="1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2535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1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1000"/>
                                        <p:tgtEl>
                                          <p:spTgt spid="11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78" grpId="0"/>
      <p:bldP spid="11677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7"/>
          <p:cNvSpPr txBox="1"/>
          <p:nvPr/>
        </p:nvSpPr>
        <p:spPr>
          <a:xfrm>
            <a:off x="571500" y="1000125"/>
            <a:ext cx="8024813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3366"/>
                </a:solidFill>
                <a:latin typeface="宋体" panose="02010600030101010101" pitchFamily="2" charset="-122"/>
              </a:rPr>
              <a:t>入射光为白光时，各色光谱线组成彩色光带</a:t>
            </a:r>
            <a:endParaRPr lang="en-US" altLang="zh-CN" sz="3200" b="1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39" name="Text Box 41"/>
          <p:cNvSpPr txBox="1"/>
          <p:nvPr/>
        </p:nvSpPr>
        <p:spPr>
          <a:xfrm>
            <a:off x="2871788" y="44450"/>
            <a:ext cx="3429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003366"/>
                </a:solidFill>
                <a:latin typeface="Arial" panose="020B0604020202020204" pitchFamily="34" charset="0"/>
              </a:rPr>
              <a:t>   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衍射光谱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685800" y="2089150"/>
            <a:ext cx="7924800" cy="3657600"/>
            <a:chOff x="192" y="1536"/>
            <a:chExt cx="5376" cy="2544"/>
          </a:xfrm>
        </p:grpSpPr>
        <p:grpSp>
          <p:nvGrpSpPr>
            <p:cNvPr id="14379" name="Group 3"/>
            <p:cNvGrpSpPr/>
            <p:nvPr/>
          </p:nvGrpSpPr>
          <p:grpSpPr>
            <a:xfrm>
              <a:off x="192" y="1536"/>
              <a:ext cx="5376" cy="2544"/>
              <a:chOff x="192" y="1536"/>
              <a:chExt cx="5376" cy="2544"/>
            </a:xfrm>
          </p:grpSpPr>
          <p:sp>
            <p:nvSpPr>
              <p:cNvPr id="14381" name="Rectangle 4"/>
              <p:cNvSpPr/>
              <p:nvPr/>
            </p:nvSpPr>
            <p:spPr>
              <a:xfrm>
                <a:off x="192" y="1536"/>
                <a:ext cx="5376" cy="2544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2"/>
                </a:solidFill>
                <a:prstDash val="solid"/>
                <a:miter/>
                <a:headEnd type="none" w="med" len="med"/>
                <a:tailEnd type="none" w="sm" len="lg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4382" name="Line 5"/>
              <p:cNvSpPr/>
              <p:nvPr/>
            </p:nvSpPr>
            <p:spPr>
              <a:xfrm>
                <a:off x="480" y="3408"/>
                <a:ext cx="441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383" name="Group 6"/>
              <p:cNvGrpSpPr/>
              <p:nvPr/>
            </p:nvGrpSpPr>
            <p:grpSpPr>
              <a:xfrm>
                <a:off x="678" y="2016"/>
                <a:ext cx="4506" cy="1728"/>
                <a:chOff x="678" y="2016"/>
                <a:chExt cx="4506" cy="1728"/>
              </a:xfrm>
            </p:grpSpPr>
            <p:sp>
              <p:nvSpPr>
                <p:cNvPr id="14384" name="Line 7"/>
                <p:cNvSpPr/>
                <p:nvPr/>
              </p:nvSpPr>
              <p:spPr>
                <a:xfrm flipH="1" flipV="1">
                  <a:off x="1200" y="2160"/>
                  <a:ext cx="0" cy="1248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5" name="Line 8"/>
                <p:cNvSpPr/>
                <p:nvPr/>
              </p:nvSpPr>
              <p:spPr>
                <a:xfrm>
                  <a:off x="1824" y="3312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6" name="Line 9"/>
                <p:cNvSpPr/>
                <p:nvPr/>
              </p:nvSpPr>
              <p:spPr>
                <a:xfrm>
                  <a:off x="2460" y="3312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7" name="Line 10"/>
                <p:cNvSpPr/>
                <p:nvPr/>
              </p:nvSpPr>
              <p:spPr>
                <a:xfrm>
                  <a:off x="3102" y="3312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388" name="Line 11"/>
                <p:cNvSpPr/>
                <p:nvPr/>
              </p:nvSpPr>
              <p:spPr>
                <a:xfrm>
                  <a:off x="678" y="3312"/>
                  <a:ext cx="0" cy="96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4389" name="Object 1025"/>
                <p:cNvGraphicFramePr/>
                <p:nvPr/>
              </p:nvGraphicFramePr>
              <p:xfrm>
                <a:off x="4656" y="3097"/>
                <a:ext cx="528" cy="26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22" r:id="rId3" imgW="252095" imgH="120650" progId="Equation.3">
                        <p:embed/>
                      </p:oleObj>
                    </mc:Choice>
                    <mc:Fallback>
                      <p:oleObj r:id="rId3" imgW="252095" imgH="120650" progId="Equation.3">
                        <p:embed/>
                        <p:pic>
                          <p:nvPicPr>
                            <p:cNvPr id="0" name="图片 3075"/>
                            <p:cNvPicPr/>
                            <p:nvPr/>
                          </p:nvPicPr>
                          <p:blipFill>
                            <a:blip r:embed="rId4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3366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656" y="3097"/>
                              <a:ext cx="528" cy="263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390" name="Object 1026"/>
                <p:cNvGraphicFramePr/>
                <p:nvPr/>
              </p:nvGraphicFramePr>
              <p:xfrm>
                <a:off x="1104" y="3456"/>
                <a:ext cx="197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23" r:id="rId5" imgW="73660" imgH="110490" progId="Equation.3">
                        <p:embed/>
                      </p:oleObj>
                    </mc:Choice>
                    <mc:Fallback>
                      <p:oleObj r:id="rId5" imgW="73660" imgH="110490" progId="Equation.3">
                        <p:embed/>
                        <p:pic>
                          <p:nvPicPr>
                            <p:cNvPr id="0" name="图片 3076"/>
                            <p:cNvPicPr/>
                            <p:nvPr/>
                          </p:nvPicPr>
                          <p:blipFill>
                            <a:blip r:embed="rId6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3366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04" y="3456"/>
                              <a:ext cx="197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4391" name="Object 1027"/>
                <p:cNvGraphicFramePr/>
                <p:nvPr/>
              </p:nvGraphicFramePr>
              <p:xfrm>
                <a:off x="1008" y="2016"/>
                <a:ext cx="208" cy="28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1224" r:id="rId7" imgW="165100" imgH="228600" progId="Equation.3">
                        <p:embed/>
                      </p:oleObj>
                    </mc:Choice>
                    <mc:Fallback>
                      <p:oleObj r:id="rId7" imgW="165100" imgH="228600" progId="Equation.3">
                        <p:embed/>
                        <p:pic>
                          <p:nvPicPr>
                            <p:cNvPr id="0" name="图片 3077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" y="2016"/>
                              <a:ext cx="208" cy="288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14380" name="Line 15"/>
            <p:cNvSpPr/>
            <p:nvPr/>
          </p:nvSpPr>
          <p:spPr>
            <a:xfrm>
              <a:off x="3744" y="3312"/>
              <a:ext cx="0" cy="9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0"/>
          <p:cNvGrpSpPr/>
          <p:nvPr/>
        </p:nvGrpSpPr>
        <p:grpSpPr>
          <a:xfrm>
            <a:off x="3090863" y="2709863"/>
            <a:ext cx="779462" cy="552450"/>
            <a:chOff x="2544" y="2688"/>
            <a:chExt cx="576" cy="480"/>
          </a:xfrm>
        </p:grpSpPr>
        <p:sp>
          <p:nvSpPr>
            <p:cNvPr id="14377" name="Rectangle 21"/>
            <p:cNvSpPr/>
            <p:nvPr/>
          </p:nvSpPr>
          <p:spPr>
            <a:xfrm>
              <a:off x="2544" y="2688"/>
              <a:ext cx="528" cy="432"/>
            </a:xfrm>
            <a:prstGeom prst="rect">
              <a:avLst/>
            </a:prstGeom>
            <a:gradFill rotWithShape="0">
              <a:gsLst>
                <a:gs pos="0">
                  <a:srgbClr val="A603AB">
                    <a:alpha val="100000"/>
                  </a:srgbClr>
                </a:gs>
                <a:gs pos="21001">
                  <a:srgbClr val="0819FB">
                    <a:alpha val="100000"/>
                  </a:srgbClr>
                </a:gs>
                <a:gs pos="35001">
                  <a:srgbClr val="1A8D48">
                    <a:alpha val="100000"/>
                  </a:srgbClr>
                </a:gs>
                <a:gs pos="52000">
                  <a:srgbClr val="FFFF00">
                    <a:alpha val="100000"/>
                  </a:srgbClr>
                </a:gs>
                <a:gs pos="73000">
                  <a:srgbClr val="EE3F17">
                    <a:alpha val="100000"/>
                  </a:srgbClr>
                </a:gs>
                <a:gs pos="88000">
                  <a:srgbClr val="E81766">
                    <a:alpha val="100000"/>
                  </a:srgbClr>
                </a:gs>
                <a:gs pos="100000">
                  <a:srgbClr val="A603AB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78" name="Rectangle 22"/>
            <p:cNvSpPr/>
            <p:nvPr/>
          </p:nvSpPr>
          <p:spPr>
            <a:xfrm>
              <a:off x="3024" y="2688"/>
              <a:ext cx="96" cy="48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23"/>
          <p:cNvGrpSpPr/>
          <p:nvPr/>
        </p:nvGrpSpPr>
        <p:grpSpPr>
          <a:xfrm>
            <a:off x="4011613" y="2709863"/>
            <a:ext cx="1414462" cy="552450"/>
            <a:chOff x="2544" y="2688"/>
            <a:chExt cx="576" cy="480"/>
          </a:xfrm>
        </p:grpSpPr>
        <p:sp>
          <p:nvSpPr>
            <p:cNvPr id="14375" name="Rectangle 24"/>
            <p:cNvSpPr/>
            <p:nvPr/>
          </p:nvSpPr>
          <p:spPr>
            <a:xfrm>
              <a:off x="2544" y="2688"/>
              <a:ext cx="528" cy="432"/>
            </a:xfrm>
            <a:prstGeom prst="rect">
              <a:avLst/>
            </a:prstGeom>
            <a:gradFill rotWithShape="0">
              <a:gsLst>
                <a:gs pos="0">
                  <a:srgbClr val="A603AB">
                    <a:alpha val="100000"/>
                  </a:srgbClr>
                </a:gs>
                <a:gs pos="21001">
                  <a:srgbClr val="0819FB">
                    <a:alpha val="100000"/>
                  </a:srgbClr>
                </a:gs>
                <a:gs pos="35001">
                  <a:srgbClr val="1A8D48">
                    <a:alpha val="100000"/>
                  </a:srgbClr>
                </a:gs>
                <a:gs pos="52000">
                  <a:srgbClr val="FFFF00">
                    <a:alpha val="100000"/>
                  </a:srgbClr>
                </a:gs>
                <a:gs pos="73000">
                  <a:srgbClr val="EE3F17">
                    <a:alpha val="100000"/>
                  </a:srgbClr>
                </a:gs>
                <a:gs pos="88000">
                  <a:srgbClr val="E81766">
                    <a:alpha val="100000"/>
                  </a:srgbClr>
                </a:gs>
                <a:gs pos="100000">
                  <a:srgbClr val="A603AB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76" name="Rectangle 25"/>
            <p:cNvSpPr/>
            <p:nvPr/>
          </p:nvSpPr>
          <p:spPr>
            <a:xfrm>
              <a:off x="3024" y="2688"/>
              <a:ext cx="96" cy="48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26"/>
          <p:cNvGrpSpPr/>
          <p:nvPr/>
        </p:nvGrpSpPr>
        <p:grpSpPr>
          <a:xfrm>
            <a:off x="4860925" y="2503488"/>
            <a:ext cx="2192338" cy="552450"/>
            <a:chOff x="2544" y="2688"/>
            <a:chExt cx="576" cy="480"/>
          </a:xfrm>
        </p:grpSpPr>
        <p:sp>
          <p:nvSpPr>
            <p:cNvPr id="14373" name="Rectangle 27"/>
            <p:cNvSpPr/>
            <p:nvPr/>
          </p:nvSpPr>
          <p:spPr>
            <a:xfrm>
              <a:off x="2544" y="2688"/>
              <a:ext cx="528" cy="432"/>
            </a:xfrm>
            <a:prstGeom prst="rect">
              <a:avLst/>
            </a:prstGeom>
            <a:gradFill rotWithShape="0">
              <a:gsLst>
                <a:gs pos="0">
                  <a:srgbClr val="A603AB">
                    <a:alpha val="100000"/>
                  </a:srgbClr>
                </a:gs>
                <a:gs pos="21001">
                  <a:srgbClr val="0819FB">
                    <a:alpha val="100000"/>
                  </a:srgbClr>
                </a:gs>
                <a:gs pos="35001">
                  <a:srgbClr val="1A8D48">
                    <a:alpha val="100000"/>
                  </a:srgbClr>
                </a:gs>
                <a:gs pos="52000">
                  <a:srgbClr val="FFFF00">
                    <a:alpha val="100000"/>
                  </a:srgbClr>
                </a:gs>
                <a:gs pos="73000">
                  <a:srgbClr val="EE3F17">
                    <a:alpha val="100000"/>
                  </a:srgbClr>
                </a:gs>
                <a:gs pos="88000">
                  <a:srgbClr val="E81766">
                    <a:alpha val="100000"/>
                  </a:srgbClr>
                </a:gs>
                <a:gs pos="100000">
                  <a:srgbClr val="A603AB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74" name="Rectangle 28"/>
            <p:cNvSpPr/>
            <p:nvPr/>
          </p:nvSpPr>
          <p:spPr>
            <a:xfrm>
              <a:off x="3024" y="2688"/>
              <a:ext cx="96" cy="48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29"/>
          <p:cNvGrpSpPr/>
          <p:nvPr/>
        </p:nvGrpSpPr>
        <p:grpSpPr>
          <a:xfrm>
            <a:off x="5921375" y="2227263"/>
            <a:ext cx="2689225" cy="552450"/>
            <a:chOff x="3936" y="576"/>
            <a:chExt cx="1824" cy="384"/>
          </a:xfrm>
        </p:grpSpPr>
        <p:sp>
          <p:nvSpPr>
            <p:cNvPr id="14371" name="Rectangle 30"/>
            <p:cNvSpPr/>
            <p:nvPr/>
          </p:nvSpPr>
          <p:spPr>
            <a:xfrm>
              <a:off x="3936" y="576"/>
              <a:ext cx="1824" cy="346"/>
            </a:xfrm>
            <a:prstGeom prst="rect">
              <a:avLst/>
            </a:prstGeom>
            <a:gradFill rotWithShape="0">
              <a:gsLst>
                <a:gs pos="0">
                  <a:srgbClr val="A603AB">
                    <a:alpha val="100000"/>
                  </a:srgbClr>
                </a:gs>
                <a:gs pos="21001">
                  <a:srgbClr val="0819FB">
                    <a:alpha val="100000"/>
                  </a:srgbClr>
                </a:gs>
                <a:gs pos="35001">
                  <a:srgbClr val="1A8D48">
                    <a:alpha val="100000"/>
                  </a:srgbClr>
                </a:gs>
                <a:gs pos="52000">
                  <a:srgbClr val="FFFF00">
                    <a:alpha val="100000"/>
                  </a:srgbClr>
                </a:gs>
                <a:gs pos="73000">
                  <a:srgbClr val="EE3F17">
                    <a:alpha val="100000"/>
                  </a:srgbClr>
                </a:gs>
                <a:gs pos="88000">
                  <a:srgbClr val="E81766">
                    <a:alpha val="100000"/>
                  </a:srgbClr>
                </a:gs>
                <a:gs pos="100000">
                  <a:srgbClr val="A603AB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72" name="Rectangle 31"/>
            <p:cNvSpPr/>
            <p:nvPr/>
          </p:nvSpPr>
          <p:spPr>
            <a:xfrm>
              <a:off x="5472" y="576"/>
              <a:ext cx="288" cy="38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32"/>
          <p:cNvGrpSpPr/>
          <p:nvPr/>
        </p:nvGrpSpPr>
        <p:grpSpPr>
          <a:xfrm>
            <a:off x="2525713" y="4846638"/>
            <a:ext cx="2193925" cy="590550"/>
            <a:chOff x="1440" y="3454"/>
            <a:chExt cx="1488" cy="410"/>
          </a:xfrm>
        </p:grpSpPr>
        <p:sp>
          <p:nvSpPr>
            <p:cNvPr id="14369" name="AutoShape 33"/>
            <p:cNvSpPr/>
            <p:nvPr/>
          </p:nvSpPr>
          <p:spPr>
            <a:xfrm rot="-5452233">
              <a:off x="1966" y="3263"/>
              <a:ext cx="98" cy="480"/>
            </a:xfrm>
            <a:prstGeom prst="leftBrace">
              <a:avLst>
                <a:gd name="adj1" fmla="val 40770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70" name="Text Box 34"/>
            <p:cNvSpPr txBox="1"/>
            <p:nvPr/>
          </p:nvSpPr>
          <p:spPr>
            <a:xfrm>
              <a:off x="1440" y="3503"/>
              <a:ext cx="1488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一级光谱</a:t>
              </a:r>
            </a:p>
          </p:txBody>
        </p:sp>
      </p:grpSp>
      <p:grpSp>
        <p:nvGrpSpPr>
          <p:cNvPr id="10" name="Group 35"/>
          <p:cNvGrpSpPr/>
          <p:nvPr/>
        </p:nvGrpSpPr>
        <p:grpSpPr>
          <a:xfrm>
            <a:off x="3870325" y="4841875"/>
            <a:ext cx="2192338" cy="954088"/>
            <a:chOff x="2352" y="3451"/>
            <a:chExt cx="1488" cy="663"/>
          </a:xfrm>
        </p:grpSpPr>
        <p:sp>
          <p:nvSpPr>
            <p:cNvPr id="14367" name="AutoShape 36"/>
            <p:cNvSpPr/>
            <p:nvPr/>
          </p:nvSpPr>
          <p:spPr>
            <a:xfrm rot="-5452233">
              <a:off x="2686" y="3213"/>
              <a:ext cx="340" cy="816"/>
            </a:xfrm>
            <a:prstGeom prst="leftBrace">
              <a:avLst>
                <a:gd name="adj1" fmla="val 20000"/>
                <a:gd name="adj2" fmla="val 50574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68" name="Rectangle 37"/>
            <p:cNvSpPr/>
            <p:nvPr/>
          </p:nvSpPr>
          <p:spPr>
            <a:xfrm>
              <a:off x="2352" y="3753"/>
              <a:ext cx="1488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二级光谱</a:t>
              </a:r>
            </a:p>
          </p:txBody>
        </p:sp>
      </p:grpSp>
      <p:grpSp>
        <p:nvGrpSpPr>
          <p:cNvPr id="11" name="Group 38"/>
          <p:cNvGrpSpPr/>
          <p:nvPr/>
        </p:nvGrpSpPr>
        <p:grpSpPr>
          <a:xfrm>
            <a:off x="4929188" y="4841875"/>
            <a:ext cx="2336800" cy="595313"/>
            <a:chOff x="3071" y="3450"/>
            <a:chExt cx="1585" cy="415"/>
          </a:xfrm>
        </p:grpSpPr>
        <p:sp>
          <p:nvSpPr>
            <p:cNvPr id="14365" name="AutoShape 39"/>
            <p:cNvSpPr/>
            <p:nvPr/>
          </p:nvSpPr>
          <p:spPr>
            <a:xfrm rot="-5452233">
              <a:off x="3617" y="2899"/>
              <a:ext cx="103" cy="1200"/>
            </a:xfrm>
            <a:prstGeom prst="leftBrace">
              <a:avLst>
                <a:gd name="adj1" fmla="val 96979"/>
                <a:gd name="adj2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sm" len="lg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4366" name="Rectangle 40"/>
            <p:cNvSpPr/>
            <p:nvPr/>
          </p:nvSpPr>
          <p:spPr>
            <a:xfrm>
              <a:off x="3168" y="3504"/>
              <a:ext cx="1488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三级光谱</a:t>
              </a:r>
            </a:p>
          </p:txBody>
        </p:sp>
      </p:grpSp>
      <p:grpSp>
        <p:nvGrpSpPr>
          <p:cNvPr id="12" name="Group 43"/>
          <p:cNvGrpSpPr/>
          <p:nvPr/>
        </p:nvGrpSpPr>
        <p:grpSpPr>
          <a:xfrm>
            <a:off x="3162300" y="3332163"/>
            <a:ext cx="3578225" cy="1449387"/>
            <a:chOff x="1872" y="2400"/>
            <a:chExt cx="2427" cy="1008"/>
          </a:xfrm>
        </p:grpSpPr>
        <p:grpSp>
          <p:nvGrpSpPr>
            <p:cNvPr id="14358" name="Group 44"/>
            <p:cNvGrpSpPr/>
            <p:nvPr/>
          </p:nvGrpSpPr>
          <p:grpSpPr>
            <a:xfrm>
              <a:off x="1872" y="2400"/>
              <a:ext cx="411" cy="1008"/>
              <a:chOff x="1872" y="2400"/>
              <a:chExt cx="411" cy="1008"/>
            </a:xfrm>
          </p:grpSpPr>
          <p:sp>
            <p:nvSpPr>
              <p:cNvPr id="14361" name="Freeform 45"/>
              <p:cNvSpPr/>
              <p:nvPr/>
            </p:nvSpPr>
            <p:spPr>
              <a:xfrm>
                <a:off x="2160" y="2400"/>
                <a:ext cx="123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62" y="0"/>
                  </a:cxn>
                  <a:cxn ang="0">
                    <a:pos x="123" y="1008"/>
                  </a:cxn>
                </a:cxnLst>
                <a:rect l="0" t="0" r="0" b="0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ap="flat" cmpd="sng">
                <a:solidFill>
                  <a:srgbClr val="FF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2" name="Freeform 46"/>
              <p:cNvSpPr/>
              <p:nvPr/>
            </p:nvSpPr>
            <p:spPr>
              <a:xfrm>
                <a:off x="1872" y="2400"/>
                <a:ext cx="123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62" y="0"/>
                  </a:cxn>
                  <a:cxn ang="0">
                    <a:pos x="123" y="1008"/>
                  </a:cxn>
                </a:cxnLst>
                <a:rect l="0" t="0" r="0" b="0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ap="flat" cmpd="sng">
                <a:solidFill>
                  <a:srgbClr val="0000FF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3" name="Freeform 47"/>
              <p:cNvSpPr/>
              <p:nvPr/>
            </p:nvSpPr>
            <p:spPr>
              <a:xfrm>
                <a:off x="1968" y="2400"/>
                <a:ext cx="123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62" y="0"/>
                  </a:cxn>
                  <a:cxn ang="0">
                    <a:pos x="123" y="1008"/>
                  </a:cxn>
                </a:cxnLst>
                <a:rect l="0" t="0" r="0" b="0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ap="flat" cmpd="sng">
                <a:solidFill>
                  <a:srgbClr val="00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4" name="Freeform 48"/>
              <p:cNvSpPr/>
              <p:nvPr/>
            </p:nvSpPr>
            <p:spPr>
              <a:xfrm>
                <a:off x="2064" y="2400"/>
                <a:ext cx="123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62" y="0"/>
                  </a:cxn>
                  <a:cxn ang="0">
                    <a:pos x="123" y="1008"/>
                  </a:cxn>
                </a:cxnLst>
                <a:rect l="0" t="0" r="0" b="0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59" name="Freeform 49"/>
            <p:cNvSpPr/>
            <p:nvPr/>
          </p:nvSpPr>
          <p:spPr>
            <a:xfrm>
              <a:off x="3168" y="2400"/>
              <a:ext cx="123" cy="1008"/>
            </a:xfrm>
            <a:custGeom>
              <a:avLst/>
              <a:gdLst/>
              <a:ahLst/>
              <a:cxnLst>
                <a:cxn ang="0">
                  <a:pos x="0" y="1008"/>
                </a:cxn>
                <a:cxn ang="0">
                  <a:pos x="62" y="0"/>
                </a:cxn>
                <a:cxn ang="0">
                  <a:pos x="123" y="1008"/>
                </a:cxn>
              </a:cxnLst>
              <a:rect l="0" t="0" r="0" b="0"/>
              <a:pathLst>
                <a:path w="192" h="1152">
                  <a:moveTo>
                    <a:pt x="0" y="1152"/>
                  </a:moveTo>
                  <a:cubicBezTo>
                    <a:pt x="32" y="576"/>
                    <a:pt x="64" y="0"/>
                    <a:pt x="96" y="0"/>
                  </a:cubicBezTo>
                  <a:cubicBezTo>
                    <a:pt x="128" y="0"/>
                    <a:pt x="176" y="960"/>
                    <a:pt x="192" y="1152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0" name="Freeform 50"/>
            <p:cNvSpPr/>
            <p:nvPr/>
          </p:nvSpPr>
          <p:spPr>
            <a:xfrm>
              <a:off x="4176" y="2400"/>
              <a:ext cx="123" cy="1008"/>
            </a:xfrm>
            <a:custGeom>
              <a:avLst/>
              <a:gdLst/>
              <a:ahLst/>
              <a:cxnLst>
                <a:cxn ang="0">
                  <a:pos x="0" y="1008"/>
                </a:cxn>
                <a:cxn ang="0">
                  <a:pos x="62" y="0"/>
                </a:cxn>
                <a:cxn ang="0">
                  <a:pos x="123" y="1008"/>
                </a:cxn>
              </a:cxnLst>
              <a:rect l="0" t="0" r="0" b="0"/>
              <a:pathLst>
                <a:path w="192" h="1152">
                  <a:moveTo>
                    <a:pt x="0" y="1152"/>
                  </a:moveTo>
                  <a:cubicBezTo>
                    <a:pt x="32" y="576"/>
                    <a:pt x="64" y="0"/>
                    <a:pt x="96" y="0"/>
                  </a:cubicBezTo>
                  <a:cubicBezTo>
                    <a:pt x="128" y="0"/>
                    <a:pt x="176" y="960"/>
                    <a:pt x="192" y="1152"/>
                  </a:cubicBez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51"/>
          <p:cNvGrpSpPr/>
          <p:nvPr/>
        </p:nvGrpSpPr>
        <p:grpSpPr>
          <a:xfrm>
            <a:off x="827088" y="3262313"/>
            <a:ext cx="5165725" cy="2400300"/>
            <a:chOff x="288" y="2352"/>
            <a:chExt cx="3504" cy="1669"/>
          </a:xfrm>
        </p:grpSpPr>
        <p:grpSp>
          <p:nvGrpSpPr>
            <p:cNvPr id="14350" name="Group 52"/>
            <p:cNvGrpSpPr/>
            <p:nvPr/>
          </p:nvGrpSpPr>
          <p:grpSpPr>
            <a:xfrm>
              <a:off x="288" y="2400"/>
              <a:ext cx="3504" cy="1621"/>
              <a:chOff x="288" y="2400"/>
              <a:chExt cx="3504" cy="1621"/>
            </a:xfrm>
          </p:grpSpPr>
          <p:graphicFrame>
            <p:nvGraphicFramePr>
              <p:cNvPr id="14352" name="Object 1024"/>
              <p:cNvGraphicFramePr/>
              <p:nvPr/>
            </p:nvGraphicFramePr>
            <p:xfrm>
              <a:off x="288" y="3408"/>
              <a:ext cx="662" cy="6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25" r:id="rId9" imgW="241935" imgH="189230" progId="Equation.3">
                      <p:embed/>
                    </p:oleObj>
                  </mc:Choice>
                  <mc:Fallback>
                    <p:oleObj r:id="rId9" imgW="241935" imgH="189230" progId="Equation.3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10">
                            <a:clrChange>
                              <a:clrFrom>
                                <a:srgbClr val="000000"/>
                              </a:clrFrom>
                              <a:clrTo>
                                <a:srgbClr val="9900CC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88" y="3408"/>
                            <a:ext cx="662" cy="61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53" name="Freeform 54"/>
              <p:cNvSpPr/>
              <p:nvPr/>
            </p:nvSpPr>
            <p:spPr>
              <a:xfrm>
                <a:off x="1776" y="2400"/>
                <a:ext cx="123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62" y="0"/>
                  </a:cxn>
                  <a:cxn ang="0">
                    <a:pos x="123" y="1008"/>
                  </a:cxn>
                </a:cxnLst>
                <a:rect l="0" t="0" r="0" b="0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ap="flat" cmpd="sng">
                <a:solidFill>
                  <a:srgbClr val="99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4" name="Freeform 55"/>
              <p:cNvSpPr/>
              <p:nvPr/>
            </p:nvSpPr>
            <p:spPr>
              <a:xfrm>
                <a:off x="2400" y="2400"/>
                <a:ext cx="123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62" y="0"/>
                  </a:cxn>
                  <a:cxn ang="0">
                    <a:pos x="123" y="1008"/>
                  </a:cxn>
                </a:cxnLst>
                <a:rect l="0" t="0" r="0" b="0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ap="flat" cmpd="sng">
                <a:solidFill>
                  <a:srgbClr val="99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5" name="Freeform 56"/>
              <p:cNvSpPr/>
              <p:nvPr/>
            </p:nvSpPr>
            <p:spPr>
              <a:xfrm>
                <a:off x="3024" y="2400"/>
                <a:ext cx="123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62" y="0"/>
                  </a:cxn>
                  <a:cxn ang="0">
                    <a:pos x="123" y="1008"/>
                  </a:cxn>
                </a:cxnLst>
                <a:rect l="0" t="0" r="0" b="0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ap="flat" cmpd="sng">
                <a:solidFill>
                  <a:srgbClr val="99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6" name="Freeform 57"/>
              <p:cNvSpPr/>
              <p:nvPr/>
            </p:nvSpPr>
            <p:spPr>
              <a:xfrm>
                <a:off x="624" y="2400"/>
                <a:ext cx="123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62" y="0"/>
                  </a:cxn>
                  <a:cxn ang="0">
                    <a:pos x="123" y="1008"/>
                  </a:cxn>
                </a:cxnLst>
                <a:rect l="0" t="0" r="0" b="0"/>
                <a:pathLst>
                  <a:path w="192" h="1152">
                    <a:moveTo>
                      <a:pt x="0" y="1152"/>
                    </a:moveTo>
                    <a:cubicBezTo>
                      <a:pt x="32" y="576"/>
                      <a:pt x="64" y="0"/>
                      <a:pt x="96" y="0"/>
                    </a:cubicBezTo>
                    <a:cubicBezTo>
                      <a:pt x="128" y="0"/>
                      <a:pt x="176" y="960"/>
                      <a:pt x="192" y="1152"/>
                    </a:cubicBezTo>
                  </a:path>
                </a:pathLst>
              </a:custGeom>
              <a:noFill/>
              <a:ln w="28575" cap="flat" cmpd="sng">
                <a:solidFill>
                  <a:srgbClr val="99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7" name="Freeform 58"/>
              <p:cNvSpPr/>
              <p:nvPr/>
            </p:nvSpPr>
            <p:spPr>
              <a:xfrm>
                <a:off x="3696" y="2400"/>
                <a:ext cx="96" cy="1008"/>
              </a:xfrm>
              <a:custGeom>
                <a:avLst/>
                <a:gdLst/>
                <a:ahLst/>
                <a:cxnLst>
                  <a:cxn ang="0">
                    <a:pos x="0" y="1008"/>
                  </a:cxn>
                  <a:cxn ang="0">
                    <a:pos x="64" y="0"/>
                  </a:cxn>
                  <a:cxn ang="0">
                    <a:pos x="96" y="1008"/>
                  </a:cxn>
                </a:cxnLst>
                <a:rect l="0" t="0" r="0" b="0"/>
                <a:pathLst>
                  <a:path w="144" h="1008">
                    <a:moveTo>
                      <a:pt x="0" y="1008"/>
                    </a:moveTo>
                    <a:cubicBezTo>
                      <a:pt x="36" y="504"/>
                      <a:pt x="72" y="0"/>
                      <a:pt x="96" y="0"/>
                    </a:cubicBezTo>
                    <a:cubicBezTo>
                      <a:pt x="120" y="0"/>
                      <a:pt x="136" y="840"/>
                      <a:pt x="144" y="1008"/>
                    </a:cubicBezTo>
                  </a:path>
                </a:pathLst>
              </a:custGeom>
              <a:noFill/>
              <a:ln w="28575" cap="flat" cmpd="sng">
                <a:solidFill>
                  <a:srgbClr val="9900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351" name="Freeform 59"/>
            <p:cNvSpPr/>
            <p:nvPr/>
          </p:nvSpPr>
          <p:spPr>
            <a:xfrm>
              <a:off x="1128" y="2352"/>
              <a:ext cx="144" cy="1056"/>
            </a:xfrm>
            <a:custGeom>
              <a:avLst/>
              <a:gdLst/>
              <a:ahLst/>
              <a:cxnLst>
                <a:cxn ang="0">
                  <a:pos x="0" y="1056"/>
                </a:cxn>
                <a:cxn ang="0">
                  <a:pos x="72" y="0"/>
                </a:cxn>
                <a:cxn ang="0">
                  <a:pos x="144" y="1056"/>
                </a:cxn>
              </a:cxnLst>
              <a:rect l="0" t="0" r="0" b="0"/>
              <a:pathLst>
                <a:path w="96" h="1056">
                  <a:moveTo>
                    <a:pt x="0" y="1056"/>
                  </a:moveTo>
                  <a:cubicBezTo>
                    <a:pt x="16" y="528"/>
                    <a:pt x="32" y="0"/>
                    <a:pt x="48" y="0"/>
                  </a:cubicBezTo>
                  <a:cubicBezTo>
                    <a:pt x="64" y="0"/>
                    <a:pt x="88" y="880"/>
                    <a:pt x="96" y="1056"/>
                  </a:cubicBez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ysDot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文本框 1">
            <a:extLst>
              <a:ext uri="{FF2B5EF4-FFF2-40B4-BE49-F238E27FC236}">
                <a16:creationId xmlns:a16="http://schemas.microsoft.com/office/drawing/2014/main" xmlns="" id="{91FC28B2-A20D-ED94-0E0D-73112CA94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17475"/>
            <a:ext cx="2046287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bg1"/>
                </a:solidFill>
              </a:rPr>
              <a:t>典型例题</a:t>
            </a:r>
          </a:p>
        </p:txBody>
      </p:sp>
      <p:sp>
        <p:nvSpPr>
          <p:cNvPr id="5123" name="文本框 1">
            <a:extLst>
              <a:ext uri="{FF2B5EF4-FFF2-40B4-BE49-F238E27FC236}">
                <a16:creationId xmlns:a16="http://schemas.microsoft.com/office/drawing/2014/main" xmlns="" id="{11BB8054-F5A6-350B-B4DF-3096DB258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1268413"/>
            <a:ext cx="8426450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/>
              <a:t>某平面光栅每厘米刻有</a:t>
            </a:r>
            <a:r>
              <a:rPr lang="en-US" altLang="zh-CN" sz="2800"/>
              <a:t>4000</a:t>
            </a:r>
            <a:r>
              <a:rPr lang="zh-CN" altLang="en-US" sz="2800"/>
              <a:t>条刻线，其不透光部分的宽度是透光部分的</a:t>
            </a:r>
            <a:r>
              <a:rPr lang="en-US" altLang="zh-CN" sz="2800"/>
              <a:t>4</a:t>
            </a:r>
            <a:r>
              <a:rPr lang="zh-CN" altLang="en-US" sz="2800"/>
              <a:t>倍。</a:t>
            </a:r>
            <a:endParaRPr lang="en-US" altLang="zh-CN" sz="2800"/>
          </a:p>
          <a:p>
            <a:pPr eaLnBrk="1" hangingPunct="1">
              <a:lnSpc>
                <a:spcPct val="150000"/>
              </a:lnSpc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）求光栅常数；</a:t>
            </a:r>
            <a:endParaRPr lang="en-US" altLang="zh-CN" sz="2800"/>
          </a:p>
          <a:p>
            <a:pPr eaLnBrk="1" hangingPunct="1">
              <a:lnSpc>
                <a:spcPct val="150000"/>
              </a:lnSpc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）当用波长为</a:t>
            </a:r>
            <a:r>
              <a:rPr lang="en-US" altLang="zh-CN" sz="2800"/>
              <a:t>400nm</a:t>
            </a:r>
            <a:r>
              <a:rPr lang="zh-CN" altLang="en-US" sz="2800"/>
              <a:t>的紫光照射该光栅时，求屏上所能呈现的光谱线的全部级次；</a:t>
            </a:r>
            <a:endParaRPr lang="en-US" altLang="zh-CN" sz="2800"/>
          </a:p>
          <a:p>
            <a:pPr eaLnBrk="1" hangingPunct="1">
              <a:lnSpc>
                <a:spcPct val="150000"/>
              </a:lnSpc>
            </a:pP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）若用白光垂直照射该光栅，则第四级光谱中能出现的最大波长有何限制？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框 1">
            <a:extLst>
              <a:ext uri="{FF2B5EF4-FFF2-40B4-BE49-F238E27FC236}">
                <a16:creationId xmlns:a16="http://schemas.microsoft.com/office/drawing/2014/main" xmlns="" id="{1462D3A9-18C0-5975-F296-CF94B5FE9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117475"/>
            <a:ext cx="2046287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chemeClr val="bg1"/>
                </a:solidFill>
              </a:rPr>
              <a:t>典型例题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82D3E28A-2C3A-DAA0-FA9B-C2511A50C1C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8732" y="1321884"/>
            <a:ext cx="8337723" cy="4214231"/>
          </a:xfrm>
          <a:prstGeom prst="rect">
            <a:avLst/>
          </a:prstGeom>
          <a:blipFill>
            <a:blip r:embed="rId2"/>
            <a:stretch>
              <a:fillRect l="-1536" r="-878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38200" y="3657600"/>
            <a:ext cx="2286000" cy="2514600"/>
            <a:chOff x="432" y="2256"/>
            <a:chExt cx="1488" cy="1728"/>
          </a:xfrm>
        </p:grpSpPr>
        <p:sp>
          <p:nvSpPr>
            <p:cNvPr id="11329" name="Rectangle 3"/>
            <p:cNvSpPr/>
            <p:nvPr/>
          </p:nvSpPr>
          <p:spPr>
            <a:xfrm>
              <a:off x="432" y="2256"/>
              <a:ext cx="1488" cy="17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330" name="Line 4"/>
            <p:cNvSpPr/>
            <p:nvPr/>
          </p:nvSpPr>
          <p:spPr>
            <a:xfrm flipH="1">
              <a:off x="1500" y="2448"/>
              <a:ext cx="1" cy="1440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1" name="Line 5"/>
            <p:cNvSpPr/>
            <p:nvPr/>
          </p:nvSpPr>
          <p:spPr>
            <a:xfrm>
              <a:off x="863" y="2812"/>
              <a:ext cx="912" cy="105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332" name="Group 6"/>
            <p:cNvGrpSpPr/>
            <p:nvPr/>
          </p:nvGrpSpPr>
          <p:grpSpPr>
            <a:xfrm>
              <a:off x="1248" y="2976"/>
              <a:ext cx="240" cy="288"/>
              <a:chOff x="1295" y="2208"/>
              <a:chExt cx="240" cy="288"/>
            </a:xfrm>
          </p:grpSpPr>
          <p:sp>
            <p:nvSpPr>
              <p:cNvPr id="11335" name="Arc 7"/>
              <p:cNvSpPr/>
              <p:nvPr/>
            </p:nvSpPr>
            <p:spPr>
              <a:xfrm flipH="1">
                <a:off x="1343" y="2400"/>
                <a:ext cx="192" cy="9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2" y="96"/>
                  </a:cxn>
                  <a:cxn ang="0">
                    <a:pos x="0" y="0"/>
                  </a:cxn>
                  <a:cxn ang="0">
                    <a:pos x="192" y="96"/>
                  </a:cxn>
                  <a:cxn ang="0">
                    <a:pos x="0" y="96"/>
                  </a:cxn>
                </a:cxnLst>
                <a:rect l="0" t="0" r="0" b="0"/>
                <a:pathLst>
                  <a:path w="21600" h="21600" fill="none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00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336" name="Object 9"/>
              <p:cNvGraphicFramePr/>
              <p:nvPr/>
            </p:nvGraphicFramePr>
            <p:xfrm>
              <a:off x="1295" y="2208"/>
              <a:ext cx="215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276" r:id="rId3" imgW="141605" imgH="131445" progId="Equation.3">
                      <p:embed/>
                    </p:oleObj>
                  </mc:Choice>
                  <mc:Fallback>
                    <p:oleObj r:id="rId3" imgW="141605" imgH="131445" progId="Equation.3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295" y="2208"/>
                            <a:ext cx="215" cy="20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333" name="Text Box 9"/>
            <p:cNvSpPr txBox="1"/>
            <p:nvPr/>
          </p:nvSpPr>
          <p:spPr>
            <a:xfrm>
              <a:off x="1488" y="2304"/>
              <a:ext cx="288" cy="3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1334" name="Text Box 10"/>
            <p:cNvSpPr txBox="1"/>
            <p:nvPr/>
          </p:nvSpPr>
          <p:spPr>
            <a:xfrm>
              <a:off x="576" y="2544"/>
              <a:ext cx="337" cy="3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</p:grpSp>
      <p:sp>
        <p:nvSpPr>
          <p:cNvPr id="11267" name="Text Box 11"/>
          <p:cNvSpPr txBox="1"/>
          <p:nvPr/>
        </p:nvSpPr>
        <p:spPr>
          <a:xfrm>
            <a:off x="2144713" y="50800"/>
            <a:ext cx="6172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　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偏振</a:t>
            </a:r>
            <a:r>
              <a: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马吕斯定律</a:t>
            </a:r>
          </a:p>
        </p:txBody>
      </p:sp>
      <p:grpSp>
        <p:nvGrpSpPr>
          <p:cNvPr id="4" name="Group 12"/>
          <p:cNvGrpSpPr/>
          <p:nvPr/>
        </p:nvGrpSpPr>
        <p:grpSpPr>
          <a:xfrm>
            <a:off x="1447800" y="4267200"/>
            <a:ext cx="1547813" cy="1266825"/>
            <a:chOff x="2290" y="1673"/>
            <a:chExt cx="1032" cy="871"/>
          </a:xfrm>
        </p:grpSpPr>
        <p:grpSp>
          <p:nvGrpSpPr>
            <p:cNvPr id="11323" name="Group 13"/>
            <p:cNvGrpSpPr/>
            <p:nvPr/>
          </p:nvGrpSpPr>
          <p:grpSpPr>
            <a:xfrm>
              <a:off x="2592" y="1872"/>
              <a:ext cx="384" cy="672"/>
              <a:chOff x="3360" y="2112"/>
              <a:chExt cx="384" cy="672"/>
            </a:xfrm>
          </p:grpSpPr>
          <p:sp>
            <p:nvSpPr>
              <p:cNvPr id="11326" name="Line 14"/>
              <p:cNvSpPr/>
              <p:nvPr/>
            </p:nvSpPr>
            <p:spPr>
              <a:xfrm flipV="1">
                <a:off x="3744" y="2112"/>
                <a:ext cx="0" cy="67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7" name="Line 15"/>
              <p:cNvSpPr/>
              <p:nvPr/>
            </p:nvSpPr>
            <p:spPr>
              <a:xfrm flipH="1">
                <a:off x="3360" y="2112"/>
                <a:ext cx="384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dash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8" name="Line 16"/>
              <p:cNvSpPr/>
              <p:nvPr/>
            </p:nvSpPr>
            <p:spPr>
              <a:xfrm flipH="1" flipV="1">
                <a:off x="3360" y="2352"/>
                <a:ext cx="384" cy="432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1324" name="Object 7"/>
            <p:cNvGraphicFramePr/>
            <p:nvPr/>
          </p:nvGraphicFramePr>
          <p:xfrm>
            <a:off x="2290" y="1966"/>
            <a:ext cx="229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77" r:id="rId5" imgW="147320" imgH="157480" progId="Equation.3">
                    <p:embed/>
                  </p:oleObj>
                </mc:Choice>
                <mc:Fallback>
                  <p:oleObj r:id="rId5" imgW="147320" imgH="157480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290" y="1966"/>
                          <a:ext cx="229" cy="2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25" name="Object 8"/>
            <p:cNvGraphicFramePr/>
            <p:nvPr/>
          </p:nvGraphicFramePr>
          <p:xfrm>
            <a:off x="3024" y="1673"/>
            <a:ext cx="298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78" r:id="rId7" imgW="194310" imgH="226060" progId="Equation.3">
                    <p:embed/>
                  </p:oleObj>
                </mc:Choice>
                <mc:Fallback>
                  <p:oleObj r:id="rId7" imgW="194310" imgH="22606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024" y="1673"/>
                          <a:ext cx="298" cy="3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272" name="Object 0"/>
          <p:cNvGraphicFramePr/>
          <p:nvPr/>
        </p:nvGraphicFramePr>
        <p:xfrm>
          <a:off x="3581400" y="3808413"/>
          <a:ext cx="19050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9" r:id="rId9" imgW="882650" imgH="226060" progId="Equation.3">
                  <p:embed/>
                </p:oleObj>
              </mc:Choice>
              <mc:Fallback>
                <p:oleObj r:id="rId9" imgW="882650" imgH="22606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81400" y="3808413"/>
                        <a:ext cx="1905000" cy="528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3" name="Object 1"/>
          <p:cNvGraphicFramePr/>
          <p:nvPr/>
        </p:nvGraphicFramePr>
        <p:xfrm>
          <a:off x="6553200" y="3560763"/>
          <a:ext cx="1371600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0" r:id="rId11" imgW="604520" imgH="525780" progId="Equation.3">
                  <p:embed/>
                </p:oleObj>
              </mc:Choice>
              <mc:Fallback>
                <p:oleObj r:id="rId11" imgW="604520" imgH="52578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553200" y="3560763"/>
                        <a:ext cx="1371600" cy="1239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1" name="Group 21"/>
          <p:cNvGrpSpPr/>
          <p:nvPr/>
        </p:nvGrpSpPr>
        <p:grpSpPr>
          <a:xfrm>
            <a:off x="838200" y="1524000"/>
            <a:ext cx="7543800" cy="2057400"/>
            <a:chOff x="528" y="816"/>
            <a:chExt cx="4752" cy="1296"/>
          </a:xfrm>
        </p:grpSpPr>
        <p:sp>
          <p:nvSpPr>
            <p:cNvPr id="11274" name="Rectangle 22"/>
            <p:cNvSpPr/>
            <p:nvPr/>
          </p:nvSpPr>
          <p:spPr>
            <a:xfrm>
              <a:off x="528" y="816"/>
              <a:ext cx="4704" cy="129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1275" name="Group 23"/>
            <p:cNvGrpSpPr/>
            <p:nvPr/>
          </p:nvGrpSpPr>
          <p:grpSpPr>
            <a:xfrm>
              <a:off x="3648" y="1344"/>
              <a:ext cx="1440" cy="192"/>
              <a:chOff x="3696" y="1200"/>
              <a:chExt cx="1344" cy="192"/>
            </a:xfrm>
          </p:grpSpPr>
          <p:sp>
            <p:nvSpPr>
              <p:cNvPr id="11316" name="Line 24"/>
              <p:cNvSpPr/>
              <p:nvPr/>
            </p:nvSpPr>
            <p:spPr>
              <a:xfrm>
                <a:off x="3696" y="1296"/>
                <a:ext cx="134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7" name="Line 25"/>
              <p:cNvSpPr/>
              <p:nvPr/>
            </p:nvSpPr>
            <p:spPr>
              <a:xfrm>
                <a:off x="3744" y="1200"/>
                <a:ext cx="144" cy="192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8" name="Line 26"/>
              <p:cNvSpPr/>
              <p:nvPr/>
            </p:nvSpPr>
            <p:spPr>
              <a:xfrm>
                <a:off x="4128" y="1200"/>
                <a:ext cx="144" cy="192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9" name="Line 27"/>
              <p:cNvSpPr/>
              <p:nvPr/>
            </p:nvSpPr>
            <p:spPr>
              <a:xfrm>
                <a:off x="4320" y="1200"/>
                <a:ext cx="144" cy="192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0" name="Line 28"/>
              <p:cNvSpPr/>
              <p:nvPr/>
            </p:nvSpPr>
            <p:spPr>
              <a:xfrm>
                <a:off x="4512" y="1200"/>
                <a:ext cx="144" cy="192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1" name="Line 29"/>
              <p:cNvSpPr/>
              <p:nvPr/>
            </p:nvSpPr>
            <p:spPr>
              <a:xfrm>
                <a:off x="4704" y="1200"/>
                <a:ext cx="144" cy="192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2" name="Line 30"/>
              <p:cNvSpPr/>
              <p:nvPr/>
            </p:nvSpPr>
            <p:spPr>
              <a:xfrm>
                <a:off x="3936" y="1200"/>
                <a:ext cx="144" cy="192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76" name="Group 31"/>
            <p:cNvGrpSpPr/>
            <p:nvPr/>
          </p:nvGrpSpPr>
          <p:grpSpPr>
            <a:xfrm>
              <a:off x="3303" y="920"/>
              <a:ext cx="685" cy="1000"/>
              <a:chOff x="2967" y="725"/>
              <a:chExt cx="685" cy="1000"/>
            </a:xfrm>
          </p:grpSpPr>
          <p:sp>
            <p:nvSpPr>
              <p:cNvPr id="11314" name="AutoShape 32"/>
              <p:cNvSpPr/>
              <p:nvPr/>
            </p:nvSpPr>
            <p:spPr>
              <a:xfrm rot="3289616">
                <a:off x="2808" y="881"/>
                <a:ext cx="1000" cy="685"/>
              </a:xfrm>
              <a:prstGeom prst="parallelogram">
                <a:avLst>
                  <a:gd name="adj" fmla="val 36496"/>
                </a:avLst>
              </a:prstGeom>
              <a:solidFill>
                <a:srgbClr val="CFF1AD">
                  <a:alpha val="50195"/>
                </a:srgbClr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315" name="Line 33"/>
              <p:cNvSpPr/>
              <p:nvPr/>
            </p:nvSpPr>
            <p:spPr>
              <a:xfrm rot="-2052929">
                <a:off x="3600" y="1152"/>
                <a:ext cx="48" cy="331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77" name="Group 34"/>
            <p:cNvGrpSpPr/>
            <p:nvPr/>
          </p:nvGrpSpPr>
          <p:grpSpPr>
            <a:xfrm>
              <a:off x="4176" y="1728"/>
              <a:ext cx="1104" cy="336"/>
              <a:chOff x="4272" y="1632"/>
              <a:chExt cx="1104" cy="336"/>
            </a:xfrm>
          </p:grpSpPr>
          <p:sp>
            <p:nvSpPr>
              <p:cNvPr id="11312" name="AutoShape 35"/>
              <p:cNvSpPr/>
              <p:nvPr/>
            </p:nvSpPr>
            <p:spPr>
              <a:xfrm>
                <a:off x="4272" y="1632"/>
                <a:ext cx="816" cy="336"/>
              </a:xfrm>
              <a:prstGeom prst="wedgeRoundRectCallout">
                <a:avLst>
                  <a:gd name="adj1" fmla="val -111764"/>
                  <a:gd name="adj2" fmla="val -73514"/>
                  <a:gd name="adj3" fmla="val 16667"/>
                </a:avLst>
              </a:prstGeom>
              <a:solidFill>
                <a:srgbClr val="FFEFFF"/>
              </a:solidFill>
              <a:ln w="9525" cap="flat" cmpd="sng">
                <a:solidFill>
                  <a:srgbClr val="CC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 eaLnBrk="1" hangingPunct="1"/>
                <a:endParaRPr lang="zh-CN" altLang="zh-CN" sz="2800" b="1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13" name="Text Box 36"/>
              <p:cNvSpPr txBox="1"/>
              <p:nvPr/>
            </p:nvSpPr>
            <p:spPr>
              <a:xfrm>
                <a:off x="4272" y="1632"/>
                <a:ext cx="110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检偏器</a:t>
                </a:r>
              </a:p>
            </p:txBody>
          </p:sp>
        </p:grpSp>
        <p:grpSp>
          <p:nvGrpSpPr>
            <p:cNvPr id="11278" name="Group 37"/>
            <p:cNvGrpSpPr/>
            <p:nvPr/>
          </p:nvGrpSpPr>
          <p:grpSpPr>
            <a:xfrm>
              <a:off x="1680" y="912"/>
              <a:ext cx="722" cy="1056"/>
              <a:chOff x="1776" y="768"/>
              <a:chExt cx="722" cy="1056"/>
            </a:xfrm>
          </p:grpSpPr>
          <p:sp>
            <p:nvSpPr>
              <p:cNvPr id="11310" name="AutoShape 38"/>
              <p:cNvSpPr/>
              <p:nvPr/>
            </p:nvSpPr>
            <p:spPr>
              <a:xfrm rot="-5439597">
                <a:off x="1609" y="935"/>
                <a:ext cx="1056" cy="722"/>
              </a:xfrm>
              <a:prstGeom prst="parallelogram">
                <a:avLst>
                  <a:gd name="adj" fmla="val 36565"/>
                </a:avLst>
              </a:prstGeom>
              <a:solidFill>
                <a:srgbClr val="E4F8BC">
                  <a:alpha val="50195"/>
                </a:srgbClr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311" name="Line 39"/>
              <p:cNvSpPr/>
              <p:nvPr/>
            </p:nvSpPr>
            <p:spPr>
              <a:xfrm flipV="1">
                <a:off x="2352" y="1392"/>
                <a:ext cx="0" cy="336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279" name="Group 40"/>
            <p:cNvGrpSpPr/>
            <p:nvPr/>
          </p:nvGrpSpPr>
          <p:grpSpPr>
            <a:xfrm>
              <a:off x="720" y="1296"/>
              <a:ext cx="1344" cy="288"/>
              <a:chOff x="1104" y="3408"/>
              <a:chExt cx="1488" cy="288"/>
            </a:xfrm>
          </p:grpSpPr>
          <p:sp>
            <p:nvSpPr>
              <p:cNvPr id="11299" name="Line 41"/>
              <p:cNvSpPr/>
              <p:nvPr/>
            </p:nvSpPr>
            <p:spPr>
              <a:xfrm>
                <a:off x="1104" y="3552"/>
                <a:ext cx="1488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0" name="Line 42"/>
              <p:cNvSpPr/>
              <p:nvPr/>
            </p:nvSpPr>
            <p:spPr>
              <a:xfrm>
                <a:off x="1426" y="3408"/>
                <a:ext cx="0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1" name="Line 43"/>
              <p:cNvSpPr/>
              <p:nvPr/>
            </p:nvSpPr>
            <p:spPr>
              <a:xfrm>
                <a:off x="1667" y="3408"/>
                <a:ext cx="0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2" name="Line 44"/>
              <p:cNvSpPr/>
              <p:nvPr/>
            </p:nvSpPr>
            <p:spPr>
              <a:xfrm>
                <a:off x="1908" y="3408"/>
                <a:ext cx="0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3" name="Line 45"/>
              <p:cNvSpPr/>
              <p:nvPr/>
            </p:nvSpPr>
            <p:spPr>
              <a:xfrm>
                <a:off x="2150" y="3408"/>
                <a:ext cx="0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4" name="Line 46"/>
              <p:cNvSpPr/>
              <p:nvPr/>
            </p:nvSpPr>
            <p:spPr>
              <a:xfrm>
                <a:off x="2391" y="3408"/>
                <a:ext cx="0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5" name="Oval 47"/>
              <p:cNvSpPr/>
              <p:nvPr/>
            </p:nvSpPr>
            <p:spPr>
              <a:xfrm>
                <a:off x="1265" y="3516"/>
                <a:ext cx="80" cy="72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306" name="Oval 48"/>
              <p:cNvSpPr/>
              <p:nvPr/>
            </p:nvSpPr>
            <p:spPr>
              <a:xfrm>
                <a:off x="1506" y="3516"/>
                <a:ext cx="81" cy="72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307" name="Oval 49"/>
              <p:cNvSpPr/>
              <p:nvPr/>
            </p:nvSpPr>
            <p:spPr>
              <a:xfrm>
                <a:off x="1747" y="3516"/>
                <a:ext cx="81" cy="72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308" name="Oval 50"/>
              <p:cNvSpPr/>
              <p:nvPr/>
            </p:nvSpPr>
            <p:spPr>
              <a:xfrm>
                <a:off x="1989" y="3516"/>
                <a:ext cx="80" cy="72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1309" name="Oval 51"/>
              <p:cNvSpPr/>
              <p:nvPr/>
            </p:nvSpPr>
            <p:spPr>
              <a:xfrm>
                <a:off x="2230" y="3516"/>
                <a:ext cx="80" cy="72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280" name="Group 52"/>
            <p:cNvGrpSpPr/>
            <p:nvPr/>
          </p:nvGrpSpPr>
          <p:grpSpPr>
            <a:xfrm>
              <a:off x="720" y="1728"/>
              <a:ext cx="1104" cy="336"/>
              <a:chOff x="1296" y="1392"/>
              <a:chExt cx="1104" cy="336"/>
            </a:xfrm>
          </p:grpSpPr>
          <p:sp>
            <p:nvSpPr>
              <p:cNvPr id="11297" name="AutoShape 53"/>
              <p:cNvSpPr/>
              <p:nvPr/>
            </p:nvSpPr>
            <p:spPr>
              <a:xfrm>
                <a:off x="1296" y="1392"/>
                <a:ext cx="768" cy="336"/>
              </a:xfrm>
              <a:prstGeom prst="wedgeRoundRectCallout">
                <a:avLst>
                  <a:gd name="adj1" fmla="val 104426"/>
                  <a:gd name="adj2" fmla="val -56250"/>
                  <a:gd name="adj3" fmla="val 16667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 eaLnBrk="1" hangingPunct="1"/>
                <a:endParaRPr lang="zh-CN" altLang="zh-CN" sz="2800" b="1" dirty="0">
                  <a:solidFill>
                    <a:srgbClr val="1C1C1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98" name="Text Box 54"/>
              <p:cNvSpPr txBox="1"/>
              <p:nvPr/>
            </p:nvSpPr>
            <p:spPr>
              <a:xfrm>
                <a:off x="1296" y="1392"/>
                <a:ext cx="1104" cy="32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起偏器</a:t>
                </a:r>
              </a:p>
            </p:txBody>
          </p:sp>
        </p:grpSp>
        <p:grpSp>
          <p:nvGrpSpPr>
            <p:cNvPr id="11281" name="Group 55"/>
            <p:cNvGrpSpPr/>
            <p:nvPr/>
          </p:nvGrpSpPr>
          <p:grpSpPr>
            <a:xfrm>
              <a:off x="2016" y="1296"/>
              <a:ext cx="1632" cy="288"/>
              <a:chOff x="2112" y="1152"/>
              <a:chExt cx="1632" cy="288"/>
            </a:xfrm>
          </p:grpSpPr>
          <p:grpSp>
            <p:nvGrpSpPr>
              <p:cNvPr id="11288" name="Group 56"/>
              <p:cNvGrpSpPr/>
              <p:nvPr/>
            </p:nvGrpSpPr>
            <p:grpSpPr>
              <a:xfrm>
                <a:off x="2112" y="1152"/>
                <a:ext cx="1632" cy="288"/>
                <a:chOff x="2112" y="1152"/>
                <a:chExt cx="1632" cy="288"/>
              </a:xfrm>
            </p:grpSpPr>
            <p:sp>
              <p:nvSpPr>
                <p:cNvPr id="11291" name="Line 57"/>
                <p:cNvSpPr/>
                <p:nvPr/>
              </p:nvSpPr>
              <p:spPr>
                <a:xfrm>
                  <a:off x="2112" y="1296"/>
                  <a:ext cx="1632" cy="0"/>
                </a:xfrm>
                <a:prstGeom prst="line">
                  <a:avLst/>
                </a:prstGeom>
                <a:ln w="28575" cap="flat" cmpd="sng">
                  <a:solidFill>
                    <a:srgbClr val="0000FF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2" name="Line 58"/>
                <p:cNvSpPr/>
                <p:nvPr/>
              </p:nvSpPr>
              <p:spPr>
                <a:xfrm>
                  <a:off x="2315" y="115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3" name="Line 59"/>
                <p:cNvSpPr/>
                <p:nvPr/>
              </p:nvSpPr>
              <p:spPr>
                <a:xfrm>
                  <a:off x="2517" y="115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4" name="Line 60"/>
                <p:cNvSpPr/>
                <p:nvPr/>
              </p:nvSpPr>
              <p:spPr>
                <a:xfrm>
                  <a:off x="2720" y="115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5" name="Line 61"/>
                <p:cNvSpPr/>
                <p:nvPr/>
              </p:nvSpPr>
              <p:spPr>
                <a:xfrm>
                  <a:off x="2922" y="115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6" name="Line 62"/>
                <p:cNvSpPr/>
                <p:nvPr/>
              </p:nvSpPr>
              <p:spPr>
                <a:xfrm>
                  <a:off x="3125" y="1152"/>
                  <a:ext cx="0" cy="288"/>
                </a:xfrm>
                <a:prstGeom prst="line">
                  <a:avLst/>
                </a:prstGeom>
                <a:ln w="1905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289" name="Line 63"/>
              <p:cNvSpPr/>
              <p:nvPr/>
            </p:nvSpPr>
            <p:spPr>
              <a:xfrm>
                <a:off x="3312" y="1152"/>
                <a:ext cx="0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0" name="Line 64"/>
              <p:cNvSpPr/>
              <p:nvPr/>
            </p:nvSpPr>
            <p:spPr>
              <a:xfrm>
                <a:off x="3504" y="1152"/>
                <a:ext cx="0" cy="288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1282" name="Object 3"/>
            <p:cNvGraphicFramePr/>
            <p:nvPr/>
          </p:nvGraphicFramePr>
          <p:xfrm>
            <a:off x="2592" y="864"/>
            <a:ext cx="25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1" r:id="rId13" imgW="147320" imgH="226060" progId="Equation.3">
                    <p:embed/>
                  </p:oleObj>
                </mc:Choice>
                <mc:Fallback>
                  <p:oleObj r:id="rId13" imgW="147320" imgH="22606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92" y="864"/>
                          <a:ext cx="250" cy="384"/>
                        </a:xfrm>
                        <a:prstGeom prst="rect">
                          <a:avLst/>
                        </a:prstGeom>
                        <a:solidFill>
                          <a:srgbClr val="FFEFFF"/>
                        </a:solidFill>
                        <a:ln w="9525" cap="flat" cmpd="sng">
                          <a:solidFill>
                            <a:srgbClr val="CC00CC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3" name="Object 4"/>
            <p:cNvGraphicFramePr/>
            <p:nvPr/>
          </p:nvGraphicFramePr>
          <p:xfrm>
            <a:off x="4896" y="1056"/>
            <a:ext cx="19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2" r:id="rId15" imgW="165100" imgH="228600" progId="Equation.3">
                    <p:embed/>
                  </p:oleObj>
                </mc:Choice>
                <mc:Fallback>
                  <p:oleObj r:id="rId15" imgW="165100" imgH="2286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896" y="1056"/>
                          <a:ext cx="191" cy="266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5"/>
            <p:cNvGraphicFramePr/>
            <p:nvPr/>
          </p:nvGraphicFramePr>
          <p:xfrm>
            <a:off x="4272" y="1008"/>
            <a:ext cx="27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3" r:id="rId17" imgW="147320" imgH="157480" progId="Equation.3">
                    <p:embed/>
                  </p:oleObj>
                </mc:Choice>
                <mc:Fallback>
                  <p:oleObj r:id="rId17" imgW="147320" imgH="157480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72" y="1008"/>
                          <a:ext cx="270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5" name="Object 6"/>
            <p:cNvGraphicFramePr/>
            <p:nvPr/>
          </p:nvGraphicFramePr>
          <p:xfrm>
            <a:off x="2592" y="1632"/>
            <a:ext cx="325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84" r:id="rId19" imgW="194310" imgH="226060" progId="Equation.3">
                    <p:embed/>
                  </p:oleObj>
                </mc:Choice>
                <mc:Fallback>
                  <p:oleObj r:id="rId19" imgW="194310" imgH="226060" progId="Equation.3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592" y="1632"/>
                          <a:ext cx="325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6" name="Text Box 69"/>
            <p:cNvSpPr txBox="1"/>
            <p:nvPr/>
          </p:nvSpPr>
          <p:spPr>
            <a:xfrm>
              <a:off x="1632" y="91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1287" name="Text Box 70"/>
            <p:cNvSpPr txBox="1"/>
            <p:nvPr/>
          </p:nvSpPr>
          <p:spPr>
            <a:xfrm>
              <a:off x="3552" y="1008"/>
              <a:ext cx="33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</p:grpSp>
      <p:graphicFrame>
        <p:nvGraphicFramePr>
          <p:cNvPr id="54274" name="Object 2"/>
          <p:cNvGraphicFramePr/>
          <p:nvPr/>
        </p:nvGraphicFramePr>
        <p:xfrm>
          <a:off x="6096000" y="4953000"/>
          <a:ext cx="19812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5" r:id="rId21" imgW="909320" imgH="262890" progId="Equation.3">
                  <p:embed/>
                </p:oleObj>
              </mc:Choice>
              <mc:Fallback>
                <p:oleObj r:id="rId21" imgW="909320" imgH="26289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096000" y="4953000"/>
                        <a:ext cx="1981200" cy="614363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EFFF"/>
                          </a:gs>
                          <a:gs pos="50000">
                            <a:srgbClr val="FFFFFF"/>
                          </a:gs>
                          <a:gs pos="100000">
                            <a:srgbClr val="FFEFFF"/>
                          </a:gs>
                        </a:gsLst>
                        <a:lin ang="5400000" scaled="1"/>
                        <a:tileRect/>
                      </a:gradFill>
                      <a:ln w="12700" cap="flat" cmpd="sng">
                        <a:solidFill>
                          <a:srgbClr val="CC00CC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09" name="Rectangle 73"/>
          <p:cNvSpPr/>
          <p:nvPr/>
        </p:nvSpPr>
        <p:spPr>
          <a:xfrm>
            <a:off x="2514600" y="4983163"/>
            <a:ext cx="34671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        </a:t>
            </a:r>
            <a:r>
              <a:rPr lang="zh-CN" altLang="en-US" b="1" dirty="0">
                <a:solidFill>
                  <a:srgbClr val="CC0000"/>
                </a:solidFill>
                <a:latin typeface="Times New Roman" panose="02020603050405020304" pitchFamily="18" charset="0"/>
              </a:rPr>
              <a:t>马吕斯定律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09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0" name="Object 1026"/>
          <p:cNvGraphicFramePr/>
          <p:nvPr/>
        </p:nvGraphicFramePr>
        <p:xfrm>
          <a:off x="3719513" y="4910138"/>
          <a:ext cx="1766887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5" r:id="rId3" imgW="919480" imgH="226060" progId="Equation.3">
                  <p:embed/>
                </p:oleObj>
              </mc:Choice>
              <mc:Fallback>
                <p:oleObj r:id="rId3" imgW="919480" imgH="22606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19513" y="4910138"/>
                        <a:ext cx="1766887" cy="528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1027"/>
          <p:cNvSpPr/>
          <p:nvPr/>
        </p:nvSpPr>
        <p:spPr>
          <a:xfrm>
            <a:off x="762000" y="1101725"/>
            <a:ext cx="7772400" cy="3429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5364" name="Group 1028"/>
          <p:cNvGrpSpPr/>
          <p:nvPr/>
        </p:nvGrpSpPr>
        <p:grpSpPr>
          <a:xfrm>
            <a:off x="968375" y="1293813"/>
            <a:ext cx="4814888" cy="1408112"/>
            <a:chOff x="288" y="1465"/>
            <a:chExt cx="3360" cy="887"/>
          </a:xfrm>
        </p:grpSpPr>
        <p:grpSp>
          <p:nvGrpSpPr>
            <p:cNvPr id="15422" name="Group 1029"/>
            <p:cNvGrpSpPr/>
            <p:nvPr/>
          </p:nvGrpSpPr>
          <p:grpSpPr>
            <a:xfrm>
              <a:off x="3072" y="1488"/>
              <a:ext cx="576" cy="864"/>
              <a:chOff x="3072" y="1488"/>
              <a:chExt cx="576" cy="864"/>
            </a:xfrm>
          </p:grpSpPr>
          <p:sp>
            <p:nvSpPr>
              <p:cNvPr id="15447" name="Oval 1030"/>
              <p:cNvSpPr/>
              <p:nvPr/>
            </p:nvSpPr>
            <p:spPr>
              <a:xfrm>
                <a:off x="3072" y="1488"/>
                <a:ext cx="576" cy="86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48" name="Line 1031"/>
              <p:cNvSpPr/>
              <p:nvPr/>
            </p:nvSpPr>
            <p:spPr>
              <a:xfrm flipH="1">
                <a:off x="3216" y="2208"/>
                <a:ext cx="288" cy="0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5449" name="Object 1032"/>
              <p:cNvGraphicFramePr/>
              <p:nvPr/>
            </p:nvGraphicFramePr>
            <p:xfrm>
              <a:off x="3253" y="1513"/>
              <a:ext cx="265" cy="3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336" r:id="rId5" imgW="199390" imgH="262890" progId="Equation.3">
                      <p:embed/>
                    </p:oleObj>
                  </mc:Choice>
                  <mc:Fallback>
                    <p:oleObj r:id="rId5" imgW="199390" imgH="262890" progId="Equation.3">
                      <p:embed/>
                      <p:pic>
                        <p:nvPicPr>
                          <p:cNvPr id="0" name="图片 3109"/>
                          <p:cNvPicPr/>
                          <p:nvPr/>
                        </p:nvPicPr>
                        <p:blipFill>
                          <a:blip r:embed="rId6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253" y="1513"/>
                            <a:ext cx="265" cy="3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5423" name="Group 1033"/>
            <p:cNvGrpSpPr/>
            <p:nvPr/>
          </p:nvGrpSpPr>
          <p:grpSpPr>
            <a:xfrm>
              <a:off x="1248" y="1465"/>
              <a:ext cx="576" cy="887"/>
              <a:chOff x="1248" y="1465"/>
              <a:chExt cx="576" cy="887"/>
            </a:xfrm>
          </p:grpSpPr>
          <p:sp>
            <p:nvSpPr>
              <p:cNvPr id="15444" name="Oval 1034"/>
              <p:cNvSpPr/>
              <p:nvPr/>
            </p:nvSpPr>
            <p:spPr>
              <a:xfrm>
                <a:off x="1248" y="1488"/>
                <a:ext cx="576" cy="86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45" name="Line 1035"/>
              <p:cNvSpPr/>
              <p:nvPr/>
            </p:nvSpPr>
            <p:spPr>
              <a:xfrm>
                <a:off x="1680" y="1968"/>
                <a:ext cx="0" cy="288"/>
              </a:xfrm>
              <a:prstGeom prst="line">
                <a:avLst/>
              </a:prstGeom>
              <a:ln w="19050" cap="flat" cmpd="sng">
                <a:solidFill>
                  <a:srgbClr val="FF0000"/>
                </a:solidFill>
                <a:prstDash val="solid"/>
                <a:headEnd type="triangl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5446" name="Object 1036"/>
              <p:cNvGraphicFramePr/>
              <p:nvPr/>
            </p:nvGraphicFramePr>
            <p:xfrm>
              <a:off x="1482" y="1465"/>
              <a:ext cx="242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337" r:id="rId7" imgW="266065" imgH="367665" progId="Equation.3">
                      <p:embed/>
                    </p:oleObj>
                  </mc:Choice>
                  <mc:Fallback>
                    <p:oleObj r:id="rId7" imgW="266065" imgH="367665" progId="Equation.3">
                      <p:embed/>
                      <p:pic>
                        <p:nvPicPr>
                          <p:cNvPr id="0" name="图片 3110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482" y="1465"/>
                            <a:ext cx="242" cy="33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424" name="Line 1037"/>
            <p:cNvSpPr/>
            <p:nvPr/>
          </p:nvSpPr>
          <p:spPr>
            <a:xfrm>
              <a:off x="1824" y="1920"/>
              <a:ext cx="148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Line 1038"/>
            <p:cNvSpPr/>
            <p:nvPr/>
          </p:nvSpPr>
          <p:spPr>
            <a:xfrm>
              <a:off x="1916" y="1776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Line 1039"/>
            <p:cNvSpPr/>
            <p:nvPr/>
          </p:nvSpPr>
          <p:spPr>
            <a:xfrm>
              <a:off x="2125" y="1776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Line 1040"/>
            <p:cNvSpPr/>
            <p:nvPr/>
          </p:nvSpPr>
          <p:spPr>
            <a:xfrm>
              <a:off x="2335" y="1776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Line 1041"/>
            <p:cNvSpPr/>
            <p:nvPr/>
          </p:nvSpPr>
          <p:spPr>
            <a:xfrm>
              <a:off x="2544" y="1776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Line 1042"/>
            <p:cNvSpPr/>
            <p:nvPr/>
          </p:nvSpPr>
          <p:spPr>
            <a:xfrm>
              <a:off x="2755" y="1776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430" name="Group 1043"/>
            <p:cNvGrpSpPr/>
            <p:nvPr/>
          </p:nvGrpSpPr>
          <p:grpSpPr>
            <a:xfrm>
              <a:off x="288" y="1776"/>
              <a:ext cx="1294" cy="266"/>
              <a:chOff x="288" y="1776"/>
              <a:chExt cx="1294" cy="266"/>
            </a:xfrm>
          </p:grpSpPr>
          <p:sp>
            <p:nvSpPr>
              <p:cNvPr id="15433" name="Line 1044"/>
              <p:cNvSpPr/>
              <p:nvPr/>
            </p:nvSpPr>
            <p:spPr>
              <a:xfrm>
                <a:off x="288" y="1909"/>
                <a:ext cx="129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4" name="Line 1045"/>
              <p:cNvSpPr/>
              <p:nvPr/>
            </p:nvSpPr>
            <p:spPr>
              <a:xfrm>
                <a:off x="568" y="1776"/>
                <a:ext cx="0" cy="26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5" name="Line 1046"/>
              <p:cNvSpPr/>
              <p:nvPr/>
            </p:nvSpPr>
            <p:spPr>
              <a:xfrm>
                <a:off x="778" y="1776"/>
                <a:ext cx="0" cy="26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6" name="Line 1047"/>
              <p:cNvSpPr/>
              <p:nvPr/>
            </p:nvSpPr>
            <p:spPr>
              <a:xfrm>
                <a:off x="987" y="1776"/>
                <a:ext cx="0" cy="26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7" name="Line 1048"/>
              <p:cNvSpPr/>
              <p:nvPr/>
            </p:nvSpPr>
            <p:spPr>
              <a:xfrm>
                <a:off x="1197" y="1776"/>
                <a:ext cx="0" cy="26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8" name="Line 1049"/>
              <p:cNvSpPr/>
              <p:nvPr/>
            </p:nvSpPr>
            <p:spPr>
              <a:xfrm>
                <a:off x="1407" y="1776"/>
                <a:ext cx="0" cy="26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39" name="Oval 1050"/>
              <p:cNvSpPr/>
              <p:nvPr/>
            </p:nvSpPr>
            <p:spPr>
              <a:xfrm>
                <a:off x="428" y="1876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40" name="Oval 1051"/>
              <p:cNvSpPr/>
              <p:nvPr/>
            </p:nvSpPr>
            <p:spPr>
              <a:xfrm>
                <a:off x="638" y="1876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41" name="Oval 1052"/>
              <p:cNvSpPr/>
              <p:nvPr/>
            </p:nvSpPr>
            <p:spPr>
              <a:xfrm>
                <a:off x="848" y="1876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42" name="Oval 1053"/>
              <p:cNvSpPr/>
              <p:nvPr/>
            </p:nvSpPr>
            <p:spPr>
              <a:xfrm>
                <a:off x="1057" y="1876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43" name="Oval 1054"/>
              <p:cNvSpPr/>
              <p:nvPr/>
            </p:nvSpPr>
            <p:spPr>
              <a:xfrm>
                <a:off x="1267" y="1876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431" name="Line 1055"/>
            <p:cNvSpPr/>
            <p:nvPr/>
          </p:nvSpPr>
          <p:spPr>
            <a:xfrm>
              <a:off x="2940" y="1776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Line 1056"/>
            <p:cNvSpPr/>
            <p:nvPr/>
          </p:nvSpPr>
          <p:spPr>
            <a:xfrm>
              <a:off x="3149" y="1776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5365" name="Object 1057"/>
          <p:cNvGraphicFramePr/>
          <p:nvPr/>
        </p:nvGraphicFramePr>
        <p:xfrm>
          <a:off x="1519238" y="1254125"/>
          <a:ext cx="357187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8" r:id="rId9" imgW="147320" imgH="226060" progId="Equation.3">
                  <p:embed/>
                </p:oleObj>
              </mc:Choice>
              <mc:Fallback>
                <p:oleObj r:id="rId9" imgW="147320" imgH="22606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19238" y="1254125"/>
                        <a:ext cx="357187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66" name="Group 1058"/>
          <p:cNvGrpSpPr/>
          <p:nvPr/>
        </p:nvGrpSpPr>
        <p:grpSpPr>
          <a:xfrm>
            <a:off x="968375" y="2970213"/>
            <a:ext cx="7426325" cy="1408112"/>
            <a:chOff x="288" y="2521"/>
            <a:chExt cx="5182" cy="887"/>
          </a:xfrm>
        </p:grpSpPr>
        <p:graphicFrame>
          <p:nvGraphicFramePr>
            <p:cNvPr id="15379" name="Object 1059"/>
            <p:cNvGraphicFramePr/>
            <p:nvPr/>
          </p:nvGraphicFramePr>
          <p:xfrm>
            <a:off x="528" y="2544"/>
            <a:ext cx="25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9" r:id="rId11" imgW="147320" imgH="226060" progId="Equation.3">
                    <p:embed/>
                  </p:oleObj>
                </mc:Choice>
                <mc:Fallback>
                  <p:oleObj r:id="rId11" imgW="147320" imgH="22606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8" y="2544"/>
                          <a:ext cx="250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Object 1060"/>
            <p:cNvGraphicFramePr/>
            <p:nvPr/>
          </p:nvGraphicFramePr>
          <p:xfrm>
            <a:off x="2304" y="2544"/>
            <a:ext cx="236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0" r:id="rId13" imgW="141605" imgH="220980" progId="Equation.3">
                    <p:embed/>
                  </p:oleObj>
                </mc:Choice>
                <mc:Fallback>
                  <p:oleObj r:id="rId13" imgW="141605" imgH="22098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304" y="2544"/>
                          <a:ext cx="236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1" name="Oval 1061"/>
            <p:cNvSpPr/>
            <p:nvPr/>
          </p:nvSpPr>
          <p:spPr>
            <a:xfrm>
              <a:off x="3840" y="2544"/>
              <a:ext cx="576" cy="86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5382" name="Line 1062"/>
            <p:cNvSpPr/>
            <p:nvPr/>
          </p:nvSpPr>
          <p:spPr>
            <a:xfrm flipH="1">
              <a:off x="3984" y="3264"/>
              <a:ext cx="28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3" name="Object 1063"/>
            <p:cNvGraphicFramePr/>
            <p:nvPr/>
          </p:nvGraphicFramePr>
          <p:xfrm>
            <a:off x="4021" y="2569"/>
            <a:ext cx="265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1" r:id="rId15" imgW="292100" imgH="381000" progId="Equation.3">
                    <p:embed/>
                  </p:oleObj>
                </mc:Choice>
                <mc:Fallback>
                  <p:oleObj r:id="rId15" imgW="292100" imgH="3810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21" y="2569"/>
                          <a:ext cx="265" cy="34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4" name="Oval 1064"/>
            <p:cNvSpPr/>
            <p:nvPr/>
          </p:nvSpPr>
          <p:spPr>
            <a:xfrm>
              <a:off x="2688" y="2544"/>
              <a:ext cx="576" cy="86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5385" name="Line 1065"/>
            <p:cNvSpPr/>
            <p:nvPr/>
          </p:nvSpPr>
          <p:spPr>
            <a:xfrm flipH="1">
              <a:off x="3024" y="3072"/>
              <a:ext cx="144" cy="24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6" name="Object 1066"/>
            <p:cNvGraphicFramePr/>
            <p:nvPr/>
          </p:nvGraphicFramePr>
          <p:xfrm>
            <a:off x="2905" y="2521"/>
            <a:ext cx="277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2" r:id="rId17" imgW="304800" imgH="367665" progId="Equation.3">
                    <p:embed/>
                  </p:oleObj>
                </mc:Choice>
                <mc:Fallback>
                  <p:oleObj r:id="rId17" imgW="304800" imgH="367665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905" y="2521"/>
                          <a:ext cx="277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7" name="Oval 1067"/>
            <p:cNvSpPr/>
            <p:nvPr/>
          </p:nvSpPr>
          <p:spPr>
            <a:xfrm>
              <a:off x="1248" y="2544"/>
              <a:ext cx="576" cy="86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5388" name="Line 1068"/>
            <p:cNvSpPr/>
            <p:nvPr/>
          </p:nvSpPr>
          <p:spPr>
            <a:xfrm>
              <a:off x="1680" y="2976"/>
              <a:ext cx="0" cy="336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9" name="Object 1069"/>
            <p:cNvGraphicFramePr/>
            <p:nvPr/>
          </p:nvGraphicFramePr>
          <p:xfrm>
            <a:off x="1482" y="2521"/>
            <a:ext cx="242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3" r:id="rId19" imgW="184150" imgH="252095" progId="Equation.3">
                    <p:embed/>
                  </p:oleObj>
                </mc:Choice>
                <mc:Fallback>
                  <p:oleObj r:id="rId19" imgW="184150" imgH="252095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82" y="2521"/>
                          <a:ext cx="242" cy="3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90" name="Group 1070"/>
            <p:cNvGrpSpPr/>
            <p:nvPr/>
          </p:nvGrpSpPr>
          <p:grpSpPr>
            <a:xfrm>
              <a:off x="3264" y="2880"/>
              <a:ext cx="864" cy="192"/>
              <a:chOff x="3264" y="2880"/>
              <a:chExt cx="864" cy="192"/>
            </a:xfrm>
          </p:grpSpPr>
          <p:sp>
            <p:nvSpPr>
              <p:cNvPr id="15417" name="Line 1071"/>
              <p:cNvSpPr/>
              <p:nvPr/>
            </p:nvSpPr>
            <p:spPr>
              <a:xfrm>
                <a:off x="3264" y="2976"/>
                <a:ext cx="86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8" name="Line 1072"/>
              <p:cNvSpPr/>
              <p:nvPr/>
            </p:nvSpPr>
            <p:spPr>
              <a:xfrm flipH="1">
                <a:off x="3312" y="2880"/>
                <a:ext cx="144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9" name="Line 1073"/>
              <p:cNvSpPr/>
              <p:nvPr/>
            </p:nvSpPr>
            <p:spPr>
              <a:xfrm flipH="1">
                <a:off x="3696" y="2880"/>
                <a:ext cx="144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0" name="Line 1074"/>
              <p:cNvSpPr/>
              <p:nvPr/>
            </p:nvSpPr>
            <p:spPr>
              <a:xfrm flipH="1">
                <a:off x="3888" y="2880"/>
                <a:ext cx="144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21" name="Line 1075"/>
              <p:cNvSpPr/>
              <p:nvPr/>
            </p:nvSpPr>
            <p:spPr>
              <a:xfrm flipH="1">
                <a:off x="3504" y="2880"/>
                <a:ext cx="144" cy="1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91" name="Line 1076"/>
            <p:cNvSpPr/>
            <p:nvPr/>
          </p:nvSpPr>
          <p:spPr>
            <a:xfrm>
              <a:off x="1824" y="2976"/>
              <a:ext cx="1104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Line 1077"/>
            <p:cNvSpPr/>
            <p:nvPr/>
          </p:nvSpPr>
          <p:spPr>
            <a:xfrm>
              <a:off x="1916" y="2832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Line 1078"/>
            <p:cNvSpPr/>
            <p:nvPr/>
          </p:nvSpPr>
          <p:spPr>
            <a:xfrm>
              <a:off x="2125" y="2832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Line 1079"/>
            <p:cNvSpPr/>
            <p:nvPr/>
          </p:nvSpPr>
          <p:spPr>
            <a:xfrm>
              <a:off x="2335" y="2832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Line 1080"/>
            <p:cNvSpPr/>
            <p:nvPr/>
          </p:nvSpPr>
          <p:spPr>
            <a:xfrm>
              <a:off x="2544" y="2832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6" name="Line 1081"/>
            <p:cNvSpPr/>
            <p:nvPr/>
          </p:nvSpPr>
          <p:spPr>
            <a:xfrm>
              <a:off x="2755" y="2832"/>
              <a:ext cx="1" cy="26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lg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97" name="Group 1082"/>
            <p:cNvGrpSpPr/>
            <p:nvPr/>
          </p:nvGrpSpPr>
          <p:grpSpPr>
            <a:xfrm>
              <a:off x="288" y="2832"/>
              <a:ext cx="1294" cy="266"/>
              <a:chOff x="288" y="2832"/>
              <a:chExt cx="1294" cy="266"/>
            </a:xfrm>
          </p:grpSpPr>
          <p:sp>
            <p:nvSpPr>
              <p:cNvPr id="15406" name="Line 1083"/>
              <p:cNvSpPr/>
              <p:nvPr/>
            </p:nvSpPr>
            <p:spPr>
              <a:xfrm>
                <a:off x="288" y="2965"/>
                <a:ext cx="1294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7" name="Line 1084"/>
              <p:cNvSpPr/>
              <p:nvPr/>
            </p:nvSpPr>
            <p:spPr>
              <a:xfrm>
                <a:off x="568" y="2832"/>
                <a:ext cx="0" cy="26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8" name="Line 1085"/>
              <p:cNvSpPr/>
              <p:nvPr/>
            </p:nvSpPr>
            <p:spPr>
              <a:xfrm>
                <a:off x="778" y="2832"/>
                <a:ext cx="0" cy="26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9" name="Line 1086"/>
              <p:cNvSpPr/>
              <p:nvPr/>
            </p:nvSpPr>
            <p:spPr>
              <a:xfrm>
                <a:off x="987" y="2832"/>
                <a:ext cx="0" cy="26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0" name="Line 1087"/>
              <p:cNvSpPr/>
              <p:nvPr/>
            </p:nvSpPr>
            <p:spPr>
              <a:xfrm>
                <a:off x="1197" y="2832"/>
                <a:ext cx="0" cy="26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1" name="Line 1088"/>
              <p:cNvSpPr/>
              <p:nvPr/>
            </p:nvSpPr>
            <p:spPr>
              <a:xfrm>
                <a:off x="1407" y="2832"/>
                <a:ext cx="0" cy="26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2" name="Oval 1089"/>
              <p:cNvSpPr/>
              <p:nvPr/>
            </p:nvSpPr>
            <p:spPr>
              <a:xfrm>
                <a:off x="428" y="2932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13" name="Oval 1090"/>
              <p:cNvSpPr/>
              <p:nvPr/>
            </p:nvSpPr>
            <p:spPr>
              <a:xfrm>
                <a:off x="638" y="2932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14" name="Oval 1091"/>
              <p:cNvSpPr/>
              <p:nvPr/>
            </p:nvSpPr>
            <p:spPr>
              <a:xfrm>
                <a:off x="848" y="2932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15" name="Oval 1092"/>
              <p:cNvSpPr/>
              <p:nvPr/>
            </p:nvSpPr>
            <p:spPr>
              <a:xfrm>
                <a:off x="1057" y="2932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16" name="Oval 1093"/>
              <p:cNvSpPr/>
              <p:nvPr/>
            </p:nvSpPr>
            <p:spPr>
              <a:xfrm>
                <a:off x="1267" y="2932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5398" name="Group 1094"/>
            <p:cNvGrpSpPr/>
            <p:nvPr/>
          </p:nvGrpSpPr>
          <p:grpSpPr>
            <a:xfrm>
              <a:off x="4416" y="2928"/>
              <a:ext cx="1054" cy="66"/>
              <a:chOff x="4416" y="2928"/>
              <a:chExt cx="1054" cy="66"/>
            </a:xfrm>
          </p:grpSpPr>
          <p:sp>
            <p:nvSpPr>
              <p:cNvPr id="15401" name="Line 1095"/>
              <p:cNvSpPr/>
              <p:nvPr/>
            </p:nvSpPr>
            <p:spPr>
              <a:xfrm flipV="1">
                <a:off x="4416" y="2961"/>
                <a:ext cx="1054" cy="11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headEnd type="none" w="sm" len="lg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2" name="Oval 1096"/>
              <p:cNvSpPr/>
              <p:nvPr/>
            </p:nvSpPr>
            <p:spPr>
              <a:xfrm>
                <a:off x="4526" y="2928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03" name="Oval 1097"/>
              <p:cNvSpPr/>
              <p:nvPr/>
            </p:nvSpPr>
            <p:spPr>
              <a:xfrm>
                <a:off x="4736" y="2928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04" name="Oval 1098"/>
              <p:cNvSpPr/>
              <p:nvPr/>
            </p:nvSpPr>
            <p:spPr>
              <a:xfrm>
                <a:off x="4945" y="2928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15405" name="Oval 1099"/>
              <p:cNvSpPr/>
              <p:nvPr/>
            </p:nvSpPr>
            <p:spPr>
              <a:xfrm>
                <a:off x="5155" y="2928"/>
                <a:ext cx="70" cy="66"/>
              </a:xfrm>
              <a:prstGeom prst="ellipse">
                <a:avLst/>
              </a:prstGeom>
              <a:solidFill>
                <a:srgbClr val="0000FF"/>
              </a:solidFill>
              <a:ln w="9525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aphicFrame>
          <p:nvGraphicFramePr>
            <p:cNvPr id="15399" name="Object 1100"/>
            <p:cNvGraphicFramePr/>
            <p:nvPr/>
          </p:nvGraphicFramePr>
          <p:xfrm>
            <a:off x="3504" y="2544"/>
            <a:ext cx="250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4" r:id="rId21" imgW="147320" imgH="220980" progId="Equation.3">
                    <p:embed/>
                  </p:oleObj>
                </mc:Choice>
                <mc:Fallback>
                  <p:oleObj r:id="rId21" imgW="147320" imgH="22098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22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04" y="2544"/>
                          <a:ext cx="250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0" name="Object 1101"/>
            <p:cNvGraphicFramePr/>
            <p:nvPr/>
          </p:nvGraphicFramePr>
          <p:xfrm>
            <a:off x="4752" y="2584"/>
            <a:ext cx="250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5" r:id="rId23" imgW="147320" imgH="226060" progId="Equation.3">
                    <p:embed/>
                  </p:oleObj>
                </mc:Choice>
                <mc:Fallback>
                  <p:oleObj r:id="rId23" imgW="147320" imgH="22606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24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752" y="2584"/>
                          <a:ext cx="250" cy="38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1102"/>
          <p:cNvGrpSpPr/>
          <p:nvPr/>
        </p:nvGrpSpPr>
        <p:grpSpPr>
          <a:xfrm>
            <a:off x="6540500" y="1066800"/>
            <a:ext cx="1855788" cy="1863725"/>
            <a:chOff x="4176" y="1322"/>
            <a:chExt cx="1296" cy="1174"/>
          </a:xfrm>
        </p:grpSpPr>
        <p:graphicFrame>
          <p:nvGraphicFramePr>
            <p:cNvPr id="15371" name="Object 1103"/>
            <p:cNvGraphicFramePr/>
            <p:nvPr/>
          </p:nvGraphicFramePr>
          <p:xfrm>
            <a:off x="5015" y="1392"/>
            <a:ext cx="26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6" r:id="rId25" imgW="210185" imgH="252095" progId="Equation.3">
                    <p:embed/>
                  </p:oleObj>
                </mc:Choice>
                <mc:Fallback>
                  <p:oleObj r:id="rId25" imgW="210185" imgH="252095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26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15" y="1392"/>
                          <a:ext cx="265" cy="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Object 1104"/>
            <p:cNvGraphicFramePr/>
            <p:nvPr/>
          </p:nvGraphicFramePr>
          <p:xfrm>
            <a:off x="4591" y="1662"/>
            <a:ext cx="203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7" r:id="rId27" imgW="141605" imgH="131445" progId="Equation.3">
                    <p:embed/>
                  </p:oleObj>
                </mc:Choice>
                <mc:Fallback>
                  <p:oleObj r:id="rId27" imgW="141605" imgH="131445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591" y="1662"/>
                          <a:ext cx="203" cy="19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Line 1105"/>
            <p:cNvSpPr/>
            <p:nvPr/>
          </p:nvSpPr>
          <p:spPr>
            <a:xfrm>
              <a:off x="4591" y="1477"/>
              <a:ext cx="0" cy="1019"/>
            </a:xfrm>
            <a:prstGeom prst="line">
              <a:avLst/>
            </a:prstGeom>
            <a:ln w="28575" cap="flat" cmpd="sng">
              <a:solidFill>
                <a:srgbClr val="D60093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Line 1106"/>
            <p:cNvSpPr/>
            <p:nvPr/>
          </p:nvSpPr>
          <p:spPr>
            <a:xfrm flipV="1">
              <a:off x="4314" y="1523"/>
              <a:ext cx="693" cy="973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5" name="Line 1107"/>
            <p:cNvSpPr/>
            <p:nvPr/>
          </p:nvSpPr>
          <p:spPr>
            <a:xfrm>
              <a:off x="4176" y="2126"/>
              <a:ext cx="1015" cy="0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76" name="Object 1108"/>
            <p:cNvGraphicFramePr/>
            <p:nvPr/>
          </p:nvGraphicFramePr>
          <p:xfrm>
            <a:off x="5216" y="1912"/>
            <a:ext cx="25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8" r:id="rId29" imgW="199390" imgH="262890" progId="Equation.3">
                    <p:embed/>
                  </p:oleObj>
                </mc:Choice>
                <mc:Fallback>
                  <p:oleObj r:id="rId29" imgW="199390" imgH="26289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30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216" y="1912"/>
                          <a:ext cx="256" cy="3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7" name="Object 1109"/>
            <p:cNvGraphicFramePr/>
            <p:nvPr/>
          </p:nvGraphicFramePr>
          <p:xfrm>
            <a:off x="4315" y="1322"/>
            <a:ext cx="232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9" r:id="rId31" imgW="184150" imgH="252095" progId="Equation.3">
                    <p:embed/>
                  </p:oleObj>
                </mc:Choice>
                <mc:Fallback>
                  <p:oleObj r:id="rId31" imgW="184150" imgH="252095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15" y="1322"/>
                          <a:ext cx="232" cy="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8" name="Arc 1110"/>
            <p:cNvSpPr/>
            <p:nvPr/>
          </p:nvSpPr>
          <p:spPr>
            <a:xfrm>
              <a:off x="4591" y="1849"/>
              <a:ext cx="139" cy="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9" y="84"/>
                </a:cxn>
                <a:cxn ang="0">
                  <a:pos x="0" y="0"/>
                </a:cxn>
                <a:cxn ang="0">
                  <a:pos x="139" y="84"/>
                </a:cxn>
                <a:cxn ang="0">
                  <a:pos x="0" y="92"/>
                </a:cxn>
              </a:cxnLst>
              <a:rect l="0" t="0" r="0" b="0"/>
              <a:pathLst>
                <a:path w="21525" h="21600" fill="none">
                  <a:moveTo>
                    <a:pt x="-1" y="0"/>
                  </a:moveTo>
                  <a:cubicBezTo>
                    <a:pt x="11233" y="0"/>
                    <a:pt x="20592" y="8610"/>
                    <a:pt x="21525" y="19805"/>
                  </a:cubicBezTo>
                </a:path>
                <a:path w="21525" h="21600" stroke="0">
                  <a:moveTo>
                    <a:pt x="-1" y="0"/>
                  </a:moveTo>
                  <a:cubicBezTo>
                    <a:pt x="11233" y="0"/>
                    <a:pt x="20592" y="8610"/>
                    <a:pt x="21525" y="1980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8215" name="Object 1111"/>
          <p:cNvGraphicFramePr/>
          <p:nvPr/>
        </p:nvGraphicFramePr>
        <p:xfrm>
          <a:off x="1519238" y="4724400"/>
          <a:ext cx="1300162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0" r:id="rId33" imgW="577850" imgH="420370" progId="Equation.3">
                  <p:embed/>
                </p:oleObj>
              </mc:Choice>
              <mc:Fallback>
                <p:oleObj r:id="rId33" imgW="577850" imgH="42037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34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19238" y="4724400"/>
                        <a:ext cx="1300162" cy="963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16" name="Object 1112"/>
          <p:cNvGraphicFramePr/>
          <p:nvPr/>
        </p:nvGraphicFramePr>
        <p:xfrm>
          <a:off x="5562600" y="4730750"/>
          <a:ext cx="17526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1" r:id="rId35" imgW="777875" imgH="420370" progId="Equation.3">
                  <p:embed/>
                </p:oleObj>
              </mc:Choice>
              <mc:Fallback>
                <p:oleObj r:id="rId35" imgW="777875" imgH="42037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36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62600" y="4730750"/>
                        <a:ext cx="1752600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1128"/>
          <p:cNvSpPr/>
          <p:nvPr/>
        </p:nvSpPr>
        <p:spPr>
          <a:xfrm>
            <a:off x="3924300" y="63500"/>
            <a:ext cx="11017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讨论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4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5" name="Text Box 19"/>
          <p:cNvSpPr txBox="1"/>
          <p:nvPr/>
        </p:nvSpPr>
        <p:spPr>
          <a:xfrm>
            <a:off x="4572000" y="1773238"/>
            <a:ext cx="42672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入射面    </a:t>
            </a:r>
            <a:r>
              <a:rPr lang="zh-CN" altLang="en-US" sz="32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入射光线和法线所成的平面 </a:t>
            </a:r>
            <a:r>
              <a:rPr lang="en-US" altLang="zh-CN" sz="32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4836" name="Text Box 20"/>
          <p:cNvSpPr txBox="1"/>
          <p:nvPr/>
        </p:nvSpPr>
        <p:spPr>
          <a:xfrm>
            <a:off x="762000" y="4454525"/>
            <a:ext cx="792480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Blip>
                <a:blip r:embed="rId3"/>
              </a:buBlip>
            </a:pPr>
            <a:r>
              <a:rPr lang="en-US" altLang="zh-CN" sz="3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32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反射光    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部分</a:t>
            </a:r>
            <a:r>
              <a:rPr lang="zh-CN" altLang="en-US" sz="32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偏振光，垂直于入射面的振动大于平行于入射面的振动 </a:t>
            </a:r>
            <a:r>
              <a:rPr lang="en-US" altLang="zh-CN" sz="32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076" name="Text Box 46"/>
          <p:cNvSpPr txBox="1"/>
          <p:nvPr/>
        </p:nvSpPr>
        <p:spPr>
          <a:xfrm>
            <a:off x="1258888" y="0"/>
            <a:ext cx="7488237" cy="750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光反射与折射时的偏振</a:t>
            </a:r>
          </a:p>
        </p:txBody>
      </p:sp>
      <p:grpSp>
        <p:nvGrpSpPr>
          <p:cNvPr id="3077" name="Group 2"/>
          <p:cNvGrpSpPr/>
          <p:nvPr/>
        </p:nvGrpSpPr>
        <p:grpSpPr>
          <a:xfrm>
            <a:off x="762000" y="958850"/>
            <a:ext cx="3886200" cy="3352800"/>
            <a:chOff x="288" y="604"/>
            <a:chExt cx="2448" cy="2112"/>
          </a:xfrm>
        </p:grpSpPr>
        <p:sp>
          <p:nvSpPr>
            <p:cNvPr id="3122" name="Rectangle 3"/>
            <p:cNvSpPr/>
            <p:nvPr/>
          </p:nvSpPr>
          <p:spPr>
            <a:xfrm>
              <a:off x="288" y="604"/>
              <a:ext cx="2304" cy="211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23" name="Text Box 4"/>
            <p:cNvSpPr txBox="1"/>
            <p:nvPr/>
          </p:nvSpPr>
          <p:spPr>
            <a:xfrm>
              <a:off x="1920" y="1344"/>
              <a:ext cx="8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空气</a:t>
              </a: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2439988" y="1635125"/>
            <a:ext cx="2058987" cy="955675"/>
            <a:chOff x="1345" y="988"/>
            <a:chExt cx="1297" cy="602"/>
          </a:xfrm>
        </p:grpSpPr>
        <p:sp>
          <p:nvSpPr>
            <p:cNvPr id="3111" name="Line 6"/>
            <p:cNvSpPr/>
            <p:nvPr/>
          </p:nvSpPr>
          <p:spPr>
            <a:xfrm rot="-2153489">
              <a:off x="1345" y="1275"/>
              <a:ext cx="1297" cy="14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2" name="Line 7"/>
            <p:cNvSpPr/>
            <p:nvPr/>
          </p:nvSpPr>
          <p:spPr>
            <a:xfrm rot="-2153489">
              <a:off x="1827" y="1264"/>
              <a:ext cx="0" cy="251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3" name="Line 8"/>
            <p:cNvSpPr/>
            <p:nvPr/>
          </p:nvSpPr>
          <p:spPr>
            <a:xfrm rot="-2153489">
              <a:off x="2138" y="1039"/>
              <a:ext cx="0" cy="251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" name="Oval 9"/>
            <p:cNvSpPr/>
            <p:nvPr/>
          </p:nvSpPr>
          <p:spPr>
            <a:xfrm rot="-2153489">
              <a:off x="1561" y="1527"/>
              <a:ext cx="64" cy="63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15" name="Oval 10"/>
            <p:cNvSpPr/>
            <p:nvPr/>
          </p:nvSpPr>
          <p:spPr>
            <a:xfrm rot="-2153489">
              <a:off x="1717" y="1414"/>
              <a:ext cx="64" cy="63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16" name="Oval 11"/>
            <p:cNvSpPr/>
            <p:nvPr/>
          </p:nvSpPr>
          <p:spPr>
            <a:xfrm rot="-2153489">
              <a:off x="1873" y="1302"/>
              <a:ext cx="64" cy="63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17" name="Oval 12"/>
            <p:cNvSpPr/>
            <p:nvPr/>
          </p:nvSpPr>
          <p:spPr>
            <a:xfrm rot="-2153489">
              <a:off x="2028" y="1189"/>
              <a:ext cx="64" cy="63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18" name="Oval 13"/>
            <p:cNvSpPr/>
            <p:nvPr/>
          </p:nvSpPr>
          <p:spPr>
            <a:xfrm rot="-2153489">
              <a:off x="2185" y="1076"/>
              <a:ext cx="64" cy="63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19" name="Oval 14"/>
            <p:cNvSpPr/>
            <p:nvPr/>
          </p:nvSpPr>
          <p:spPr>
            <a:xfrm rot="-2153489">
              <a:off x="2311" y="988"/>
              <a:ext cx="64" cy="63"/>
            </a:xfrm>
            <a:prstGeom prst="ellipse">
              <a:avLst/>
            </a:prstGeom>
            <a:solidFill>
              <a:srgbClr val="FF3300"/>
            </a:solidFill>
            <a:ln w="952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20" name="Arc 15"/>
            <p:cNvSpPr/>
            <p:nvPr/>
          </p:nvSpPr>
          <p:spPr>
            <a:xfrm rot="9220608" flipH="1" flipV="1">
              <a:off x="1506" y="1244"/>
              <a:ext cx="171" cy="295"/>
            </a:xfrm>
            <a:custGeom>
              <a:avLst/>
              <a:gdLst>
                <a:gd name="txL" fmla="*/ 0 w 28807"/>
                <a:gd name="txT" fmla="*/ 0 h 28693"/>
                <a:gd name="txR" fmla="*/ 28807 w 28807"/>
                <a:gd name="txB" fmla="*/ 28693 h 2869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8807" h="28693" fill="none">
                  <a:moveTo>
                    <a:pt x="-1" y="1237"/>
                  </a:moveTo>
                  <a:cubicBezTo>
                    <a:pt x="2314" y="418"/>
                    <a:pt x="4751" y="-1"/>
                    <a:pt x="7207" y="0"/>
                  </a:cubicBezTo>
                  <a:cubicBezTo>
                    <a:pt x="19136" y="0"/>
                    <a:pt x="28807" y="9670"/>
                    <a:pt x="28807" y="21600"/>
                  </a:cubicBezTo>
                  <a:cubicBezTo>
                    <a:pt x="28807" y="24014"/>
                    <a:pt x="28402" y="26412"/>
                    <a:pt x="27609" y="28693"/>
                  </a:cubicBezTo>
                </a:path>
                <a:path w="28807" h="28693" stroke="0">
                  <a:moveTo>
                    <a:pt x="-1" y="1237"/>
                  </a:moveTo>
                  <a:cubicBezTo>
                    <a:pt x="2314" y="418"/>
                    <a:pt x="4751" y="-1"/>
                    <a:pt x="7207" y="0"/>
                  </a:cubicBezTo>
                  <a:cubicBezTo>
                    <a:pt x="19136" y="0"/>
                    <a:pt x="28807" y="9670"/>
                    <a:pt x="28807" y="21600"/>
                  </a:cubicBezTo>
                  <a:cubicBezTo>
                    <a:pt x="28807" y="24014"/>
                    <a:pt x="28402" y="26412"/>
                    <a:pt x="27609" y="28693"/>
                  </a:cubicBezTo>
                  <a:lnTo>
                    <a:pt x="7207" y="21600"/>
                  </a:lnTo>
                  <a:lnTo>
                    <a:pt x="-1" y="1237"/>
                  </a:lnTo>
                  <a:close/>
                </a:path>
              </a:pathLst>
            </a:custGeom>
            <a:noFill/>
            <a:ln w="28575" cap="flat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121" name="Object 16"/>
            <p:cNvGraphicFramePr>
              <a:graphicFrameLocks noChangeAspect="1"/>
            </p:cNvGraphicFramePr>
            <p:nvPr/>
          </p:nvGraphicFramePr>
          <p:xfrm>
            <a:off x="1536" y="988"/>
            <a:ext cx="16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99" r:id="rId4" imgW="73660" imgH="152400" progId="Equation.3">
                    <p:embed/>
                  </p:oleObj>
                </mc:Choice>
                <mc:Fallback>
                  <p:oleObj r:id="rId4" imgW="73660" imgH="152400" progId="Equation.3">
                    <p:embed/>
                    <p:pic>
                      <p:nvPicPr>
                        <p:cNvPr id="0" name="图片 1"/>
                        <p:cNvPicPr/>
                        <p:nvPr/>
                      </p:nvPicPr>
                      <p:blipFill>
                        <a:blip r:embed="rId5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36" y="988"/>
                          <a:ext cx="16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9" name="Line 17"/>
          <p:cNvSpPr/>
          <p:nvPr/>
        </p:nvSpPr>
        <p:spPr>
          <a:xfrm flipH="1">
            <a:off x="2590800" y="1416050"/>
            <a:ext cx="11113" cy="2438400"/>
          </a:xfrm>
          <a:prstGeom prst="line">
            <a:avLst/>
          </a:prstGeom>
          <a:ln w="19050" cap="flat" cmpd="sng">
            <a:solidFill>
              <a:schemeClr val="tx1"/>
            </a:solidFill>
            <a:prstDash val="dash"/>
            <a:headEnd type="none" w="med" len="med"/>
            <a:tailEnd type="none" w="sm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80" name="Object 18"/>
          <p:cNvGraphicFramePr>
            <a:graphicFrameLocks noChangeAspect="1"/>
          </p:cNvGraphicFramePr>
          <p:nvPr/>
        </p:nvGraphicFramePr>
        <p:xfrm>
          <a:off x="1284288" y="2057400"/>
          <a:ext cx="43973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0" r:id="rId6" imgW="152400" imgH="215265" progId="Equation.3">
                  <p:embed/>
                </p:oleObj>
              </mc:Choice>
              <mc:Fallback>
                <p:oleObj r:id="rId6" imgW="152400" imgH="215265" progId="Equation.3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84288" y="2057400"/>
                        <a:ext cx="439737" cy="614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3"/>
          <p:cNvGrpSpPr/>
          <p:nvPr/>
        </p:nvGrpSpPr>
        <p:grpSpPr>
          <a:xfrm>
            <a:off x="762000" y="1568450"/>
            <a:ext cx="1984375" cy="1131888"/>
            <a:chOff x="432" y="864"/>
            <a:chExt cx="1250" cy="713"/>
          </a:xfrm>
        </p:grpSpPr>
        <p:sp>
          <p:nvSpPr>
            <p:cNvPr id="3098" name="Line 24"/>
            <p:cNvSpPr/>
            <p:nvPr/>
          </p:nvSpPr>
          <p:spPr>
            <a:xfrm rot="2031746">
              <a:off x="432" y="1198"/>
              <a:ext cx="125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9" name="Line 25"/>
            <p:cNvSpPr/>
            <p:nvPr/>
          </p:nvSpPr>
          <p:spPr>
            <a:xfrm rot="2031746">
              <a:off x="762" y="874"/>
              <a:ext cx="0" cy="25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0" name="Line 26"/>
            <p:cNvSpPr/>
            <p:nvPr/>
          </p:nvSpPr>
          <p:spPr>
            <a:xfrm rot="2031746">
              <a:off x="930" y="987"/>
              <a:ext cx="0" cy="25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1" name="Line 27"/>
            <p:cNvSpPr/>
            <p:nvPr/>
          </p:nvSpPr>
          <p:spPr>
            <a:xfrm rot="2031746">
              <a:off x="1099" y="1100"/>
              <a:ext cx="0" cy="25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2" name="Line 28"/>
            <p:cNvSpPr/>
            <p:nvPr/>
          </p:nvSpPr>
          <p:spPr>
            <a:xfrm rot="2031746">
              <a:off x="1267" y="1212"/>
              <a:ext cx="0" cy="25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3" name="Line 29"/>
            <p:cNvSpPr/>
            <p:nvPr/>
          </p:nvSpPr>
          <p:spPr>
            <a:xfrm rot="2031746">
              <a:off x="1435" y="1326"/>
              <a:ext cx="0" cy="25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4" name="Oval 30"/>
            <p:cNvSpPr/>
            <p:nvPr/>
          </p:nvSpPr>
          <p:spPr>
            <a:xfrm rot="2031746">
              <a:off x="644" y="911"/>
              <a:ext cx="68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05" name="Oval 31"/>
            <p:cNvSpPr/>
            <p:nvPr/>
          </p:nvSpPr>
          <p:spPr>
            <a:xfrm rot="2031746">
              <a:off x="812" y="1025"/>
              <a:ext cx="67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06" name="Oval 32"/>
            <p:cNvSpPr/>
            <p:nvPr/>
          </p:nvSpPr>
          <p:spPr>
            <a:xfrm rot="2031746">
              <a:off x="981" y="1138"/>
              <a:ext cx="67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07" name="Oval 33"/>
            <p:cNvSpPr/>
            <p:nvPr/>
          </p:nvSpPr>
          <p:spPr>
            <a:xfrm rot="2031746">
              <a:off x="1149" y="1250"/>
              <a:ext cx="68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08" name="Oval 34"/>
            <p:cNvSpPr/>
            <p:nvPr/>
          </p:nvSpPr>
          <p:spPr>
            <a:xfrm rot="2031746">
              <a:off x="1317" y="1363"/>
              <a:ext cx="68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graphicFrame>
          <p:nvGraphicFramePr>
            <p:cNvPr id="3109" name="Object 35"/>
            <p:cNvGraphicFramePr>
              <a:graphicFrameLocks noChangeAspect="1"/>
            </p:cNvGraphicFramePr>
            <p:nvPr/>
          </p:nvGraphicFramePr>
          <p:xfrm>
            <a:off x="1351" y="864"/>
            <a:ext cx="16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01" r:id="rId8" imgW="73660" imgH="152400" progId="Equation.3">
                    <p:embed/>
                  </p:oleObj>
                </mc:Choice>
                <mc:Fallback>
                  <p:oleObj r:id="rId8" imgW="73660" imgH="1524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351" y="864"/>
                          <a:ext cx="16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10" name="Arc 36"/>
            <p:cNvSpPr/>
            <p:nvPr/>
          </p:nvSpPr>
          <p:spPr>
            <a:xfrm rot="-10492093" flipV="1">
              <a:off x="1344" y="1152"/>
              <a:ext cx="252" cy="240"/>
            </a:xfrm>
            <a:custGeom>
              <a:avLst/>
              <a:gdLst>
                <a:gd name="txL" fmla="*/ 0 w 28807"/>
                <a:gd name="txT" fmla="*/ 0 h 27893"/>
                <a:gd name="txR" fmla="*/ 28807 w 28807"/>
                <a:gd name="txB" fmla="*/ 27893 h 2789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8807" h="27893" fill="none">
                  <a:moveTo>
                    <a:pt x="-1" y="1237"/>
                  </a:moveTo>
                  <a:cubicBezTo>
                    <a:pt x="2314" y="418"/>
                    <a:pt x="4751" y="-1"/>
                    <a:pt x="7207" y="0"/>
                  </a:cubicBezTo>
                  <a:cubicBezTo>
                    <a:pt x="19136" y="0"/>
                    <a:pt x="28807" y="9670"/>
                    <a:pt x="28807" y="21600"/>
                  </a:cubicBezTo>
                  <a:cubicBezTo>
                    <a:pt x="28807" y="23732"/>
                    <a:pt x="28491" y="25853"/>
                    <a:pt x="27869" y="27892"/>
                  </a:cubicBezTo>
                </a:path>
                <a:path w="28807" h="27893" stroke="0">
                  <a:moveTo>
                    <a:pt x="-1" y="1237"/>
                  </a:moveTo>
                  <a:cubicBezTo>
                    <a:pt x="2314" y="418"/>
                    <a:pt x="4751" y="-1"/>
                    <a:pt x="7207" y="0"/>
                  </a:cubicBezTo>
                  <a:cubicBezTo>
                    <a:pt x="19136" y="0"/>
                    <a:pt x="28807" y="9670"/>
                    <a:pt x="28807" y="21600"/>
                  </a:cubicBezTo>
                  <a:cubicBezTo>
                    <a:pt x="28807" y="23732"/>
                    <a:pt x="28491" y="25853"/>
                    <a:pt x="27869" y="27892"/>
                  </a:cubicBezTo>
                  <a:lnTo>
                    <a:pt x="7207" y="21600"/>
                  </a:lnTo>
                  <a:lnTo>
                    <a:pt x="-1" y="1237"/>
                  </a:lnTo>
                  <a:close/>
                </a:path>
              </a:pathLst>
            </a:custGeom>
            <a:noFill/>
            <a:ln w="28575" cap="flat" cmpd="sng">
              <a:solidFill>
                <a:srgbClr val="9966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7"/>
          <p:cNvGrpSpPr/>
          <p:nvPr/>
        </p:nvGrpSpPr>
        <p:grpSpPr>
          <a:xfrm>
            <a:off x="2667000" y="2462213"/>
            <a:ext cx="785813" cy="1730375"/>
            <a:chOff x="1488" y="1551"/>
            <a:chExt cx="495" cy="1090"/>
          </a:xfrm>
        </p:grpSpPr>
        <p:sp>
          <p:nvSpPr>
            <p:cNvPr id="3090" name="Line 38"/>
            <p:cNvSpPr/>
            <p:nvPr/>
          </p:nvSpPr>
          <p:spPr>
            <a:xfrm rot="2782562">
              <a:off x="1231" y="2043"/>
              <a:ext cx="1090" cy="10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" name="Line 39"/>
            <p:cNvSpPr/>
            <p:nvPr/>
          </p:nvSpPr>
          <p:spPr>
            <a:xfrm rot="2782562" flipV="1">
              <a:off x="1602" y="1808"/>
              <a:ext cx="12" cy="14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2" name="Line 40"/>
            <p:cNvSpPr/>
            <p:nvPr/>
          </p:nvSpPr>
          <p:spPr>
            <a:xfrm rot="2782562">
              <a:off x="1717" y="1930"/>
              <a:ext cx="0" cy="144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3" name="Line 41"/>
            <p:cNvSpPr/>
            <p:nvPr/>
          </p:nvSpPr>
          <p:spPr>
            <a:xfrm rot="2782562" flipV="1">
              <a:off x="1830" y="2093"/>
              <a:ext cx="8" cy="14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4" name="Oval 42"/>
            <p:cNvSpPr/>
            <p:nvPr/>
          </p:nvSpPr>
          <p:spPr>
            <a:xfrm rot="2782562">
              <a:off x="1487" y="1756"/>
              <a:ext cx="64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95" name="Oval 43"/>
            <p:cNvSpPr/>
            <p:nvPr/>
          </p:nvSpPr>
          <p:spPr>
            <a:xfrm rot="2782562">
              <a:off x="1727" y="2044"/>
              <a:ext cx="64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96" name="Oval 44"/>
            <p:cNvSpPr/>
            <p:nvPr/>
          </p:nvSpPr>
          <p:spPr>
            <a:xfrm rot="2782562">
              <a:off x="1919" y="2284"/>
              <a:ext cx="64" cy="63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97" name="Line 45"/>
            <p:cNvSpPr/>
            <p:nvPr/>
          </p:nvSpPr>
          <p:spPr>
            <a:xfrm rot="2782562" flipV="1">
              <a:off x="1893" y="2166"/>
              <a:ext cx="8" cy="147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83" name="Group 47"/>
          <p:cNvGrpSpPr/>
          <p:nvPr/>
        </p:nvGrpSpPr>
        <p:grpSpPr>
          <a:xfrm>
            <a:off x="1219200" y="2667000"/>
            <a:ext cx="2819400" cy="1447800"/>
            <a:chOff x="576" y="1680"/>
            <a:chExt cx="1776" cy="912"/>
          </a:xfrm>
        </p:grpSpPr>
        <p:sp>
          <p:nvSpPr>
            <p:cNvPr id="3087" name="Rectangle 48"/>
            <p:cNvSpPr/>
            <p:nvPr/>
          </p:nvSpPr>
          <p:spPr>
            <a:xfrm>
              <a:off x="576" y="1680"/>
              <a:ext cx="1776" cy="912"/>
            </a:xfrm>
            <a:prstGeom prst="rect">
              <a:avLst/>
            </a:prstGeom>
            <a:solidFill>
              <a:srgbClr val="C5FFFF">
                <a:alpha val="50195"/>
              </a:srgbClr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  <a:p>
              <a:pPr algn="ctr" eaLnBrk="1" hangingPunct="1"/>
              <a:endPara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8" name="Text Box 49"/>
            <p:cNvSpPr txBox="1"/>
            <p:nvPr/>
          </p:nvSpPr>
          <p:spPr>
            <a:xfrm>
              <a:off x="576" y="2256"/>
              <a:ext cx="80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玻璃</a:t>
              </a:r>
            </a:p>
          </p:txBody>
        </p:sp>
        <p:graphicFrame>
          <p:nvGraphicFramePr>
            <p:cNvPr id="3089" name="Object 50"/>
            <p:cNvGraphicFramePr>
              <a:graphicFrameLocks noChangeAspect="1"/>
            </p:cNvGraphicFramePr>
            <p:nvPr/>
          </p:nvGraphicFramePr>
          <p:xfrm>
            <a:off x="617" y="1728"/>
            <a:ext cx="309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02" r:id="rId10" imgW="168275" imgH="215265" progId="Equation.3">
                    <p:embed/>
                  </p:oleObj>
                </mc:Choice>
                <mc:Fallback>
                  <p:oleObj r:id="rId10" imgW="168275" imgH="215265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17" y="1728"/>
                          <a:ext cx="309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1"/>
          <p:cNvGrpSpPr/>
          <p:nvPr/>
        </p:nvGrpSpPr>
        <p:grpSpPr>
          <a:xfrm>
            <a:off x="2590800" y="2940050"/>
            <a:ext cx="376238" cy="722313"/>
            <a:chOff x="1440" y="1852"/>
            <a:chExt cx="237" cy="455"/>
          </a:xfrm>
        </p:grpSpPr>
        <p:graphicFrame>
          <p:nvGraphicFramePr>
            <p:cNvPr id="3085" name="Object 52"/>
            <p:cNvGraphicFramePr>
              <a:graphicFrameLocks noChangeAspect="1"/>
            </p:cNvGraphicFramePr>
            <p:nvPr/>
          </p:nvGraphicFramePr>
          <p:xfrm>
            <a:off x="1488" y="2044"/>
            <a:ext cx="18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03" r:id="rId12" imgW="115570" imgH="163195" progId="Equation.3">
                    <p:embed/>
                  </p:oleObj>
                </mc:Choice>
                <mc:Fallback>
                  <p:oleObj r:id="rId12" imgW="115570" imgH="163195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003366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88" y="2044"/>
                          <a:ext cx="189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6" name="Arc 53"/>
            <p:cNvSpPr/>
            <p:nvPr/>
          </p:nvSpPr>
          <p:spPr>
            <a:xfrm rot="-10185697" flipH="1">
              <a:off x="1440" y="1852"/>
              <a:ext cx="184" cy="144"/>
            </a:xfrm>
            <a:custGeom>
              <a:avLst/>
              <a:gdLst>
                <a:gd name="txL" fmla="*/ 0 w 25732"/>
                <a:gd name="txT" fmla="*/ 0 h 21600"/>
                <a:gd name="txR" fmla="*/ 25732 w 25732"/>
                <a:gd name="txB" fmla="*/ 21600 h 2160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732" h="21600" fill="none">
                  <a:moveTo>
                    <a:pt x="-1" y="459"/>
                  </a:moveTo>
                  <a:cubicBezTo>
                    <a:pt x="1457" y="154"/>
                    <a:pt x="2943" y="-1"/>
                    <a:pt x="4433" y="0"/>
                  </a:cubicBezTo>
                  <a:cubicBezTo>
                    <a:pt x="14976" y="0"/>
                    <a:pt x="23978" y="7611"/>
                    <a:pt x="25732" y="18007"/>
                  </a:cubicBezTo>
                </a:path>
                <a:path w="25732" h="21600" stroke="0">
                  <a:moveTo>
                    <a:pt x="-1" y="459"/>
                  </a:moveTo>
                  <a:cubicBezTo>
                    <a:pt x="1457" y="154"/>
                    <a:pt x="2943" y="-1"/>
                    <a:pt x="4433" y="0"/>
                  </a:cubicBezTo>
                  <a:cubicBezTo>
                    <a:pt x="14976" y="0"/>
                    <a:pt x="23978" y="7611"/>
                    <a:pt x="25732" y="18007"/>
                  </a:cubicBezTo>
                  <a:lnTo>
                    <a:pt x="4433" y="21600"/>
                  </a:lnTo>
                  <a:lnTo>
                    <a:pt x="-1" y="459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35" grpId="0"/>
      <p:bldP spid="3483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/>
          <p:nvPr/>
        </p:nvSpPr>
        <p:spPr>
          <a:xfrm>
            <a:off x="3275648" y="-317"/>
            <a:ext cx="3232150" cy="693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布儒斯特定律</a:t>
            </a:r>
            <a:endParaRPr lang="en-US" altLang="zh-CN" sz="3600" b="1" dirty="0">
              <a:solidFill>
                <a:srgbClr val="0033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4" name="Text Box 4"/>
          <p:cNvSpPr txBox="1"/>
          <p:nvPr/>
        </p:nvSpPr>
        <p:spPr>
          <a:xfrm>
            <a:off x="467360" y="2132965"/>
            <a:ext cx="3327400" cy="14204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反射光为完全偏振光，且振动面垂直入射面，折射光为部分偏振光．</a:t>
            </a:r>
          </a:p>
        </p:txBody>
      </p:sp>
      <p:graphicFrame>
        <p:nvGraphicFramePr>
          <p:cNvPr id="5124" name="Object 0"/>
          <p:cNvGraphicFramePr>
            <a:graphicFrameLocks noChangeAspect="1"/>
          </p:cNvGraphicFramePr>
          <p:nvPr/>
        </p:nvGraphicFramePr>
        <p:xfrm>
          <a:off x="1116330" y="985520"/>
          <a:ext cx="150876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48" r:id="rId9" imgW="457200" imgH="294005" progId="Equation.3">
                  <p:embed/>
                </p:oleObj>
              </mc:Choice>
              <mc:Fallback>
                <p:oleObj r:id="rId9" imgW="457200" imgH="294005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16330" y="985520"/>
                        <a:ext cx="1508760" cy="90487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6"/>
          <p:cNvSpPr txBox="1"/>
          <p:nvPr/>
        </p:nvSpPr>
        <p:spPr>
          <a:xfrm>
            <a:off x="352425" y="1098550"/>
            <a:ext cx="4752975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当                        时，</a:t>
            </a:r>
          </a:p>
        </p:txBody>
      </p:sp>
      <p:grpSp>
        <p:nvGrpSpPr>
          <p:cNvPr id="5126" name="Group 15"/>
          <p:cNvGrpSpPr/>
          <p:nvPr/>
        </p:nvGrpSpPr>
        <p:grpSpPr>
          <a:xfrm>
            <a:off x="4724400" y="990600"/>
            <a:ext cx="3810000" cy="3200400"/>
            <a:chOff x="288" y="480"/>
            <a:chExt cx="2400" cy="2016"/>
          </a:xfrm>
        </p:grpSpPr>
        <p:grpSp>
          <p:nvGrpSpPr>
            <p:cNvPr id="5127" name="Group 16"/>
            <p:cNvGrpSpPr/>
            <p:nvPr/>
          </p:nvGrpSpPr>
          <p:grpSpPr>
            <a:xfrm>
              <a:off x="288" y="480"/>
              <a:ext cx="2400" cy="2016"/>
              <a:chOff x="288" y="480"/>
              <a:chExt cx="2400" cy="2016"/>
            </a:xfrm>
          </p:grpSpPr>
          <p:sp>
            <p:nvSpPr>
              <p:cNvPr id="5129" name="Rectangle 17"/>
              <p:cNvSpPr/>
              <p:nvPr/>
            </p:nvSpPr>
            <p:spPr>
              <a:xfrm>
                <a:off x="288" y="480"/>
                <a:ext cx="2400" cy="201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5130" name="Group 18"/>
              <p:cNvGrpSpPr/>
              <p:nvPr/>
            </p:nvGrpSpPr>
            <p:grpSpPr>
              <a:xfrm>
                <a:off x="341" y="731"/>
                <a:ext cx="1195" cy="597"/>
                <a:chOff x="341" y="731"/>
                <a:chExt cx="1195" cy="597"/>
              </a:xfrm>
            </p:grpSpPr>
            <p:sp>
              <p:nvSpPr>
                <p:cNvPr id="5159" name="Line 19"/>
                <p:cNvSpPr/>
                <p:nvPr/>
              </p:nvSpPr>
              <p:spPr>
                <a:xfrm rot="1813361">
                  <a:off x="341" y="1040"/>
                  <a:ext cx="1195" cy="0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triangl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0" name="Line 20"/>
                <p:cNvSpPr/>
                <p:nvPr/>
              </p:nvSpPr>
              <p:spPr>
                <a:xfrm rot="1813361">
                  <a:off x="596" y="731"/>
                  <a:ext cx="0" cy="22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1" name="Line 21"/>
                <p:cNvSpPr/>
                <p:nvPr/>
              </p:nvSpPr>
              <p:spPr>
                <a:xfrm rot="1813361">
                  <a:off x="763" y="829"/>
                  <a:ext cx="0" cy="22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2" name="Line 22"/>
                <p:cNvSpPr/>
                <p:nvPr/>
              </p:nvSpPr>
              <p:spPr>
                <a:xfrm rot="1813361">
                  <a:off x="931" y="927"/>
                  <a:ext cx="0" cy="22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3" name="Line 23"/>
                <p:cNvSpPr/>
                <p:nvPr/>
              </p:nvSpPr>
              <p:spPr>
                <a:xfrm rot="1813361">
                  <a:off x="1099" y="1024"/>
                  <a:ext cx="0" cy="22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4" name="Line 24"/>
                <p:cNvSpPr/>
                <p:nvPr/>
              </p:nvSpPr>
              <p:spPr>
                <a:xfrm rot="1813361">
                  <a:off x="1296" y="1104"/>
                  <a:ext cx="0" cy="224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65" name="Oval 25"/>
                <p:cNvSpPr/>
                <p:nvPr/>
              </p:nvSpPr>
              <p:spPr>
                <a:xfrm rot="1813361">
                  <a:off x="480" y="767"/>
                  <a:ext cx="65" cy="5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66" name="Oval 26"/>
                <p:cNvSpPr/>
                <p:nvPr/>
              </p:nvSpPr>
              <p:spPr>
                <a:xfrm rot="1813361">
                  <a:off x="647" y="865"/>
                  <a:ext cx="65" cy="5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67" name="Oval 27"/>
                <p:cNvSpPr/>
                <p:nvPr/>
              </p:nvSpPr>
              <p:spPr>
                <a:xfrm rot="1813361">
                  <a:off x="815" y="962"/>
                  <a:ext cx="64" cy="5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68" name="Oval 28"/>
                <p:cNvSpPr/>
                <p:nvPr/>
              </p:nvSpPr>
              <p:spPr>
                <a:xfrm rot="1813361">
                  <a:off x="983" y="1059"/>
                  <a:ext cx="64" cy="5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69" name="Oval 29"/>
                <p:cNvSpPr/>
                <p:nvPr/>
              </p:nvSpPr>
              <p:spPr>
                <a:xfrm rot="1813361">
                  <a:off x="1149" y="1157"/>
                  <a:ext cx="65" cy="56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5131" name="Line 30"/>
              <p:cNvSpPr/>
              <p:nvPr/>
            </p:nvSpPr>
            <p:spPr>
              <a:xfrm rot="-1745951">
                <a:off x="1337" y="1041"/>
                <a:ext cx="1344" cy="4"/>
              </a:xfrm>
              <a:prstGeom prst="line">
                <a:avLst/>
              </a:prstGeom>
              <a:ln w="28575" cap="flat" cmpd="sng">
                <a:solidFill>
                  <a:srgbClr val="FF0000"/>
                </a:solidFill>
                <a:prstDash val="solid"/>
                <a:headEnd type="none" w="med" len="med"/>
                <a:tailEnd type="triangl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2" name="Oval 31"/>
              <p:cNvSpPr/>
              <p:nvPr/>
            </p:nvSpPr>
            <p:spPr>
              <a:xfrm rot="-1745951">
                <a:off x="1530" y="1254"/>
                <a:ext cx="64" cy="63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33" name="Oval 32"/>
              <p:cNvSpPr/>
              <p:nvPr/>
            </p:nvSpPr>
            <p:spPr>
              <a:xfrm rot="-1745951">
                <a:off x="1760" y="1116"/>
                <a:ext cx="64" cy="63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34" name="Oval 33"/>
              <p:cNvSpPr/>
              <p:nvPr/>
            </p:nvSpPr>
            <p:spPr>
              <a:xfrm rot="-1745951">
                <a:off x="1952" y="1020"/>
                <a:ext cx="64" cy="63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35" name="Oval 34"/>
              <p:cNvSpPr/>
              <p:nvPr/>
            </p:nvSpPr>
            <p:spPr>
              <a:xfrm rot="-1745951">
                <a:off x="2144" y="909"/>
                <a:ext cx="64" cy="63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5136" name="Oval 35"/>
              <p:cNvSpPr/>
              <p:nvPr/>
            </p:nvSpPr>
            <p:spPr>
              <a:xfrm rot="-1745951">
                <a:off x="2304" y="813"/>
                <a:ext cx="64" cy="63"/>
              </a:xfrm>
              <a:prstGeom prst="ellipse">
                <a:avLst/>
              </a:prstGeom>
              <a:solidFill>
                <a:srgbClr val="FF0000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aphicFrame>
            <p:nvGraphicFramePr>
              <p:cNvPr id="5137" name="Object 1"/>
              <p:cNvGraphicFramePr>
                <a:graphicFrameLocks noChangeAspect="1"/>
              </p:cNvGraphicFramePr>
              <p:nvPr/>
            </p:nvGraphicFramePr>
            <p:xfrm>
              <a:off x="1152" y="672"/>
              <a:ext cx="197" cy="4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349" r:id="rId11" imgW="110490" imgH="220980" progId="Equation.3">
                      <p:embed/>
                    </p:oleObj>
                  </mc:Choice>
                  <mc:Fallback>
                    <p:oleObj r:id="rId11" imgW="110490" imgH="220980" progId="Equation.3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12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152" y="672"/>
                            <a:ext cx="197" cy="4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8" name="Object 2"/>
              <p:cNvGraphicFramePr>
                <a:graphicFrameLocks noChangeAspect="1"/>
              </p:cNvGraphicFramePr>
              <p:nvPr/>
            </p:nvGraphicFramePr>
            <p:xfrm>
              <a:off x="1584" y="672"/>
              <a:ext cx="196" cy="4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350" r:id="rId13" imgW="110490" imgH="220980" progId="Equation.3">
                      <p:embed/>
                    </p:oleObj>
                  </mc:Choice>
                  <mc:Fallback>
                    <p:oleObj r:id="rId13" imgW="110490" imgH="220980" progId="Equation.3">
                      <p:embed/>
                      <p:pic>
                        <p:nvPicPr>
                          <p:cNvPr id="0" name="图片 3103"/>
                          <p:cNvPicPr/>
                          <p:nvPr/>
                        </p:nvPicPr>
                        <p:blipFill>
                          <a:blip r:embed="rId14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1584" y="672"/>
                            <a:ext cx="196" cy="40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39" name="Arc 38"/>
              <p:cNvSpPr/>
              <p:nvPr/>
            </p:nvSpPr>
            <p:spPr>
              <a:xfrm rot="9220608" flipH="1" flipV="1">
                <a:off x="1475" y="1007"/>
                <a:ext cx="207" cy="249"/>
              </a:xfrm>
              <a:custGeom>
                <a:avLst/>
                <a:gdLst>
                  <a:gd name="txL" fmla="*/ 0 w 24985"/>
                  <a:gd name="txT" fmla="*/ 0 h 21600"/>
                  <a:gd name="txR" fmla="*/ 24985 w 24985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4985" h="21600" fill="none">
                    <a:moveTo>
                      <a:pt x="-1" y="266"/>
                    </a:moveTo>
                    <a:cubicBezTo>
                      <a:pt x="1119" y="89"/>
                      <a:pt x="2251" y="-1"/>
                      <a:pt x="3385" y="0"/>
                    </a:cubicBezTo>
                    <a:cubicBezTo>
                      <a:pt x="15314" y="0"/>
                      <a:pt x="24985" y="9670"/>
                      <a:pt x="24985" y="21600"/>
                    </a:cubicBezTo>
                  </a:path>
                  <a:path w="24985" h="21600" stroke="0">
                    <a:moveTo>
                      <a:pt x="-1" y="266"/>
                    </a:moveTo>
                    <a:cubicBezTo>
                      <a:pt x="1119" y="89"/>
                      <a:pt x="2251" y="-1"/>
                      <a:pt x="3385" y="0"/>
                    </a:cubicBezTo>
                    <a:cubicBezTo>
                      <a:pt x="15314" y="0"/>
                      <a:pt x="24985" y="9670"/>
                      <a:pt x="24985" y="21600"/>
                    </a:cubicBezTo>
                    <a:lnTo>
                      <a:pt x="3385" y="21600"/>
                    </a:lnTo>
                    <a:lnTo>
                      <a:pt x="-1" y="266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33CC33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0" name="Line 39"/>
              <p:cNvSpPr/>
              <p:nvPr/>
            </p:nvSpPr>
            <p:spPr>
              <a:xfrm>
                <a:off x="1440" y="624"/>
                <a:ext cx="0" cy="163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dash"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141" name="Object 3"/>
              <p:cNvGraphicFramePr>
                <a:graphicFrameLocks noChangeAspect="1"/>
              </p:cNvGraphicFramePr>
              <p:nvPr/>
            </p:nvGraphicFramePr>
            <p:xfrm>
              <a:off x="2105" y="957"/>
              <a:ext cx="277" cy="3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351" r:id="rId15" imgW="152400" imgH="215265" progId="Equation.3">
                      <p:embed/>
                    </p:oleObj>
                  </mc:Choice>
                  <mc:Fallback>
                    <p:oleObj r:id="rId15" imgW="152400" imgH="215265" progId="Equation.3">
                      <p:embed/>
                      <p:pic>
                        <p:nvPicPr>
                          <p:cNvPr id="0" name="图片 3104"/>
                          <p:cNvPicPr/>
                          <p:nvPr/>
                        </p:nvPicPr>
                        <p:blipFill>
                          <a:blip r:embed="rId16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2105" y="957"/>
                            <a:ext cx="277" cy="38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142" name="Group 41"/>
              <p:cNvGrpSpPr/>
              <p:nvPr/>
            </p:nvGrpSpPr>
            <p:grpSpPr>
              <a:xfrm>
                <a:off x="1488" y="1295"/>
                <a:ext cx="470" cy="1152"/>
                <a:chOff x="1488" y="1295"/>
                <a:chExt cx="470" cy="1152"/>
              </a:xfrm>
            </p:grpSpPr>
            <p:sp>
              <p:nvSpPr>
                <p:cNvPr id="5151" name="Line 42"/>
                <p:cNvSpPr/>
                <p:nvPr/>
              </p:nvSpPr>
              <p:spPr>
                <a:xfrm rot="3581093" flipH="1">
                  <a:off x="1174" y="1863"/>
                  <a:ext cx="1152" cy="15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triangle" w="sm" len="lg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2" name="Line 43"/>
                <p:cNvSpPr/>
                <p:nvPr/>
              </p:nvSpPr>
              <p:spPr>
                <a:xfrm rot="3581093" flipV="1">
                  <a:off x="1584" y="1488"/>
                  <a:ext cx="0" cy="192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3" name="Line 44"/>
                <p:cNvSpPr/>
                <p:nvPr/>
              </p:nvSpPr>
              <p:spPr>
                <a:xfrm rot="3581093">
                  <a:off x="1855" y="1935"/>
                  <a:ext cx="18" cy="187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4" name="Oval 45"/>
                <p:cNvSpPr/>
                <p:nvPr/>
              </p:nvSpPr>
              <p:spPr>
                <a:xfrm rot="3581093">
                  <a:off x="1487" y="1449"/>
                  <a:ext cx="64" cy="63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55" name="Oval 46"/>
                <p:cNvSpPr/>
                <p:nvPr/>
              </p:nvSpPr>
              <p:spPr>
                <a:xfrm rot="3581093">
                  <a:off x="1698" y="1781"/>
                  <a:ext cx="64" cy="63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56" name="Oval 47"/>
                <p:cNvSpPr/>
                <p:nvPr/>
              </p:nvSpPr>
              <p:spPr>
                <a:xfrm rot="3581093">
                  <a:off x="1889" y="2097"/>
                  <a:ext cx="64" cy="63"/>
                </a:xfrm>
                <a:prstGeom prst="ellipse">
                  <a:avLst/>
                </a:prstGeom>
                <a:solidFill>
                  <a:srgbClr val="FF0000"/>
                </a:solidFill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57" name="Line 48"/>
                <p:cNvSpPr/>
                <p:nvPr/>
              </p:nvSpPr>
              <p:spPr>
                <a:xfrm rot="3581093">
                  <a:off x="1769" y="1817"/>
                  <a:ext cx="18" cy="187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58" name="Line 49"/>
                <p:cNvSpPr/>
                <p:nvPr/>
              </p:nvSpPr>
              <p:spPr>
                <a:xfrm rot="3581093">
                  <a:off x="1673" y="1625"/>
                  <a:ext cx="18" cy="187"/>
                </a:xfrm>
                <a:prstGeom prst="line">
                  <a:avLst/>
                </a:prstGeom>
                <a:ln w="2857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143" name="Group 50"/>
              <p:cNvGrpSpPr/>
              <p:nvPr/>
            </p:nvGrpSpPr>
            <p:grpSpPr>
              <a:xfrm>
                <a:off x="528" y="1344"/>
                <a:ext cx="1934" cy="1056"/>
                <a:chOff x="528" y="1344"/>
                <a:chExt cx="1934" cy="1056"/>
              </a:xfrm>
            </p:grpSpPr>
            <p:sp>
              <p:nvSpPr>
                <p:cNvPr id="5148" name="Rectangle 51"/>
                <p:cNvSpPr/>
                <p:nvPr/>
              </p:nvSpPr>
              <p:spPr>
                <a:xfrm>
                  <a:off x="528" y="1344"/>
                  <a:ext cx="1920" cy="1056"/>
                </a:xfrm>
                <a:prstGeom prst="rect">
                  <a:avLst/>
                </a:prstGeom>
                <a:solidFill>
                  <a:srgbClr val="C5FFFF">
                    <a:alpha val="50195"/>
                  </a:srgbClr>
                </a:solidFill>
                <a:ln w="19050" cap="flat" cmpd="sng">
                  <a:solidFill>
                    <a:schemeClr val="tx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149" name="Rectangle 52"/>
                <p:cNvSpPr/>
                <p:nvPr/>
              </p:nvSpPr>
              <p:spPr>
                <a:xfrm>
                  <a:off x="528" y="2064"/>
                  <a:ext cx="1008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/>
                  <a:r>
                    <a:rPr lang="zh-CN" altLang="en-US" sz="2800" b="1" dirty="0">
                      <a:solidFill>
                        <a:srgbClr val="000066"/>
                      </a:solidFill>
                      <a:latin typeface="Times New Roman" panose="02020603050405020304" pitchFamily="18" charset="0"/>
                    </a:rPr>
                    <a:t>玻璃</a:t>
                  </a:r>
                </a:p>
              </p:txBody>
            </p:sp>
            <p:graphicFrame>
              <p:nvGraphicFramePr>
                <p:cNvPr id="5150" name="Object 5"/>
                <p:cNvGraphicFramePr>
                  <a:graphicFrameLocks noChangeAspect="1"/>
                </p:cNvGraphicFramePr>
                <p:nvPr/>
              </p:nvGraphicFramePr>
              <p:xfrm>
                <a:off x="2153" y="1392"/>
                <a:ext cx="309" cy="3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5352" r:id="rId17" imgW="168275" imgH="215265" progId="Equation.3">
                        <p:embed/>
                      </p:oleObj>
                    </mc:Choice>
                    <mc:Fallback>
                      <p:oleObj r:id="rId17" imgW="168275" imgH="215265" progId="Equation.3">
                        <p:embed/>
                        <p:pic>
                          <p:nvPicPr>
                            <p:cNvPr id="0" name="图片 3107"/>
                            <p:cNvPicPr/>
                            <p:nvPr/>
                          </p:nvPicPr>
                          <p:blipFill>
                            <a:blip r:embed="rId18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3366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153" y="1392"/>
                              <a:ext cx="309" cy="38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5144" name="Arc 54"/>
              <p:cNvSpPr/>
              <p:nvPr/>
            </p:nvSpPr>
            <p:spPr>
              <a:xfrm rot="6572052" flipH="1" flipV="1">
                <a:off x="1186" y="976"/>
                <a:ext cx="182" cy="249"/>
              </a:xfrm>
              <a:custGeom>
                <a:avLst/>
                <a:gdLst>
                  <a:gd name="txL" fmla="*/ 0 w 21960"/>
                  <a:gd name="txT" fmla="*/ 0 h 21600"/>
                  <a:gd name="txR" fmla="*/ 21960 w 21960"/>
                  <a:gd name="txB" fmla="*/ 21600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960" h="21600" fill="none">
                    <a:moveTo>
                      <a:pt x="0" y="3"/>
                    </a:moveTo>
                    <a:cubicBezTo>
                      <a:pt x="119" y="1"/>
                      <a:pt x="239" y="-1"/>
                      <a:pt x="360" y="0"/>
                    </a:cubicBezTo>
                    <a:cubicBezTo>
                      <a:pt x="12289" y="0"/>
                      <a:pt x="21960" y="9670"/>
                      <a:pt x="21960" y="21600"/>
                    </a:cubicBezTo>
                  </a:path>
                  <a:path w="21960" h="21600" stroke="0">
                    <a:moveTo>
                      <a:pt x="0" y="3"/>
                    </a:moveTo>
                    <a:cubicBezTo>
                      <a:pt x="119" y="1"/>
                      <a:pt x="239" y="-1"/>
                      <a:pt x="360" y="0"/>
                    </a:cubicBezTo>
                    <a:cubicBezTo>
                      <a:pt x="12289" y="0"/>
                      <a:pt x="21960" y="9670"/>
                      <a:pt x="21960" y="21600"/>
                    </a:cubicBezTo>
                    <a:lnTo>
                      <a:pt x="360" y="21600"/>
                    </a:lnTo>
                    <a:lnTo>
                      <a:pt x="0" y="3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rgbClr val="FFCC66">
                    <a:alpha val="100000"/>
                  </a:srgbClr>
                </a:solidFill>
                <a:prstDash val="solid"/>
                <a:round/>
                <a:headEnd type="none" w="med" len="med"/>
                <a:tailEnd type="none" w="sm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145" name="Group 55"/>
              <p:cNvGrpSpPr/>
              <p:nvPr/>
            </p:nvGrpSpPr>
            <p:grpSpPr>
              <a:xfrm>
                <a:off x="1457" y="1584"/>
                <a:ext cx="223" cy="480"/>
                <a:chOff x="1457" y="1584"/>
                <a:chExt cx="223" cy="480"/>
              </a:xfrm>
            </p:grpSpPr>
            <p:sp>
              <p:nvSpPr>
                <p:cNvPr id="5146" name="Arc 56"/>
                <p:cNvSpPr/>
                <p:nvPr/>
              </p:nvSpPr>
              <p:spPr>
                <a:xfrm rot="-8332883" flipH="1">
                  <a:off x="1488" y="1584"/>
                  <a:ext cx="95" cy="191"/>
                </a:xfrm>
                <a:custGeom>
                  <a:avLst/>
                  <a:gdLst>
                    <a:gd name="txL" fmla="*/ 0 w 21403"/>
                    <a:gd name="txT" fmla="*/ 0 h 21600"/>
                    <a:gd name="txR" fmla="*/ 21403 w 21403"/>
                    <a:gd name="txB" fmla="*/ 21600 h 21600"/>
                  </a:gdLst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1403" h="21600" fill="none">
                      <a:moveTo>
                        <a:pt x="-1" y="0"/>
                      </a:moveTo>
                      <a:cubicBezTo>
                        <a:pt x="10805" y="0"/>
                        <a:pt x="19948" y="7984"/>
                        <a:pt x="21403" y="18690"/>
                      </a:cubicBezTo>
                    </a:path>
                    <a:path w="21403" h="21600" stroke="0">
                      <a:moveTo>
                        <a:pt x="-1" y="0"/>
                      </a:moveTo>
                      <a:cubicBezTo>
                        <a:pt x="10805" y="0"/>
                        <a:pt x="19948" y="7984"/>
                        <a:pt x="21403" y="1869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8575" cap="flat" cmpd="sng">
                  <a:solidFill>
                    <a:srgbClr val="FFCC66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sm" len="lg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147" name="Object 4"/>
                <p:cNvGraphicFramePr>
                  <a:graphicFrameLocks noChangeAspect="1"/>
                </p:cNvGraphicFramePr>
                <p:nvPr/>
              </p:nvGraphicFramePr>
              <p:xfrm>
                <a:off x="1457" y="1753"/>
                <a:ext cx="223" cy="31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5353" r:id="rId19" imgW="115570" imgH="163195" progId="Equation.3">
                        <p:embed/>
                      </p:oleObj>
                    </mc:Choice>
                    <mc:Fallback>
                      <p:oleObj r:id="rId19" imgW="115570" imgH="163195" progId="Equation.3">
                        <p:embed/>
                        <p:pic>
                          <p:nvPicPr>
                            <p:cNvPr id="0" name="图片 3108"/>
                            <p:cNvPicPr/>
                            <p:nvPr/>
                          </p:nvPicPr>
                          <p:blipFill>
                            <a:blip r:embed="rId20">
                              <a:clrChange>
                                <a:clrFrom>
                                  <a:srgbClr val="000000"/>
                                </a:clrFrom>
                                <a:clrTo>
                                  <a:srgbClr val="003366"/>
                                </a:clrTo>
                              </a:clrChange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57" y="1753"/>
                              <a:ext cx="223" cy="311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sp>
          <p:nvSpPr>
            <p:cNvPr id="5128" name="Rectangle 58"/>
            <p:cNvSpPr/>
            <p:nvPr/>
          </p:nvSpPr>
          <p:spPr>
            <a:xfrm>
              <a:off x="384" y="1056"/>
              <a:ext cx="72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800" b="1" dirty="0">
                  <a:solidFill>
                    <a:srgbClr val="003366"/>
                  </a:solidFill>
                  <a:latin typeface="Times New Roman" panose="02020603050405020304" pitchFamily="18" charset="0"/>
                </a:rPr>
                <a:t>空气</a:t>
              </a:r>
            </a:p>
          </p:txBody>
        </p:sp>
      </p:grpSp>
      <p:sp>
        <p:nvSpPr>
          <p:cNvPr id="43015" name="Text Box 1031"/>
          <p:cNvSpPr txBox="1"/>
          <p:nvPr>
            <p:custDataLst>
              <p:tags r:id="rId2"/>
            </p:custDataLst>
          </p:nvPr>
        </p:nvSpPr>
        <p:spPr>
          <a:xfrm>
            <a:off x="467360" y="4292600"/>
            <a:ext cx="50069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solidFill>
                  <a:srgbClr val="CC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反射光和折射光互相垂直 </a:t>
            </a:r>
            <a:r>
              <a:rPr lang="en-US" altLang="zh-CN" sz="24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8128" name="Object 0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4787900" y="5407660"/>
          <a:ext cx="3742055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54" r:id="rId21" imgW="2159635" imgH="457200" progId="Equation.3">
                  <p:embed/>
                </p:oleObj>
              </mc:Choice>
              <mc:Fallback>
                <p:oleObj r:id="rId21" imgW="2159635" imgH="4572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22">
                        <a:clrChange>
                          <a:clrFrom>
                            <a:srgbClr val="000000"/>
                          </a:clrFrom>
                          <a:clrTo>
                            <a:srgbClr val="0033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87900" y="5407660"/>
                        <a:ext cx="3742055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19" name="Group 100"/>
          <p:cNvGrpSpPr/>
          <p:nvPr/>
        </p:nvGrpSpPr>
        <p:grpSpPr>
          <a:xfrm>
            <a:off x="351790" y="4796473"/>
            <a:ext cx="8077200" cy="1023938"/>
            <a:chOff x="110" y="2661"/>
            <a:chExt cx="5088" cy="645"/>
          </a:xfrm>
        </p:grpSpPr>
        <p:grpSp>
          <p:nvGrpSpPr>
            <p:cNvPr id="9303" name="Group 99"/>
            <p:cNvGrpSpPr/>
            <p:nvPr/>
          </p:nvGrpSpPr>
          <p:grpSpPr>
            <a:xfrm>
              <a:off x="110" y="2690"/>
              <a:ext cx="5088" cy="616"/>
              <a:chOff x="110" y="2690"/>
              <a:chExt cx="5088" cy="616"/>
            </a:xfrm>
          </p:grpSpPr>
          <p:sp>
            <p:nvSpPr>
              <p:cNvPr id="9305" name="Text Box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10" y="2690"/>
                <a:ext cx="5088" cy="61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solidFill>
                      <a:srgbClr val="CC0000"/>
                    </a:solidFill>
                    <a:latin typeface="宋体" panose="02010600030101010101" pitchFamily="2" charset="-122"/>
                  </a:rPr>
                  <a:t>(</a:t>
                </a:r>
                <a:r>
                  <a:rPr lang="en-US" altLang="zh-CN" sz="2400" b="1" dirty="0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400" b="1" dirty="0">
                    <a:solidFill>
                      <a:srgbClr val="CC0000"/>
                    </a:solidFill>
                    <a:latin typeface="宋体" panose="02010600030101010101" pitchFamily="2" charset="-122"/>
                  </a:rPr>
                  <a:t>)</a:t>
                </a:r>
                <a:r>
                  <a:rPr lang="zh-CN" altLang="en-US" sz="24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根据光的</a:t>
                </a:r>
                <a:r>
                  <a:rPr lang="zh-CN" altLang="en-US" sz="2400" b="1" dirty="0">
                    <a:solidFill>
                      <a:srgbClr val="CC0000"/>
                    </a:solidFill>
                    <a:latin typeface="Times New Roman" panose="02020603050405020304" pitchFamily="18" charset="0"/>
                  </a:rPr>
                  <a:t>可逆性</a:t>
                </a:r>
                <a:r>
                  <a:rPr lang="zh-CN" altLang="en-US" sz="24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，当入射光以      角从      介质入射于界面时，此     角即为布儒斯特角 </a:t>
                </a:r>
                <a:r>
                  <a:rPr lang="en-US" altLang="zh-CN" sz="2400" b="1" dirty="0">
                    <a:solidFill>
                      <a:srgbClr val="003366"/>
                    </a:solidFill>
                    <a:latin typeface="Times New Roman" panose="02020603050405020304" pitchFamily="18" charset="0"/>
                  </a:rPr>
                  <a:t>.</a:t>
                </a:r>
              </a:p>
            </p:txBody>
          </p:sp>
          <p:graphicFrame>
            <p:nvGraphicFramePr>
              <p:cNvPr id="9306" name="Object 12"/>
              <p:cNvGraphicFramePr>
                <a:graphicFrameLocks noChangeAspect="1"/>
              </p:cNvGraphicFramePr>
              <p:nvPr>
                <p:custDataLst>
                  <p:tags r:id="rId6"/>
                </p:custDataLst>
              </p:nvPr>
            </p:nvGraphicFramePr>
            <p:xfrm>
              <a:off x="974" y="3046"/>
              <a:ext cx="185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355" r:id="rId23" imgW="115570" imgH="163195" progId="Equation.3">
                      <p:embed/>
                    </p:oleObj>
                  </mc:Choice>
                  <mc:Fallback>
                    <p:oleObj r:id="rId23" imgW="115570" imgH="163195" progId="Equation.3">
                      <p:embed/>
                      <p:pic>
                        <p:nvPicPr>
                          <p:cNvPr id="0" name="图片 3147"/>
                          <p:cNvPicPr/>
                          <p:nvPr/>
                        </p:nvPicPr>
                        <p:blipFill>
                          <a:blip r:embed="rId24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974" y="3046"/>
                            <a:ext cx="185" cy="26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307" name="Object 13"/>
              <p:cNvGraphicFramePr>
                <a:graphicFrameLocks noChangeAspect="1"/>
              </p:cNvGraphicFramePr>
              <p:nvPr>
                <p:custDataLst>
                  <p:tags r:id="rId7"/>
                </p:custDataLst>
              </p:nvPr>
            </p:nvGraphicFramePr>
            <p:xfrm>
              <a:off x="3086" y="2707"/>
              <a:ext cx="212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5356" r:id="rId25" imgW="83820" imgH="110490" progId="Equation.3">
                      <p:embed/>
                    </p:oleObj>
                  </mc:Choice>
                  <mc:Fallback>
                    <p:oleObj r:id="rId25" imgW="83820" imgH="110490" progId="Equation.3">
                      <p:embed/>
                      <p:pic>
                        <p:nvPicPr>
                          <p:cNvPr id="0" name="图片 3137"/>
                          <p:cNvPicPr/>
                          <p:nvPr/>
                        </p:nvPicPr>
                        <p:blipFill>
                          <a:blip r:embed="rId26">
                            <a:clrChange>
                              <a:clrFrom>
                                <a:srgbClr val="000000"/>
                              </a:clrFrom>
                              <a:clrTo>
                                <a:srgbClr val="003366"/>
                              </a:clrTo>
                            </a:clrChange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3086" y="2707"/>
                            <a:ext cx="212" cy="28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304" name="Object 11"/>
            <p:cNvGraphicFramePr>
              <a:graphicFrameLocks noChangeAspect="1"/>
            </p:cNvGraphicFramePr>
            <p:nvPr>
              <p:custDataLst>
                <p:tags r:id="rId4"/>
              </p:custDataLst>
            </p:nvPr>
          </p:nvGraphicFramePr>
          <p:xfrm>
            <a:off x="3714" y="2661"/>
            <a:ext cx="283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57" r:id="rId27" imgW="165100" imgH="215900" progId="Equation.3">
                    <p:embed/>
                  </p:oleObj>
                </mc:Choice>
                <mc:Fallback>
                  <p:oleObj r:id="rId27" imgW="165100" imgH="2159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714" y="2661"/>
                          <a:ext cx="283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4301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djNWJlZTU1Zjc3ZWMxNjIwOGE1NTg5MDQwYWU3MW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4_6简谐运动的合成">
  <a:themeElements>
    <a:clrScheme name="">
      <a:dk1>
        <a:srgbClr val="000000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0000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14_6简谐运动的合成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4_6简谐运动的合成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4_6简谐运动的合成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6简谐运动的合成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4_6简谐运动的合成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C:\My Documents\新课件\14(已改）\14_6简谐运动的合成.ppt</Template>
  <TotalTime>211</TotalTime>
  <Words>3394</Words>
  <Application>Microsoft Office PowerPoint</Application>
  <PresentationFormat>全屏显示(4:3)</PresentationFormat>
  <Paragraphs>632</Paragraphs>
  <Slides>83</Slides>
  <Notes>0</Notes>
  <HiddenSlides>0</HiddenSlides>
  <MMClips>0</MMClips>
  <ScaleCrop>false</ScaleCrop>
  <HeadingPairs>
    <vt:vector size="10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83</vt:i4>
      </vt:variant>
      <vt:variant>
        <vt:lpstr>自定义放映</vt:lpstr>
      </vt:variant>
      <vt:variant>
        <vt:i4>1</vt:i4>
      </vt:variant>
    </vt:vector>
  </HeadingPairs>
  <TitlesOfParts>
    <vt:vector size="106" baseType="lpstr">
      <vt:lpstr>黑体</vt:lpstr>
      <vt:lpstr>华文细黑</vt:lpstr>
      <vt:lpstr>华文中宋</vt:lpstr>
      <vt:lpstr>楷体_GB2312</vt:lpstr>
      <vt:lpstr>隶书</vt:lpstr>
      <vt:lpstr>宋体</vt:lpstr>
      <vt:lpstr>Arial</vt:lpstr>
      <vt:lpstr>Bookman Old Style</vt:lpstr>
      <vt:lpstr>Cambria Math</vt:lpstr>
      <vt:lpstr>Century Schoolbook</vt:lpstr>
      <vt:lpstr>Garamond</vt:lpstr>
      <vt:lpstr>Symbol</vt:lpstr>
      <vt:lpstr>Times New Roman</vt:lpstr>
      <vt:lpstr>Verdana</vt:lpstr>
      <vt:lpstr>Webdings</vt:lpstr>
      <vt:lpstr>Wingdings</vt:lpstr>
      <vt:lpstr>Wingdings 3</vt:lpstr>
      <vt:lpstr>14_6简谐运动的合成</vt:lpstr>
      <vt:lpstr>Microsoft 公式 3.0</vt:lpstr>
      <vt:lpstr>Equation.DSMT4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双缝干涉条纹的特点：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 1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9-1简谐运动.ppt</dc:title>
  <dc:creator/>
  <cp:lastModifiedBy>szu</cp:lastModifiedBy>
  <cp:revision>232</cp:revision>
  <dcterms:created xsi:type="dcterms:W3CDTF">2000-08-14T12:58:00Z</dcterms:created>
  <dcterms:modified xsi:type="dcterms:W3CDTF">2023-12-29T01:44:58Z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E7F735851B5E4331AD7864673A4078A3_13</vt:lpwstr>
  </property>
  <property fmtid="{D5CDD505-2E9C-101B-9397-08002B2CF9AE}" pid="3" name="KSOProductBuildVer">
    <vt:lpwstr>2052-12.1.0.16120</vt:lpwstr>
  </property>
</Properties>
</file>