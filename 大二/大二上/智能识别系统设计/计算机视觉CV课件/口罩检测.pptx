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61" r:id="rId3"/>
    <p:sldId id="265" r:id="rId4"/>
    <p:sldId id="4386" r:id="rId5"/>
    <p:sldId id="4544" r:id="rId6"/>
    <p:sldId id="4690" r:id="rId7"/>
    <p:sldId id="4660" r:id="rId8"/>
    <p:sldId id="4618" r:id="rId9"/>
    <p:sldId id="4693" r:id="rId10"/>
    <p:sldId id="4694" r:id="rId11"/>
    <p:sldId id="4696" r:id="rId12"/>
    <p:sldId id="4771" r:id="rId13"/>
    <p:sldId id="4620" r:id="rId14"/>
    <p:sldId id="4734" r:id="rId15"/>
    <p:sldId id="4815" r:id="rId16"/>
    <p:sldId id="4619" r:id="rId17"/>
    <p:sldId id="4816" r:id="rId18"/>
    <p:sldId id="4661" r:id="rId19"/>
    <p:sldId id="4692" r:id="rId20"/>
    <p:sldId id="4709" r:id="rId21"/>
    <p:sldId id="4710" r:id="rId22"/>
    <p:sldId id="4711" r:id="rId23"/>
    <p:sldId id="4774" r:id="rId24"/>
    <p:sldId id="4712" r:id="rId25"/>
    <p:sldId id="4713" r:id="rId26"/>
    <p:sldId id="4775" r:id="rId27"/>
    <p:sldId id="4773" r:id="rId28"/>
    <p:sldId id="4858" r:id="rId29"/>
    <p:sldId id="4714" r:id="rId30"/>
    <p:sldId id="4715" r:id="rId31"/>
    <p:sldId id="4716" r:id="rId33"/>
    <p:sldId id="4717" r:id="rId34"/>
    <p:sldId id="4718" r:id="rId35"/>
    <p:sldId id="4719" r:id="rId36"/>
    <p:sldId id="4720" r:id="rId37"/>
    <p:sldId id="4772" r:id="rId38"/>
    <p:sldId id="4662" r:id="rId39"/>
    <p:sldId id="4631" r:id="rId40"/>
    <p:sldId id="4725" r:id="rId41"/>
    <p:sldId id="4724" r:id="rId42"/>
    <p:sldId id="4721" r:id="rId43"/>
    <p:sldId id="4723" r:id="rId44"/>
    <p:sldId id="4726" r:id="rId45"/>
    <p:sldId id="4727" r:id="rId46"/>
    <p:sldId id="4728" r:id="rId47"/>
    <p:sldId id="4729" r:id="rId48"/>
    <p:sldId id="4730" r:id="rId49"/>
    <p:sldId id="4733" r:id="rId50"/>
    <p:sldId id="4860" r:id="rId51"/>
    <p:sldId id="4632" r:id="rId52"/>
    <p:sldId id="4634" r:id="rId53"/>
    <p:sldId id="4635" r:id="rId54"/>
    <p:sldId id="4636" r:id="rId55"/>
    <p:sldId id="4658" r:id="rId56"/>
    <p:sldId id="4731" r:id="rId57"/>
    <p:sldId id="4777" r:id="rId58"/>
    <p:sldId id="4732" r:id="rId59"/>
    <p:sldId id="4776" r:id="rId60"/>
    <p:sldId id="4859" r:id="rId61"/>
    <p:sldId id="262" r:id="rId62"/>
  </p:sldIdLst>
  <p:sldSz cx="9144000" cy="5143500" type="screen16x9"/>
  <p:notesSz cx="6858000" cy="9144000"/>
  <p:defaultTextStyle>
    <a:defPPr>
      <a:defRPr lang="zh-CN"/>
    </a:defPPr>
    <a:lvl1pPr marL="0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1pPr>
    <a:lvl2pPr marL="347980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2pPr>
    <a:lvl3pPr marL="695960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3pPr>
    <a:lvl4pPr marL="1044575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4pPr>
    <a:lvl5pPr marL="1392555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5pPr>
    <a:lvl6pPr marL="1740535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6pPr>
    <a:lvl7pPr marL="2088515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7pPr>
    <a:lvl8pPr marL="2436495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8pPr>
    <a:lvl9pPr marL="2785110" algn="l" defTabSz="695960" rtl="0" eaLnBrk="1" latinLnBrk="0" hangingPunct="1">
      <a:defRPr sz="137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ffice2016mac02389" initials="o" lastIdx="1" clrIdx="0"/>
  <p:cmAuthor id="2" name="Mary Feil-Jacobs" initials="M" lastIdx="43" clrIdx="1"/>
  <p:cmAuthor id="3" name="Monica Lueder" initials="M" lastIdx="2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  <a:srgbClr val="01C8DD"/>
    <a:srgbClr val="4472C4"/>
    <a:srgbClr val="1AA3AA"/>
    <a:srgbClr val="D4EEEF"/>
    <a:srgbClr val="3498DB"/>
    <a:srgbClr val="FFC000"/>
    <a:srgbClr val="ED7D31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68"/>
    <p:restoredTop sz="94627"/>
  </p:normalViewPr>
  <p:slideViewPr>
    <p:cSldViewPr snapToGrid="0" snapToObjects="1">
      <p:cViewPr>
        <p:scale>
          <a:sx n="151" d="100"/>
          <a:sy n="151" d="100"/>
        </p:scale>
        <p:origin x="256" y="408"/>
      </p:cViewPr>
      <p:guideLst>
        <p:guide pos="322"/>
        <p:guide pos="3130"/>
        <p:guide pos="401"/>
        <p:guide pos="4787"/>
        <p:guide orient="horz" pos="819"/>
        <p:guide pos="5204"/>
        <p:guide pos="1158"/>
        <p:guide orient="horz" pos="2424"/>
        <p:guide orient="horz" pos="207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6" Type="http://schemas.openxmlformats.org/officeDocument/2006/relationships/commentAuthors" Target="commentAuthors.xml"/><Relationship Id="rId65" Type="http://schemas.openxmlformats.org/officeDocument/2006/relationships/tableStyles" Target="tableStyles.xml"/><Relationship Id="rId64" Type="http://schemas.openxmlformats.org/officeDocument/2006/relationships/viewProps" Target="viewProps.xml"/><Relationship Id="rId63" Type="http://schemas.openxmlformats.org/officeDocument/2006/relationships/presProps" Target="presProps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268 972,'0'7,"0"-4,0 0,0 2,1-1,0 4,0-5,0 0,3-5,0 0,0-3,-1 3,-1-3,1 0,-2 1,0 1,0 0,-1 0,1 0,-1 7,-2 2,1 0,0 1,1-2,0 3,0 4,0-5,0 3,0-3,0-2,0 2,-2 1,0-5,-1 1,1-1,-4-1,3 0,-1 0,-1-2,2 0,1-4,1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1473 332,'5'6,"0"0,1 3,-3-4,1 0,-2 1,2 0,-3-3,0 2,-1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1511 349,'-3'1,"-1"2,-1 1,-1 1,3-1,0-1,-1 0,1 0,0 0,1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1370 288,'4'0,"-1"0,2 0,-2 0,0 0,1 0,-1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1389 282,'-1'5,"1"-2,0 2,0-2,0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446 1007,'7'-4,"-3"3,-1-1,2 1,-1 0,-1 1,1 0,0 0,1 0,0-1,0 1,0 0,-2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487 975,'-2'9,"2"-4,-1 4,1-1,0-4,0 1,0 0,0-2,0 1,0-1,0 0,1-7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243 205,'-3'1,"0"1,0 0,0 2,2 0,0-1,1 0,-2 1,2 0,-1 1,1-2,0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244 225,'14'2,"-9"-1,1 0,-1-1,0 0,0 0,-2 0,2 0,-2 0,-6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310 236,'1'4,"-1"-1,0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340 221,'3'0,"4"1,-2-1,0 0,0 0,2 0,-2 0,-2 0,0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4:47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392 205,'3'4,"-1"0,-1-1,1 0,-1 1,0-1,-1 1,0 1,0 0,-2-1,0-1,0 0,-1-1,-1-1,1-1,-1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0-09-09T16:25:3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1033 891,'0'-6,"0"1,0-7,0 2,1 0,-1-3,2 1,-2 0,0 2,0 0,0 3,0-1,0 4,0-1,0 2,0-1,4 2,1 4,-2 0,2 0,-1-1,1-1,1 0,0 0,-1 0,1 0,1 0,-2 0,-2 0,2 0,-2 0,2 0,-1 0,-1 0,0 0,1-1,-1 1,2 0,-2 0,0 0,1 0,1 0,-2 0,2 0,-2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976313" y="546100"/>
            <a:ext cx="7126287" cy="4144963"/>
            <a:chOff x="976313" y="546100"/>
            <a:chExt cx="7126287" cy="4144963"/>
          </a:xfrm>
        </p:grpSpPr>
        <p:pic>
          <p:nvPicPr>
            <p:cNvPr id="9" name="Picture 3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6088" y="641350"/>
              <a:ext cx="3127375" cy="3440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" name="Picture 4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9638" y="1065213"/>
              <a:ext cx="2200275" cy="2454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椭圆 10"/>
            <p:cNvSpPr/>
            <p:nvPr userDrawn="1"/>
          </p:nvSpPr>
          <p:spPr bwMode="auto">
            <a:xfrm>
              <a:off x="6381750" y="1384300"/>
              <a:ext cx="463550" cy="46355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2" name="椭圆 11"/>
            <p:cNvSpPr/>
            <p:nvPr userDrawn="1"/>
          </p:nvSpPr>
          <p:spPr bwMode="auto">
            <a:xfrm>
              <a:off x="2451100" y="1749425"/>
              <a:ext cx="184150" cy="184150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3" name="椭圆 10"/>
            <p:cNvSpPr>
              <a:spLocks noChangeArrowheads="1"/>
            </p:cNvSpPr>
            <p:nvPr userDrawn="1"/>
          </p:nvSpPr>
          <p:spPr bwMode="auto">
            <a:xfrm>
              <a:off x="5240338" y="3937000"/>
              <a:ext cx="219075" cy="219075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14" name="椭圆 13"/>
            <p:cNvSpPr/>
            <p:nvPr userDrawn="1"/>
          </p:nvSpPr>
          <p:spPr bwMode="auto">
            <a:xfrm>
              <a:off x="3265488" y="1939925"/>
              <a:ext cx="128587" cy="130175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15" name="图片 17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2338" y="1581150"/>
              <a:ext cx="2174875" cy="595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5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7163" y="1460500"/>
              <a:ext cx="212725" cy="290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7" name="组合 43"/>
            <p:cNvGrpSpPr/>
            <p:nvPr userDrawn="1"/>
          </p:nvGrpSpPr>
          <p:grpSpPr bwMode="auto">
            <a:xfrm>
              <a:off x="6100763" y="1751013"/>
              <a:ext cx="130175" cy="128587"/>
              <a:chOff x="6101548" y="1750326"/>
              <a:chExt cx="129654" cy="129654"/>
            </a:xfrm>
          </p:grpSpPr>
          <p:sp>
            <p:nvSpPr>
              <p:cNvPr id="50" name="椭圆 49"/>
              <p:cNvSpPr/>
              <p:nvPr/>
            </p:nvSpPr>
            <p:spPr bwMode="auto">
              <a:xfrm>
                <a:off x="6101548" y="1750326"/>
                <a:ext cx="129654" cy="129654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8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51" name="Picture 6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25394" y="1772988"/>
                <a:ext cx="84329" cy="84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8" name="Picture 7"/>
            <p:cNvPicPr>
              <a:picLocks noChangeAspect="1" noChangeArrowheads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5900" y="3994150"/>
              <a:ext cx="117475" cy="1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9" name="组合 41"/>
            <p:cNvGrpSpPr/>
            <p:nvPr userDrawn="1"/>
          </p:nvGrpSpPr>
          <p:grpSpPr bwMode="auto">
            <a:xfrm>
              <a:off x="3040063" y="546100"/>
              <a:ext cx="225425" cy="225425"/>
              <a:chOff x="3039900" y="545911"/>
              <a:chExt cx="225188" cy="225188"/>
            </a:xfrm>
          </p:grpSpPr>
          <p:sp>
            <p:nvSpPr>
              <p:cNvPr id="48" name="椭圆 47"/>
              <p:cNvSpPr/>
              <p:nvPr/>
            </p:nvSpPr>
            <p:spPr bwMode="auto">
              <a:xfrm>
                <a:off x="3039900" y="545911"/>
                <a:ext cx="225188" cy="22518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6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49" name="Picture 8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80775" y="600432"/>
                <a:ext cx="143438" cy="1100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20" name="组合 37"/>
            <p:cNvGrpSpPr/>
            <p:nvPr userDrawn="1"/>
          </p:nvGrpSpPr>
          <p:grpSpPr bwMode="auto">
            <a:xfrm>
              <a:off x="2586038" y="3022600"/>
              <a:ext cx="185737" cy="185738"/>
              <a:chOff x="2586251" y="3022980"/>
              <a:chExt cx="88710" cy="88710"/>
            </a:xfrm>
            <a:solidFill>
              <a:srgbClr val="C00000"/>
            </a:solidFill>
          </p:grpSpPr>
          <p:sp>
            <p:nvSpPr>
              <p:cNvPr id="46" name="椭圆 9"/>
              <p:cNvSpPr>
                <a:spLocks noChangeArrowheads="1"/>
              </p:cNvSpPr>
              <p:nvPr/>
            </p:nvSpPr>
            <p:spPr bwMode="auto">
              <a:xfrm>
                <a:off x="2586251" y="3022980"/>
                <a:ext cx="88710" cy="8871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47" name="Picture 10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1596" y="3041493"/>
                <a:ext cx="45720" cy="51684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21" name="Picture 11"/>
            <p:cNvPicPr>
              <a:picLocks noChangeAspect="1" noChangeArrowheads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4063" y="1974850"/>
              <a:ext cx="71437" cy="777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" name="椭圆 21"/>
            <p:cNvSpPr/>
            <p:nvPr userDrawn="1"/>
          </p:nvSpPr>
          <p:spPr bwMode="auto">
            <a:xfrm>
              <a:off x="7113588" y="2630488"/>
              <a:ext cx="250825" cy="24923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6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</a:endParaRPr>
            </a:p>
          </p:txBody>
        </p:sp>
        <p:pic>
          <p:nvPicPr>
            <p:cNvPr id="23" name="Picture 15"/>
            <p:cNvPicPr>
              <a:picLocks noChangeAspect="1" noChangeArrowheads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75500" y="2690813"/>
              <a:ext cx="133350" cy="1285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4" name="组合 46"/>
            <p:cNvGrpSpPr/>
            <p:nvPr userDrawn="1"/>
          </p:nvGrpSpPr>
          <p:grpSpPr bwMode="auto">
            <a:xfrm>
              <a:off x="2327275" y="3386138"/>
              <a:ext cx="258763" cy="258762"/>
              <a:chOff x="1798978" y="3519004"/>
              <a:chExt cx="259307" cy="259307"/>
            </a:xfrm>
          </p:grpSpPr>
          <p:sp>
            <p:nvSpPr>
              <p:cNvPr id="44" name="椭圆 43"/>
              <p:cNvSpPr/>
              <p:nvPr/>
            </p:nvSpPr>
            <p:spPr bwMode="auto">
              <a:xfrm>
                <a:off x="1798978" y="3519004"/>
                <a:ext cx="259307" cy="259307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73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45" name="Picture 2"/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039" y="3616294"/>
                <a:ext cx="173184" cy="8598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25" name="组合 38"/>
            <p:cNvGrpSpPr/>
            <p:nvPr userDrawn="1"/>
          </p:nvGrpSpPr>
          <p:grpSpPr bwMode="auto">
            <a:xfrm>
              <a:off x="976313" y="1046163"/>
              <a:ext cx="300037" cy="300037"/>
              <a:chOff x="748396" y="764271"/>
              <a:chExt cx="300782" cy="300782"/>
            </a:xfrm>
          </p:grpSpPr>
          <p:sp>
            <p:nvSpPr>
              <p:cNvPr id="42" name="椭圆 41"/>
              <p:cNvSpPr/>
              <p:nvPr/>
            </p:nvSpPr>
            <p:spPr bwMode="auto">
              <a:xfrm>
                <a:off x="748396" y="764271"/>
                <a:ext cx="300782" cy="30078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4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43" name="Picture 4"/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7106" y="856341"/>
                <a:ext cx="203362" cy="1166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26" name="组合 42"/>
            <p:cNvGrpSpPr/>
            <p:nvPr userDrawn="1"/>
          </p:nvGrpSpPr>
          <p:grpSpPr bwMode="auto">
            <a:xfrm>
              <a:off x="1763713" y="4391025"/>
              <a:ext cx="300037" cy="300038"/>
              <a:chOff x="1365228" y="4292790"/>
              <a:chExt cx="300782" cy="300782"/>
            </a:xfrm>
          </p:grpSpPr>
          <p:sp>
            <p:nvSpPr>
              <p:cNvPr id="40" name="椭圆 39"/>
              <p:cNvSpPr/>
              <p:nvPr/>
            </p:nvSpPr>
            <p:spPr bwMode="auto">
              <a:xfrm>
                <a:off x="1365228" y="4292790"/>
                <a:ext cx="300782" cy="30078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7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41" name="Picture 5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7391" y="4364115"/>
                <a:ext cx="196455" cy="1581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27" name="组合 1"/>
            <p:cNvGrpSpPr/>
            <p:nvPr userDrawn="1"/>
          </p:nvGrpSpPr>
          <p:grpSpPr bwMode="auto">
            <a:xfrm>
              <a:off x="1169988" y="2619375"/>
              <a:ext cx="300037" cy="300038"/>
              <a:chOff x="1169908" y="2618983"/>
              <a:chExt cx="300782" cy="300782"/>
            </a:xfrm>
          </p:grpSpPr>
          <p:sp>
            <p:nvSpPr>
              <p:cNvPr id="38" name="椭圆 37"/>
              <p:cNvSpPr/>
              <p:nvPr/>
            </p:nvSpPr>
            <p:spPr bwMode="auto">
              <a:xfrm>
                <a:off x="1169908" y="2618983"/>
                <a:ext cx="300782" cy="30078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39" name="Picture 6"/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14531" y="2690308"/>
                <a:ext cx="211536" cy="1811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28" name="组合 49"/>
            <p:cNvGrpSpPr/>
            <p:nvPr userDrawn="1"/>
          </p:nvGrpSpPr>
          <p:grpSpPr bwMode="auto">
            <a:xfrm>
              <a:off x="7781925" y="4046538"/>
              <a:ext cx="320675" cy="320675"/>
              <a:chOff x="7874758" y="4418464"/>
              <a:chExt cx="320722" cy="320722"/>
            </a:xfrm>
          </p:grpSpPr>
          <p:sp>
            <p:nvSpPr>
              <p:cNvPr id="36" name="椭圆 35"/>
              <p:cNvSpPr/>
              <p:nvPr/>
            </p:nvSpPr>
            <p:spPr bwMode="auto">
              <a:xfrm>
                <a:off x="7874758" y="4418464"/>
                <a:ext cx="320722" cy="320722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7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37" name="Picture 7"/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16542" y="4486356"/>
                <a:ext cx="237154" cy="1849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29" name="Picture 9"/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675" y="1773238"/>
              <a:ext cx="127000" cy="1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30" name="组合 45"/>
            <p:cNvGrpSpPr/>
            <p:nvPr userDrawn="1"/>
          </p:nvGrpSpPr>
          <p:grpSpPr bwMode="auto">
            <a:xfrm>
              <a:off x="6613525" y="3433763"/>
              <a:ext cx="258763" cy="258762"/>
              <a:chOff x="8470946" y="4206098"/>
              <a:chExt cx="259071" cy="259071"/>
            </a:xfrm>
          </p:grpSpPr>
          <p:sp>
            <p:nvSpPr>
              <p:cNvPr id="34" name="椭圆 33"/>
              <p:cNvSpPr/>
              <p:nvPr/>
            </p:nvSpPr>
            <p:spPr bwMode="auto">
              <a:xfrm>
                <a:off x="8470946" y="4206098"/>
                <a:ext cx="259071" cy="259071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23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35" name="Picture 10"/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30841" y="4263524"/>
                <a:ext cx="145353" cy="144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31" name="组合 44"/>
            <p:cNvGrpSpPr/>
            <p:nvPr userDrawn="1"/>
          </p:nvGrpSpPr>
          <p:grpSpPr bwMode="auto">
            <a:xfrm>
              <a:off x="7308850" y="912813"/>
              <a:ext cx="322263" cy="322262"/>
              <a:chOff x="7308304" y="912172"/>
              <a:chExt cx="323068" cy="323068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7308304" y="912172"/>
                <a:ext cx="323068" cy="323068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  <a:alpha val="31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  <a:defRPr/>
                </a:pPr>
                <a:endParaRPr lang="zh-CN" altLang="en-US">
                  <a:latin typeface="+mn-ea"/>
                  <a:ea typeface="+mn-ea"/>
                </a:endParaRPr>
              </a:p>
            </p:txBody>
          </p:sp>
          <p:pic>
            <p:nvPicPr>
              <p:cNvPr id="33" name="Picture 11"/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8238" y="989568"/>
                <a:ext cx="203200" cy="1682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4"/>
            <a:ext cx="6858000" cy="2016125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004457"/>
            <a:ext cx="6858000" cy="703385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0F8F-4E1E-ED4E-893F-DC034FAFF654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768C9-4B7F-1440-B58A-1973EF2CC51E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79838" y="1450975"/>
            <a:ext cx="4735512" cy="2381250"/>
          </a:xfrm>
        </p:spPr>
        <p:txBody>
          <a:bodyPr>
            <a:normAutofit/>
          </a:bodyPr>
          <a:lstStyle>
            <a:lvl1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 sz="1400" b="0" i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  <p:cxnSp>
        <p:nvCxnSpPr>
          <p:cNvPr id="7" name="直接连接符 2"/>
          <p:cNvCxnSpPr/>
          <p:nvPr userDrawn="1"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 userDrawn="1"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椭圆 8"/>
          <p:cNvSpPr/>
          <p:nvPr userDrawn="1"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1042988" y="1924050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占位符 1"/>
          <p:cNvSpPr txBox="1">
            <a:spLocks noChangeArrowheads="1"/>
          </p:cNvSpPr>
          <p:nvPr userDrawn="1"/>
        </p:nvSpPr>
        <p:spPr bwMode="auto">
          <a:xfrm>
            <a:off x="1258888" y="2573338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331596" y="130629"/>
            <a:ext cx="411982" cy="462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492000" y="1333500"/>
            <a:ext cx="4991100" cy="2498725"/>
          </a:xfrm>
        </p:spPr>
        <p:txBody>
          <a:bodyPr>
            <a:normAutofit/>
          </a:bodyPr>
          <a:lstStyle>
            <a:lvl1pPr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 sz="1400" b="0" i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331596" y="130629"/>
            <a:ext cx="411982" cy="4622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MH_Others_1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en-US" altLang="zh-CN" sz="36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MH_Others_2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zh-CN" altLang="en-US" sz="4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MH_Others_3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400" b="1" dirty="0">
              <a:ln w="3175">
                <a:solidFill>
                  <a:srgbClr val="FFFFFF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838" y="1296000"/>
            <a:ext cx="4406400" cy="338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79838" y="1641601"/>
            <a:ext cx="4735512" cy="2076290"/>
          </a:xfrm>
        </p:spPr>
        <p:txBody>
          <a:bodyPr>
            <a:normAutofit/>
          </a:bodyPr>
          <a:lstStyle>
            <a:lvl1pPr marL="400050" indent="-40005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 sz="105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  <p:sp>
        <p:nvSpPr>
          <p:cNvPr id="8" name="Title 1"/>
          <p:cNvSpPr txBox="1"/>
          <p:nvPr userDrawn="1"/>
        </p:nvSpPr>
        <p:spPr>
          <a:xfrm>
            <a:off x="628650" y="0"/>
            <a:ext cx="3481126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思考</a:t>
            </a:r>
            <a:endParaRPr 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22225" y="1511300"/>
            <a:ext cx="3829050" cy="1552575"/>
            <a:chOff x="22225" y="1511300"/>
            <a:chExt cx="3829050" cy="1552575"/>
          </a:xfrm>
        </p:grpSpPr>
        <p:sp>
          <p:nvSpPr>
            <p:cNvPr id="11" name="矩形 10"/>
            <p:cNvSpPr/>
            <p:nvPr userDrawn="1"/>
          </p:nvSpPr>
          <p:spPr>
            <a:xfrm rot="2700000">
              <a:off x="1363663" y="1519238"/>
              <a:ext cx="1544637" cy="1544637"/>
            </a:xfrm>
            <a:prstGeom prst="rect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/>
            <p:cNvSpPr/>
            <p:nvPr userDrawn="1"/>
          </p:nvSpPr>
          <p:spPr>
            <a:xfrm rot="2700000">
              <a:off x="1147763" y="1511300"/>
              <a:ext cx="1544638" cy="1544637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标题占位符 1"/>
            <p:cNvSpPr txBox="1">
              <a:spLocks noChangeArrowheads="1"/>
            </p:cNvSpPr>
            <p:nvPr userDrawn="1"/>
          </p:nvSpPr>
          <p:spPr bwMode="auto">
            <a:xfrm>
              <a:off x="22225" y="1924050"/>
              <a:ext cx="3829050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>
                <a:defRPr/>
              </a:pPr>
              <a:r>
                <a:rPr lang="zh-CN" altLang="en-US" sz="36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</a:t>
              </a:r>
              <a:endParaRPr lang="zh-TW" altLang="zh-CN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提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838" y="1296000"/>
            <a:ext cx="4406400" cy="338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79838" y="1641601"/>
            <a:ext cx="4735512" cy="2076290"/>
          </a:xfrm>
        </p:spPr>
        <p:txBody>
          <a:bodyPr>
            <a:normAutofit/>
          </a:bodyPr>
          <a:lstStyle>
            <a:lvl1pPr marL="400050" indent="-40005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 sz="105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  <p:sp>
        <p:nvSpPr>
          <p:cNvPr id="8" name="Title 1"/>
          <p:cNvSpPr txBox="1"/>
          <p:nvPr userDrawn="1"/>
        </p:nvSpPr>
        <p:spPr>
          <a:xfrm>
            <a:off x="628650" y="0"/>
            <a:ext cx="3481126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提问</a:t>
            </a:r>
            <a:endParaRPr 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22225" y="1511300"/>
            <a:ext cx="3829050" cy="1552575"/>
            <a:chOff x="22225" y="1511300"/>
            <a:chExt cx="3829050" cy="1552575"/>
          </a:xfrm>
        </p:grpSpPr>
        <p:sp>
          <p:nvSpPr>
            <p:cNvPr id="15" name="矩形 14"/>
            <p:cNvSpPr/>
            <p:nvPr userDrawn="1"/>
          </p:nvSpPr>
          <p:spPr>
            <a:xfrm rot="2700000">
              <a:off x="1363663" y="1519238"/>
              <a:ext cx="1544637" cy="1544637"/>
            </a:xfrm>
            <a:prstGeom prst="rect">
              <a:avLst/>
            </a:prstGeom>
            <a:noFill/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矩形 15"/>
            <p:cNvSpPr/>
            <p:nvPr userDrawn="1"/>
          </p:nvSpPr>
          <p:spPr>
            <a:xfrm rot="2700000">
              <a:off x="1147763" y="1511300"/>
              <a:ext cx="1544638" cy="1544637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标题占位符 1"/>
            <p:cNvSpPr txBox="1">
              <a:spLocks noChangeArrowheads="1"/>
            </p:cNvSpPr>
            <p:nvPr userDrawn="1"/>
          </p:nvSpPr>
          <p:spPr bwMode="auto">
            <a:xfrm>
              <a:off x="22225" y="1924050"/>
              <a:ext cx="3829050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zh-CN" altLang="en-US" sz="36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提问</a:t>
              </a:r>
              <a:endParaRPr lang="en-US" altLang="zh-CN"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838" y="1296000"/>
            <a:ext cx="4406400" cy="338400"/>
          </a:xfrm>
        </p:spPr>
        <p:txBody>
          <a:bodyPr>
            <a:normAutofit/>
          </a:bodyPr>
          <a:lstStyle>
            <a:lvl1pPr>
              <a:defRPr sz="1600">
                <a:solidFill>
                  <a:srgbClr val="26262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79838" y="1641601"/>
            <a:ext cx="4735512" cy="2076290"/>
          </a:xfrm>
        </p:spPr>
        <p:txBody>
          <a:bodyPr>
            <a:normAutofit/>
          </a:bodyPr>
          <a:lstStyle>
            <a:lvl1pPr marL="400050" indent="-400050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 sz="105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  <p:sp>
        <p:nvSpPr>
          <p:cNvPr id="8" name="Title 1"/>
          <p:cNvSpPr txBox="1"/>
          <p:nvPr userDrawn="1"/>
        </p:nvSpPr>
        <p:spPr>
          <a:xfrm>
            <a:off x="628650" y="0"/>
            <a:ext cx="3481126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0" kern="12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总结</a:t>
            </a:r>
            <a:endParaRPr 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22225" y="1511300"/>
            <a:ext cx="3829050" cy="1552575"/>
            <a:chOff x="22225" y="1511300"/>
            <a:chExt cx="3829050" cy="1552575"/>
          </a:xfrm>
        </p:grpSpPr>
        <p:sp>
          <p:nvSpPr>
            <p:cNvPr id="12" name="矩形 11"/>
            <p:cNvSpPr/>
            <p:nvPr userDrawn="1"/>
          </p:nvSpPr>
          <p:spPr>
            <a:xfrm rot="2700000">
              <a:off x="1363663" y="1519238"/>
              <a:ext cx="1544637" cy="1544637"/>
            </a:xfrm>
            <a:prstGeom prst="rect">
              <a:avLst/>
            </a:prstGeom>
            <a:noFill/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 rot="2700000">
              <a:off x="1147763" y="1511300"/>
              <a:ext cx="1544638" cy="154463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标题占位符 1"/>
            <p:cNvSpPr txBox="1">
              <a:spLocks noChangeArrowheads="1"/>
            </p:cNvSpPr>
            <p:nvPr userDrawn="1"/>
          </p:nvSpPr>
          <p:spPr bwMode="auto">
            <a:xfrm>
              <a:off x="22225" y="1924050"/>
              <a:ext cx="3829050" cy="809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>
                <a:defRPr/>
              </a:pPr>
              <a:r>
                <a:rPr lang="zh-CN" altLang="en-US" sz="36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endParaRPr lang="zh-TW" altLang="zh-CN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080000"/>
            <a:ext cx="3888000" cy="3758400"/>
          </a:xfrm>
        </p:spPr>
        <p:txBody>
          <a:bodyPr/>
          <a:lstStyle/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080000"/>
            <a:ext cx="3888000" cy="3758400"/>
          </a:xfrm>
        </p:spPr>
        <p:txBody>
          <a:bodyPr/>
          <a:lstStyle/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0"/>
            <a:ext cx="7887600" cy="792000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080000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697934"/>
            <a:ext cx="3868340" cy="3069329"/>
          </a:xfrm>
        </p:spPr>
        <p:txBody>
          <a:bodyPr/>
          <a:lstStyle/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080000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697934"/>
            <a:ext cx="3887391" cy="3069329"/>
          </a:xfrm>
        </p:spPr>
        <p:txBody>
          <a:bodyPr/>
          <a:lstStyle/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0"/>
            <a:ext cx="2948400" cy="7920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89623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188000"/>
            <a:ext cx="2949178" cy="34488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0"/>
            <a:ext cx="2949178" cy="7920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89623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187999"/>
            <a:ext cx="2949178" cy="344880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编辑母版文本样式
第二级
第三级
第四级
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60F8F-4E1E-ED4E-893F-DC034FAFF654}" type="datetimeFigureOut">
              <a:rPr lang="zh-CN" altLang="en-US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768C9-4B7F-1440-B58A-1973EF2CC51E}" type="slidenum">
              <a:rPr/>
            </a:fld>
            <a:endParaRPr kumimoji="1" lang="zh-CN" altLang="en-US"/>
          </a:p>
        </p:txBody>
      </p:sp>
      <p:grpSp>
        <p:nvGrpSpPr>
          <p:cNvPr id="6" name="组合 9"/>
          <p:cNvGrpSpPr/>
          <p:nvPr userDrawn="1"/>
        </p:nvGrpSpPr>
        <p:grpSpPr bwMode="auto">
          <a:xfrm>
            <a:off x="1944688" y="1817688"/>
            <a:ext cx="5148262" cy="787400"/>
            <a:chOff x="1944836" y="1767215"/>
            <a:chExt cx="5147444" cy="787423"/>
          </a:xfrm>
        </p:grpSpPr>
        <p:pic>
          <p:nvPicPr>
            <p:cNvPr id="7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C4BB2-8AE1-48B8-93F2-1C90E6003F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20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18"/>
          <p:cNvGrpSpPr/>
          <p:nvPr userDrawn="1"/>
        </p:nvGrpSpPr>
        <p:grpSpPr bwMode="auto">
          <a:xfrm>
            <a:off x="493713" y="219075"/>
            <a:ext cx="92075" cy="314325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375525" y="0"/>
            <a:ext cx="1281113" cy="627063"/>
            <a:chOff x="7375525" y="-19050"/>
            <a:chExt cx="1281113" cy="627063"/>
          </a:xfrm>
        </p:grpSpPr>
        <p:sp>
          <p:nvSpPr>
            <p:cNvPr id="13" name="圆角矩形 3"/>
            <p:cNvSpPr/>
            <p:nvPr userDrawn="1"/>
          </p:nvSpPr>
          <p:spPr bwMode="auto">
            <a:xfrm>
              <a:off x="7375525" y="-19050"/>
              <a:ext cx="1281113" cy="627063"/>
            </a:xfrm>
            <a:custGeom>
              <a:avLst/>
              <a:gdLst>
                <a:gd name="T0" fmla="*/ 13706740 w 1180531"/>
                <a:gd name="T1" fmla="*/ 0 h 577560"/>
                <a:gd name="T2" fmla="*/ 13706740 w 1180531"/>
                <a:gd name="T3" fmla="*/ 5444423 h 577560"/>
                <a:gd name="T4" fmla="*/ 12365510 w 1180531"/>
                <a:gd name="T5" fmla="*/ 6805598 h 577560"/>
                <a:gd name="T6" fmla="*/ 1341216 w 1180531"/>
                <a:gd name="T7" fmla="*/ 6805598 h 577560"/>
                <a:gd name="T8" fmla="*/ 0 w 1180531"/>
                <a:gd name="T9" fmla="*/ 5444423 h 577560"/>
                <a:gd name="T10" fmla="*/ 0 w 1180531"/>
                <a:gd name="T11" fmla="*/ 0 h 5775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80531" h="577560">
                  <a:moveTo>
                    <a:pt x="1180531" y="0"/>
                  </a:moveTo>
                  <a:lnTo>
                    <a:pt x="1180531" y="462045"/>
                  </a:lnTo>
                  <a:cubicBezTo>
                    <a:pt x="1180531" y="525842"/>
                    <a:pt x="1128813" y="577560"/>
                    <a:pt x="1065016" y="577560"/>
                  </a:cubicBezTo>
                  <a:lnTo>
                    <a:pt x="115515" y="577560"/>
                  </a:lnTo>
                  <a:cubicBezTo>
                    <a:pt x="51718" y="577560"/>
                    <a:pt x="0" y="525842"/>
                    <a:pt x="0" y="462045"/>
                  </a:cubicBezTo>
                  <a:lnTo>
                    <a:pt x="0" y="0"/>
                  </a:lnTo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4" name="图片 1"/>
            <p:cNvPicPr>
              <a:picLocks noChangeAspect="1"/>
            </p:cNvPicPr>
            <p:nvPr userDrawn="1"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3462" y="50800"/>
              <a:ext cx="1265238" cy="520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0"/>
            <a:ext cx="78876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080000"/>
            <a:ext cx="7886700" cy="375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0"/>
            <a:r>
              <a:rPr lang="zh-CN" altLang="en-US" dirty="0"/>
              <a:t>第二级
第三级
第四级
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F57E1-EBC0-524C-9B6C-A0200F23BED1}" type="datetimeFigureOut">
              <a:rPr lang="zh-CN" altLang="en-US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E4949-EF32-944B-A077-7870FB0FF53D}" type="slidenum">
              <a:rPr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rgbClr val="595959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00050" indent="-400050" algn="l" defTabSz="685800" rtl="0" eaLnBrk="1" latinLnBrk="0" hangingPunct="1">
        <a:lnSpc>
          <a:spcPct val="90000"/>
        </a:lnSpc>
        <a:spcBef>
          <a:spcPts val="750"/>
        </a:spcBef>
        <a:buFont typeface="+mj-ea"/>
        <a:buAutoNum type="ea1JpnChsDbPeriod"/>
        <a:defRPr sz="1800" b="0" i="0" kern="1200">
          <a:solidFill>
            <a:srgbClr val="404040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685800" indent="-342900" algn="l" defTabSz="685800" rtl="0" eaLnBrk="1" latinLnBrk="0" hangingPunct="1">
        <a:lnSpc>
          <a:spcPct val="90000"/>
        </a:lnSpc>
        <a:spcBef>
          <a:spcPts val="375"/>
        </a:spcBef>
        <a:buFont typeface="+mj-lt"/>
        <a:buAutoNum type="arabicPeriod"/>
        <a:defRPr sz="1400" b="0" i="0" kern="1200">
          <a:solidFill>
            <a:srgbClr val="404040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2pPr>
      <a:lvl3pPr marL="1028700" indent="-342900" algn="l" defTabSz="685800" rtl="0" eaLnBrk="1" latinLnBrk="0" hangingPunct="1">
        <a:lnSpc>
          <a:spcPct val="90000"/>
        </a:lnSpc>
        <a:spcBef>
          <a:spcPts val="375"/>
        </a:spcBef>
        <a:buFont typeface="+mj-ea"/>
        <a:buAutoNum type="circleNumDbPlain"/>
        <a:defRPr sz="1050" b="0" i="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anose="05000000000000000000" pitchFamily="2" charset="2"/>
        <a:buChar char="l"/>
        <a:defRPr sz="1050" b="0" i="0" kern="1200">
          <a:solidFill>
            <a:schemeClr val="tx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tags" Target="../tags/tag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9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0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2.xm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5" Type="http://schemas.openxmlformats.org/officeDocument/2006/relationships/slideLayout" Target="../slideLayouts/slideLayout3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3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38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39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0.xml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1.xml"/><Relationship Id="rId1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2.xml"/><Relationship Id="rId1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3.xml"/><Relationship Id="rId1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5.xml"/><Relationship Id="rId2" Type="http://schemas.openxmlformats.org/officeDocument/2006/relationships/image" Target="../media/image41.png"/><Relationship Id="rId1" Type="http://schemas.openxmlformats.org/officeDocument/2006/relationships/tags" Target="../tags/tag44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6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47.xml"/><Relationship Id="rId1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49.xml"/><Relationship Id="rId2" Type="http://schemas.openxmlformats.org/officeDocument/2006/relationships/image" Target="../media/image42.png"/><Relationship Id="rId1" Type="http://schemas.openxmlformats.org/officeDocument/2006/relationships/tags" Target="../tags/tag4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0.xml"/><Relationship Id="rId1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1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2.xml"/><Relationship Id="rId1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53.xml"/><Relationship Id="rId1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54.xml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5.xml"/><Relationship Id="rId1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6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7.xml"/><Relationship Id="rId1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58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0.xml"/><Relationship Id="rId1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1.xml"/><Relationship Id="rId1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6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5.xml"/><Relationship Id="rId1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6.xml"/><Relationship Id="rId1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7.xml"/><Relationship Id="rId1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8.xml"/><Relationship Id="rId1" Type="http://schemas.openxmlformats.org/officeDocument/2006/relationships/image" Target="../media/image6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0.xml"/><Relationship Id="rId1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68.png"/><Relationship Id="rId7" Type="http://schemas.openxmlformats.org/officeDocument/2006/relationships/customXml" Target="../ink/ink4.xml"/><Relationship Id="rId6" Type="http://schemas.openxmlformats.org/officeDocument/2006/relationships/image" Target="../media/image67.png"/><Relationship Id="rId5" Type="http://schemas.openxmlformats.org/officeDocument/2006/relationships/customXml" Target="../ink/ink3.xml"/><Relationship Id="rId4" Type="http://schemas.openxmlformats.org/officeDocument/2006/relationships/image" Target="../media/image66.png"/><Relationship Id="rId3" Type="http://schemas.openxmlformats.org/officeDocument/2006/relationships/customXml" Target="../ink/ink2.xml"/><Relationship Id="rId28" Type="http://schemas.openxmlformats.org/officeDocument/2006/relationships/slideLayout" Target="../slideLayouts/slideLayout3.xml"/><Relationship Id="rId27" Type="http://schemas.openxmlformats.org/officeDocument/2006/relationships/tags" Target="../tags/tag71.xml"/><Relationship Id="rId26" Type="http://schemas.openxmlformats.org/officeDocument/2006/relationships/image" Target="../media/image77.png"/><Relationship Id="rId25" Type="http://schemas.openxmlformats.org/officeDocument/2006/relationships/customXml" Target="../ink/ink13.xml"/><Relationship Id="rId24" Type="http://schemas.openxmlformats.org/officeDocument/2006/relationships/image" Target="../media/image76.png"/><Relationship Id="rId23" Type="http://schemas.openxmlformats.org/officeDocument/2006/relationships/customXml" Target="../ink/ink12.xml"/><Relationship Id="rId22" Type="http://schemas.openxmlformats.org/officeDocument/2006/relationships/image" Target="../media/image75.png"/><Relationship Id="rId21" Type="http://schemas.openxmlformats.org/officeDocument/2006/relationships/customXml" Target="../ink/ink11.xml"/><Relationship Id="rId20" Type="http://schemas.openxmlformats.org/officeDocument/2006/relationships/image" Target="../media/image74.png"/><Relationship Id="rId2" Type="http://schemas.openxmlformats.org/officeDocument/2006/relationships/image" Target="../media/image65.png"/><Relationship Id="rId19" Type="http://schemas.openxmlformats.org/officeDocument/2006/relationships/customXml" Target="../ink/ink10.xml"/><Relationship Id="rId18" Type="http://schemas.openxmlformats.org/officeDocument/2006/relationships/image" Target="../media/image73.png"/><Relationship Id="rId17" Type="http://schemas.openxmlformats.org/officeDocument/2006/relationships/customXml" Target="../ink/ink9.xml"/><Relationship Id="rId16" Type="http://schemas.openxmlformats.org/officeDocument/2006/relationships/image" Target="../media/image72.png"/><Relationship Id="rId15" Type="http://schemas.openxmlformats.org/officeDocument/2006/relationships/customXml" Target="../ink/ink8.xml"/><Relationship Id="rId14" Type="http://schemas.openxmlformats.org/officeDocument/2006/relationships/image" Target="../media/image71.png"/><Relationship Id="rId13" Type="http://schemas.openxmlformats.org/officeDocument/2006/relationships/customXml" Target="../ink/ink7.xml"/><Relationship Id="rId12" Type="http://schemas.openxmlformats.org/officeDocument/2006/relationships/image" Target="../media/image70.png"/><Relationship Id="rId11" Type="http://schemas.openxmlformats.org/officeDocument/2006/relationships/customXml" Target="../ink/ink6.xml"/><Relationship Id="rId10" Type="http://schemas.openxmlformats.org/officeDocument/2006/relationships/image" Target="../media/image69.png"/><Relationship Id="rId1" Type="http://schemas.openxmlformats.org/officeDocument/2006/relationships/customXml" Target="../ink/ink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2.xml"/><Relationship Id="rId1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3.xml"/><Relationship Id="rId1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4.xml"/><Relationship Id="rId1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5.xml"/><Relationship Id="rId1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6.xml"/><Relationship Id="rId1" Type="http://schemas.openxmlformats.org/officeDocument/2006/relationships/image" Target="../media/image8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7.xml"/><Relationship Id="rId1" Type="http://schemas.openxmlformats.org/officeDocument/2006/relationships/image" Target="../media/image82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8.xml"/><Relationship Id="rId1" Type="http://schemas.openxmlformats.org/officeDocument/2006/relationships/image" Target="../media/image82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143000" y="841374"/>
            <a:ext cx="6858000" cy="2016125"/>
          </a:xfrm>
        </p:spPr>
        <p:txBody>
          <a:bodyPr/>
          <a:lstStyle/>
          <a:p>
            <a:r>
              <a:rPr lang="zh-CN" altLang="en-US" dirty="0">
                <a:solidFill>
                  <a:schemeClr val="tx2"/>
                </a:solidFill>
                <a:sym typeface="+mn-ea"/>
              </a:rPr>
              <a:t>口罩检测</a:t>
            </a:r>
            <a:endParaRPr lang="zh-CN" altLang="en-US" dirty="0">
              <a:solidFill>
                <a:schemeClr val="tx2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705692" y="1673768"/>
            <a:ext cx="5392083" cy="238125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构建戴口罩和不戴口罩的数据集</a:t>
            </a:r>
            <a:endParaRPr lang="zh-CN" altLang="en-US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dirty="0">
              <a:solidFill>
                <a:schemeClr val="tx1"/>
              </a:solidFill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dirty="0" smtClean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训练口罩检测模型</a:t>
            </a:r>
            <a:endParaRPr lang="zh-CN" altLang="en-US" dirty="0" smtClean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dirty="0">
              <a:solidFill>
                <a:schemeClr val="tx1"/>
              </a:solidFill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  <a:cs typeface="微软雅黑" panose="020B0503020204020204" pitchFamily="34" charset="-122"/>
              </a:rPr>
              <a:t>将模型应用于照片及视频的检测</a:t>
            </a:r>
            <a:endParaRPr lang="zh-CN" altLang="en-US" dirty="0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50360" y="974725"/>
            <a:ext cx="1471930" cy="3357880"/>
            <a:chOff x="6224" y="767"/>
            <a:chExt cx="2318" cy="5288"/>
          </a:xfrm>
        </p:grpSpPr>
        <p:sp>
          <p:nvSpPr>
            <p:cNvPr id="14" name="矩形 13"/>
            <p:cNvSpPr/>
            <p:nvPr/>
          </p:nvSpPr>
          <p:spPr>
            <a:xfrm>
              <a:off x="6224" y="767"/>
              <a:ext cx="2318" cy="2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功能简介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数据集准备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24" y="3197"/>
              <a:ext cx="2318" cy="28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模型训练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测试与应用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16450" y="2835910"/>
            <a:ext cx="14649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代码详解   训练效果</a:t>
            </a: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60900" y="2218690"/>
            <a:ext cx="203708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数据集构建  目录结构  实现方法</a:t>
            </a:r>
            <a:endParaRPr lang="en-US" alt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6450" y="3550285"/>
            <a:ext cx="226314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测试程序   测试效果    评价与优化</a:t>
            </a: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1 </a:t>
            </a:r>
            <a:r>
              <a:rPr lang="zh-CN" altLang="en-US">
                <a:solidFill>
                  <a:schemeClr val="tx1"/>
                </a:solidFill>
              </a:rPr>
              <a:t>功能简介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115" y="1610995"/>
            <a:ext cx="32848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口罩，已经成为某些场合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出门的标配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对人员流动带来的疫情传播压力，车站、机场、地铁站等场合都严格检查出入人员体温、口罩佩戴情况等。百度在近日开源了一个口罩人脸检测及分类模型，除了识别人脸外，还可判断出他们是否佩戴口罩，识别及分类准确率分别达到 98% 和 96.5%。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81475" y="4583430"/>
            <a:ext cx="4499610" cy="301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https://www.paddlepaddle.org.cn/hub/scene/maskdetect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6970" y="1529715"/>
            <a:ext cx="5321300" cy="30537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1 </a:t>
            </a:r>
            <a:r>
              <a:rPr lang="zh-CN" altLang="en-US">
                <a:solidFill>
                  <a:schemeClr val="tx1"/>
                </a:solidFill>
              </a:rPr>
              <a:t>功能简介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2115" y="2239645"/>
            <a:ext cx="32848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功能：</a:t>
            </a: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en-US" alt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，在图像中检测是否佩戴口罩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，实时视频流中的口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罩检测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15765" y="4583430"/>
            <a:ext cx="4499610" cy="301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https://www.paddlepaddle.org.cn/hub/scene/maskdetect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6970" y="1529715"/>
            <a:ext cx="5321300" cy="30537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50360" y="974725"/>
            <a:ext cx="1471930" cy="3357880"/>
            <a:chOff x="6224" y="767"/>
            <a:chExt cx="2318" cy="5288"/>
          </a:xfrm>
        </p:grpSpPr>
        <p:sp>
          <p:nvSpPr>
            <p:cNvPr id="14" name="矩形 13"/>
            <p:cNvSpPr/>
            <p:nvPr/>
          </p:nvSpPr>
          <p:spPr>
            <a:xfrm>
              <a:off x="6224" y="767"/>
              <a:ext cx="2318" cy="2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功能简介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数据集准备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24" y="3197"/>
              <a:ext cx="2318" cy="28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模型训练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测试与应用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16450" y="2835910"/>
            <a:ext cx="14649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代码详解   训练效果</a:t>
            </a: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4870" y="2218690"/>
            <a:ext cx="203708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数据集构建  目录结构  实现方法</a:t>
            </a:r>
            <a:endParaRPr lang="zh-CN" altLang="zh-CN" sz="9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6450" y="3550285"/>
            <a:ext cx="226314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测试程序   测试效果    评价与优化</a:t>
            </a: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2 </a:t>
            </a:r>
            <a:r>
              <a:rPr lang="zh-CN" altLang="en-US">
                <a:solidFill>
                  <a:schemeClr val="tx1"/>
                </a:solidFill>
              </a:rPr>
              <a:t>数据集准备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120" y="1575435"/>
            <a:ext cx="6242050" cy="33978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2730" y="2708910"/>
            <a:ext cx="23488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此数据集包含1376个图像，属于两个类别：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带口罩：690张图片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无口罩：686张图片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8650" y="908050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2_1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数据集构建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5945" y="1259840"/>
            <a:ext cx="375666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为了创建这个数据集，有一个巧妙的解决方案：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1，拍摄人脸的正常图像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2，然后创建一个计算机视觉Python脚本来向它们添加口罩，从而创建一个戴口罩的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，面部 landmarks允许我们自动推断面部结构的位置（包括：眼睛   眉毛   鼻子   嘴   下颌线）因此我们可以使用它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来帮我们构建数据集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3420" y="1259840"/>
            <a:ext cx="1831340" cy="18408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440" y="1259840"/>
            <a:ext cx="1831340" cy="1840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710" y="3281045"/>
            <a:ext cx="1395095" cy="17265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260" y="3281680"/>
            <a:ext cx="1583055" cy="17259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l="7269" t="5185" r="11220" b="2778"/>
          <a:stretch>
            <a:fillRect/>
          </a:stretch>
        </p:blipFill>
        <p:spPr>
          <a:xfrm>
            <a:off x="3151505" y="3429635"/>
            <a:ext cx="2527935" cy="15779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8650" y="908050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2_1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数据集构建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440" y="1878330"/>
            <a:ext cx="3048000" cy="3063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20010"/>
            <a:ext cx="5288280" cy="2430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" y="1878330"/>
            <a:ext cx="52133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注意：如果使用一组图像创建戴了口罩的人的数据集，则这批原来无口罩的图像不能再作为“无口罩”样本使用，否则，模型拟合效果会很差。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8650" y="908050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2_1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数据集构建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601" r="6366"/>
          <a:stretch>
            <a:fillRect/>
          </a:stretch>
        </p:blipFill>
        <p:spPr>
          <a:xfrm>
            <a:off x="4725670" y="2188210"/>
            <a:ext cx="4240530" cy="28340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8460" y="2160905"/>
            <a:ext cx="42329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dataset目录包含“口罩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检测数据集”中的数据。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example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提供了三个图像以便可以测试静态图像面罩检测器。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三个Python脚本：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train_mask_detector.py：接受我们的输入数据集并对其进行微调，以创建我们的mask_detector.model。还将生成包含精度/损失曲线的training history plot.png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detect_mask_image.py:在静态图像中执行面罩检测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detect_mask_video.py：使用网络摄像头，此脚本将对流中的每个帧应用面罩检测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在接下来的两部分中，我们将训练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我们的面罩探测器。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865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2_2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目录结构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865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小结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405" y="1878330"/>
            <a:ext cx="679132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，同一张图片不能同时出现在戴口罩和不戴口罩两类样本里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，注意目录结构，口罩检测功能的实现，需要数据集构建脚本，训练及测试程序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面部 landmarks可以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自动推断面部结构的位置（包括：眼睛   眉毛   鼻子   嘴   下颌线）因此我们可以使用它来帮我们构建数据集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73760" y="2138680"/>
            <a:ext cx="1931670" cy="2303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/>
              <a:t>mouth [4</a:t>
            </a:r>
            <a:r>
              <a:rPr lang="en-US" altLang="zh-CN"/>
              <a:t>9</a:t>
            </a:r>
            <a:r>
              <a:rPr lang="zh-CN" altLang="en-US"/>
              <a:t>, 68].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left</a:t>
            </a:r>
            <a:r>
              <a:rPr lang="zh-CN" altLang="en-US"/>
              <a:t> eyebrow [1</a:t>
            </a:r>
            <a:r>
              <a:rPr lang="en-US" altLang="zh-CN"/>
              <a:t>8</a:t>
            </a:r>
            <a:r>
              <a:rPr lang="zh-CN" altLang="en-US"/>
              <a:t>, 22].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right</a:t>
            </a:r>
            <a:r>
              <a:rPr lang="zh-CN" altLang="en-US"/>
              <a:t> eyebrow  [2</a:t>
            </a:r>
            <a:r>
              <a:rPr lang="en-US" altLang="zh-CN"/>
              <a:t>3</a:t>
            </a:r>
            <a:r>
              <a:rPr lang="zh-CN" altLang="en-US"/>
              <a:t>, 27].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right eye [3</a:t>
            </a:r>
            <a:r>
              <a:rPr lang="en-US" altLang="zh-CN"/>
              <a:t>7</a:t>
            </a:r>
            <a:r>
              <a:rPr lang="zh-CN" altLang="en-US"/>
              <a:t>, 42].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left eye  [4</a:t>
            </a:r>
            <a:r>
              <a:rPr lang="en-US" altLang="zh-CN"/>
              <a:t>3</a:t>
            </a:r>
            <a:r>
              <a:rPr lang="zh-CN" altLang="en-US"/>
              <a:t>, 48].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nose  [2</a:t>
            </a:r>
            <a:r>
              <a:rPr lang="en-US" altLang="zh-CN"/>
              <a:t>8</a:t>
            </a:r>
            <a:r>
              <a:rPr lang="zh-CN" altLang="en-US"/>
              <a:t>, 3</a:t>
            </a:r>
            <a:r>
              <a:rPr lang="en-US" altLang="zh-CN"/>
              <a:t>6</a:t>
            </a:r>
            <a:r>
              <a:rPr lang="zh-CN" altLang="en-US"/>
              <a:t>].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jaw [</a:t>
            </a:r>
            <a:r>
              <a:rPr lang="en-US" altLang="zh-CN"/>
              <a:t>1</a:t>
            </a:r>
            <a:r>
              <a:rPr lang="zh-CN" altLang="en-US"/>
              <a:t>, 17].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835" y="977900"/>
            <a:ext cx="4918710" cy="39630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2_3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实现方法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H="1">
            <a:off x="5628640" y="2491105"/>
            <a:ext cx="473710" cy="2299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3662045" y="2478405"/>
            <a:ext cx="2305685" cy="5638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</a:rPr>
              <a:t>总结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3" name="直接连接符 62"/>
          <p:cNvCxnSpPr/>
          <p:nvPr>
            <p:custDataLst>
              <p:tags r:id="rId1"/>
            </p:custDataLst>
          </p:nvPr>
        </p:nvCxnSpPr>
        <p:spPr>
          <a:xfrm flipH="1">
            <a:off x="1176327" y="3126105"/>
            <a:ext cx="7828768" cy="0"/>
          </a:xfrm>
          <a:prstGeom prst="line">
            <a:avLst/>
          </a:prstGeom>
          <a:ln w="19050"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1F74AD"/>
          </a:lnRef>
          <a:fillRef idx="0">
            <a:srgbClr val="1F74AD"/>
          </a:fillRef>
          <a:effectRef idx="0">
            <a:srgbClr val="1F74AD"/>
          </a:effectRef>
          <a:fontRef idx="minor">
            <a:srgbClr val="000000"/>
          </a:fontRef>
        </p:style>
      </p:cxnSp>
      <p:sp>
        <p:nvSpPr>
          <p:cNvPr id="38" name="椭圆 37"/>
          <p:cNvSpPr/>
          <p:nvPr>
            <p:custDataLst>
              <p:tags r:id="rId2"/>
            </p:custDataLst>
          </p:nvPr>
        </p:nvSpPr>
        <p:spPr>
          <a:xfrm>
            <a:off x="1159330" y="2854113"/>
            <a:ext cx="543984" cy="543984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任意多边形 57"/>
          <p:cNvSpPr/>
          <p:nvPr>
            <p:custDataLst>
              <p:tags r:id="rId3"/>
            </p:custDataLst>
          </p:nvPr>
        </p:nvSpPr>
        <p:spPr bwMode="auto">
          <a:xfrm>
            <a:off x="1270768" y="2965550"/>
            <a:ext cx="321109" cy="321109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rgbClr val="1F74AD"/>
          </a:solidFill>
          <a:ln>
            <a:noFill/>
          </a:ln>
        </p:spPr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椭圆 38"/>
          <p:cNvSpPr/>
          <p:nvPr>
            <p:custDataLst>
              <p:tags r:id="rId4"/>
            </p:custDataLst>
          </p:nvPr>
        </p:nvSpPr>
        <p:spPr>
          <a:xfrm>
            <a:off x="3169713" y="2854113"/>
            <a:ext cx="543984" cy="543984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" name="任意多边形 59"/>
          <p:cNvSpPr/>
          <p:nvPr>
            <p:custDataLst>
              <p:tags r:id="rId5"/>
            </p:custDataLst>
          </p:nvPr>
        </p:nvSpPr>
        <p:spPr bwMode="auto">
          <a:xfrm>
            <a:off x="3281150" y="2965550"/>
            <a:ext cx="321109" cy="321109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rgbClr val="3498DB"/>
          </a:solidFill>
          <a:ln>
            <a:noFill/>
          </a:ln>
        </p:spPr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9" name="椭圆 68"/>
          <p:cNvSpPr/>
          <p:nvPr>
            <p:custDataLst>
              <p:tags r:id="rId6"/>
            </p:custDataLst>
          </p:nvPr>
        </p:nvSpPr>
        <p:spPr>
          <a:xfrm>
            <a:off x="5180095" y="2854113"/>
            <a:ext cx="543984" cy="543984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7" name="任意多边形 76"/>
          <p:cNvSpPr/>
          <p:nvPr>
            <p:custDataLst>
              <p:tags r:id="rId7"/>
            </p:custDataLst>
          </p:nvPr>
        </p:nvSpPr>
        <p:spPr bwMode="auto">
          <a:xfrm>
            <a:off x="5291533" y="2965550"/>
            <a:ext cx="321109" cy="321109"/>
          </a:xfrm>
          <a:custGeom>
            <a:avLst/>
            <a:gdLst>
              <a:gd name="T0" fmla="*/ 118 w 236"/>
              <a:gd name="T1" fmla="*/ 0 h 236"/>
              <a:gd name="T2" fmla="*/ 0 w 236"/>
              <a:gd name="T3" fmla="*/ 118 h 236"/>
              <a:gd name="T4" fmla="*/ 118 w 236"/>
              <a:gd name="T5" fmla="*/ 236 h 236"/>
              <a:gd name="T6" fmla="*/ 236 w 236"/>
              <a:gd name="T7" fmla="*/ 118 h 236"/>
              <a:gd name="T8" fmla="*/ 118 w 236"/>
              <a:gd name="T9" fmla="*/ 0 h 236"/>
              <a:gd name="T10" fmla="*/ 106 w 236"/>
              <a:gd name="T11" fmla="*/ 171 h 236"/>
              <a:gd name="T12" fmla="*/ 54 w 236"/>
              <a:gd name="T13" fmla="*/ 163 h 236"/>
              <a:gd name="T14" fmla="*/ 54 w 236"/>
              <a:gd name="T15" fmla="*/ 121 h 236"/>
              <a:gd name="T16" fmla="*/ 106 w 236"/>
              <a:gd name="T17" fmla="*/ 121 h 236"/>
              <a:gd name="T18" fmla="*/ 106 w 236"/>
              <a:gd name="T19" fmla="*/ 171 h 236"/>
              <a:gd name="T20" fmla="*/ 106 w 236"/>
              <a:gd name="T21" fmla="*/ 114 h 236"/>
              <a:gd name="T22" fmla="*/ 54 w 236"/>
              <a:gd name="T23" fmla="*/ 114 h 236"/>
              <a:gd name="T24" fmla="*/ 54 w 236"/>
              <a:gd name="T25" fmla="*/ 72 h 236"/>
              <a:gd name="T26" fmla="*/ 106 w 236"/>
              <a:gd name="T27" fmla="*/ 64 h 236"/>
              <a:gd name="T28" fmla="*/ 106 w 236"/>
              <a:gd name="T29" fmla="*/ 114 h 236"/>
              <a:gd name="T30" fmla="*/ 182 w 236"/>
              <a:gd name="T31" fmla="*/ 182 h 236"/>
              <a:gd name="T32" fmla="*/ 113 w 236"/>
              <a:gd name="T33" fmla="*/ 172 h 236"/>
              <a:gd name="T34" fmla="*/ 113 w 236"/>
              <a:gd name="T35" fmla="*/ 121 h 236"/>
              <a:gd name="T36" fmla="*/ 182 w 236"/>
              <a:gd name="T37" fmla="*/ 121 h 236"/>
              <a:gd name="T38" fmla="*/ 182 w 236"/>
              <a:gd name="T39" fmla="*/ 182 h 236"/>
              <a:gd name="T40" fmla="*/ 182 w 236"/>
              <a:gd name="T41" fmla="*/ 114 h 236"/>
              <a:gd name="T42" fmla="*/ 113 w 236"/>
              <a:gd name="T43" fmla="*/ 114 h 236"/>
              <a:gd name="T44" fmla="*/ 113 w 236"/>
              <a:gd name="T45" fmla="*/ 63 h 236"/>
              <a:gd name="T46" fmla="*/ 182 w 236"/>
              <a:gd name="T47" fmla="*/ 53 h 236"/>
              <a:gd name="T48" fmla="*/ 182 w 236"/>
              <a:gd name="T49" fmla="*/ 11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06" y="171"/>
                </a:moveTo>
                <a:cubicBezTo>
                  <a:pt x="54" y="163"/>
                  <a:pt x="54" y="163"/>
                  <a:pt x="54" y="163"/>
                </a:cubicBezTo>
                <a:cubicBezTo>
                  <a:pt x="54" y="121"/>
                  <a:pt x="54" y="121"/>
                  <a:pt x="54" y="121"/>
                </a:cubicBezTo>
                <a:cubicBezTo>
                  <a:pt x="106" y="121"/>
                  <a:pt x="106" y="121"/>
                  <a:pt x="106" y="121"/>
                </a:cubicBezTo>
                <a:lnTo>
                  <a:pt x="106" y="171"/>
                </a:lnTo>
                <a:close/>
                <a:moveTo>
                  <a:pt x="106" y="114"/>
                </a:moveTo>
                <a:cubicBezTo>
                  <a:pt x="54" y="114"/>
                  <a:pt x="54" y="114"/>
                  <a:pt x="54" y="114"/>
                </a:cubicBezTo>
                <a:cubicBezTo>
                  <a:pt x="54" y="72"/>
                  <a:pt x="54" y="72"/>
                  <a:pt x="54" y="72"/>
                </a:cubicBezTo>
                <a:cubicBezTo>
                  <a:pt x="106" y="64"/>
                  <a:pt x="106" y="64"/>
                  <a:pt x="106" y="64"/>
                </a:cubicBezTo>
                <a:lnTo>
                  <a:pt x="106" y="114"/>
                </a:lnTo>
                <a:close/>
                <a:moveTo>
                  <a:pt x="182" y="182"/>
                </a:moveTo>
                <a:cubicBezTo>
                  <a:pt x="113" y="172"/>
                  <a:pt x="113" y="172"/>
                  <a:pt x="113" y="172"/>
                </a:cubicBezTo>
                <a:cubicBezTo>
                  <a:pt x="113" y="121"/>
                  <a:pt x="113" y="121"/>
                  <a:pt x="113" y="121"/>
                </a:cubicBezTo>
                <a:cubicBezTo>
                  <a:pt x="182" y="121"/>
                  <a:pt x="182" y="121"/>
                  <a:pt x="182" y="121"/>
                </a:cubicBezTo>
                <a:lnTo>
                  <a:pt x="182" y="182"/>
                </a:lnTo>
                <a:close/>
                <a:moveTo>
                  <a:pt x="182" y="114"/>
                </a:moveTo>
                <a:cubicBezTo>
                  <a:pt x="113" y="114"/>
                  <a:pt x="113" y="114"/>
                  <a:pt x="113" y="114"/>
                </a:cubicBezTo>
                <a:cubicBezTo>
                  <a:pt x="113" y="63"/>
                  <a:pt x="113" y="63"/>
                  <a:pt x="113" y="63"/>
                </a:cubicBezTo>
                <a:cubicBezTo>
                  <a:pt x="182" y="53"/>
                  <a:pt x="182" y="53"/>
                  <a:pt x="182" y="53"/>
                </a:cubicBezTo>
                <a:lnTo>
                  <a:pt x="182" y="114"/>
                </a:lnTo>
                <a:close/>
              </a:path>
            </a:pathLst>
          </a:custGeom>
          <a:solidFill>
            <a:srgbClr val="1AA3AA"/>
          </a:solidFill>
          <a:ln>
            <a:noFill/>
          </a:ln>
        </p:spPr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2" name="椭圆 71"/>
          <p:cNvSpPr/>
          <p:nvPr>
            <p:custDataLst>
              <p:tags r:id="rId8"/>
            </p:custDataLst>
          </p:nvPr>
        </p:nvSpPr>
        <p:spPr>
          <a:xfrm>
            <a:off x="7167634" y="2854113"/>
            <a:ext cx="543984" cy="543984"/>
          </a:xfrm>
          <a:prstGeom prst="ellipse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>
              <a:lnSpc>
                <a:spcPct val="120000"/>
              </a:lnSpc>
            </a:pPr>
            <a:endParaRPr sz="135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任意多边形 79"/>
          <p:cNvSpPr/>
          <p:nvPr>
            <p:custDataLst>
              <p:tags r:id="rId9"/>
            </p:custDataLst>
          </p:nvPr>
        </p:nvSpPr>
        <p:spPr bwMode="auto">
          <a:xfrm>
            <a:off x="7279072" y="2965551"/>
            <a:ext cx="321109" cy="321109"/>
          </a:xfrm>
          <a:custGeom>
            <a:avLst/>
            <a:gdLst>
              <a:gd name="T0" fmla="*/ 3413 w 6827"/>
              <a:gd name="T1" fmla="*/ 0 h 6827"/>
              <a:gd name="T2" fmla="*/ 0 w 6827"/>
              <a:gd name="T3" fmla="*/ 3413 h 6827"/>
              <a:gd name="T4" fmla="*/ 3413 w 6827"/>
              <a:gd name="T5" fmla="*/ 6827 h 6827"/>
              <a:gd name="T6" fmla="*/ 3516 w 6827"/>
              <a:gd name="T7" fmla="*/ 6822 h 6827"/>
              <a:gd name="T8" fmla="*/ 3528 w 6827"/>
              <a:gd name="T9" fmla="*/ 6824 h 6827"/>
              <a:gd name="T10" fmla="*/ 3556 w 6827"/>
              <a:gd name="T11" fmla="*/ 6827 h 6827"/>
              <a:gd name="T12" fmla="*/ 3595 w 6827"/>
              <a:gd name="T13" fmla="*/ 6821 h 6827"/>
              <a:gd name="T14" fmla="*/ 3610 w 6827"/>
              <a:gd name="T15" fmla="*/ 6817 h 6827"/>
              <a:gd name="T16" fmla="*/ 6827 w 6827"/>
              <a:gd name="T17" fmla="*/ 3413 h 6827"/>
              <a:gd name="T18" fmla="*/ 3413 w 6827"/>
              <a:gd name="T19" fmla="*/ 0 h 6827"/>
              <a:gd name="T20" fmla="*/ 5442 w 6827"/>
              <a:gd name="T21" fmla="*/ 5791 h 6827"/>
              <a:gd name="T22" fmla="*/ 5355 w 6827"/>
              <a:gd name="T23" fmla="*/ 5696 h 6827"/>
              <a:gd name="T24" fmla="*/ 4606 w 6827"/>
              <a:gd name="T25" fmla="*/ 5447 h 6827"/>
              <a:gd name="T26" fmla="*/ 4194 w 6827"/>
              <a:gd name="T27" fmla="*/ 4752 h 6827"/>
              <a:gd name="T28" fmla="*/ 4567 w 6827"/>
              <a:gd name="T29" fmla="*/ 4061 h 6827"/>
              <a:gd name="T30" fmla="*/ 4586 w 6827"/>
              <a:gd name="T31" fmla="*/ 3946 h 6827"/>
              <a:gd name="T32" fmla="*/ 4683 w 6827"/>
              <a:gd name="T33" fmla="*/ 3861 h 6827"/>
              <a:gd name="T34" fmla="*/ 4820 w 6827"/>
              <a:gd name="T35" fmla="*/ 3303 h 6827"/>
              <a:gd name="T36" fmla="*/ 4816 w 6827"/>
              <a:gd name="T37" fmla="*/ 3269 h 6827"/>
              <a:gd name="T38" fmla="*/ 4693 w 6827"/>
              <a:gd name="T39" fmla="*/ 3080 h 6827"/>
              <a:gd name="T40" fmla="*/ 4693 w 6827"/>
              <a:gd name="T41" fmla="*/ 2418 h 6827"/>
              <a:gd name="T42" fmla="*/ 4437 w 6827"/>
              <a:gd name="T43" fmla="*/ 1738 h 6827"/>
              <a:gd name="T44" fmla="*/ 3413 w 6827"/>
              <a:gd name="T45" fmla="*/ 1138 h 6827"/>
              <a:gd name="T46" fmla="*/ 2133 w 6827"/>
              <a:gd name="T47" fmla="*/ 2418 h 6827"/>
              <a:gd name="T48" fmla="*/ 2133 w 6827"/>
              <a:gd name="T49" fmla="*/ 3080 h 6827"/>
              <a:gd name="T50" fmla="*/ 2011 w 6827"/>
              <a:gd name="T51" fmla="*/ 3269 h 6827"/>
              <a:gd name="T52" fmla="*/ 2007 w 6827"/>
              <a:gd name="T53" fmla="*/ 3303 h 6827"/>
              <a:gd name="T54" fmla="*/ 2143 w 6827"/>
              <a:gd name="T55" fmla="*/ 3861 h 6827"/>
              <a:gd name="T56" fmla="*/ 2227 w 6827"/>
              <a:gd name="T57" fmla="*/ 3942 h 6827"/>
              <a:gd name="T58" fmla="*/ 2260 w 6827"/>
              <a:gd name="T59" fmla="*/ 4061 h 6827"/>
              <a:gd name="T60" fmla="*/ 2632 w 6827"/>
              <a:gd name="T61" fmla="*/ 4752 h 6827"/>
              <a:gd name="T62" fmla="*/ 2230 w 6827"/>
              <a:gd name="T63" fmla="*/ 5443 h 6827"/>
              <a:gd name="T64" fmla="*/ 1472 w 6827"/>
              <a:gd name="T65" fmla="*/ 5696 h 6827"/>
              <a:gd name="T66" fmla="*/ 1383 w 6827"/>
              <a:gd name="T67" fmla="*/ 5790 h 6827"/>
              <a:gd name="T68" fmla="*/ 284 w 6827"/>
              <a:gd name="T69" fmla="*/ 3413 h 6827"/>
              <a:gd name="T70" fmla="*/ 3413 w 6827"/>
              <a:gd name="T71" fmla="*/ 284 h 6827"/>
              <a:gd name="T72" fmla="*/ 6542 w 6827"/>
              <a:gd name="T73" fmla="*/ 3413 h 6827"/>
              <a:gd name="T74" fmla="*/ 5442 w 6827"/>
              <a:gd name="T75" fmla="*/ 5791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827" h="6827">
                <a:moveTo>
                  <a:pt x="3413" y="0"/>
                </a:moveTo>
                <a:cubicBezTo>
                  <a:pt x="1531" y="0"/>
                  <a:pt x="0" y="1531"/>
                  <a:pt x="0" y="3413"/>
                </a:cubicBezTo>
                <a:cubicBezTo>
                  <a:pt x="0" y="5296"/>
                  <a:pt x="1531" y="6827"/>
                  <a:pt x="3413" y="6827"/>
                </a:cubicBezTo>
                <a:cubicBezTo>
                  <a:pt x="3448" y="6827"/>
                  <a:pt x="3481" y="6822"/>
                  <a:pt x="3516" y="6822"/>
                </a:cubicBezTo>
                <a:lnTo>
                  <a:pt x="3528" y="6824"/>
                </a:lnTo>
                <a:cubicBezTo>
                  <a:pt x="3537" y="6826"/>
                  <a:pt x="3546" y="6827"/>
                  <a:pt x="3556" y="6827"/>
                </a:cubicBezTo>
                <a:cubicBezTo>
                  <a:pt x="3569" y="6827"/>
                  <a:pt x="3582" y="6825"/>
                  <a:pt x="3595" y="6821"/>
                </a:cubicBezTo>
                <a:lnTo>
                  <a:pt x="3610" y="6817"/>
                </a:lnTo>
                <a:cubicBezTo>
                  <a:pt x="5401" y="6713"/>
                  <a:pt x="6827" y="5229"/>
                  <a:pt x="6827" y="3413"/>
                </a:cubicBezTo>
                <a:cubicBezTo>
                  <a:pt x="6827" y="1531"/>
                  <a:pt x="5296" y="0"/>
                  <a:pt x="3413" y="0"/>
                </a:cubicBezTo>
                <a:close/>
                <a:moveTo>
                  <a:pt x="5442" y="5791"/>
                </a:moveTo>
                <a:cubicBezTo>
                  <a:pt x="5429" y="5747"/>
                  <a:pt x="5398" y="5711"/>
                  <a:pt x="5355" y="5696"/>
                </a:cubicBezTo>
                <a:lnTo>
                  <a:pt x="4606" y="5447"/>
                </a:lnTo>
                <a:cubicBezTo>
                  <a:pt x="4345" y="5338"/>
                  <a:pt x="4223" y="4920"/>
                  <a:pt x="4194" y="4752"/>
                </a:cubicBezTo>
                <a:cubicBezTo>
                  <a:pt x="4388" y="4572"/>
                  <a:pt x="4567" y="4304"/>
                  <a:pt x="4567" y="4061"/>
                </a:cubicBezTo>
                <a:cubicBezTo>
                  <a:pt x="4567" y="3979"/>
                  <a:pt x="4590" y="3947"/>
                  <a:pt x="4586" y="3946"/>
                </a:cubicBezTo>
                <a:cubicBezTo>
                  <a:pt x="4630" y="3935"/>
                  <a:pt x="4666" y="3904"/>
                  <a:pt x="4683" y="3861"/>
                </a:cubicBezTo>
                <a:cubicBezTo>
                  <a:pt x="4697" y="3826"/>
                  <a:pt x="4820" y="3514"/>
                  <a:pt x="4820" y="3303"/>
                </a:cubicBezTo>
                <a:cubicBezTo>
                  <a:pt x="4820" y="3291"/>
                  <a:pt x="4818" y="3280"/>
                  <a:pt x="4816" y="3269"/>
                </a:cubicBezTo>
                <a:cubicBezTo>
                  <a:pt x="4798" y="3197"/>
                  <a:pt x="4756" y="3125"/>
                  <a:pt x="4693" y="3080"/>
                </a:cubicBezTo>
                <a:lnTo>
                  <a:pt x="4693" y="2418"/>
                </a:lnTo>
                <a:cubicBezTo>
                  <a:pt x="4693" y="2009"/>
                  <a:pt x="4569" y="1837"/>
                  <a:pt x="4437" y="1738"/>
                </a:cubicBezTo>
                <a:cubicBezTo>
                  <a:pt x="4407" y="1534"/>
                  <a:pt x="4189" y="1138"/>
                  <a:pt x="3413" y="1138"/>
                </a:cubicBezTo>
                <a:cubicBezTo>
                  <a:pt x="2620" y="1138"/>
                  <a:pt x="2133" y="1884"/>
                  <a:pt x="2133" y="2418"/>
                </a:cubicBezTo>
                <a:lnTo>
                  <a:pt x="2133" y="3080"/>
                </a:lnTo>
                <a:cubicBezTo>
                  <a:pt x="2071" y="3125"/>
                  <a:pt x="2029" y="3197"/>
                  <a:pt x="2011" y="3269"/>
                </a:cubicBezTo>
                <a:cubicBezTo>
                  <a:pt x="2008" y="3280"/>
                  <a:pt x="2007" y="3292"/>
                  <a:pt x="2007" y="3303"/>
                </a:cubicBezTo>
                <a:cubicBezTo>
                  <a:pt x="2007" y="3514"/>
                  <a:pt x="2129" y="3826"/>
                  <a:pt x="2143" y="3861"/>
                </a:cubicBezTo>
                <a:cubicBezTo>
                  <a:pt x="2160" y="3904"/>
                  <a:pt x="2183" y="3931"/>
                  <a:pt x="2227" y="3942"/>
                </a:cubicBezTo>
                <a:cubicBezTo>
                  <a:pt x="2236" y="3947"/>
                  <a:pt x="2260" y="3979"/>
                  <a:pt x="2260" y="4061"/>
                </a:cubicBezTo>
                <a:cubicBezTo>
                  <a:pt x="2260" y="4304"/>
                  <a:pt x="2439" y="4572"/>
                  <a:pt x="2632" y="4752"/>
                </a:cubicBezTo>
                <a:cubicBezTo>
                  <a:pt x="2604" y="4919"/>
                  <a:pt x="2484" y="5338"/>
                  <a:pt x="2230" y="5443"/>
                </a:cubicBezTo>
                <a:lnTo>
                  <a:pt x="1472" y="5696"/>
                </a:lnTo>
                <a:cubicBezTo>
                  <a:pt x="1428" y="5711"/>
                  <a:pt x="1397" y="5747"/>
                  <a:pt x="1383" y="5790"/>
                </a:cubicBezTo>
                <a:cubicBezTo>
                  <a:pt x="712" y="5216"/>
                  <a:pt x="284" y="4364"/>
                  <a:pt x="284" y="3413"/>
                </a:cubicBezTo>
                <a:cubicBezTo>
                  <a:pt x="284" y="1688"/>
                  <a:pt x="1688" y="284"/>
                  <a:pt x="3413" y="284"/>
                </a:cubicBezTo>
                <a:cubicBezTo>
                  <a:pt x="5138" y="284"/>
                  <a:pt x="6542" y="1688"/>
                  <a:pt x="6542" y="3413"/>
                </a:cubicBezTo>
                <a:cubicBezTo>
                  <a:pt x="6542" y="4365"/>
                  <a:pt x="6114" y="5217"/>
                  <a:pt x="5442" y="5791"/>
                </a:cubicBezTo>
                <a:close/>
              </a:path>
            </a:pathLst>
          </a:custGeom>
          <a:solidFill>
            <a:srgbClr val="69A35B"/>
          </a:solidFill>
          <a:ln>
            <a:noFill/>
          </a:ln>
        </p:spPr>
        <p:txBody>
          <a:bodyPr wrap="square" lIns="68580" tIns="34290" rIns="68580" bIns="3429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</a:defRPr>
            </a:lvl9pPr>
          </a:lstStyle>
          <a:p>
            <a:pPr algn="ctr">
              <a:lnSpc>
                <a:spcPct val="120000"/>
              </a:lnSpc>
            </a:pPr>
            <a:endParaRPr sz="135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2194368" y="2986452"/>
            <a:ext cx="484292" cy="27930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68580" tIns="34290" rIns="68580" bIns="34290" anchor="ctr" anchorCtr="0">
            <a:normAutofit fontScale="90000"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endParaRPr lang="en-US" altLang="zh-CN" sz="12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2" name="文本框 121"/>
          <p:cNvSpPr txBox="1"/>
          <p:nvPr>
            <p:custDataLst>
              <p:tags r:id="rId11"/>
            </p:custDataLst>
          </p:nvPr>
        </p:nvSpPr>
        <p:spPr>
          <a:xfrm>
            <a:off x="4204750" y="2986452"/>
            <a:ext cx="484291" cy="27930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68580" tIns="34290" rIns="68580" bIns="34290" anchor="ctr" anchorCtr="0">
            <a:normAutofit lnSpcReduction="10000"/>
          </a:bodyPr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endParaRPr lang="en-US" sz="12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3" name="文本框 122"/>
          <p:cNvSpPr txBox="1"/>
          <p:nvPr>
            <p:custDataLst>
              <p:tags r:id="rId12"/>
            </p:custDataLst>
          </p:nvPr>
        </p:nvSpPr>
        <p:spPr>
          <a:xfrm>
            <a:off x="6203711" y="2986452"/>
            <a:ext cx="484291" cy="279307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lIns="68580" tIns="34290" rIns="68580" bIns="34290" anchor="ctr" anchorCtr="0">
            <a:normAutofit/>
          </a:bodyPr>
          <a:lstStyle>
            <a:defPPr>
              <a:defRPr lang="zh-CN"/>
            </a:defPPr>
            <a:lvl1pPr algn="ctr"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 sz="105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endParaRPr lang="en-US" sz="105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矩形 25"/>
          <p:cNvSpPr/>
          <p:nvPr>
            <p:custDataLst>
              <p:tags r:id="rId13"/>
            </p:custDataLst>
          </p:nvPr>
        </p:nvSpPr>
        <p:spPr bwMode="auto">
          <a:xfrm>
            <a:off x="1062988" y="2012135"/>
            <a:ext cx="736665" cy="34289"/>
          </a:xfrm>
          <a:prstGeom prst="rect">
            <a:avLst/>
          </a:prstGeom>
          <a:solidFill>
            <a:srgbClr val="1F74AD"/>
          </a:solidFill>
          <a:ln>
            <a:noFill/>
          </a:ln>
        </p:spPr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sz="13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 bwMode="auto">
          <a:xfrm>
            <a:off x="374512" y="2077008"/>
            <a:ext cx="2113618" cy="590341"/>
          </a:xfrm>
          <a:prstGeom prst="rect">
            <a:avLst/>
          </a:prstGeom>
        </p:spPr>
        <p:txBody>
          <a:bodyPr wrap="square" lIns="68580" tIns="34290" rIns="68580" bIns="35100" anchor="t" anchorCtr="0">
            <a:normAutofit lnSpcReduction="20000"/>
          </a:bodyPr>
          <a:lstStyle/>
          <a:p>
            <a:pPr marL="0" indent="0" algn="ctr" fontAlgn="auto">
              <a:lnSpc>
                <a:spcPct val="150000"/>
              </a:lnSpc>
              <a:defRPr/>
            </a:pPr>
            <a:r>
              <a:rPr lang="zh-CN" altLang="en-US" sz="1050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收集人脸数据集及口罩为构造戴口罩的样本做准备</a:t>
            </a:r>
            <a:endParaRPr lang="zh-CN" altLang="en-US" sz="1050" spc="30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5"/>
            </p:custDataLst>
          </p:nvPr>
        </p:nvSpPr>
        <p:spPr bwMode="auto">
          <a:xfrm>
            <a:off x="374512" y="1661367"/>
            <a:ext cx="2113618" cy="320185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68580" tIns="34290" rIns="68580" bIns="0" anchor="ctr" anchorCtr="0">
            <a:normAutofit/>
          </a:bodyPr>
          <a:lstStyle/>
          <a:p>
            <a:pPr algn="ctr">
              <a:lnSpc>
                <a:spcPct val="120000"/>
              </a:lnSpc>
              <a:buClr>
                <a:prstClr val="white"/>
              </a:buClr>
              <a:defRPr/>
            </a:pPr>
            <a:r>
              <a:rPr lang="zh-CN" altLang="en-US" sz="15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采集图片</a:t>
            </a:r>
            <a:endParaRPr lang="zh-CN" altLang="en-US" sz="1500" b="1" spc="30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 bwMode="auto">
          <a:xfrm>
            <a:off x="5083753" y="2012135"/>
            <a:ext cx="736665" cy="34289"/>
          </a:xfrm>
          <a:prstGeom prst="rect">
            <a:avLst/>
          </a:prstGeom>
          <a:solidFill>
            <a:srgbClr val="1AA3AA"/>
          </a:solidFill>
          <a:ln>
            <a:noFill/>
          </a:ln>
        </p:spPr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sz="13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 bwMode="auto">
          <a:xfrm>
            <a:off x="4395277" y="2077008"/>
            <a:ext cx="2113618" cy="590341"/>
          </a:xfrm>
          <a:prstGeom prst="rect">
            <a:avLst/>
          </a:prstGeom>
        </p:spPr>
        <p:txBody>
          <a:bodyPr wrap="square" lIns="68580" tIns="34290" rIns="68580" bIns="35100" anchor="t" anchorCtr="0">
            <a:normAutofit lnSpcReduction="20000"/>
          </a:bodyPr>
          <a:lstStyle/>
          <a:p>
            <a:pPr marL="0" indent="0" algn="ctr" fontAlgn="auto">
              <a:lnSpc>
                <a:spcPct val="150000"/>
              </a:lnSpc>
              <a:defRPr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注意口罩的缩放及旋转；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indent="0" algn="ctr" fontAlgn="auto">
              <a:lnSpc>
                <a:spcPct val="150000"/>
              </a:lnSpc>
              <a:defRPr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注意人脸大小的距离度量；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8"/>
            </p:custDataLst>
          </p:nvPr>
        </p:nvSpPr>
        <p:spPr bwMode="auto">
          <a:xfrm>
            <a:off x="4395277" y="1661367"/>
            <a:ext cx="2113618" cy="320185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68580" tIns="34290" rIns="68580" bIns="0" anchor="ctr" anchorCtr="0">
            <a:normAutofit fontScale="90000"/>
          </a:bodyPr>
          <a:lstStyle/>
          <a:p>
            <a:pPr algn="ctr">
              <a:lnSpc>
                <a:spcPct val="120000"/>
              </a:lnSpc>
              <a:buClr>
                <a:prstClr val="white"/>
              </a:buClr>
              <a:defRPr/>
            </a:pPr>
            <a:r>
              <a:rPr lang="zh-CN" altLang="en-US" sz="15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编写添加口罩的程序</a:t>
            </a:r>
            <a:endParaRPr lang="zh-CN" altLang="en-US" sz="1500" b="1" spc="30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>
            <p:custDataLst>
              <p:tags r:id="rId19"/>
            </p:custDataLst>
          </p:nvPr>
        </p:nvSpPr>
        <p:spPr bwMode="auto">
          <a:xfrm>
            <a:off x="3073371" y="3878480"/>
            <a:ext cx="736665" cy="34289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sz="13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20"/>
            </p:custDataLst>
          </p:nvPr>
        </p:nvSpPr>
        <p:spPr bwMode="auto">
          <a:xfrm>
            <a:off x="2194560" y="3317875"/>
            <a:ext cx="2561590" cy="52959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68580" tIns="34290" rIns="68580" bIns="0" anchor="ctr" anchorCtr="0">
            <a:normAutofit fontScale="80000"/>
          </a:bodyPr>
          <a:lstStyle/>
          <a:p>
            <a:pPr algn="ctr">
              <a:lnSpc>
                <a:spcPct val="120000"/>
              </a:lnSpc>
              <a:buClr>
                <a:prstClr val="white"/>
              </a:buClr>
              <a:buSzTx/>
              <a:buFontTx/>
              <a:defRPr/>
            </a:pPr>
            <a:r>
              <a:rPr lang="zh-CN" altLang="en-US" sz="15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编写循环遍历文价夹的程序</a:t>
            </a:r>
            <a:endParaRPr lang="zh-CN" altLang="en-US" sz="1500" b="1" spc="30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1"/>
            </p:custDataLst>
          </p:nvPr>
        </p:nvSpPr>
        <p:spPr bwMode="auto">
          <a:xfrm>
            <a:off x="7071293" y="3878480"/>
            <a:ext cx="736665" cy="34289"/>
          </a:xfrm>
          <a:prstGeom prst="rect">
            <a:avLst/>
          </a:prstGeom>
          <a:solidFill>
            <a:srgbClr val="69A35B"/>
          </a:solidFill>
          <a:ln>
            <a:noFill/>
          </a:ln>
        </p:spPr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sz="13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文本框 39"/>
          <p:cNvSpPr txBox="1"/>
          <p:nvPr>
            <p:custDataLst>
              <p:tags r:id="rId22"/>
            </p:custDataLst>
          </p:nvPr>
        </p:nvSpPr>
        <p:spPr bwMode="auto">
          <a:xfrm>
            <a:off x="6382817" y="3943352"/>
            <a:ext cx="2113618" cy="590341"/>
          </a:xfrm>
          <a:prstGeom prst="rect">
            <a:avLst/>
          </a:prstGeom>
        </p:spPr>
        <p:txBody>
          <a:bodyPr wrap="square" lIns="68580" tIns="34290" rIns="68580" bIns="35100" anchor="t" anchorCtr="0">
            <a:normAutofit/>
          </a:bodyPr>
          <a:lstStyle/>
          <a:p>
            <a:pPr marL="0" indent="0" algn="ctr">
              <a:lnSpc>
                <a:spcPct val="120000"/>
              </a:lnSpc>
              <a:defRPr/>
            </a:pPr>
            <a:r>
              <a:rPr lang="zh-CN" altLang="en-US" sz="1050" spc="15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批处理图片</a:t>
            </a:r>
            <a:endParaRPr lang="zh-CN" altLang="en-US" sz="1050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>
            <p:custDataLst>
              <p:tags r:id="rId23"/>
            </p:custDataLst>
          </p:nvPr>
        </p:nvSpPr>
        <p:spPr bwMode="auto">
          <a:xfrm>
            <a:off x="6382817" y="3527711"/>
            <a:ext cx="2113618" cy="320185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sp3d prstMaterial="matte">
            <a:bevelT w="1270" h="1270"/>
          </a:sp3d>
        </p:spPr>
        <p:txBody>
          <a:bodyPr wrap="square" lIns="68580" tIns="34290" rIns="68580" bIns="0" anchor="ctr" anchorCtr="0">
            <a:normAutofit/>
          </a:bodyPr>
          <a:lstStyle/>
          <a:p>
            <a:pPr algn="ctr">
              <a:lnSpc>
                <a:spcPct val="120000"/>
              </a:lnSpc>
              <a:buClr>
                <a:prstClr val="white"/>
              </a:buClr>
              <a:defRPr/>
            </a:pPr>
            <a:r>
              <a:rPr lang="zh-CN" altLang="en-US" sz="1500" b="1" spc="3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生成戴口罩样本</a:t>
            </a:r>
            <a:endParaRPr lang="zh-CN" altLang="en-US" sz="1500" b="1" spc="30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4266" t="9043" r="5233" b="8086"/>
          <a:stretch>
            <a:fillRect/>
          </a:stretch>
        </p:blipFill>
        <p:spPr>
          <a:xfrm>
            <a:off x="537845" y="2124075"/>
            <a:ext cx="2317115" cy="170497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2974975" y="1824355"/>
            <a:ext cx="2706370" cy="2006600"/>
            <a:chOff x="4756" y="3932"/>
            <a:chExt cx="4262" cy="3160"/>
          </a:xfrm>
        </p:grpSpPr>
        <p:sp>
          <p:nvSpPr>
            <p:cNvPr id="4" name="文本框 3"/>
            <p:cNvSpPr txBox="1"/>
            <p:nvPr/>
          </p:nvSpPr>
          <p:spPr>
            <a:xfrm>
              <a:off x="4756" y="3932"/>
              <a:ext cx="4262" cy="47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/>
                <a:t>image_copy.paste(logo,position)</a:t>
              </a:r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rcRect r="1915"/>
            <a:stretch>
              <a:fillRect/>
            </a:stretch>
          </p:blipFill>
          <p:spPr>
            <a:xfrm>
              <a:off x="4964" y="4404"/>
              <a:ext cx="3637" cy="2688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60" y="2124075"/>
            <a:ext cx="2393950" cy="174117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02960" y="1824355"/>
            <a:ext cx="2540000" cy="301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image.paste(logo,position</a:t>
            </a:r>
            <a:r>
              <a:rPr lang="en-US" altLang="zh-CN"/>
              <a:t>,</a:t>
            </a:r>
            <a:r>
              <a:rPr lang="zh-CN" altLang="en-US"/>
              <a:t>logo)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326380" y="3939540"/>
            <a:ext cx="369316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Paste（透明背景图标，粘贴位置，透明背景图标）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补充知识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8005" y="1836420"/>
            <a:ext cx="4625340" cy="13106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0920" y="1324610"/>
            <a:ext cx="45681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直线的表达形式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两点式（用于已知两点坐标）：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996440"/>
            <a:ext cx="3543300" cy="1150620"/>
          </a:xfrm>
          <a:prstGeom prst="rect">
            <a:avLst/>
          </a:prstGeom>
        </p:spPr>
      </p:pic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9800" y="3335655"/>
          <a:ext cx="6609715" cy="14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098800" imgH="685800" progId="Equation.KSEE3">
                  <p:embed/>
                </p:oleObj>
              </mc:Choice>
              <mc:Fallback>
                <p:oleObj name="" r:id="rId3" imgW="3098800" imgH="685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9800" y="3335655"/>
                        <a:ext cx="6609715" cy="1463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补充知识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2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数据集准备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8475" y="1836420"/>
            <a:ext cx="4625340" cy="13106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0920" y="1324610"/>
            <a:ext cx="456819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直线的表达形式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两点式（用于已知两点坐标）：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996440"/>
            <a:ext cx="3543300" cy="1150620"/>
          </a:xfrm>
          <a:prstGeom prst="rect">
            <a:avLst/>
          </a:prstGeom>
        </p:spPr>
      </p:pic>
      <p:graphicFrame>
        <p:nvGraphicFramePr>
          <p:cNvPr id="13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39800" y="3335655"/>
          <a:ext cx="6609715" cy="14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098800" imgH="685800" progId="Equation.KSEE3">
                  <p:embed/>
                </p:oleObj>
              </mc:Choice>
              <mc:Fallback>
                <p:oleObj name="" r:id="rId3" imgW="3098800" imgH="6858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39800" y="3335655"/>
                        <a:ext cx="6609715" cy="1463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补充知识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34785" y="1996440"/>
            <a:ext cx="146050" cy="257810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9510" y="4333240"/>
            <a:ext cx="1125855" cy="408305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995160" y="1996440"/>
            <a:ext cx="146050" cy="25781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740660" y="4333240"/>
            <a:ext cx="1043305" cy="40894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480935" y="1996440"/>
            <a:ext cx="146050" cy="257810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flipH="1">
            <a:off x="4030980" y="4333240"/>
            <a:ext cx="3029585" cy="464820"/>
          </a:xfrm>
          <a:prstGeom prst="rect">
            <a:avLst/>
          </a:prstGeom>
          <a:noFill/>
          <a:ln w="19050">
            <a:solidFill>
              <a:schemeClr val="accent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50360" y="974725"/>
            <a:ext cx="1471930" cy="3357880"/>
            <a:chOff x="6224" y="767"/>
            <a:chExt cx="2318" cy="5288"/>
          </a:xfrm>
        </p:grpSpPr>
        <p:sp>
          <p:nvSpPr>
            <p:cNvPr id="14" name="矩形 13"/>
            <p:cNvSpPr/>
            <p:nvPr/>
          </p:nvSpPr>
          <p:spPr>
            <a:xfrm>
              <a:off x="6224" y="767"/>
              <a:ext cx="2318" cy="2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功能简介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数据集准备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24" y="3197"/>
              <a:ext cx="2318" cy="28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模型训练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测试与应用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16450" y="2835910"/>
            <a:ext cx="14649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代码详解   训练效果  </a:t>
            </a:r>
            <a:endParaRPr lang="zh-CN" sz="9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4870" y="2218690"/>
            <a:ext cx="203708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数据集构建  目录结构  实现方法</a:t>
            </a:r>
            <a:endParaRPr lang="en-US" alt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6450" y="3550285"/>
            <a:ext cx="226314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测试程序   测试效果    评价与优化</a:t>
            </a: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803" t="899" r="2883" b="3279"/>
          <a:stretch>
            <a:fillRect/>
          </a:stretch>
        </p:blipFill>
        <p:spPr>
          <a:xfrm>
            <a:off x="4701540" y="658495"/>
            <a:ext cx="4080510" cy="43611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8650" y="1765300"/>
            <a:ext cx="401574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为了训练一个口罩检测器，我们需要将我们的实践分成两个不同的阶段，每个阶段都有各自的子步骤（如右图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所示）：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训练：在这里，我们将从磁盘加载我们的口罩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检测数据集，在此数据集上训练模型（使用Keras/TensorFlow），然后将面罩检测器写入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到磁盘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部署：一旦面罩检测仪经过训练，我们就可以继续加载面罩检测模型，执行面部检测，然后将每个面部分为带口罩和不带口罩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0" y="1318260"/>
            <a:ext cx="6370320" cy="37306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8830" y="1739265"/>
            <a:ext cx="103441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加载模块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360" y="2883535"/>
            <a:ext cx="7018020" cy="21640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91845" y="1509395"/>
            <a:ext cx="67792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，设置命令行参数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--数据集：带口罩和不戴口罩的数据集的输入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路径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--plot：输出训练图的路径，将使用matplotlib生成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--模型：生成的口罩检测器模型的存储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路径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7790" y="871855"/>
            <a:ext cx="5236210" cy="41776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4630" y="1843405"/>
            <a:ext cx="360489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这个代码块的功能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获取数据集中的所有imagepath（第44行）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初始化数据和标签列表（第45行和第46行）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在图像路径上循环并加载+预处理图像（第49-60行）。预处理步骤包括调整到224×224像素，转换为数组格式，并将输入图像中的像素强度缩放到范围[-1，1]（通过预处理输入便利功能）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将预处理图像和相关标签分别附加到数据和标签列表（第59行和第60行）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确保我们的训练数据是NumPy数组格式（第63和64行）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63550" y="2936240"/>
            <a:ext cx="3175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preprocess_input(),这是tensorflow下keras自带的类似于一个归一化的函数；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其对传入的图像做了归一化处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能够加快图像的处理速度。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07790" y="871855"/>
            <a:ext cx="5236210" cy="41776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601845" y="3366135"/>
            <a:ext cx="3042920" cy="274320"/>
          </a:xfrm>
          <a:prstGeom prst="rect">
            <a:avLst/>
          </a:prstGeom>
          <a:noFill/>
          <a:ln>
            <a:solidFill>
              <a:srgbClr val="FFFF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4630" y="1843405"/>
            <a:ext cx="23482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接下来，我们将对标签进行编码，对数据集进行分区，并准备进行数据扩充：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第67-69行是一个热独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编码的类标签，这意味着我们的数据将采用以下格式：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5580" y="1318895"/>
            <a:ext cx="6408420" cy="37287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5" y="3801745"/>
            <a:ext cx="2555240" cy="10852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4630" y="1843405"/>
            <a:ext cx="234823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使用scikit learn的方法，第73行和第74行将我们的数据分成80%的训练和剩余的20%的测试。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，在训练过程中，我们将对图像应用数据增扩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，以提高泛化能力。其中在第77-84行上建立随机旋转、缩放、剪切、偏移和翻转参数。我们将在训练时使用aug对象。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5580" y="1318895"/>
            <a:ext cx="6408420" cy="37287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2755" y="1949450"/>
            <a:ext cx="5835015" cy="3071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ImageDataGenerator()是keras.preprocessing.image模块中的图片生成器，同时也可以在batch中对数据进行增强，扩充数据集大小，增强模型的泛化能力。比如进行旋转，变形，归一化等等。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rotation_range(): 旋转范围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width_shift_range(): 水平平移范围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height_shift_range(): 垂直平移范围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zoom_range(): 缩放范围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fill_mode: 填充模式, constant, nearest, reflect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horizontal_flip(): 水平反转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vertical_flip(): 垂直翻转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48689" r="42301"/>
          <a:stretch>
            <a:fillRect/>
          </a:stretch>
        </p:blipFill>
        <p:spPr>
          <a:xfrm>
            <a:off x="4535805" y="2704465"/>
            <a:ext cx="4563110" cy="23615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7785" y="1922145"/>
            <a:ext cx="247078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微调设置是一个三步过程：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加载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预先通过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ImageNet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训练的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MobileNet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权重（第88行和第89行）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，构造一个新的FC头，并将其附加到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Baseline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上以代替旧的头（第93-102行）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2390" y="2122805"/>
            <a:ext cx="6531610" cy="293751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902335" y="1498600"/>
            <a:ext cx="1790065" cy="35490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02335" y="2124710"/>
            <a:ext cx="1790065" cy="29229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乘号 4"/>
          <p:cNvSpPr/>
          <p:nvPr/>
        </p:nvSpPr>
        <p:spPr>
          <a:xfrm>
            <a:off x="1256665" y="1631315"/>
            <a:ext cx="1087755" cy="493395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95" y="3792855"/>
            <a:ext cx="1565910" cy="1352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125" y="1498600"/>
            <a:ext cx="3203575" cy="62357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78860" y="2124710"/>
            <a:ext cx="1790065" cy="292290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9450" y="1903095"/>
            <a:ext cx="68840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微调设置是一个三步过程：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冻结网络的基本层：在反向传播过程中，这些基本层的权重不会被更新，而头层的权重将被调整。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2727960"/>
            <a:ext cx="5075555" cy="7569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14630" y="1843405"/>
            <a:ext cx="234823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微调是一种策略，我几乎总是建议在节省大量时间的同时建立一个基线模型。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我们的数据准备和模型结构的微调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已经就绪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，我们现在准备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我们的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口罩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检测网络：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2018665"/>
            <a:ext cx="6560820" cy="30327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34950" y="2663190"/>
            <a:ext cx="23482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第111-113行使用Adam优化器、学习率衰减计划和二进制交叉熵编译我们的模型。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面罩训练通过117-122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行开始。</a:t>
            </a:r>
            <a:endParaRPr lang="zh-CN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注意，数据增强对象（aug）将提供一批经过修改的图像数据。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2018665"/>
            <a:ext cx="6560820" cy="30327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3845" y="1805940"/>
            <a:ext cx="1358900" cy="721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INIT_LR = 1e-4</a:t>
            </a:r>
            <a:endParaRPr lang="zh-CN" altLang="en-US"/>
          </a:p>
          <a:p>
            <a:r>
              <a:rPr lang="zh-CN" altLang="en-US"/>
              <a:t>EPOCHS = 20</a:t>
            </a:r>
            <a:endParaRPr lang="zh-CN" altLang="en-US"/>
          </a:p>
          <a:p>
            <a:r>
              <a:rPr lang="zh-CN" altLang="en-US"/>
              <a:t>BS = 32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835" y="2348865"/>
            <a:ext cx="6400165" cy="27063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41935" y="2854325"/>
            <a:ext cx="234823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这里，第126-130行在测试集上进行预测，获取最高概率的类标签索引。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然后，我们在终端打印一份分类报告以供检查。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第138行将我们的面罩分类模型</a:t>
            </a: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到磁盘。</a:t>
            </a:r>
            <a:endParaRPr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代码详解</a:t>
            </a: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9825" y="2652395"/>
            <a:ext cx="6734175" cy="24060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1945" y="2652395"/>
            <a:ext cx="14814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绘制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loss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曲线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4365"/>
            <a:ext cx="2407285" cy="188404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训练效果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5" name="图片 4" descr="P}$QYU6_)A1O~}1E13P@Y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35" y="2379980"/>
            <a:ext cx="8848725" cy="184721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训练效果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3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模型训练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0" y="730885"/>
            <a:ext cx="4144010" cy="43103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2813" t="3368" r="7695"/>
          <a:stretch>
            <a:fillRect/>
          </a:stretch>
        </p:blipFill>
        <p:spPr>
          <a:xfrm>
            <a:off x="233680" y="1711325"/>
            <a:ext cx="4111625" cy="33299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3_2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训练效果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总结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405" y="1878330"/>
            <a:ext cx="679132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，同一张图片不能同时出现在戴口罩和不戴口罩两类样本里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，注意目录结构，口罩检测功能的实现，需要数据集构建脚本，训练及测试程序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面部 landmarks可以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自动推断面部结构的位置（包括：眼睛   眉毛   鼻子   嘴   下颌线）因此我们可以使用它来帮我们构建数据集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150360" y="974725"/>
            <a:ext cx="1471930" cy="3357880"/>
            <a:chOff x="6224" y="767"/>
            <a:chExt cx="2318" cy="5288"/>
          </a:xfrm>
        </p:grpSpPr>
        <p:sp>
          <p:nvSpPr>
            <p:cNvPr id="14" name="矩形 13"/>
            <p:cNvSpPr/>
            <p:nvPr/>
          </p:nvSpPr>
          <p:spPr>
            <a:xfrm>
              <a:off x="6224" y="767"/>
              <a:ext cx="2318" cy="21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功能简介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数据集准备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24" y="3197"/>
              <a:ext cx="2318" cy="285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模型训练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测试与应用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indent="0" algn="l" defTabSz="685800">
                <a:buFont typeface="Wingdings" panose="05000000000000000000" pitchFamily="2" charset="2"/>
                <a:buNone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  <a:p>
              <a:pPr marL="400050" indent="-400050" algn="l" defTabSz="685800">
                <a:buFont typeface="Wingdings" panose="05000000000000000000" pitchFamily="2" charset="2"/>
                <a:buChar char="u"/>
              </a:pP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616450" y="2835910"/>
            <a:ext cx="1464945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代码详解   训练效果</a:t>
            </a: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endParaRPr 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4870" y="2218690"/>
            <a:ext cx="203708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数据集构建  目录结构  实现方法</a:t>
            </a:r>
            <a:endParaRPr lang="en-US" altLang="zh-CN" sz="9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16450" y="3550285"/>
            <a:ext cx="2263140" cy="299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sz="9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测试程序   测试效果    评价与优化  </a:t>
            </a:r>
            <a:endParaRPr lang="zh-CN" sz="9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</a:rPr>
              <a:t>4 </a:t>
            </a:r>
            <a:r>
              <a:rPr lang="zh-CN" altLang="en-US">
                <a:solidFill>
                  <a:schemeClr val="tx1"/>
                </a:solidFill>
              </a:rPr>
              <a:t>测试与应用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2219960"/>
            <a:ext cx="7048500" cy="28346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07310" y="1021080"/>
            <a:ext cx="574421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image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：包含用于推断的面的输入图像的路径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face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：人脸检测器模型目录的路径（需要在对人脸进行分类之前对其进行本地化）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model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：我们在本教程前面培训的面罩检测器模型的路径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confidence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：可选的概率阈值可以设置为超过50%以上的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过滤弱人脸检测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28620" y="791845"/>
            <a:ext cx="621538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从磁盘加载--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image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（第37行）时，复制并获取帧尺寸，以便将来缩放和显示（第38行和第39行）。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预处理由OpenCV的blobFromImage函数（第42行和第43行）完成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。如参数所示，我们将大小调整为300×300像素，并执行均值减去。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第47行和第48行执行面部检测以定位图像中所有面部的位置。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298065"/>
            <a:ext cx="7475220" cy="27736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4555" y="1267460"/>
            <a:ext cx="755205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在进行深度学习或者图片分类时，blobFromImage主要是用来对图片进行预处理。包含两个主要过程：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整体像素值减去平均值（mean）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2,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通过缩放系数（scalefactor）对图片像素值进行缩放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880" y="3407410"/>
            <a:ext cx="5913120" cy="1645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4417" r="4889" b="1282"/>
          <a:stretch>
            <a:fillRect/>
          </a:stretch>
        </p:blipFill>
        <p:spPr>
          <a:xfrm>
            <a:off x="0" y="2901315"/>
            <a:ext cx="3228975" cy="21329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4555" y="1267460"/>
            <a:ext cx="755205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在进行深度学习或者图片分类时，blobFromImage主要是用来对图片进行预处理。包含两个主要过程：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整体像素值减去平均值（mean）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2,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通过缩放系数（scalefactor）对图片像素值进行缩放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blob = cv2.dnn.blobFromImage(image, scalefactor=1.0, size, mean, swapRB=True)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image：这个就是我们将要输入神经网络进行处理或者分类的图片。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an：需要将图片整体减去的平均值，如果我们需要对RGB图片的三个通道分别减去不同的值，那么可以使用3组平均值，如果只使用一组，那么就默认对三个通道减去一样的值。减去平均值（mean）：为了消除同一场景下不同光照的图片，对我们最终的分类或者神经网络的影响，我们常常对图片的R、G、B通道的像素求一个平均值，然后将每个像素值减去我们的平均值，这样就可以得到像素之间的相对值，就可以排除光照的影响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4555" y="1267460"/>
            <a:ext cx="755205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在进行深度学习或者图片分类时，blobFromImage主要是用来对图片进行预处理。包含两个主要过程：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1,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整体像素值减去平均值（mean）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2,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通过缩放系数（scalefactor）对图片像素值进行缩放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blob = cv2.dnn.blobFromImage(image, scalefactor=1.0, size, mean, swapRB=True)</a:t>
            </a:r>
            <a:endParaRPr lang="zh-CN" altLang="en-US" sz="1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scalefactor：当我们将图片减去平均值之后，还可以对剩下的像素值进行一定的尺度缩放，它的默认值是1，如果希望减去平均像素之后的值，全部缩小一半，那么可以将scalefactor设为1/2。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size：这个参数是我们神经网络在训练的时候要求输入的图片尺寸。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swapRB：OpenCV中认为我们的图片通道顺序是BGR，但是我平均值假设的顺序是RGB，所以如果需要交换R和G，那么就要使swapRB=true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22930" y="1178560"/>
            <a:ext cx="56635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知道每个人脸的预测位置时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，将确保它们在提取FaceRo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之前满足--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confidence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930" y="1849755"/>
            <a:ext cx="6021070" cy="31946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9415" y="2174240"/>
            <a:ext cx="2540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我们循环检测并提取置信度：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根据--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confidence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（第51-58行）进行度量。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然后，我们计算特定面的边界框值，并确保该框落在图像的边界内（第61-67行）。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68220" y="1695450"/>
            <a:ext cx="40017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通过NumPy切片提取面部ROI（第71行）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我们在训练期间的方法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预先处理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（第72-76行）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执行口罩检测以预测是否有口罩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（第80行）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20" y="2669540"/>
            <a:ext cx="7467600" cy="23926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467485" y="1234440"/>
            <a:ext cx="73342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，首先，我们根据口罩检测器模型返回的概率（第84行）确定类标签，并为注释指定相关颜色（第85行）。有口罩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的颜色是绿色，没有口罩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的颜色是红色。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然后，我们使用OpenCV绘图函数（第92-94行）绘制标签文本（包括类和概率）以及面的边框矩形。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处理完所有检测后，第97行和第98行显示输出图像。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5" y="2439670"/>
            <a:ext cx="8214360" cy="26060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4_1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测试程序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97280" y="1671320"/>
            <a:ext cx="6606540" cy="3161030"/>
            <a:chOff x="1804" y="2524"/>
            <a:chExt cx="10404" cy="4978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rcRect b="17033"/>
            <a:stretch>
              <a:fillRect/>
            </a:stretch>
          </p:blipFill>
          <p:spPr>
            <a:xfrm>
              <a:off x="1804" y="2524"/>
              <a:ext cx="10404" cy="4978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1804" y="5253"/>
              <a:ext cx="10404" cy="61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1235" y="1095375"/>
            <a:ext cx="6664325" cy="39573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535" y="1482090"/>
            <a:ext cx="5756275" cy="35585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cxnSp>
        <p:nvCxnSpPr>
          <p:cNvPr id="3" name="直接箭头连接符 2"/>
          <p:cNvCxnSpPr/>
          <p:nvPr/>
        </p:nvCxnSpPr>
        <p:spPr>
          <a:xfrm flipV="1">
            <a:off x="1691640" y="1831340"/>
            <a:ext cx="5060315" cy="12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>
            <a:off x="1896745" y="1530350"/>
            <a:ext cx="12700" cy="33756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1896745" y="1844040"/>
            <a:ext cx="3625850" cy="2395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909445" y="1529715"/>
            <a:ext cx="533400" cy="301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674360" y="4013835"/>
            <a:ext cx="572770" cy="3016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r>
              <a:rPr lang="en-US" altLang="zh-CN"/>
              <a:t>w</a:t>
            </a:r>
            <a:r>
              <a:rPr lang="zh-CN" altLang="en-US"/>
              <a:t>，</a:t>
            </a:r>
            <a:r>
              <a:rPr lang="en-US" altLang="zh-CN"/>
              <a:t>h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705985" y="1896110"/>
            <a:ext cx="765175" cy="744220"/>
          </a:xfrm>
          <a:prstGeom prst="rect">
            <a:avLst/>
          </a:prstGeom>
          <a:solidFill>
            <a:schemeClr val="accent2">
              <a:alpha val="4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9" name="墨迹 8"/>
              <p14:cNvContentPartPr/>
              <p14:nvPr/>
            </p14:nvContentPartPr>
            <p14:xfrm>
              <a:off x="1233170" y="4624070"/>
              <a:ext cx="176530" cy="514350"/>
            </p14:xfrm>
          </p:contentPart>
        </mc:Choice>
        <mc:Fallback xmlns="">
          <p:pic>
            <p:nvPicPr>
              <p:cNvPr id="9" name="墨迹 8"/>
            </p:nvPicPr>
            <p:blipFill>
              <a:blip r:embed="rId2"/>
            </p:blipFill>
            <p:spPr>
              <a:xfrm>
                <a:off x="1233170" y="4624070"/>
                <a:ext cx="176530" cy="5143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0" name="墨迹 9"/>
              <p14:cNvContentPartPr/>
              <p14:nvPr/>
            </p14:nvContentPartPr>
            <p14:xfrm>
              <a:off x="7014845" y="1581150"/>
              <a:ext cx="147955" cy="266700"/>
            </p14:xfrm>
          </p:contentPart>
        </mc:Choice>
        <mc:Fallback xmlns="">
          <p:pic>
            <p:nvPicPr>
              <p:cNvPr id="10" name="墨迹 9"/>
            </p:nvPicPr>
            <p:blipFill>
              <a:blip r:embed="rId4"/>
            </p:blipFill>
            <p:spPr>
              <a:xfrm>
                <a:off x="7014845" y="1581150"/>
                <a:ext cx="147955" cy="266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1" name="墨迹 10"/>
              <p14:cNvContentPartPr/>
              <p14:nvPr/>
            </p14:nvContentPartPr>
            <p14:xfrm>
              <a:off x="7024370" y="1661795"/>
              <a:ext cx="171450" cy="152400"/>
            </p14:xfrm>
          </p:contentPart>
        </mc:Choice>
        <mc:Fallback xmlns="">
          <p:pic>
            <p:nvPicPr>
              <p:cNvPr id="11" name="墨迹 10"/>
            </p:nvPicPr>
            <p:blipFill>
              <a:blip r:embed="rId6"/>
            </p:blipFill>
            <p:spPr>
              <a:xfrm>
                <a:off x="7024370" y="1661795"/>
                <a:ext cx="171450" cy="152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12" name="墨迹 11"/>
              <p14:cNvContentPartPr/>
              <p14:nvPr/>
            </p14:nvContentPartPr>
            <p14:xfrm>
              <a:off x="6524625" y="1371600"/>
              <a:ext cx="118745" cy="360"/>
            </p14:xfrm>
          </p:contentPart>
        </mc:Choice>
        <mc:Fallback xmlns="">
          <p:pic>
            <p:nvPicPr>
              <p:cNvPr id="12" name="墨迹 11"/>
            </p:nvPicPr>
            <p:blipFill>
              <a:blip r:embed="rId8"/>
            </p:blipFill>
            <p:spPr>
              <a:xfrm>
                <a:off x="6524625" y="1371600"/>
                <a:ext cx="11874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13" name="墨迹 12"/>
              <p14:cNvContentPartPr/>
              <p14:nvPr/>
            </p14:nvContentPartPr>
            <p14:xfrm>
              <a:off x="6610350" y="1343025"/>
              <a:ext cx="4445" cy="9017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Id10"/>
            </p:blipFill>
            <p:spPr>
              <a:xfrm>
                <a:off x="6610350" y="1343025"/>
                <a:ext cx="4445" cy="901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14" name="墨迹 13"/>
              <p14:cNvContentPartPr/>
              <p14:nvPr/>
            </p14:nvContentPartPr>
            <p14:xfrm>
              <a:off x="2124075" y="4747895"/>
              <a:ext cx="271145" cy="47625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12"/>
            </p:blipFill>
            <p:spPr>
              <a:xfrm>
                <a:off x="2124075" y="4747895"/>
                <a:ext cx="271145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15" name="墨迹 14"/>
              <p14:cNvContentPartPr/>
              <p14:nvPr/>
            </p14:nvContentPartPr>
            <p14:xfrm>
              <a:off x="2305050" y="4643120"/>
              <a:ext cx="13970" cy="276225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14"/>
            </p:blipFill>
            <p:spPr>
              <a:xfrm>
                <a:off x="2305050" y="4643120"/>
                <a:ext cx="13970" cy="2762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16" name="墨迹 15"/>
              <p14:cNvContentPartPr/>
              <p14:nvPr/>
            </p14:nvContentPartPr>
            <p14:xfrm>
              <a:off x="1076325" y="975995"/>
              <a:ext cx="80645" cy="180975"/>
            </p14:xfrm>
          </p:contentPart>
        </mc:Choice>
        <mc:Fallback xmlns="">
          <p:pic>
            <p:nvPicPr>
              <p:cNvPr id="16" name="墨迹 15"/>
            </p:nvPicPr>
            <p:blipFill>
              <a:blip r:embed="rId16"/>
            </p:blipFill>
            <p:spPr>
              <a:xfrm>
                <a:off x="1076325" y="975995"/>
                <a:ext cx="80645" cy="1809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17" name="墨迹 16"/>
              <p14:cNvContentPartPr/>
              <p14:nvPr/>
            </p14:nvContentPartPr>
            <p14:xfrm>
              <a:off x="1162050" y="1071245"/>
              <a:ext cx="242570" cy="1905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Id18"/>
            </p:blipFill>
            <p:spPr>
              <a:xfrm>
                <a:off x="1162050" y="1071245"/>
                <a:ext cx="242570" cy="190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18" name="墨迹 17"/>
              <p14:cNvContentPartPr/>
              <p14:nvPr/>
            </p14:nvContentPartPr>
            <p14:xfrm>
              <a:off x="1476375" y="1123950"/>
              <a:ext cx="4445" cy="47625"/>
            </p14:xfrm>
          </p:contentPart>
        </mc:Choice>
        <mc:Fallback xmlns="">
          <p:pic>
            <p:nvPicPr>
              <p:cNvPr id="18" name="墨迹 17"/>
            </p:nvPicPr>
            <p:blipFill>
              <a:blip r:embed="rId20"/>
            </p:blipFill>
            <p:spPr>
              <a:xfrm>
                <a:off x="1476375" y="1123950"/>
                <a:ext cx="4445" cy="47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19" name="墨迹 18"/>
              <p14:cNvContentPartPr/>
              <p14:nvPr/>
            </p14:nvContentPartPr>
            <p14:xfrm>
              <a:off x="1619250" y="1052195"/>
              <a:ext cx="204470" cy="5080"/>
            </p14:xfrm>
          </p:contentPart>
        </mc:Choice>
        <mc:Fallback xmlns="">
          <p:pic>
            <p:nvPicPr>
              <p:cNvPr id="19" name="墨迹 18"/>
            </p:nvPicPr>
            <p:blipFill>
              <a:blip r:embed="rId22"/>
            </p:blipFill>
            <p:spPr>
              <a:xfrm>
                <a:off x="1619250" y="1052195"/>
                <a:ext cx="204470" cy="50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3" p14:bwMode="auto">
            <p14:nvContentPartPr>
              <p14:cNvPr id="20" name="墨迹 19"/>
              <p14:cNvContentPartPr/>
              <p14:nvPr/>
            </p14:nvContentPartPr>
            <p14:xfrm>
              <a:off x="1819275" y="975995"/>
              <a:ext cx="95250" cy="228600"/>
            </p14:xfrm>
          </p:contentPart>
        </mc:Choice>
        <mc:Fallback xmlns="">
          <p:pic>
            <p:nvPicPr>
              <p:cNvPr id="20" name="墨迹 19"/>
            </p:nvPicPr>
            <p:blipFill>
              <a:blip r:embed="rId24"/>
            </p:blipFill>
            <p:spPr>
              <a:xfrm>
                <a:off x="1819275" y="975995"/>
                <a:ext cx="95250" cy="228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5" p14:bwMode="auto">
            <p14:nvContentPartPr>
              <p14:cNvPr id="21" name="墨迹 20"/>
              <p14:cNvContentPartPr/>
              <p14:nvPr/>
            </p14:nvContentPartPr>
            <p14:xfrm>
              <a:off x="4912995" y="3609340"/>
              <a:ext cx="609600" cy="633095"/>
            </p14:xfrm>
          </p:contentPart>
        </mc:Choice>
        <mc:Fallback xmlns="">
          <p:pic>
            <p:nvPicPr>
              <p:cNvPr id="21" name="墨迹 20"/>
            </p:nvPicPr>
            <p:blipFill>
              <a:blip r:embed="rId26"/>
            </p:blipFill>
            <p:spPr>
              <a:xfrm>
                <a:off x="4912995" y="3609340"/>
                <a:ext cx="609600" cy="633095"/>
              </a:xfrm>
              <a:prstGeom prst="rect"/>
            </p:spPr>
          </p:pic>
        </mc:Fallback>
      </mc:AlternateContent>
    </p:spTree>
    <p:custDataLst>
      <p:tags r:id="rId27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535" y="1482090"/>
            <a:ext cx="5756275" cy="35585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075" y="2179320"/>
            <a:ext cx="322961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请记住，为了分类一个人是否戴着口罩，我们首先需要执行面部检测-如果找不到一张脸（这是在这幅图像中发生的事情），那么就不能应用口罩检测器！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我们无法检测前景中的人脸的原因是：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它被面具遮住了</a:t>
            </a:r>
            <a:endParaRPr lang="zh-CN" altLang="en-US" sz="12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用于训练面部检测器的数据集不包含戴口罩的人的示例图像因此，如果大部分人脸被遮挡，我们的人脸检测器很可能无法检测出人脸。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测试效果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735" y="2223770"/>
            <a:ext cx="6057265" cy="28301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7325" y="1344930"/>
            <a:ext cx="2898775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通过定义函数使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帧处理循环更容易阅读：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此函数检测人脸，然后将我们的口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罩分类器应用于每个人脸ROI。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detect_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_predict_mask函数接受三个参数：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frame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：来自我们的流的帧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faceNet：用于检测人脸在图像中的位置的模型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maskNet:口罩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识别模型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在内部，我们构造一个blob、检测面和初始化列表，这些列表包括我们的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faces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（即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）、loc（面位置）和pred（有口罩/无口罩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预测列表）。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小结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195" y="1967865"/>
            <a:ext cx="6059805" cy="30835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2430" y="197231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在循环中，我们过滤掉弱检测（第34-38行）并提取边界框，同时确保边界框坐标不超出图像的边界（第41-47行）。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小结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45920" y="1546225"/>
            <a:ext cx="64408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接下来，我们将在两个对应列表中添加面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在提取面部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并进行预处理（第51-56行）之后，我们将面部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ROI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和边界框附加到它们各自的列表中。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468245"/>
            <a:ext cx="7498080" cy="25831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小结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49275" y="1865630"/>
            <a:ext cx="62763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首先，我们确保至少检测到一个人脸（第64行）-如果没有，我们将返回空的pred。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其次，我们对框架中的整批面部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执行推断，以便流程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更快（第68行）。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第72行将我们的面部边界框位置和相应的有口罩/非口罩预测返回给调用函数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75" y="2922270"/>
            <a:ext cx="7894320" cy="214122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4_2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小结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4190" y="1842135"/>
            <a:ext cx="5203825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从上面的结果部分可以看出，我们的面罩检测器在数据集有限的情况下做的还不错，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尽管：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为了进一步改进我们的面罩检测模型，可以收集更多戴口罩的人的图像，不仅仅局限于人工生成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虽然人工数据集在这种情况下工作得很好，但没有什么可以替代真实的数据集。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你还应该收集面部图像，这些图像可能会“混淆”我们的分类器，使其认为此人戴着口罩，而事实上他们并没有，例如穿拉高领口的衣服，戴着围巾等等，所有这些都是可能被我们的面罩检测器混淆为戴口罩的样本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example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0" y="1399540"/>
            <a:ext cx="2880360" cy="33680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4_3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评价与优化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4190" y="1842135"/>
            <a:ext cx="52038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从上面的结果部分可以看出，我们的面罩检测器在数据集有限的情况下做的还不错，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尽管：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，为了进一步改进我们的面罩检测模型，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可以收集更多戴口罩的人的图像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，不仅仅局限于人工生成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虽然人工数据集在这种情况下工作得很好，但没有什么可以替代真实的数据集。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，你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还应该收集面部图像，尤其是有可能会“混淆”我们分类器的图像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使其认为此人戴着口罩，而事实上他们并没有，例如穿拉高领口的衣服，戴着围巾等等，所有这些都是可能被我们的面罩检测器混淆为戴口罩的样本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example_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6150" y="1399540"/>
            <a:ext cx="2880360" cy="33680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4_3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评价与优化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chemeClr val="tx1"/>
                </a:solidFill>
                <a:sym typeface="+mn-ea"/>
              </a:rPr>
              <a:t>4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测试与应用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6900" y="1842135"/>
            <a:ext cx="7949565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我们目前检测一个人是否戴口罩的方法分为两步：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步骤1：进行面部检测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步骤2：将我们的面罩检测仪应用于每个面部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这种方法的问题在于，根据定义，面罩会遮住面部的一部分。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如果有足够的人脸被遮挡，则无法检测到该人脸，因此，将不应用口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罩检测器。</a:t>
            </a:r>
            <a:endParaRPr lang="zh-CN" altLang="en-US" sz="12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为了避免这个问题，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应该训练一个两类对象检测器，该检测器由戴口罩类和不戴口罩类组成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将对象检测器与专用的with_mask类结合将允许在两个方面改进模型。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首先，目标探测器将能够自然地探测到戴着口罩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的人，否则，由于太多的脸部被遮挡，面部探测器将无法探测到这些人。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其次，这种方法将我们的计算机视觉流程简化为一个步骤-而不是应用人脸检测和我们的面罩检测器模型，这样的方法不仅</a:t>
            </a:r>
            <a:r>
              <a:rPr lang="zh-CN" altLang="en-US" sz="1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计算效率更高，而且更“优雅”和端到端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37540" y="901065"/>
            <a:ext cx="24034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4_3 </a:t>
            </a:r>
            <a:r>
              <a:rPr lang="zh-CN" altLang="en-US" sz="2000" dirty="0">
                <a:solidFill>
                  <a:srgbClr val="C00000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+mn-ea"/>
              </a:rPr>
              <a:t>评价与优化</a:t>
            </a:r>
            <a:endParaRPr lang="zh-CN" altLang="en-US" sz="2000" dirty="0">
              <a:solidFill>
                <a:srgbClr val="C00000"/>
              </a:solidFill>
              <a:latin typeface="Calibri" panose="020F050202020403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sym typeface="+mn-ea"/>
              </a:rPr>
              <a:t>总结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405" y="1878330"/>
            <a:ext cx="67913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虽然人工数据集在很多情况下工作得很好，但更推荐加入部分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真实的数据集。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，不同的训练流程，数据增扩，超参数设置等都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会产生不同的训练效果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None/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某些图像本身带有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歧义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很容易造成分类器的误判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448435" y="1563370"/>
            <a:ext cx="1998345" cy="33883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448435" y="2242185"/>
            <a:ext cx="1998345" cy="27095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p="http://schemas.openxmlformats.org/presentationml/2006/main">
  <p:tag name="KSO_WM_SLIDE_MODEL_TYPE" val="cover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193486_3*m_i*1_1"/>
  <p:tag name="KSO_WM_TEMPLATE_CATEGORY" val="diagram"/>
  <p:tag name="KSO_WM_TEMPLATE_INDEX" val="20193486"/>
  <p:tag name="KSO_WM_UNIT_LAYERLEVEL" val="1_1"/>
  <p:tag name="KSO_WM_TAG_VERSION" val="1.0"/>
  <p:tag name="KSO_WM_BEAUTIFY_FLAG" val="#wm#"/>
  <p:tag name="KSO_WM_UNIT_LINE_FORE_SCHEMECOLOR_INDEX" val="14"/>
  <p:tag name="KSO_WM_UNIT_LINE_FILL_TYPE" val="2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diagram20193486_3*m_h_i*1_1_2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3"/>
  <p:tag name="KSO_WM_UNIT_ID" val="diagram20193486_3*m_h_i*1_1_3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3"/>
  <p:tag name="KSO_WM_UNIT_ID" val="diagram20193486_3*m_h_i*1_2_3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diagram20193486_3*m_h_i*1_2_2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3"/>
  <p:tag name="KSO_WM_UNIT_ID" val="diagram20193486_3*m_h_i*1_3_3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diagram20193486_3*m_h_i*1_3_2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3"/>
  <p:tag name="KSO_WM_UNIT_ID" val="diagram20193486_3*m_h_i*1_4_3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diagram20193486_3*m_h_i*1_4_2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193486_3*m_i*1_2"/>
  <p:tag name="KSO_WM_TEMPLATE_CATEGORY" val="diagram"/>
  <p:tag name="KSO_WM_TEMPLATE_INDEX" val="20193486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diagram20193486_3*m_i*1_3"/>
  <p:tag name="KSO_WM_TEMPLATE_CATEGORY" val="diagram"/>
  <p:tag name="KSO_WM_TEMPLATE_INDEX" val="20193486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diagram20193486_3*m_i*1_4"/>
  <p:tag name="KSO_WM_TEMPLATE_CATEGORY" val="diagram"/>
  <p:tag name="KSO_WM_TEMPLATE_INDEX" val="20193486"/>
  <p:tag name="KSO_WM_UNIT_LAYERLEVEL" val="1_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3486_3*m_h_i*1_1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5"/>
  <p:tag name="KSO_WM_UNIT_FILL_TYPE" val="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193486_3*m_h_f*1_1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diagram20193486_3*m_h_a*1_1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193486_3*m_h_i*1_3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7"/>
  <p:tag name="KSO_WM_UNIT_FILL_TYPE" val="1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193486_3*m_h_f*1_3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diagram20193486_3*m_h_a*1_3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193486_3*m_h_i*1_2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6"/>
  <p:tag name="KSO_WM_UNIT_FILL_TYPE" val="1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diagram20193486_3*m_h_a*1_2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193486_3*m_h_i*1_4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FILL_FORE_SCHEMECOLOR_INDEX" val="8"/>
  <p:tag name="KSO_WM_UNIT_FILL_TYPE" val="1"/>
  <p:tag name="KSO_WM_UNIT_TEXT_FILL_FORE_SCHEMECOLOR_INDEX" val="13"/>
  <p:tag name="KSO_WM_UNIT_TEXT_FILL_TYPE" val="1"/>
</p:tagLst>
</file>

<file path=ppt/tags/tag34.xml><?xml version="1.0" encoding="utf-8"?>
<p:tagLst xmlns:p="http://schemas.openxmlformats.org/presentationml/2006/main">
  <p:tag name="KSO_WM_UNIT_SUBTYPE" val="a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193486_3*m_h_f*1_4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单击此处添加文本具体内容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diagram20193486_3*m_h_a*1_4_1"/>
  <p:tag name="KSO_WM_TEMPLATE_CATEGORY" val="diagram"/>
  <p:tag name="KSO_WM_TEMPLATE_INDEX" val="20193486"/>
  <p:tag name="KSO_WM_UNIT_LAYERLEVEL" val="1_1_1"/>
  <p:tag name="KSO_WM_TAG_VERSION" val="1.0"/>
  <p:tag name="KSO_WM_BEAUTIFY_FLAG" val="#wm#"/>
  <p:tag name="KSO_WM_UNIT_PRESET_TEXT" val="添加标题"/>
  <p:tag name="KSO_WM_UNIT_TEXT_FILL_FORE_SCHEMECOLOR_INDEX" val="13"/>
  <p:tag name="KSO_WM_UNIT_TEXT_FILL_TYPE" val="1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4.xml><?xml version="1.0" encoding="utf-8"?>
<p:tagLst xmlns:p="http://schemas.openxmlformats.org/presentationml/2006/main">
  <p:tag name="REFSHAPE" val="375660956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48.xml><?xml version="1.0" encoding="utf-8"?>
<p:tagLst xmlns:p="http://schemas.openxmlformats.org/presentationml/2006/main">
  <p:tag name="REFSHAPE" val="718790068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黑马程序员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6848</Words>
  <Application>WPS 演示</Application>
  <PresentationFormat>全屏显示(16:9)</PresentationFormat>
  <Paragraphs>538</Paragraphs>
  <Slides>59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3" baseType="lpstr">
      <vt:lpstr>Arial</vt:lpstr>
      <vt:lpstr>宋体</vt:lpstr>
      <vt:lpstr>Wingdings</vt:lpstr>
      <vt:lpstr>Segoe UI</vt:lpstr>
      <vt:lpstr>微软雅黑</vt:lpstr>
      <vt:lpstr>Calibri</vt:lpstr>
      <vt:lpstr>微软雅黑 Light</vt:lpstr>
      <vt:lpstr>Segoe UI Light</vt:lpstr>
      <vt:lpstr>黑体</vt:lpstr>
      <vt:lpstr>Arial Unicode MS</vt:lpstr>
      <vt:lpstr>等线</vt:lpstr>
      <vt:lpstr>黑马程序员主题​​</vt:lpstr>
      <vt:lpstr>Equation.KSEE3</vt:lpstr>
      <vt:lpstr>Equation.KSEE3</vt:lpstr>
      <vt:lpstr>口罩检测</vt:lpstr>
      <vt:lpstr>PowerPoint 演示文稿</vt:lpstr>
      <vt:lpstr>PowerPoint 演示文稿</vt:lpstr>
      <vt:lpstr>1 功能简介</vt:lpstr>
      <vt:lpstr>1 功能简介</vt:lpstr>
      <vt:lpstr>PowerPoint 演示文稿</vt:lpstr>
      <vt:lpstr>2 数据集准备</vt:lpstr>
      <vt:lpstr>2 数据集准备</vt:lpstr>
      <vt:lpstr>2 数据集准备</vt:lpstr>
      <vt:lpstr>2 数据集准备</vt:lpstr>
      <vt:lpstr>2 数据集准备</vt:lpstr>
      <vt:lpstr>2 数据集准备</vt:lpstr>
      <vt:lpstr>总结</vt:lpstr>
      <vt:lpstr>2 数据集准备</vt:lpstr>
      <vt:lpstr>2 数据集准备</vt:lpstr>
      <vt:lpstr>2 数据集准备</vt:lpstr>
      <vt:lpstr>PowerPoint 演示文稿</vt:lpstr>
      <vt:lpstr>3 模型训练</vt:lpstr>
      <vt:lpstr>3 模型训练</vt:lpstr>
      <vt:lpstr>3 模型训练</vt:lpstr>
      <vt:lpstr>3 模型训练</vt:lpstr>
      <vt:lpstr>3 模型训练</vt:lpstr>
      <vt:lpstr>3 模型训练</vt:lpstr>
      <vt:lpstr>3 模型训练</vt:lpstr>
      <vt:lpstr>3 模型训练</vt:lpstr>
      <vt:lpstr>3 模型训练</vt:lpstr>
      <vt:lpstr>PowerPoint 演示文稿</vt:lpstr>
      <vt:lpstr>3 模型训练</vt:lpstr>
      <vt:lpstr>3 模型训练</vt:lpstr>
      <vt:lpstr>3 模型训练</vt:lpstr>
      <vt:lpstr>3 模型训练</vt:lpstr>
      <vt:lpstr>3 模型训练</vt:lpstr>
      <vt:lpstr>3 模型训练</vt:lpstr>
      <vt:lpstr>3 模型训练</vt:lpstr>
      <vt:lpstr>总结</vt:lpstr>
      <vt:lpstr>PowerPoint 演示文稿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PowerPoint 演示文稿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4 测试与应用</vt:lpstr>
      <vt:lpstr>总结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 Fan</dc:creator>
  <cp:lastModifiedBy>只喝汤</cp:lastModifiedBy>
  <cp:revision>400</cp:revision>
  <dcterms:created xsi:type="dcterms:W3CDTF">2018-10-05T21:01:00Z</dcterms:created>
  <dcterms:modified xsi:type="dcterms:W3CDTF">2022-07-21T02:44:59Z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2052-11.1.0.11753</vt:lpwstr>
  </property>
  <property fmtid="{D5CDD505-2E9C-101B-9397-08002B2CF9AE}" pid="3" name="ICV">
    <vt:lpwstr>9911A243D2704C0B9B517454F3438DD3</vt:lpwstr>
  </property>
</Properties>
</file>