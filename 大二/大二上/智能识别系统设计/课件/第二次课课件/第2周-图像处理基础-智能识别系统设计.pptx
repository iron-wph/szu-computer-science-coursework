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</p:sldIdLst>
  <p:sldSz cx="10693400" cy="7559040"/>
  <p:notesSz cx="6858000" cy="9144000"/>
  <p:custDataLst>
    <p:tags r:id="rId3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9" Type="http://schemas.openxmlformats.org/officeDocument/2006/relationships/tags" Target="tags/tag1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hyperlink" Target="https://opencv.org/" TargetMode="Externa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jpeg"/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jpeg"/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jpeg"/><Relationship Id="rId3" Type="http://schemas.openxmlformats.org/officeDocument/2006/relationships/image" Target="../media/image4.jpeg"/><Relationship Id="rId2" Type="http://schemas.openxmlformats.org/officeDocument/2006/relationships/image" Target="../media/image13.png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image" Target="../media/image14.jpe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image" Target="../media/image15.jpe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png"/><Relationship Id="rId3" Type="http://schemas.openxmlformats.org/officeDocument/2006/relationships/image" Target="../media/image4.jpeg"/><Relationship Id="rId2" Type="http://schemas.openxmlformats.org/officeDocument/2006/relationships/image" Target="../media/image17.png"/><Relationship Id="rId1" Type="http://schemas.openxmlformats.org/officeDocument/2006/relationships/image" Target="../media/image16.jpe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jpeg"/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image" Target="../media/image4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8.jpeg"/><Relationship Id="rId6" Type="http://schemas.openxmlformats.org/officeDocument/2006/relationships/image" Target="../media/image4.jpeg"/><Relationship Id="rId5" Type="http://schemas.openxmlformats.org/officeDocument/2006/relationships/image" Target="../media/image21.png"/><Relationship Id="rId4" Type="http://schemas.openxmlformats.org/officeDocument/2006/relationships/image" Target="../media/image7.jpeg"/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4.jpeg"/><Relationship Id="rId7" Type="http://schemas.openxmlformats.org/officeDocument/2006/relationships/image" Target="../media/image19.jpeg"/><Relationship Id="rId6" Type="http://schemas.openxmlformats.org/officeDocument/2006/relationships/image" Target="../media/image24.png"/><Relationship Id="rId5" Type="http://schemas.openxmlformats.org/officeDocument/2006/relationships/image" Target="../media/image23.jpeg"/><Relationship Id="rId4" Type="http://schemas.openxmlformats.org/officeDocument/2006/relationships/image" Target="../media/image8.jpeg"/><Relationship Id="rId3" Type="http://schemas.openxmlformats.org/officeDocument/2006/relationships/image" Target="../media/image20.jpeg"/><Relationship Id="rId2" Type="http://schemas.openxmlformats.org/officeDocument/2006/relationships/image" Target="../media/image22.png"/><Relationship Id="rId1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8.jpeg"/><Relationship Id="rId6" Type="http://schemas.openxmlformats.org/officeDocument/2006/relationships/image" Target="../media/image7.jpeg"/><Relationship Id="rId5" Type="http://schemas.openxmlformats.org/officeDocument/2006/relationships/image" Target="../media/image4.jpeg"/><Relationship Id="rId4" Type="http://schemas.openxmlformats.org/officeDocument/2006/relationships/image" Target="../media/image19.jpeg"/><Relationship Id="rId3" Type="http://schemas.openxmlformats.org/officeDocument/2006/relationships/image" Target="../media/image20.jpeg"/><Relationship Id="rId2" Type="http://schemas.openxmlformats.org/officeDocument/2006/relationships/image" Target="../media/image18.png"/><Relationship Id="rId1" Type="http://schemas.openxmlformats.org/officeDocument/2006/relationships/image" Target="../media/image25.jpe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8.jpeg"/><Relationship Id="rId7" Type="http://schemas.openxmlformats.org/officeDocument/2006/relationships/image" Target="../media/image4.jpeg"/><Relationship Id="rId6" Type="http://schemas.openxmlformats.org/officeDocument/2006/relationships/image" Target="../media/image19.jpeg"/><Relationship Id="rId5" Type="http://schemas.openxmlformats.org/officeDocument/2006/relationships/image" Target="../media/image28.jpeg"/><Relationship Id="rId4" Type="http://schemas.openxmlformats.org/officeDocument/2006/relationships/image" Target="../media/image27.jpeg"/><Relationship Id="rId3" Type="http://schemas.openxmlformats.org/officeDocument/2006/relationships/image" Target="../media/image26.png"/><Relationship Id="rId2" Type="http://schemas.openxmlformats.org/officeDocument/2006/relationships/image" Target="../media/image20.jpeg"/><Relationship Id="rId1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jpeg"/><Relationship Id="rId8" Type="http://schemas.openxmlformats.org/officeDocument/2006/relationships/image" Target="../media/image19.jpeg"/><Relationship Id="rId7" Type="http://schemas.openxmlformats.org/officeDocument/2006/relationships/image" Target="../media/image20.jpeg"/><Relationship Id="rId6" Type="http://schemas.openxmlformats.org/officeDocument/2006/relationships/image" Target="../media/image18.png"/><Relationship Id="rId5" Type="http://schemas.openxmlformats.org/officeDocument/2006/relationships/image" Target="../media/image33.jpeg"/><Relationship Id="rId4" Type="http://schemas.openxmlformats.org/officeDocument/2006/relationships/image" Target="../media/image32.jpeg"/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8.jpeg"/><Relationship Id="rId10" Type="http://schemas.openxmlformats.org/officeDocument/2006/relationships/image" Target="../media/image7.jpeg"/><Relationship Id="rId1" Type="http://schemas.openxmlformats.org/officeDocument/2006/relationships/image" Target="../media/image29.jpe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8.jpeg"/><Relationship Id="rId7" Type="http://schemas.openxmlformats.org/officeDocument/2006/relationships/image" Target="../media/image7.jpeg"/><Relationship Id="rId6" Type="http://schemas.openxmlformats.org/officeDocument/2006/relationships/image" Target="../media/image4.jpeg"/><Relationship Id="rId5" Type="http://schemas.openxmlformats.org/officeDocument/2006/relationships/image" Target="../media/image19.jpeg"/><Relationship Id="rId4" Type="http://schemas.openxmlformats.org/officeDocument/2006/relationships/image" Target="../media/image20.jpeg"/><Relationship Id="rId3" Type="http://schemas.openxmlformats.org/officeDocument/2006/relationships/image" Target="../media/image18.png"/><Relationship Id="rId2" Type="http://schemas.openxmlformats.org/officeDocument/2006/relationships/image" Target="../media/image35.jpeg"/><Relationship Id="rId1" Type="http://schemas.openxmlformats.org/officeDocument/2006/relationships/image" Target="../media/image34.jpe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8.jpeg"/><Relationship Id="rId6" Type="http://schemas.openxmlformats.org/officeDocument/2006/relationships/image" Target="../media/image7.jpeg"/><Relationship Id="rId5" Type="http://schemas.openxmlformats.org/officeDocument/2006/relationships/image" Target="../media/image4.jpeg"/><Relationship Id="rId4" Type="http://schemas.openxmlformats.org/officeDocument/2006/relationships/image" Target="../media/image19.jpeg"/><Relationship Id="rId3" Type="http://schemas.openxmlformats.org/officeDocument/2006/relationships/image" Target="../media/image20.jpeg"/><Relationship Id="rId2" Type="http://schemas.openxmlformats.org/officeDocument/2006/relationships/image" Target="../media/image18.png"/><Relationship Id="rId1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8.jpeg"/><Relationship Id="rId6" Type="http://schemas.openxmlformats.org/officeDocument/2006/relationships/image" Target="../media/image7.jpeg"/><Relationship Id="rId5" Type="http://schemas.openxmlformats.org/officeDocument/2006/relationships/image" Target="../media/image4.jpeg"/><Relationship Id="rId4" Type="http://schemas.openxmlformats.org/officeDocument/2006/relationships/image" Target="../media/image20.jpeg"/><Relationship Id="rId3" Type="http://schemas.openxmlformats.org/officeDocument/2006/relationships/image" Target="../media/image39.png"/><Relationship Id="rId2" Type="http://schemas.openxmlformats.org/officeDocument/2006/relationships/image" Target="../media/image38.jpeg"/><Relationship Id="rId1" Type="http://schemas.openxmlformats.org/officeDocument/2006/relationships/image" Target="../media/image37.jpe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8.jpeg"/><Relationship Id="rId6" Type="http://schemas.openxmlformats.org/officeDocument/2006/relationships/image" Target="../media/image4.jpeg"/><Relationship Id="rId5" Type="http://schemas.openxmlformats.org/officeDocument/2006/relationships/image" Target="../media/image19.jpeg"/><Relationship Id="rId4" Type="http://schemas.openxmlformats.org/officeDocument/2006/relationships/image" Target="../media/image41.png"/><Relationship Id="rId3" Type="http://schemas.openxmlformats.org/officeDocument/2006/relationships/image" Target="../media/image20.jpeg"/><Relationship Id="rId2" Type="http://schemas.openxmlformats.org/officeDocument/2006/relationships/image" Target="../media/image18.png"/><Relationship Id="rId1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image" Target="../media/image46.png"/><Relationship Id="rId8" Type="http://schemas.openxmlformats.org/officeDocument/2006/relationships/image" Target="../media/image45.png"/><Relationship Id="rId7" Type="http://schemas.openxmlformats.org/officeDocument/2006/relationships/image" Target="../media/image4.jpeg"/><Relationship Id="rId6" Type="http://schemas.openxmlformats.org/officeDocument/2006/relationships/image" Target="../media/image19.jpeg"/><Relationship Id="rId5" Type="http://schemas.openxmlformats.org/officeDocument/2006/relationships/image" Target="../media/image20.jpeg"/><Relationship Id="rId4" Type="http://schemas.openxmlformats.org/officeDocument/2006/relationships/image" Target="../media/image18.png"/><Relationship Id="rId3" Type="http://schemas.openxmlformats.org/officeDocument/2006/relationships/image" Target="../media/image44.png"/><Relationship Id="rId2" Type="http://schemas.openxmlformats.org/officeDocument/2006/relationships/image" Target="../media/image43.jpeg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8.jpeg"/><Relationship Id="rId10" Type="http://schemas.openxmlformats.org/officeDocument/2006/relationships/image" Target="../media/image7.jpeg"/><Relationship Id="rId1" Type="http://schemas.openxmlformats.org/officeDocument/2006/relationships/image" Target="../media/image42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8.jpeg"/><Relationship Id="rId6" Type="http://schemas.openxmlformats.org/officeDocument/2006/relationships/image" Target="../media/image7.jpeg"/><Relationship Id="rId5" Type="http://schemas.openxmlformats.org/officeDocument/2006/relationships/image" Target="../media/image4.jpeg"/><Relationship Id="rId4" Type="http://schemas.openxmlformats.org/officeDocument/2006/relationships/image" Target="../media/image19.jpeg"/><Relationship Id="rId3" Type="http://schemas.openxmlformats.org/officeDocument/2006/relationships/image" Target="../media/image20.jpeg"/><Relationship Id="rId2" Type="http://schemas.openxmlformats.org/officeDocument/2006/relationships/image" Target="../media/image18.png"/><Relationship Id="rId1" Type="http://schemas.openxmlformats.org/officeDocument/2006/relationships/image" Target="../media/image47.jpe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jpeg"/><Relationship Id="rId8" Type="http://schemas.openxmlformats.org/officeDocument/2006/relationships/image" Target="../media/image7.jpeg"/><Relationship Id="rId7" Type="http://schemas.openxmlformats.org/officeDocument/2006/relationships/image" Target="../media/image20.jpeg"/><Relationship Id="rId6" Type="http://schemas.openxmlformats.org/officeDocument/2006/relationships/image" Target="../media/image19.jpeg"/><Relationship Id="rId5" Type="http://schemas.openxmlformats.org/officeDocument/2006/relationships/image" Target="../media/image18.png"/><Relationship Id="rId4" Type="http://schemas.openxmlformats.org/officeDocument/2006/relationships/image" Target="../media/image4.jpeg"/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48.jpeg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8.jpeg"/><Relationship Id="rId7" Type="http://schemas.openxmlformats.org/officeDocument/2006/relationships/image" Target="../media/image7.jpeg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4" Type="http://schemas.openxmlformats.org/officeDocument/2006/relationships/image" Target="../media/image18.png"/><Relationship Id="rId3" Type="http://schemas.openxmlformats.org/officeDocument/2006/relationships/image" Target="../media/image4.jpeg"/><Relationship Id="rId2" Type="http://schemas.openxmlformats.org/officeDocument/2006/relationships/image" Target="../media/image52.jpeg"/><Relationship Id="rId1" Type="http://schemas.openxmlformats.org/officeDocument/2006/relationships/image" Target="../media/image51.jpeg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8.jpeg"/><Relationship Id="rId7" Type="http://schemas.openxmlformats.org/officeDocument/2006/relationships/image" Target="../media/image4.jpeg"/><Relationship Id="rId6" Type="http://schemas.openxmlformats.org/officeDocument/2006/relationships/image" Target="../media/image19.jpeg"/><Relationship Id="rId5" Type="http://schemas.openxmlformats.org/officeDocument/2006/relationships/image" Target="../media/image20.jpeg"/><Relationship Id="rId4" Type="http://schemas.openxmlformats.org/officeDocument/2006/relationships/image" Target="../media/image54.jpeg"/><Relationship Id="rId3" Type="http://schemas.openxmlformats.org/officeDocument/2006/relationships/image" Target="../media/image53.jpeg"/><Relationship Id="rId2" Type="http://schemas.openxmlformats.org/officeDocument/2006/relationships/image" Target="../media/image7.jpeg"/><Relationship Id="rId1" Type="http://schemas.openxmlformats.org/officeDocument/2006/relationships/image" Target="../media/image18.png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image" Target="../media/image57.png"/><Relationship Id="rId8" Type="http://schemas.openxmlformats.org/officeDocument/2006/relationships/image" Target="../media/image8.jpeg"/><Relationship Id="rId7" Type="http://schemas.openxmlformats.org/officeDocument/2006/relationships/image" Target="../media/image7.jpeg"/><Relationship Id="rId6" Type="http://schemas.openxmlformats.org/officeDocument/2006/relationships/image" Target="../media/image56.png"/><Relationship Id="rId5" Type="http://schemas.openxmlformats.org/officeDocument/2006/relationships/image" Target="../media/image4.jpeg"/><Relationship Id="rId4" Type="http://schemas.openxmlformats.org/officeDocument/2006/relationships/image" Target="../media/image19.jpeg"/><Relationship Id="rId3" Type="http://schemas.openxmlformats.org/officeDocument/2006/relationships/image" Target="../media/image20.jpeg"/><Relationship Id="rId2" Type="http://schemas.openxmlformats.org/officeDocument/2006/relationships/image" Target="../media/image18.png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55.png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8.jpeg"/><Relationship Id="rId7" Type="http://schemas.openxmlformats.org/officeDocument/2006/relationships/image" Target="../media/image19.jpeg"/><Relationship Id="rId6" Type="http://schemas.openxmlformats.org/officeDocument/2006/relationships/image" Target="../media/image20.jpeg"/><Relationship Id="rId5" Type="http://schemas.openxmlformats.org/officeDocument/2006/relationships/image" Target="../media/image18.png"/><Relationship Id="rId4" Type="http://schemas.openxmlformats.org/officeDocument/2006/relationships/image" Target="../media/image4.jpeg"/><Relationship Id="rId3" Type="http://schemas.openxmlformats.org/officeDocument/2006/relationships/image" Target="../media/image60.jpeg"/><Relationship Id="rId2" Type="http://schemas.openxmlformats.org/officeDocument/2006/relationships/image" Target="../media/image59.jpeg"/><Relationship Id="rId1" Type="http://schemas.openxmlformats.org/officeDocument/2006/relationships/image" Target="../media/image58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8.jpeg"/><Relationship Id="rId6" Type="http://schemas.openxmlformats.org/officeDocument/2006/relationships/image" Target="../media/image7.jpeg"/><Relationship Id="rId5" Type="http://schemas.openxmlformats.org/officeDocument/2006/relationships/image" Target="../media/image4.jpeg"/><Relationship Id="rId4" Type="http://schemas.openxmlformats.org/officeDocument/2006/relationships/image" Target="../media/image19.jpeg"/><Relationship Id="rId3" Type="http://schemas.openxmlformats.org/officeDocument/2006/relationships/image" Target="../media/image20.jpeg"/><Relationship Id="rId2" Type="http://schemas.openxmlformats.org/officeDocument/2006/relationships/image" Target="../media/image18.png"/><Relationship Id="rId1" Type="http://schemas.openxmlformats.org/officeDocument/2006/relationships/image" Target="../media/image61.jpe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8.jpeg"/><Relationship Id="rId6" Type="http://schemas.openxmlformats.org/officeDocument/2006/relationships/image" Target="../media/image7.jpeg"/><Relationship Id="rId5" Type="http://schemas.openxmlformats.org/officeDocument/2006/relationships/image" Target="../media/image4.jpeg"/><Relationship Id="rId4" Type="http://schemas.openxmlformats.org/officeDocument/2006/relationships/image" Target="../media/image19.jpeg"/><Relationship Id="rId3" Type="http://schemas.openxmlformats.org/officeDocument/2006/relationships/image" Target="../media/image20.jpeg"/><Relationship Id="rId2" Type="http://schemas.openxmlformats.org/officeDocument/2006/relationships/image" Target="../media/image18.png"/><Relationship Id="rId1" Type="http://schemas.openxmlformats.org/officeDocument/2006/relationships/image" Target="../media/image62.jpeg"/></Relationships>
</file>

<file path=ppt/slides/_rels/slide3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64.png"/><Relationship Id="rId4" Type="http://schemas.openxmlformats.org/officeDocument/2006/relationships/image" Target="../media/image63.png"/><Relationship Id="rId3" Type="http://schemas.openxmlformats.org/officeDocument/2006/relationships/image" Target="../media/image8.jpeg"/><Relationship Id="rId2" Type="http://schemas.openxmlformats.org/officeDocument/2006/relationships/image" Target="../media/image19.jpeg"/><Relationship Id="rId1" Type="http://schemas.openxmlformats.org/officeDocument/2006/relationships/image" Target="../media/image18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963815" y="3802380"/>
            <a:ext cx="2831846" cy="2795016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74839" y="2718054"/>
            <a:ext cx="840485" cy="896873"/>
          </a:xfrm>
          <a:prstGeom prst="rect">
            <a:avLst/>
          </a:prstGeom>
        </p:spPr>
      </p:pic>
      <p:sp>
        <p:nvSpPr>
          <p:cNvPr id="6" name="textbox 6"/>
          <p:cNvSpPr/>
          <p:nvPr/>
        </p:nvSpPr>
        <p:spPr>
          <a:xfrm>
            <a:off x="1440319" y="2705353"/>
            <a:ext cx="6193790" cy="92265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lang="en-US" altLang="en-US" sz="600" dirty="0"/>
          </a:p>
          <a:p>
            <a:pPr marL="491490" algn="l" rtl="0" eaLnBrk="0">
              <a:lnSpc>
                <a:spcPct val="89000"/>
              </a:lnSpc>
              <a:tabLst>
                <a:tab pos="1734820" algn="l"/>
              </a:tabLst>
            </a:pPr>
            <a:r>
              <a:rPr sz="4300" kern="0" spc="0" dirty="0">
                <a:solidFill>
                  <a:srgbClr val="33339A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	</a:t>
            </a:r>
            <a:r>
              <a:rPr sz="4300" b="1" kern="0" spc="50" dirty="0">
                <a:solidFill>
                  <a:srgbClr val="33339A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智能识别系统设计</a:t>
            </a:r>
            <a:endParaRPr lang="en-US" altLang="en-US" sz="4300" dirty="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453019" y="2718053"/>
            <a:ext cx="479297" cy="896874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344803" y="393953"/>
            <a:ext cx="2466594" cy="733044"/>
          </a:xfrm>
          <a:prstGeom prst="rect">
            <a:avLst/>
          </a:prstGeom>
        </p:spPr>
      </p:pic>
      <p:sp>
        <p:nvSpPr>
          <p:cNvPr id="12" name="textbox 12"/>
          <p:cNvSpPr/>
          <p:nvPr/>
        </p:nvSpPr>
        <p:spPr>
          <a:xfrm>
            <a:off x="3823696" y="4092498"/>
            <a:ext cx="4147820" cy="38227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5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2400" b="1" kern="0" spc="-1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上课地点：深大南区致腾楼323</a:t>
            </a:r>
            <a:endParaRPr lang="en-US" altLang="en-US" sz="2400" dirty="0"/>
          </a:p>
        </p:txBody>
      </p:sp>
      <p:sp>
        <p:nvSpPr>
          <p:cNvPr id="14" name="textbox 14"/>
          <p:cNvSpPr/>
          <p:nvPr/>
        </p:nvSpPr>
        <p:spPr>
          <a:xfrm>
            <a:off x="7471783" y="5912576"/>
            <a:ext cx="2044064" cy="62484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7145" algn="l" rtl="0" eaLnBrk="0">
              <a:lnSpc>
                <a:spcPts val="2315"/>
              </a:lnSpc>
            </a:pPr>
            <a:r>
              <a:rPr sz="1900" kern="0" spc="5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深圳大学</a:t>
            </a:r>
            <a:endParaRPr lang="en-US" altLang="en-US" sz="1900" dirty="0"/>
          </a:p>
          <a:p>
            <a:pPr marL="12700" algn="l" rtl="0" eaLnBrk="0">
              <a:lnSpc>
                <a:spcPts val="2315"/>
              </a:lnSpc>
              <a:spcBef>
                <a:spcPts val="85"/>
              </a:spcBef>
            </a:pPr>
            <a:r>
              <a:rPr sz="1900" kern="0" spc="8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计算机与软件学院</a:t>
            </a:r>
            <a:endParaRPr lang="en-US" altLang="en-US" sz="1900" dirty="0"/>
          </a:p>
        </p:txBody>
      </p:sp>
      <p:sp>
        <p:nvSpPr>
          <p:cNvPr id="16" name="rect"/>
          <p:cNvSpPr/>
          <p:nvPr/>
        </p:nvSpPr>
        <p:spPr>
          <a:xfrm>
            <a:off x="1410347" y="2609850"/>
            <a:ext cx="31241" cy="1052321"/>
          </a:xfrm>
          <a:prstGeom prst="rect">
            <a:avLst/>
          </a:prstGeom>
          <a:solidFill>
            <a:srgbClr val="1C1C1C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091069" y="3432048"/>
            <a:ext cx="8692896" cy="55626"/>
          </a:xfrm>
          <a:prstGeom prst="rect">
            <a:avLst/>
          </a:prstGeom>
        </p:spPr>
      </p:pic>
      <p:sp>
        <p:nvSpPr>
          <p:cNvPr id="20" name="textbox 20"/>
          <p:cNvSpPr/>
          <p:nvPr/>
        </p:nvSpPr>
        <p:spPr>
          <a:xfrm>
            <a:off x="9354925" y="6828214"/>
            <a:ext cx="102870" cy="19367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lang="en-US" altLang="en-US" sz="100" dirty="0"/>
          </a:p>
          <a:p>
            <a:pPr algn="r" rtl="0" eaLnBrk="0">
              <a:lnSpc>
                <a:spcPct val="92000"/>
              </a:lnSpc>
            </a:pPr>
            <a:r>
              <a:rPr sz="1200" kern="0" spc="-60" dirty="0">
                <a:solidFill>
                  <a:srgbClr val="1C1C1C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1</a:t>
            </a:r>
            <a:endParaRPr lang="en-US" alt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2"/>
          <p:cNvSpPr/>
          <p:nvPr/>
        </p:nvSpPr>
        <p:spPr>
          <a:xfrm>
            <a:off x="1334547" y="2278176"/>
            <a:ext cx="8326755" cy="439102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lang="en-US" altLang="en-US" sz="100" dirty="0"/>
          </a:p>
          <a:p>
            <a:pPr marL="464185" indent="-430530" algn="l" rtl="0" eaLnBrk="0">
              <a:lnSpc>
                <a:spcPct val="97000"/>
              </a:lnSpc>
            </a:pPr>
            <a:r>
              <a:rPr sz="2400" kern="0" spc="-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数字图像处理（第三版）  Rafael</a:t>
            </a:r>
            <a:r>
              <a:rPr sz="2400" kern="0" spc="1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400" kern="0" spc="-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C.</a:t>
            </a:r>
            <a:r>
              <a:rPr sz="2400" kern="0" spc="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400" kern="0" spc="-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Gonzalez,</a:t>
            </a:r>
            <a:r>
              <a:rPr sz="2400" kern="0" spc="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400" kern="0" spc="-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Richard  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E. Woods著，阮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秋琦, 阮宇智译</a:t>
            </a:r>
            <a:r>
              <a:rPr sz="2400" kern="0" spc="3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电子工业出版社,</a:t>
            </a:r>
            <a:endParaRPr lang="en-US" altLang="en-US" sz="2400" dirty="0"/>
          </a:p>
          <a:p>
            <a:pPr marL="471805" algn="l" rtl="0" eaLnBrk="0">
              <a:lnSpc>
                <a:spcPct val="79000"/>
              </a:lnSpc>
              <a:spcBef>
                <a:spcPts val="550"/>
              </a:spcBef>
            </a:pP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2011.6.</a:t>
            </a:r>
            <a:endParaRPr lang="en-US" altLang="en-US" sz="2400" dirty="0"/>
          </a:p>
          <a:p>
            <a:pPr marL="462280" indent="-447675" algn="l" rtl="0" eaLnBrk="0">
              <a:lnSpc>
                <a:spcPct val="97000"/>
              </a:lnSpc>
              <a:spcBef>
                <a:spcPts val="230"/>
              </a:spcBef>
            </a:pP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模式分类（第二版）[美]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理查德·O.杜达（Richard，O.，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Duda）</a:t>
            </a:r>
            <a:r>
              <a:rPr sz="2400" kern="0" spc="5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著，李宏东 姚天翔</a:t>
            </a:r>
            <a:r>
              <a:rPr sz="2400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等</a:t>
            </a:r>
            <a:r>
              <a:rPr sz="2400" kern="0" spc="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400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译,</a:t>
            </a:r>
            <a:r>
              <a:rPr sz="2400" kern="0" spc="1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400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2022.5.</a:t>
            </a:r>
            <a:endParaRPr lang="en-US" altLang="en-US" sz="2400" dirty="0"/>
          </a:p>
          <a:p>
            <a:pPr algn="l" rtl="0" eaLnBrk="0">
              <a:lnSpc>
                <a:spcPct val="196000"/>
              </a:lnSpc>
            </a:pPr>
            <a:endParaRPr lang="en-US" altLang="en-US" sz="1000" dirty="0"/>
          </a:p>
          <a:p>
            <a:pPr marL="12700" algn="l" rtl="0" eaLnBrk="0">
              <a:lnSpc>
                <a:spcPct val="99000"/>
              </a:lnSpc>
              <a:spcBef>
                <a:spcPts val="700"/>
              </a:spcBef>
            </a:pPr>
            <a:r>
              <a:rPr sz="2300" kern="0" spc="-1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其他参考资料：</a:t>
            </a:r>
            <a:endParaRPr lang="en-US" altLang="en-US" sz="2300" dirty="0"/>
          </a:p>
          <a:p>
            <a:pPr marL="33655" algn="l" rtl="0" eaLnBrk="0">
              <a:lnSpc>
                <a:spcPct val="92000"/>
              </a:lnSpc>
              <a:spcBef>
                <a:spcPts val="170"/>
              </a:spcBef>
            </a:pP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hlinkClick r:id="rId1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https://opencv.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hlinkClick r:id="rId1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org/</a:t>
            </a:r>
            <a:endParaRPr lang="en-US" altLang="en-US" sz="2400" dirty="0"/>
          </a:p>
          <a:p>
            <a:pPr marL="466725" indent="-452120" algn="l" rtl="0" eaLnBrk="0">
              <a:lnSpc>
                <a:spcPct val="97000"/>
              </a:lnSpc>
              <a:spcBef>
                <a:spcPts val="240"/>
              </a:spcBef>
            </a:pP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OpenCV</a:t>
            </a:r>
            <a:r>
              <a:rPr sz="2400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3计算机视觉：Python语言实现, JoeMinichino著， </a:t>
            </a:r>
            <a:r>
              <a:rPr sz="2400" kern="0" spc="-1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机械工业出版社，</a:t>
            </a:r>
            <a:r>
              <a:rPr sz="2400" kern="0" spc="3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2400" kern="0" spc="-1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2016.6.</a:t>
            </a:r>
            <a:endParaRPr lang="en-US" altLang="en-US" sz="2400" dirty="0"/>
          </a:p>
          <a:p>
            <a:pPr marL="497840" indent="-480695" algn="l" rtl="0" eaLnBrk="0">
              <a:lnSpc>
                <a:spcPct val="97000"/>
              </a:lnSpc>
              <a:spcBef>
                <a:spcPts val="145"/>
              </a:spcBef>
            </a:pP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深度学习入门 基于Python的理论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与实现 斋藤康毅著 人   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民邮电出版社, 2018</a:t>
            </a: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.7.</a:t>
            </a:r>
            <a:endParaRPr lang="en-US" altLang="en-US" sz="2400" dirty="0"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344803" y="393953"/>
            <a:ext cx="2466594" cy="733044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 rot="21600000">
            <a:off x="1192415" y="785621"/>
            <a:ext cx="907345" cy="1053084"/>
            <a:chOff x="0" y="0"/>
            <a:chExt cx="907345" cy="1053084"/>
          </a:xfrm>
        </p:grpSpPr>
        <p:pic>
          <p:nvPicPr>
            <p:cNvPr id="26" name="picture 2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108204"/>
              <a:ext cx="862584" cy="896873"/>
            </a:xfrm>
            <a:prstGeom prst="rect">
              <a:avLst/>
            </a:prstGeom>
          </p:spPr>
        </p:pic>
        <p:sp>
          <p:nvSpPr>
            <p:cNvPr id="28" name="textbox 28"/>
            <p:cNvSpPr/>
            <p:nvPr/>
          </p:nvSpPr>
          <p:spPr>
            <a:xfrm>
              <a:off x="726412" y="378688"/>
              <a:ext cx="193675" cy="307340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000"/>
                </a:lnSpc>
              </a:pPr>
              <a:endParaRPr lang="en-US" altLang="en-US" sz="100" dirty="0"/>
            </a:p>
            <a:p>
              <a:pPr algn="r" rtl="0" eaLnBrk="0">
                <a:lnSpc>
                  <a:spcPts val="2215"/>
                </a:lnSpc>
              </a:pPr>
              <a:r>
                <a:rPr sz="1000" kern="0" spc="-130" dirty="0">
                  <a:solidFill>
                    <a:srgbClr val="000000">
                      <a:alpha val="100000"/>
                    </a:srgbClr>
                  </a:solidFill>
                  <a:latin typeface="Wingdings" panose="05000000000000000000"/>
                  <a:ea typeface="Wingdings" panose="05000000000000000000"/>
                  <a:cs typeface="Wingdings" panose="05000000000000000000"/>
                </a:rPr>
                <a:t>.</a:t>
              </a:r>
              <a:endParaRPr lang="en-US" altLang="en-US" sz="1000" dirty="0"/>
            </a:p>
          </p:txBody>
        </p:sp>
        <p:sp>
          <p:nvSpPr>
            <p:cNvPr id="30" name="rect"/>
            <p:cNvSpPr/>
            <p:nvPr/>
          </p:nvSpPr>
          <p:spPr>
            <a:xfrm>
              <a:off x="344424" y="0"/>
              <a:ext cx="32003" cy="1053084"/>
            </a:xfrm>
            <a:prstGeom prst="rect">
              <a:avLst/>
            </a:prstGeom>
            <a:solidFill>
              <a:srgbClr val="1C1C1C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pic>
        <p:nvPicPr>
          <p:cNvPr id="32" name="picture 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902093" y="1556003"/>
            <a:ext cx="560831" cy="422148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218323" y="1576578"/>
            <a:ext cx="8226552" cy="32003"/>
          </a:xfrm>
          <a:prstGeom prst="rect">
            <a:avLst/>
          </a:prstGeom>
        </p:spPr>
      </p:pic>
      <p:sp>
        <p:nvSpPr>
          <p:cNvPr id="36" name="textbox 36"/>
          <p:cNvSpPr/>
          <p:nvPr/>
        </p:nvSpPr>
        <p:spPr>
          <a:xfrm>
            <a:off x="2163439" y="1175729"/>
            <a:ext cx="1038225" cy="30162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5000"/>
              </a:lnSpc>
            </a:pPr>
            <a:r>
              <a:rPr sz="19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参考资料</a:t>
            </a:r>
            <a:endParaRPr lang="en-US" altLang="en-US" sz="1900" dirty="0"/>
          </a:p>
        </p:txBody>
      </p:sp>
      <p:sp>
        <p:nvSpPr>
          <p:cNvPr id="38" name="textbox 38"/>
          <p:cNvSpPr/>
          <p:nvPr/>
        </p:nvSpPr>
        <p:spPr>
          <a:xfrm>
            <a:off x="9622935" y="6902108"/>
            <a:ext cx="113029" cy="1987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7000"/>
              </a:lnSpc>
            </a:pP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2</a:t>
            </a:r>
            <a:endParaRPr lang="en-US" alt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40"/>
          <p:cNvSpPr/>
          <p:nvPr/>
        </p:nvSpPr>
        <p:spPr>
          <a:xfrm>
            <a:off x="1577930" y="2281565"/>
            <a:ext cx="6326504" cy="261048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7000"/>
              </a:lnSpc>
            </a:pPr>
            <a:endParaRPr lang="en-US" altLang="en-US" sz="100" dirty="0"/>
          </a:p>
          <a:p>
            <a:pPr marL="15875" algn="l" rtl="0" eaLnBrk="0">
              <a:lnSpc>
                <a:spcPct val="86000"/>
              </a:lnSpc>
            </a:pPr>
            <a:r>
              <a:rPr sz="2700" kern="0" spc="-1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基本数据结构：</a:t>
            </a:r>
            <a:endParaRPr lang="en-US" altLang="en-US" sz="2700" dirty="0"/>
          </a:p>
          <a:p>
            <a:pPr marL="12700" algn="l" rtl="0" eaLnBrk="0">
              <a:lnSpc>
                <a:spcPts val="2915"/>
              </a:lnSpc>
            </a:pP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cv::Mat</a:t>
            </a:r>
            <a:r>
              <a:rPr sz="2400" kern="0" spc="3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//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矩阵</a:t>
            </a:r>
            <a:endParaRPr lang="en-US" altLang="en-US" sz="2400" dirty="0"/>
          </a:p>
          <a:p>
            <a:pPr marL="12700" algn="l" rtl="0" eaLnBrk="0">
              <a:lnSpc>
                <a:spcPct val="96000"/>
              </a:lnSpc>
              <a:spcBef>
                <a:spcPts val="465"/>
              </a:spcBef>
            </a:pP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cv::Point //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点坐标 例：</a:t>
            </a:r>
            <a:r>
              <a:rPr sz="2400" kern="0" spc="-2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cv::Point3dp( x0, x1, x2 );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cv::Scalar //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值向量</a:t>
            </a:r>
            <a:r>
              <a:rPr sz="2400" kern="0" spc="-5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例：</a:t>
            </a:r>
            <a:r>
              <a:rPr sz="2400" kern="0" spc="-2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cv::</a:t>
            </a: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Scalar red( 0, 0, 255);</a:t>
            </a:r>
            <a:endParaRPr lang="en-US" altLang="en-US" sz="2400" dirty="0"/>
          </a:p>
          <a:p>
            <a:pPr marL="12700" algn="l" rtl="0" eaLnBrk="0">
              <a:lnSpc>
                <a:spcPct val="92000"/>
              </a:lnSpc>
              <a:spcBef>
                <a:spcPts val="230"/>
              </a:spcBef>
            </a:pP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cv::Size  //</a:t>
            </a: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大小向量</a:t>
            </a:r>
            <a:r>
              <a:rPr sz="2400" kern="0" spc="-5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例：</a:t>
            </a:r>
            <a:r>
              <a:rPr sz="2400" kern="0" spc="-2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cv::Size</a:t>
            </a:r>
            <a:r>
              <a:rPr sz="2400" kern="0" spc="-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sz( w, h );</a:t>
            </a:r>
            <a:endParaRPr lang="en-US" altLang="en-US" sz="2400" dirty="0"/>
          </a:p>
          <a:p>
            <a:pPr marL="12700" algn="l" rtl="0" eaLnBrk="0">
              <a:lnSpc>
                <a:spcPct val="96000"/>
              </a:lnSpc>
              <a:spcBef>
                <a:spcPts val="230"/>
              </a:spcBef>
            </a:pP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cv::Rect  //</a:t>
            </a: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矩形向量</a:t>
            </a:r>
            <a:r>
              <a:rPr sz="2400" kern="0" spc="-5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例：</a:t>
            </a:r>
            <a:r>
              <a:rPr sz="2400" kern="0" spc="-2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cv::Rect rt( x, y, w</a:t>
            </a:r>
            <a:r>
              <a:rPr sz="2400" kern="0" spc="-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, h );    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cv::vec_ //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向量</a:t>
            </a:r>
            <a:r>
              <a:rPr sz="2400" kern="0" spc="-5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例：</a:t>
            </a:r>
            <a:r>
              <a:rPr sz="2400" kern="0" spc="-3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Vec2fv</a:t>
            </a: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2f(x0,x1);</a:t>
            </a:r>
            <a:endParaRPr lang="en-US" altLang="en-US" sz="2400" dirty="0"/>
          </a:p>
        </p:txBody>
      </p:sp>
      <p:pic>
        <p:nvPicPr>
          <p:cNvPr id="42" name="picture 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7344803" y="393953"/>
            <a:ext cx="2466594" cy="733044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 rot="21600000">
            <a:off x="1192415" y="785621"/>
            <a:ext cx="907345" cy="1053084"/>
            <a:chOff x="0" y="0"/>
            <a:chExt cx="907345" cy="1053084"/>
          </a:xfrm>
        </p:grpSpPr>
        <p:pic>
          <p:nvPicPr>
            <p:cNvPr id="44" name="picture 4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108204"/>
              <a:ext cx="862584" cy="896873"/>
            </a:xfrm>
            <a:prstGeom prst="rect">
              <a:avLst/>
            </a:prstGeom>
          </p:spPr>
        </p:pic>
        <p:sp>
          <p:nvSpPr>
            <p:cNvPr id="46" name="textbox 46"/>
            <p:cNvSpPr/>
            <p:nvPr/>
          </p:nvSpPr>
          <p:spPr>
            <a:xfrm>
              <a:off x="726412" y="378688"/>
              <a:ext cx="193675" cy="307340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000"/>
                </a:lnSpc>
              </a:pPr>
              <a:endParaRPr lang="en-US" altLang="en-US" sz="100" dirty="0"/>
            </a:p>
            <a:p>
              <a:pPr algn="r" rtl="0" eaLnBrk="0">
                <a:lnSpc>
                  <a:spcPts val="2215"/>
                </a:lnSpc>
              </a:pPr>
              <a:r>
                <a:rPr sz="1000" kern="0" spc="-130" dirty="0">
                  <a:solidFill>
                    <a:srgbClr val="000000">
                      <a:alpha val="100000"/>
                    </a:srgbClr>
                  </a:solidFill>
                  <a:latin typeface="Wingdings" panose="05000000000000000000"/>
                  <a:ea typeface="Wingdings" panose="05000000000000000000"/>
                  <a:cs typeface="Wingdings" panose="05000000000000000000"/>
                </a:rPr>
                <a:t>.</a:t>
              </a:r>
              <a:endParaRPr lang="en-US" altLang="en-US" sz="1000" dirty="0"/>
            </a:p>
          </p:txBody>
        </p:sp>
        <p:sp>
          <p:nvSpPr>
            <p:cNvPr id="48" name="rect"/>
            <p:cNvSpPr/>
            <p:nvPr/>
          </p:nvSpPr>
          <p:spPr>
            <a:xfrm>
              <a:off x="344424" y="0"/>
              <a:ext cx="32003" cy="1053084"/>
            </a:xfrm>
            <a:prstGeom prst="rect">
              <a:avLst/>
            </a:prstGeom>
            <a:solidFill>
              <a:srgbClr val="1C1C1C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50" name="textbox 50"/>
          <p:cNvSpPr/>
          <p:nvPr/>
        </p:nvSpPr>
        <p:spPr>
          <a:xfrm>
            <a:off x="2173588" y="1177759"/>
            <a:ext cx="2799714" cy="30099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5000"/>
              </a:lnSpc>
            </a:pP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OpenCV</a:t>
            </a:r>
            <a:r>
              <a:rPr sz="1900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中关于图像操作</a:t>
            </a:r>
            <a:endParaRPr lang="en-US" altLang="en-US" sz="1900" dirty="0"/>
          </a:p>
        </p:txBody>
      </p:sp>
      <p:pic>
        <p:nvPicPr>
          <p:cNvPr id="52" name="picture 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02093" y="1556003"/>
            <a:ext cx="560831" cy="422148"/>
          </a:xfrm>
          <a:prstGeom prst="rect">
            <a:avLst/>
          </a:prstGeom>
        </p:spPr>
      </p:pic>
      <p:pic>
        <p:nvPicPr>
          <p:cNvPr id="54" name="picture 5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218323" y="1576578"/>
            <a:ext cx="8226552" cy="32003"/>
          </a:xfrm>
          <a:prstGeom prst="rect">
            <a:avLst/>
          </a:prstGeom>
        </p:spPr>
      </p:pic>
      <p:sp>
        <p:nvSpPr>
          <p:cNvPr id="56" name="textbox 56"/>
          <p:cNvSpPr/>
          <p:nvPr/>
        </p:nvSpPr>
        <p:spPr>
          <a:xfrm>
            <a:off x="9621870" y="6902108"/>
            <a:ext cx="114300" cy="1987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7000"/>
              </a:lnSpc>
            </a:pP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3</a:t>
            </a:r>
            <a:endParaRPr lang="en-US" alt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box 58"/>
          <p:cNvSpPr/>
          <p:nvPr/>
        </p:nvSpPr>
        <p:spPr>
          <a:xfrm>
            <a:off x="1076535" y="4411014"/>
            <a:ext cx="6828790" cy="226377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lang="en-US" altLang="en-US" sz="100" dirty="0"/>
          </a:p>
          <a:p>
            <a:pPr marL="12700" algn="l" rtl="0" eaLnBrk="0">
              <a:lnSpc>
                <a:spcPct val="79000"/>
              </a:lnSpc>
            </a:pP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img_src.at&lt;u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char&gt;(y, x); //gray image</a:t>
            </a:r>
            <a:endParaRPr lang="en-US" altLang="en-US" sz="2400" dirty="0"/>
          </a:p>
          <a:p>
            <a:pPr marL="12700" algn="l" rtl="0" eaLnBrk="0">
              <a:lnSpc>
                <a:spcPct val="79000"/>
              </a:lnSpc>
              <a:spcBef>
                <a:spcPts val="605"/>
              </a:spcBef>
            </a:pP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img_src.at&lt;cv::Vec3b&gt;(y, x); //c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olor image</a:t>
            </a:r>
            <a:endParaRPr lang="en-US" altLang="en-US" sz="2400" dirty="0"/>
          </a:p>
          <a:p>
            <a:pPr algn="l" rtl="0" eaLnBrk="0">
              <a:lnSpc>
                <a:spcPct val="118000"/>
              </a:lnSpc>
            </a:pPr>
            <a:endParaRPr lang="en-US" altLang="en-US" sz="1000" dirty="0"/>
          </a:p>
          <a:p>
            <a:pPr algn="l" rtl="0" eaLnBrk="0">
              <a:lnSpc>
                <a:spcPct val="118000"/>
              </a:lnSpc>
            </a:pPr>
            <a:endParaRPr lang="en-US" altLang="en-US" sz="1000" dirty="0"/>
          </a:p>
          <a:p>
            <a:pPr marL="52070" algn="l" rtl="0" eaLnBrk="0">
              <a:lnSpc>
                <a:spcPct val="95000"/>
              </a:lnSpc>
              <a:spcBef>
                <a:spcPts val="845"/>
              </a:spcBef>
            </a:pPr>
            <a:r>
              <a:rPr sz="2800" kern="0" spc="-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图像区域（</a:t>
            </a:r>
            <a:r>
              <a:rPr sz="2800" kern="0" spc="-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ROI</a:t>
            </a:r>
            <a:r>
              <a:rPr sz="2800" kern="0" spc="-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endParaRPr lang="en-US" altLang="en-US" sz="2800" dirty="0"/>
          </a:p>
          <a:p>
            <a:pPr marL="12700" algn="l" rtl="0" eaLnBrk="0">
              <a:lnSpc>
                <a:spcPct val="79000"/>
              </a:lnSpc>
              <a:spcBef>
                <a:spcPts val="455"/>
              </a:spcBef>
            </a:pP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img_rgb(cv::Rect(105,</a:t>
            </a:r>
            <a:r>
              <a:rPr sz="2400" kern="0" spc="27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18, 50, 50)); // clip</a:t>
            </a:r>
            <a:r>
              <a:rPr sz="2400" kern="0" spc="7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imag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</a:t>
            </a:r>
            <a:endParaRPr lang="en-US" altLang="en-US" sz="2400" dirty="0"/>
          </a:p>
          <a:p>
            <a:pPr marL="12700" algn="l" rtl="0" eaLnBrk="0">
              <a:lnSpc>
                <a:spcPct val="79000"/>
              </a:lnSpc>
              <a:spcBef>
                <a:spcPts val="605"/>
              </a:spcBef>
            </a:pP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img_roi(roi_rect).setTo(cv::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Scalar(255, 255, 255)); //roi</a:t>
            </a:r>
            <a:endParaRPr lang="en-US" altLang="en-US" sz="2400" dirty="0"/>
          </a:p>
        </p:txBody>
      </p:sp>
      <p:sp>
        <p:nvSpPr>
          <p:cNvPr id="60" name="textbox 60"/>
          <p:cNvSpPr/>
          <p:nvPr/>
        </p:nvSpPr>
        <p:spPr>
          <a:xfrm>
            <a:off x="1076535" y="1995815"/>
            <a:ext cx="5318125" cy="23323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2000"/>
              </a:lnSpc>
            </a:pPr>
            <a:endParaRPr lang="en-US" altLang="en-US" sz="100" dirty="0"/>
          </a:p>
          <a:p>
            <a:pPr marL="52070" algn="l" rtl="0" eaLnBrk="0">
              <a:lnSpc>
                <a:spcPct val="95000"/>
              </a:lnSpc>
            </a:pPr>
            <a:r>
              <a:rPr sz="2800" kern="0" spc="-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图像基本信息</a:t>
            </a:r>
            <a:endParaRPr lang="en-US" altLang="en-US" sz="2800" dirty="0"/>
          </a:p>
          <a:p>
            <a:pPr marL="12700" algn="l" rtl="0" eaLnBrk="0">
              <a:lnSpc>
                <a:spcPct val="77000"/>
              </a:lnSpc>
              <a:spcBef>
                <a:spcPts val="465"/>
              </a:spcBef>
            </a:pP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img_gray.rows; // height o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</a:t>
            </a:r>
            <a:r>
              <a:rPr sz="2400" kern="0" spc="-18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image</a:t>
            </a:r>
            <a:endParaRPr lang="en-US" altLang="en-US" sz="2400" dirty="0"/>
          </a:p>
          <a:p>
            <a:pPr marL="12700" algn="l" rtl="0" eaLnBrk="0">
              <a:lnSpc>
                <a:spcPts val="2935"/>
              </a:lnSpc>
            </a:pP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img_gray.cols; // width o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</a:t>
            </a:r>
            <a:r>
              <a:rPr sz="2400" kern="0" spc="-18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image</a:t>
            </a:r>
            <a:endParaRPr lang="en-US" altLang="en-US" sz="2400" dirty="0"/>
          </a:p>
          <a:p>
            <a:pPr marL="12700" algn="l" rtl="0" eaLnBrk="0">
              <a:lnSpc>
                <a:spcPct val="77000"/>
              </a:lnSpc>
              <a:spcBef>
                <a:spcPts val="605"/>
              </a:spcBef>
            </a:pP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img_gray.channels(); // number of</a:t>
            </a:r>
            <a:r>
              <a:rPr sz="2400" kern="0" spc="-17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channels</a:t>
            </a:r>
            <a:endParaRPr lang="en-US" altLang="en-US" sz="2400" dirty="0"/>
          </a:p>
          <a:p>
            <a:pPr marL="52070" algn="l" rtl="0" eaLnBrk="0">
              <a:lnSpc>
                <a:spcPts val="6540"/>
              </a:lnSpc>
            </a:pPr>
            <a:r>
              <a:rPr sz="2800" kern="0" spc="-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图像像素</a:t>
            </a:r>
            <a:endParaRPr lang="en-US" altLang="en-US" sz="2800" dirty="0"/>
          </a:p>
        </p:txBody>
      </p:sp>
      <p:pic>
        <p:nvPicPr>
          <p:cNvPr id="62" name="picture 6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6572884" y="1915667"/>
            <a:ext cx="3238500" cy="2445258"/>
          </a:xfrm>
          <a:prstGeom prst="rect">
            <a:avLst/>
          </a:prstGeom>
        </p:spPr>
      </p:pic>
      <p:pic>
        <p:nvPicPr>
          <p:cNvPr id="64" name="picture 6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344803" y="393953"/>
            <a:ext cx="2466594" cy="733044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 rot="21600000">
            <a:off x="1192415" y="785621"/>
            <a:ext cx="907345" cy="1053084"/>
            <a:chOff x="0" y="0"/>
            <a:chExt cx="907345" cy="1053084"/>
          </a:xfrm>
        </p:grpSpPr>
        <p:pic>
          <p:nvPicPr>
            <p:cNvPr id="66" name="picture 6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108204"/>
              <a:ext cx="862584" cy="896873"/>
            </a:xfrm>
            <a:prstGeom prst="rect">
              <a:avLst/>
            </a:prstGeom>
          </p:spPr>
        </p:pic>
        <p:sp>
          <p:nvSpPr>
            <p:cNvPr id="68" name="textbox 68"/>
            <p:cNvSpPr/>
            <p:nvPr/>
          </p:nvSpPr>
          <p:spPr>
            <a:xfrm>
              <a:off x="726412" y="378688"/>
              <a:ext cx="193675" cy="307340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000"/>
                </a:lnSpc>
              </a:pPr>
              <a:endParaRPr lang="en-US" altLang="en-US" sz="100" dirty="0"/>
            </a:p>
            <a:p>
              <a:pPr algn="r" rtl="0" eaLnBrk="0">
                <a:lnSpc>
                  <a:spcPts val="2215"/>
                </a:lnSpc>
              </a:pPr>
              <a:r>
                <a:rPr sz="1000" kern="0" spc="-130" dirty="0">
                  <a:solidFill>
                    <a:srgbClr val="000000">
                      <a:alpha val="100000"/>
                    </a:srgbClr>
                  </a:solidFill>
                  <a:latin typeface="Wingdings" panose="05000000000000000000"/>
                  <a:ea typeface="Wingdings" panose="05000000000000000000"/>
                  <a:cs typeface="Wingdings" panose="05000000000000000000"/>
                </a:rPr>
                <a:t>.</a:t>
              </a:r>
              <a:endParaRPr lang="en-US" altLang="en-US" sz="1000" dirty="0"/>
            </a:p>
          </p:txBody>
        </p:sp>
        <p:sp>
          <p:nvSpPr>
            <p:cNvPr id="70" name="rect"/>
            <p:cNvSpPr/>
            <p:nvPr/>
          </p:nvSpPr>
          <p:spPr>
            <a:xfrm>
              <a:off x="344424" y="0"/>
              <a:ext cx="32003" cy="1053084"/>
            </a:xfrm>
            <a:prstGeom prst="rect">
              <a:avLst/>
            </a:prstGeom>
            <a:solidFill>
              <a:srgbClr val="1C1C1C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72" name="textbox 72"/>
          <p:cNvSpPr/>
          <p:nvPr/>
        </p:nvSpPr>
        <p:spPr>
          <a:xfrm>
            <a:off x="2173588" y="1177759"/>
            <a:ext cx="2799714" cy="30099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5000"/>
              </a:lnSpc>
            </a:pP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OpenCV</a:t>
            </a:r>
            <a:r>
              <a:rPr sz="1900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中关于图像操作</a:t>
            </a:r>
            <a:endParaRPr lang="en-US" altLang="en-US" sz="1900" dirty="0"/>
          </a:p>
        </p:txBody>
      </p:sp>
      <p:pic>
        <p:nvPicPr>
          <p:cNvPr id="74" name="picture 7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902093" y="1556003"/>
            <a:ext cx="560831" cy="422148"/>
          </a:xfrm>
          <a:prstGeom prst="rect">
            <a:avLst/>
          </a:prstGeom>
        </p:spPr>
      </p:pic>
      <p:pic>
        <p:nvPicPr>
          <p:cNvPr id="76" name="picture 7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218323" y="1576578"/>
            <a:ext cx="8226552" cy="32003"/>
          </a:xfrm>
          <a:prstGeom prst="rect">
            <a:avLst/>
          </a:prstGeom>
        </p:spPr>
      </p:pic>
      <p:sp>
        <p:nvSpPr>
          <p:cNvPr id="78" name="textbox 78"/>
          <p:cNvSpPr/>
          <p:nvPr/>
        </p:nvSpPr>
        <p:spPr>
          <a:xfrm>
            <a:off x="9617076" y="6904770"/>
            <a:ext cx="119379" cy="19621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6000"/>
              </a:lnSpc>
            </a:pP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4</a:t>
            </a:r>
            <a:endParaRPr lang="en-US" alt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8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4465205" y="2273045"/>
            <a:ext cx="5241798" cy="4415028"/>
          </a:xfrm>
          <a:prstGeom prst="rect">
            <a:avLst/>
          </a:prstGeom>
        </p:spPr>
      </p:pic>
      <p:sp>
        <p:nvSpPr>
          <p:cNvPr id="82" name="textbox 82"/>
          <p:cNvSpPr/>
          <p:nvPr/>
        </p:nvSpPr>
        <p:spPr>
          <a:xfrm>
            <a:off x="1079583" y="2314564"/>
            <a:ext cx="3366770" cy="194056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lang="en-US" altLang="en-US" sz="100" dirty="0"/>
          </a:p>
          <a:p>
            <a:pPr marL="16510" algn="l" rtl="0" eaLnBrk="0">
              <a:lnSpc>
                <a:spcPct val="97000"/>
              </a:lnSpc>
            </a:pPr>
            <a:r>
              <a:rPr sz="3100" kern="0" spc="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基本运算</a:t>
            </a:r>
            <a:endParaRPr lang="en-US" altLang="en-US" sz="3100" dirty="0"/>
          </a:p>
          <a:p>
            <a:pPr marL="14605" indent="635" algn="l" rtl="0" eaLnBrk="0">
              <a:lnSpc>
                <a:spcPct val="97000"/>
              </a:lnSpc>
              <a:spcBef>
                <a:spcPts val="115"/>
              </a:spcBef>
            </a:pP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最大，最小，均值，方差</a:t>
            </a:r>
            <a:r>
              <a:rPr sz="24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求和，非零数</a:t>
            </a:r>
            <a:endParaRPr lang="en-US" altLang="en-US" sz="2400" dirty="0"/>
          </a:p>
          <a:p>
            <a:pPr marL="12700" algn="l" rtl="0" eaLnBrk="0">
              <a:lnSpc>
                <a:spcPct val="83000"/>
              </a:lnSpc>
              <a:spcBef>
                <a:spcPts val="160"/>
              </a:spcBef>
            </a:pP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加、减、乘、点乘</a:t>
            </a:r>
            <a:endParaRPr lang="en-US" altLang="en-US" sz="2400" dirty="0"/>
          </a:p>
          <a:p>
            <a:pPr marL="14605" algn="l" rtl="0" eaLnBrk="0">
              <a:lnSpc>
                <a:spcPts val="3210"/>
              </a:lnSpc>
            </a:pP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等其矩阵操作</a:t>
            </a:r>
            <a:endParaRPr lang="en-US" altLang="en-US" sz="2400" dirty="0"/>
          </a:p>
        </p:txBody>
      </p:sp>
      <p:sp>
        <p:nvSpPr>
          <p:cNvPr id="84" name="textbox 84"/>
          <p:cNvSpPr/>
          <p:nvPr/>
        </p:nvSpPr>
        <p:spPr>
          <a:xfrm>
            <a:off x="1078059" y="6858558"/>
            <a:ext cx="8658225" cy="3130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lang="en-US" altLang="en-US" sz="100" dirty="0"/>
          </a:p>
          <a:p>
            <a:pPr marL="12700" algn="l" rtl="0" eaLnBrk="0">
              <a:lnSpc>
                <a:spcPct val="79000"/>
              </a:lnSpc>
            </a:pP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cv</a:t>
            </a:r>
            <a:r>
              <a:rPr sz="2400" kern="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::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addWeighted</a:t>
            </a:r>
            <a:r>
              <a:rPr sz="2400" kern="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 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roi</a:t>
            </a:r>
            <a:r>
              <a:rPr sz="2400" kern="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1, 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alpha</a:t>
            </a:r>
            <a:r>
              <a:rPr sz="2400" kern="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, 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roi</a:t>
            </a:r>
            <a:r>
              <a:rPr sz="2400" kern="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2,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beta</a:t>
            </a:r>
            <a:r>
              <a:rPr sz="2400" kern="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, 0.0, 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roi</a:t>
            </a:r>
            <a:r>
              <a:rPr sz="2400" kern="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1 );  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                      </a:t>
            </a:r>
            <a:r>
              <a:rPr sz="2100" kern="0" spc="0" baseline="1200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5</a:t>
            </a:r>
            <a:endParaRPr lang="en-US" altLang="en-US" sz="2100" baseline="12000" dirty="0"/>
          </a:p>
        </p:txBody>
      </p:sp>
      <p:pic>
        <p:nvPicPr>
          <p:cNvPr id="86" name="picture 8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344803" y="393953"/>
            <a:ext cx="2466594" cy="733044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 rot="21600000">
            <a:off x="1192415" y="785621"/>
            <a:ext cx="907345" cy="1053084"/>
            <a:chOff x="0" y="0"/>
            <a:chExt cx="907345" cy="1053084"/>
          </a:xfrm>
        </p:grpSpPr>
        <p:pic>
          <p:nvPicPr>
            <p:cNvPr id="88" name="picture 8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108204"/>
              <a:ext cx="862584" cy="896873"/>
            </a:xfrm>
            <a:prstGeom prst="rect">
              <a:avLst/>
            </a:prstGeom>
          </p:spPr>
        </p:pic>
        <p:sp>
          <p:nvSpPr>
            <p:cNvPr id="90" name="textbox 90"/>
            <p:cNvSpPr/>
            <p:nvPr/>
          </p:nvSpPr>
          <p:spPr>
            <a:xfrm>
              <a:off x="726412" y="379450"/>
              <a:ext cx="193675" cy="307340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000"/>
                </a:lnSpc>
              </a:pPr>
              <a:endParaRPr lang="en-US" altLang="en-US" sz="100" dirty="0"/>
            </a:p>
            <a:p>
              <a:pPr algn="r" rtl="0" eaLnBrk="0">
                <a:lnSpc>
                  <a:spcPts val="2215"/>
                </a:lnSpc>
              </a:pPr>
              <a:r>
                <a:rPr sz="1000" kern="0" spc="-130" dirty="0">
                  <a:solidFill>
                    <a:srgbClr val="000000">
                      <a:alpha val="100000"/>
                    </a:srgbClr>
                  </a:solidFill>
                  <a:latin typeface="Wingdings" panose="05000000000000000000"/>
                  <a:ea typeface="Wingdings" panose="05000000000000000000"/>
                  <a:cs typeface="Wingdings" panose="05000000000000000000"/>
                </a:rPr>
                <a:t>.</a:t>
              </a:r>
              <a:endParaRPr lang="en-US" altLang="en-US" sz="1000" dirty="0"/>
            </a:p>
          </p:txBody>
        </p:sp>
        <p:sp>
          <p:nvSpPr>
            <p:cNvPr id="92" name="rect"/>
            <p:cNvSpPr/>
            <p:nvPr/>
          </p:nvSpPr>
          <p:spPr>
            <a:xfrm>
              <a:off x="344424" y="0"/>
              <a:ext cx="32003" cy="1053084"/>
            </a:xfrm>
            <a:prstGeom prst="rect">
              <a:avLst/>
            </a:prstGeom>
            <a:solidFill>
              <a:srgbClr val="1C1C1C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94" name="textbox 94"/>
          <p:cNvSpPr/>
          <p:nvPr/>
        </p:nvSpPr>
        <p:spPr>
          <a:xfrm>
            <a:off x="2173588" y="1178521"/>
            <a:ext cx="2799714" cy="30099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5000"/>
              </a:lnSpc>
            </a:pP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OpenCV</a:t>
            </a:r>
            <a:r>
              <a:rPr sz="1900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中关于图像操作</a:t>
            </a:r>
            <a:endParaRPr lang="en-US" altLang="en-US" sz="1900" dirty="0"/>
          </a:p>
        </p:txBody>
      </p:sp>
      <p:pic>
        <p:nvPicPr>
          <p:cNvPr id="96" name="picture 9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902093" y="1556003"/>
            <a:ext cx="560831" cy="422148"/>
          </a:xfrm>
          <a:prstGeom prst="rect">
            <a:avLst/>
          </a:prstGeom>
        </p:spPr>
      </p:pic>
      <p:pic>
        <p:nvPicPr>
          <p:cNvPr id="98" name="picture 9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218323" y="1576578"/>
            <a:ext cx="8226552" cy="3200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box 100"/>
          <p:cNvSpPr/>
          <p:nvPr/>
        </p:nvSpPr>
        <p:spPr>
          <a:xfrm>
            <a:off x="1899543" y="2050477"/>
            <a:ext cx="7649209" cy="20148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lang="en-US" altLang="en-US" sz="100" dirty="0"/>
          </a:p>
          <a:p>
            <a:pPr marL="34290" algn="l" rtl="0" eaLnBrk="0">
              <a:lnSpc>
                <a:spcPct val="91000"/>
              </a:lnSpc>
            </a:pPr>
            <a:r>
              <a:rPr sz="28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图像缩放</a:t>
            </a:r>
            <a:endParaRPr lang="en-US" altLang="en-US" sz="2800" dirty="0"/>
          </a:p>
          <a:p>
            <a:pPr marL="18415" indent="-5715" algn="l" rtl="0" eaLnBrk="0">
              <a:lnSpc>
                <a:spcPct val="94000"/>
              </a:lnSpc>
              <a:spcBef>
                <a:spcPts val="520"/>
              </a:spcBef>
            </a:pP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void</a:t>
            </a:r>
            <a:r>
              <a:rPr sz="1900" kern="0" spc="1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cv</a:t>
            </a:r>
            <a:r>
              <a:rPr sz="1900" kern="0" spc="1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::</a:t>
            </a:r>
            <a:r>
              <a:rPr sz="19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resize</a:t>
            </a:r>
            <a:r>
              <a:rPr sz="1900" b="1" kern="0" spc="1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900" kern="0" spc="1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InputArray</a:t>
            </a:r>
            <a:r>
              <a:rPr sz="1900" kern="0" spc="1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src</a:t>
            </a:r>
            <a:r>
              <a:rPr sz="1900" kern="0" spc="1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, 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OutputArray</a:t>
            </a:r>
            <a:r>
              <a:rPr sz="1900" kern="0" spc="1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dst</a:t>
            </a:r>
            <a:r>
              <a:rPr sz="1900" kern="0" spc="1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,</a:t>
            </a:r>
            <a:r>
              <a:rPr sz="1900" kern="0" spc="17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Size</a:t>
            </a:r>
            <a:r>
              <a:rPr sz="1900" kern="0" spc="1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dsize</a:t>
            </a:r>
            <a:r>
              <a:rPr sz="1900" kern="0" spc="1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,</a:t>
            </a:r>
            <a:r>
              <a:rPr sz="1900" kern="0" spc="8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double</a:t>
            </a:r>
            <a:r>
              <a:rPr sz="1900" kern="0" spc="8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fx</a:t>
            </a:r>
            <a:r>
              <a:rPr sz="1900" kern="0" spc="6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900" kern="0" spc="1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=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900" kern="0" spc="1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0,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double</a:t>
            </a:r>
            <a:r>
              <a:rPr sz="1900" kern="0" spc="1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fy</a:t>
            </a:r>
            <a:r>
              <a:rPr sz="1900" kern="0" spc="1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= 0, 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int</a:t>
            </a:r>
            <a:r>
              <a:rPr sz="1900" kern="0" spc="1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interpolation</a:t>
            </a:r>
            <a:r>
              <a:rPr sz="1900" kern="0" spc="1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=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INTER</a:t>
            </a:r>
            <a:r>
              <a:rPr sz="1900" kern="0" spc="1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_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LINEAR</a:t>
            </a:r>
            <a:r>
              <a:rPr sz="1900" kern="0" spc="1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)</a:t>
            </a:r>
            <a:endParaRPr lang="en-US" altLang="en-US" sz="1900" dirty="0"/>
          </a:p>
          <a:p>
            <a:pPr algn="l" rtl="0" eaLnBrk="0">
              <a:lnSpc>
                <a:spcPct val="125000"/>
              </a:lnSpc>
            </a:pPr>
            <a:endParaRPr lang="en-US" altLang="en-US" sz="1000" dirty="0"/>
          </a:p>
          <a:p>
            <a:pPr marL="34290" algn="l" rtl="0" eaLnBrk="0">
              <a:lnSpc>
                <a:spcPct val="91000"/>
              </a:lnSpc>
              <a:spcBef>
                <a:spcPts val="845"/>
              </a:spcBef>
            </a:pPr>
            <a:r>
              <a:rPr sz="28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图像镜像</a:t>
            </a:r>
            <a:endParaRPr lang="en-US" altLang="en-US" sz="2800" dirty="0"/>
          </a:p>
          <a:p>
            <a:pPr marL="12700" algn="l" rtl="0" eaLnBrk="0">
              <a:lnSpc>
                <a:spcPct val="83000"/>
              </a:lnSpc>
              <a:spcBef>
                <a:spcPts val="515"/>
              </a:spcBef>
            </a:pPr>
            <a:r>
              <a:rPr sz="1900" kern="0" spc="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void cv::</a:t>
            </a:r>
            <a:r>
              <a:rPr sz="1900" b="1" kern="0" spc="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flip</a:t>
            </a:r>
            <a:r>
              <a:rPr sz="1900" kern="0" spc="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(InputArray src, OutputA</a:t>
            </a:r>
            <a:r>
              <a:rPr sz="1900" kern="0" spc="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rray dst, int flipCode)</a:t>
            </a:r>
            <a:endParaRPr lang="en-US" altLang="en-US" sz="1900" dirty="0"/>
          </a:p>
        </p:txBody>
      </p:sp>
      <p:pic>
        <p:nvPicPr>
          <p:cNvPr id="102" name="picture 1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747151" y="4182617"/>
            <a:ext cx="7343393" cy="1323594"/>
          </a:xfrm>
          <a:prstGeom prst="rect">
            <a:avLst/>
          </a:prstGeom>
        </p:spPr>
      </p:pic>
      <p:pic>
        <p:nvPicPr>
          <p:cNvPr id="104" name="picture 1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344803" y="393953"/>
            <a:ext cx="2466594" cy="733044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 rot="21600000">
            <a:off x="1192415" y="785621"/>
            <a:ext cx="907345" cy="1053084"/>
            <a:chOff x="0" y="0"/>
            <a:chExt cx="907345" cy="1053084"/>
          </a:xfrm>
        </p:grpSpPr>
        <p:pic>
          <p:nvPicPr>
            <p:cNvPr id="106" name="picture 10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108204"/>
              <a:ext cx="862584" cy="896873"/>
            </a:xfrm>
            <a:prstGeom prst="rect">
              <a:avLst/>
            </a:prstGeom>
          </p:spPr>
        </p:pic>
        <p:sp>
          <p:nvSpPr>
            <p:cNvPr id="108" name="textbox 108"/>
            <p:cNvSpPr/>
            <p:nvPr/>
          </p:nvSpPr>
          <p:spPr>
            <a:xfrm>
              <a:off x="726412" y="378688"/>
              <a:ext cx="193675" cy="307340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000"/>
                </a:lnSpc>
              </a:pPr>
              <a:endParaRPr lang="en-US" altLang="en-US" sz="100" dirty="0"/>
            </a:p>
            <a:p>
              <a:pPr algn="r" rtl="0" eaLnBrk="0">
                <a:lnSpc>
                  <a:spcPts val="2215"/>
                </a:lnSpc>
              </a:pPr>
              <a:r>
                <a:rPr sz="1000" kern="0" spc="-130" dirty="0">
                  <a:solidFill>
                    <a:srgbClr val="000000">
                      <a:alpha val="100000"/>
                    </a:srgbClr>
                  </a:solidFill>
                  <a:latin typeface="Wingdings" panose="05000000000000000000"/>
                  <a:ea typeface="Wingdings" panose="05000000000000000000"/>
                  <a:cs typeface="Wingdings" panose="05000000000000000000"/>
                </a:rPr>
                <a:t>.</a:t>
              </a:r>
              <a:endParaRPr lang="en-US" altLang="en-US" sz="1000" dirty="0"/>
            </a:p>
          </p:txBody>
        </p:sp>
        <p:sp>
          <p:nvSpPr>
            <p:cNvPr id="110" name="rect"/>
            <p:cNvSpPr/>
            <p:nvPr/>
          </p:nvSpPr>
          <p:spPr>
            <a:xfrm>
              <a:off x="344424" y="0"/>
              <a:ext cx="32003" cy="1053084"/>
            </a:xfrm>
            <a:prstGeom prst="rect">
              <a:avLst/>
            </a:prstGeom>
            <a:solidFill>
              <a:srgbClr val="1C1C1C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12" name="textbox 112"/>
          <p:cNvSpPr/>
          <p:nvPr/>
        </p:nvSpPr>
        <p:spPr>
          <a:xfrm>
            <a:off x="2173588" y="1177759"/>
            <a:ext cx="2799714" cy="30099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5000"/>
              </a:lnSpc>
            </a:pP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OpenCV</a:t>
            </a:r>
            <a:r>
              <a:rPr sz="1900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中关于图像操作</a:t>
            </a:r>
            <a:endParaRPr lang="en-US" altLang="en-US" sz="1900" dirty="0"/>
          </a:p>
        </p:txBody>
      </p:sp>
      <p:pic>
        <p:nvPicPr>
          <p:cNvPr id="114" name="picture 1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902093" y="1556003"/>
            <a:ext cx="560831" cy="422148"/>
          </a:xfrm>
          <a:prstGeom prst="rect">
            <a:avLst/>
          </a:prstGeom>
        </p:spPr>
      </p:pic>
      <p:pic>
        <p:nvPicPr>
          <p:cNvPr id="116" name="picture 1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218323" y="1576578"/>
            <a:ext cx="8226552" cy="32003"/>
          </a:xfrm>
          <a:prstGeom prst="rect">
            <a:avLst/>
          </a:prstGeom>
        </p:spPr>
      </p:pic>
      <p:sp>
        <p:nvSpPr>
          <p:cNvPr id="118" name="textbox 118"/>
          <p:cNvSpPr/>
          <p:nvPr/>
        </p:nvSpPr>
        <p:spPr>
          <a:xfrm>
            <a:off x="9620982" y="6902285"/>
            <a:ext cx="114935" cy="1987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7000"/>
              </a:lnSpc>
            </a:pP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6</a:t>
            </a:r>
            <a:endParaRPr lang="en-US" alt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picture 1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2324747" y="2535173"/>
            <a:ext cx="6484619" cy="4319016"/>
          </a:xfrm>
          <a:prstGeom prst="rect">
            <a:avLst/>
          </a:prstGeom>
        </p:spPr>
      </p:pic>
      <p:pic>
        <p:nvPicPr>
          <p:cNvPr id="122" name="picture 1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344803" y="393953"/>
            <a:ext cx="2466594" cy="733044"/>
          </a:xfrm>
          <a:prstGeom prst="rect">
            <a:avLst/>
          </a:prstGeom>
        </p:spPr>
      </p:pic>
      <p:sp>
        <p:nvSpPr>
          <p:cNvPr id="124" name="textbox 124"/>
          <p:cNvSpPr/>
          <p:nvPr/>
        </p:nvSpPr>
        <p:spPr>
          <a:xfrm>
            <a:off x="1758477" y="1760512"/>
            <a:ext cx="3524884" cy="41338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1000"/>
              </a:lnSpc>
            </a:pPr>
            <a:r>
              <a:rPr sz="2800" kern="0" spc="-1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仿射变换（目标校正）</a:t>
            </a:r>
            <a:endParaRPr lang="en-US" altLang="en-US" sz="2800" dirty="0"/>
          </a:p>
        </p:txBody>
      </p:sp>
      <p:grpSp>
        <p:nvGrpSpPr>
          <p:cNvPr id="12" name="group 12"/>
          <p:cNvGrpSpPr/>
          <p:nvPr/>
        </p:nvGrpSpPr>
        <p:grpSpPr>
          <a:xfrm rot="21600000">
            <a:off x="1192415" y="785621"/>
            <a:ext cx="907345" cy="1053084"/>
            <a:chOff x="0" y="0"/>
            <a:chExt cx="907345" cy="1053084"/>
          </a:xfrm>
        </p:grpSpPr>
        <p:pic>
          <p:nvPicPr>
            <p:cNvPr id="126" name="picture 12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108204"/>
              <a:ext cx="862584" cy="896873"/>
            </a:xfrm>
            <a:prstGeom prst="rect">
              <a:avLst/>
            </a:prstGeom>
          </p:spPr>
        </p:pic>
        <p:sp>
          <p:nvSpPr>
            <p:cNvPr id="128" name="textbox 128"/>
            <p:cNvSpPr/>
            <p:nvPr/>
          </p:nvSpPr>
          <p:spPr>
            <a:xfrm>
              <a:off x="726412" y="379450"/>
              <a:ext cx="193675" cy="307340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000"/>
                </a:lnSpc>
              </a:pPr>
              <a:endParaRPr lang="en-US" altLang="en-US" sz="100" dirty="0"/>
            </a:p>
            <a:p>
              <a:pPr algn="r" rtl="0" eaLnBrk="0">
                <a:lnSpc>
                  <a:spcPts val="2215"/>
                </a:lnSpc>
              </a:pPr>
              <a:r>
                <a:rPr sz="1000" kern="0" spc="-130" dirty="0">
                  <a:solidFill>
                    <a:srgbClr val="000000">
                      <a:alpha val="100000"/>
                    </a:srgbClr>
                  </a:solidFill>
                  <a:latin typeface="Wingdings" panose="05000000000000000000"/>
                  <a:ea typeface="Wingdings" panose="05000000000000000000"/>
                  <a:cs typeface="Wingdings" panose="05000000000000000000"/>
                </a:rPr>
                <a:t>.</a:t>
              </a:r>
              <a:endParaRPr lang="en-US" altLang="en-US" sz="1000" dirty="0"/>
            </a:p>
          </p:txBody>
        </p:sp>
        <p:sp>
          <p:nvSpPr>
            <p:cNvPr id="130" name="rect"/>
            <p:cNvSpPr/>
            <p:nvPr/>
          </p:nvSpPr>
          <p:spPr>
            <a:xfrm>
              <a:off x="344424" y="0"/>
              <a:ext cx="32003" cy="1053084"/>
            </a:xfrm>
            <a:prstGeom prst="rect">
              <a:avLst/>
            </a:prstGeom>
            <a:solidFill>
              <a:srgbClr val="1C1C1C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32" name="textbox 132"/>
          <p:cNvSpPr/>
          <p:nvPr/>
        </p:nvSpPr>
        <p:spPr>
          <a:xfrm>
            <a:off x="2173588" y="1178521"/>
            <a:ext cx="2799714" cy="30099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5000"/>
              </a:lnSpc>
            </a:pP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OpenCV</a:t>
            </a:r>
            <a:r>
              <a:rPr sz="1900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中关于图像操作</a:t>
            </a:r>
            <a:endParaRPr lang="en-US" altLang="en-US" sz="1900" dirty="0"/>
          </a:p>
        </p:txBody>
      </p:sp>
      <p:sp>
        <p:nvSpPr>
          <p:cNvPr id="134" name="textbox 134"/>
          <p:cNvSpPr/>
          <p:nvPr/>
        </p:nvSpPr>
        <p:spPr>
          <a:xfrm>
            <a:off x="1763858" y="2227122"/>
            <a:ext cx="2075814" cy="3130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lang="en-US" altLang="en-US" sz="100" dirty="0"/>
          </a:p>
          <a:p>
            <a:pPr marL="12700" algn="l" rtl="0" eaLnBrk="0">
              <a:lnSpc>
                <a:spcPct val="79000"/>
              </a:lnSpc>
            </a:pP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cv::warpAffine()</a:t>
            </a:r>
            <a:endParaRPr lang="en-US" altLang="en-US" sz="2400" dirty="0"/>
          </a:p>
        </p:txBody>
      </p:sp>
      <p:pic>
        <p:nvPicPr>
          <p:cNvPr id="136" name="picture 1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902093" y="1556003"/>
            <a:ext cx="560831" cy="422148"/>
          </a:xfrm>
          <a:prstGeom prst="rect">
            <a:avLst/>
          </a:prstGeom>
        </p:spPr>
      </p:pic>
      <p:pic>
        <p:nvPicPr>
          <p:cNvPr id="138" name="picture 13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218323" y="1576578"/>
            <a:ext cx="8226552" cy="32003"/>
          </a:xfrm>
          <a:prstGeom prst="rect">
            <a:avLst/>
          </a:prstGeom>
        </p:spPr>
      </p:pic>
      <p:sp>
        <p:nvSpPr>
          <p:cNvPr id="140" name="textbox 140"/>
          <p:cNvSpPr/>
          <p:nvPr/>
        </p:nvSpPr>
        <p:spPr>
          <a:xfrm>
            <a:off x="9622047" y="6905531"/>
            <a:ext cx="114300" cy="19621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6000"/>
              </a:lnSpc>
            </a:pP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7</a:t>
            </a:r>
            <a:endParaRPr lang="en-US" alt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box 142"/>
          <p:cNvSpPr/>
          <p:nvPr/>
        </p:nvSpPr>
        <p:spPr>
          <a:xfrm>
            <a:off x="1323069" y="2100554"/>
            <a:ext cx="7762875" cy="423862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lang="en-US" altLang="en-US" sz="100" dirty="0"/>
          </a:p>
          <a:p>
            <a:pPr marL="21590" algn="l" rtl="0" eaLnBrk="0">
              <a:lnSpc>
                <a:spcPct val="95000"/>
              </a:lnSpc>
            </a:pPr>
            <a:r>
              <a:rPr sz="1800" b="1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仿射变换</a:t>
            </a:r>
            <a:endParaRPr lang="en-US" altLang="en-US" sz="1800" dirty="0"/>
          </a:p>
          <a:p>
            <a:pPr marL="22225" indent="-4445" algn="l" rtl="0" eaLnBrk="0">
              <a:lnSpc>
                <a:spcPct val="96000"/>
              </a:lnSpc>
              <a:spcBef>
                <a:spcPts val="70"/>
              </a:spcBef>
            </a:pP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void cv::</a:t>
            </a:r>
            <a:r>
              <a:rPr sz="1600" b="1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warpAffine</a:t>
            </a:r>
            <a:r>
              <a:rPr sz="1600" kern="0" spc="3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 InputArray  src, OutputArray</a:t>
            </a:r>
            <a:r>
              <a:rPr sz="1600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dst,</a:t>
            </a:r>
            <a:r>
              <a:rPr sz="1600" kern="0" spc="1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InputArray  M,</a:t>
            </a:r>
            <a:r>
              <a:rPr sz="1600" kern="0" spc="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Size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dsize, int  flags = INTER_LINE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AR,</a:t>
            </a:r>
            <a:r>
              <a:rPr sz="1600" kern="0" spc="1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int</a:t>
            </a:r>
            <a:r>
              <a:rPr sz="1600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borderMode</a:t>
            </a:r>
            <a:r>
              <a:rPr sz="1600" kern="0" spc="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sz="1600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BORDER_CONSTANT,</a:t>
            </a:r>
            <a:r>
              <a:rPr sz="16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const</a:t>
            </a:r>
            <a:endParaRPr lang="en-US" altLang="en-US" sz="1600" dirty="0"/>
          </a:p>
          <a:p>
            <a:pPr marL="19685" algn="l" rtl="0" eaLnBrk="0">
              <a:lnSpc>
                <a:spcPct val="96000"/>
              </a:lnSpc>
              <a:spcBef>
                <a:spcPts val="160"/>
              </a:spcBef>
            </a:pP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Scalar &amp;  borderValue = Scalar()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)</a:t>
            </a:r>
            <a:endParaRPr lang="en-US" altLang="en-US" sz="1600" dirty="0"/>
          </a:p>
          <a:p>
            <a:pPr algn="l" rtl="0" eaLnBrk="0">
              <a:lnSpc>
                <a:spcPct val="143000"/>
              </a:lnSpc>
            </a:pPr>
            <a:endParaRPr lang="en-US" altLang="en-US" sz="1000" dirty="0"/>
          </a:p>
          <a:p>
            <a:pPr marL="21590" algn="l" rtl="0" eaLnBrk="0">
              <a:lnSpc>
                <a:spcPct val="95000"/>
              </a:lnSpc>
              <a:spcBef>
                <a:spcPts val="545"/>
              </a:spcBef>
            </a:pPr>
            <a:r>
              <a:rPr sz="1800" b="1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旋转矩阵</a:t>
            </a:r>
            <a:endParaRPr lang="en-US" altLang="en-US" sz="1800" dirty="0"/>
          </a:p>
          <a:p>
            <a:pPr marL="15875" indent="-3810" algn="l" rtl="0" eaLnBrk="0">
              <a:lnSpc>
                <a:spcPct val="96000"/>
              </a:lnSpc>
              <a:spcBef>
                <a:spcPts val="70"/>
              </a:spcBef>
            </a:pP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Mat cv::getRotationMatrix2D</a:t>
            </a:r>
            <a:r>
              <a:rPr sz="1600" kern="0" spc="3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(Point2f center, double angle,</a:t>
            </a: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double</a:t>
            </a:r>
            <a:r>
              <a:rPr sz="1600" kern="0" spc="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scale)     </a:t>
            </a:r>
            <a:r>
              <a:rPr sz="1600" kern="0" spc="-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Ex1：</a:t>
            </a:r>
            <a:endParaRPr lang="en-US" altLang="en-US" sz="1600" dirty="0"/>
          </a:p>
          <a:p>
            <a:pPr marL="22860" algn="l" rtl="0" eaLnBrk="0">
              <a:lnSpc>
                <a:spcPct val="92000"/>
              </a:lnSpc>
              <a:spcBef>
                <a:spcPts val="160"/>
              </a:spcBef>
            </a:pP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cv::Mat rot_mat = cv::getRotationMatrix2D(center, rotate_degr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ee, 1.0);</a:t>
            </a:r>
            <a:endParaRPr lang="en-US" altLang="en-US" sz="1600" dirty="0"/>
          </a:p>
          <a:p>
            <a:pPr marL="22860" algn="l" rtl="0" eaLnBrk="0">
              <a:lnSpc>
                <a:spcPct val="83000"/>
              </a:lnSpc>
              <a:spcBef>
                <a:spcPts val="160"/>
              </a:spcBef>
            </a:pP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cv::warpAffine(img_src, img_rotate, rot_mat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 src_sz);</a:t>
            </a:r>
            <a:endParaRPr lang="en-US" altLang="en-US" sz="1600" dirty="0"/>
          </a:p>
          <a:p>
            <a:pPr marL="16510" algn="l" rtl="0" eaLnBrk="0">
              <a:lnSpc>
                <a:spcPts val="1720"/>
              </a:lnSpc>
            </a:pPr>
            <a:r>
              <a:rPr sz="1400" kern="0" spc="-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Ex2：</a:t>
            </a:r>
            <a:endParaRPr lang="en-US" altLang="en-US" sz="1400" dirty="0"/>
          </a:p>
          <a:p>
            <a:pPr marL="22860" algn="l" rtl="0" eaLnBrk="0">
              <a:lnSpc>
                <a:spcPct val="92000"/>
              </a:lnSpc>
              <a:spcBef>
                <a:spcPts val="520"/>
              </a:spcBef>
            </a:pP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cv::Rect2f bbox = cv::RotatedRect(cv::Point2f(), img_sr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c.size(),</a:t>
            </a:r>
            <a:endParaRPr lang="en-US" altLang="en-US" sz="1600" dirty="0"/>
          </a:p>
          <a:p>
            <a:pPr marL="17145" algn="l" rtl="0" eaLnBrk="0">
              <a:lnSpc>
                <a:spcPct val="92000"/>
              </a:lnSpc>
              <a:spcBef>
                <a:spcPts val="155"/>
              </a:spcBef>
            </a:pP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rotate_degree).boundingRec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t();</a:t>
            </a:r>
            <a:endParaRPr lang="en-US" altLang="en-US" sz="1600" dirty="0"/>
          </a:p>
          <a:p>
            <a:pPr marL="17780" algn="l" rtl="0" eaLnBrk="0">
              <a:lnSpc>
                <a:spcPct val="93000"/>
              </a:lnSpc>
              <a:spcBef>
                <a:spcPts val="145"/>
              </a:spcBef>
            </a:pP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// adjust transformation matrix--translation transform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ation</a:t>
            </a:r>
            <a:endParaRPr lang="en-US" altLang="en-US" sz="1600" dirty="0"/>
          </a:p>
          <a:p>
            <a:pPr marL="17145" algn="l" rtl="0" eaLnBrk="0">
              <a:lnSpc>
                <a:spcPct val="96000"/>
              </a:lnSpc>
              <a:spcBef>
                <a:spcPts val="140"/>
              </a:spcBef>
            </a:pP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rot_mat.at&lt;double&gt;(0, 2) += bbox.width / 2.0 -</a:t>
            </a:r>
            <a:r>
              <a:rPr sz="1600" kern="0" spc="1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img_src.cols /</a:t>
            </a:r>
            <a:r>
              <a:rPr sz="16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2.0;        </a:t>
            </a: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rot_mat.at&lt;double&gt;(1, 2) += bbox.h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eight / 2.0 -</a:t>
            </a:r>
            <a:r>
              <a:rPr sz="1600" kern="0" spc="1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img_src.rows /</a:t>
            </a:r>
            <a:r>
              <a:rPr sz="16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2.0;</a:t>
            </a:r>
            <a:endParaRPr lang="en-US" altLang="en-US" sz="1600" dirty="0"/>
          </a:p>
          <a:p>
            <a:pPr marL="22860" algn="l" rtl="0" eaLnBrk="0">
              <a:lnSpc>
                <a:spcPct val="92000"/>
              </a:lnSpc>
              <a:spcBef>
                <a:spcPts val="155"/>
              </a:spcBef>
            </a:pP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cv::warpAffine(img_src, img_urotate, rot_mat, bbo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x.size());</a:t>
            </a:r>
            <a:endParaRPr lang="en-US" altLang="en-US" sz="1600" dirty="0"/>
          </a:p>
        </p:txBody>
      </p:sp>
      <p:pic>
        <p:nvPicPr>
          <p:cNvPr id="144" name="picture 14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7344803" y="393953"/>
            <a:ext cx="2466594" cy="733044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 rot="21600000">
            <a:off x="1192415" y="785621"/>
            <a:ext cx="907345" cy="1053084"/>
            <a:chOff x="0" y="0"/>
            <a:chExt cx="907345" cy="1053084"/>
          </a:xfrm>
        </p:grpSpPr>
        <p:pic>
          <p:nvPicPr>
            <p:cNvPr id="146" name="picture 14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108204"/>
              <a:ext cx="862584" cy="896873"/>
            </a:xfrm>
            <a:prstGeom prst="rect">
              <a:avLst/>
            </a:prstGeom>
          </p:spPr>
        </p:pic>
        <p:sp>
          <p:nvSpPr>
            <p:cNvPr id="148" name="textbox 148"/>
            <p:cNvSpPr/>
            <p:nvPr/>
          </p:nvSpPr>
          <p:spPr>
            <a:xfrm>
              <a:off x="726412" y="378688"/>
              <a:ext cx="193675" cy="307340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000"/>
                </a:lnSpc>
              </a:pPr>
              <a:endParaRPr lang="en-US" altLang="en-US" sz="100" dirty="0"/>
            </a:p>
            <a:p>
              <a:pPr algn="r" rtl="0" eaLnBrk="0">
                <a:lnSpc>
                  <a:spcPts val="2215"/>
                </a:lnSpc>
              </a:pPr>
              <a:r>
                <a:rPr sz="1000" kern="0" spc="-130" dirty="0">
                  <a:solidFill>
                    <a:srgbClr val="000000">
                      <a:alpha val="100000"/>
                    </a:srgbClr>
                  </a:solidFill>
                  <a:latin typeface="Wingdings" panose="05000000000000000000"/>
                  <a:ea typeface="Wingdings" panose="05000000000000000000"/>
                  <a:cs typeface="Wingdings" panose="05000000000000000000"/>
                </a:rPr>
                <a:t>.</a:t>
              </a:r>
              <a:endParaRPr lang="en-US" altLang="en-US" sz="1000" dirty="0"/>
            </a:p>
          </p:txBody>
        </p:sp>
        <p:sp>
          <p:nvSpPr>
            <p:cNvPr id="150" name="rect"/>
            <p:cNvSpPr/>
            <p:nvPr/>
          </p:nvSpPr>
          <p:spPr>
            <a:xfrm>
              <a:off x="344424" y="0"/>
              <a:ext cx="32003" cy="1053084"/>
            </a:xfrm>
            <a:prstGeom prst="rect">
              <a:avLst/>
            </a:prstGeom>
            <a:solidFill>
              <a:srgbClr val="1C1C1C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52" name="textbox 152"/>
          <p:cNvSpPr/>
          <p:nvPr/>
        </p:nvSpPr>
        <p:spPr>
          <a:xfrm>
            <a:off x="2173588" y="1177759"/>
            <a:ext cx="2799714" cy="30099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5000"/>
              </a:lnSpc>
            </a:pP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OpenCV</a:t>
            </a:r>
            <a:r>
              <a:rPr sz="1900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中关于图像操作</a:t>
            </a:r>
            <a:endParaRPr lang="en-US" altLang="en-US" sz="1900" dirty="0"/>
          </a:p>
        </p:txBody>
      </p:sp>
      <p:pic>
        <p:nvPicPr>
          <p:cNvPr id="154" name="picture 1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02093" y="1556003"/>
            <a:ext cx="560831" cy="422148"/>
          </a:xfrm>
          <a:prstGeom prst="rect">
            <a:avLst/>
          </a:prstGeom>
        </p:spPr>
      </p:pic>
      <p:pic>
        <p:nvPicPr>
          <p:cNvPr id="156" name="picture 15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218323" y="1576578"/>
            <a:ext cx="8226552" cy="32003"/>
          </a:xfrm>
          <a:prstGeom prst="rect">
            <a:avLst/>
          </a:prstGeom>
        </p:spPr>
      </p:pic>
      <p:sp>
        <p:nvSpPr>
          <p:cNvPr id="158" name="textbox 158"/>
          <p:cNvSpPr/>
          <p:nvPr/>
        </p:nvSpPr>
        <p:spPr>
          <a:xfrm>
            <a:off x="9619917" y="6901752"/>
            <a:ext cx="116204" cy="19938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8000"/>
              </a:lnSpc>
            </a:pP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8</a:t>
            </a:r>
            <a:endParaRPr lang="en-US" alt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6"/>
          <p:cNvGrpSpPr/>
          <p:nvPr/>
        </p:nvGrpSpPr>
        <p:grpSpPr>
          <a:xfrm rot="21600000">
            <a:off x="1192415" y="785621"/>
            <a:ext cx="907345" cy="1053084"/>
            <a:chOff x="0" y="0"/>
            <a:chExt cx="907345" cy="1053084"/>
          </a:xfrm>
        </p:grpSpPr>
        <p:pic>
          <p:nvPicPr>
            <p:cNvPr id="160" name="picture 16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21600000">
              <a:off x="0" y="108204"/>
              <a:ext cx="862584" cy="896873"/>
            </a:xfrm>
            <a:prstGeom prst="rect">
              <a:avLst/>
            </a:prstGeom>
          </p:spPr>
        </p:pic>
        <p:sp>
          <p:nvSpPr>
            <p:cNvPr id="162" name="textbox 162"/>
            <p:cNvSpPr/>
            <p:nvPr/>
          </p:nvSpPr>
          <p:spPr>
            <a:xfrm>
              <a:off x="726412" y="378688"/>
              <a:ext cx="193675" cy="307340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000"/>
                </a:lnSpc>
              </a:pPr>
              <a:endParaRPr lang="en-US" altLang="en-US" sz="100" dirty="0"/>
            </a:p>
            <a:p>
              <a:pPr algn="r" rtl="0" eaLnBrk="0">
                <a:lnSpc>
                  <a:spcPts val="2215"/>
                </a:lnSpc>
              </a:pPr>
              <a:r>
                <a:rPr sz="1000" kern="0" spc="-130" dirty="0">
                  <a:solidFill>
                    <a:srgbClr val="000000">
                      <a:alpha val="100000"/>
                    </a:srgbClr>
                  </a:solidFill>
                  <a:latin typeface="Wingdings" panose="05000000000000000000"/>
                  <a:ea typeface="Wingdings" panose="05000000000000000000"/>
                  <a:cs typeface="Wingdings" panose="05000000000000000000"/>
                </a:rPr>
                <a:t>.</a:t>
              </a:r>
              <a:endParaRPr lang="en-US" altLang="en-US" sz="1000" dirty="0"/>
            </a:p>
          </p:txBody>
        </p:sp>
        <p:sp>
          <p:nvSpPr>
            <p:cNvPr id="164" name="rect"/>
            <p:cNvSpPr/>
            <p:nvPr/>
          </p:nvSpPr>
          <p:spPr>
            <a:xfrm>
              <a:off x="344424" y="0"/>
              <a:ext cx="32003" cy="1053084"/>
            </a:xfrm>
            <a:prstGeom prst="rect">
              <a:avLst/>
            </a:prstGeom>
            <a:solidFill>
              <a:srgbClr val="1C1C1C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pic>
        <p:nvPicPr>
          <p:cNvPr id="166" name="picture 1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02093" y="1556003"/>
            <a:ext cx="8755380" cy="4793741"/>
          </a:xfrm>
          <a:prstGeom prst="rect">
            <a:avLst/>
          </a:prstGeom>
        </p:spPr>
      </p:pic>
      <p:pic>
        <p:nvPicPr>
          <p:cNvPr id="168" name="picture 16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344803" y="393953"/>
            <a:ext cx="2466594" cy="733044"/>
          </a:xfrm>
          <a:prstGeom prst="rect">
            <a:avLst/>
          </a:prstGeom>
        </p:spPr>
      </p:pic>
      <p:sp>
        <p:nvSpPr>
          <p:cNvPr id="170" name="textbox 170"/>
          <p:cNvSpPr/>
          <p:nvPr/>
        </p:nvSpPr>
        <p:spPr>
          <a:xfrm>
            <a:off x="2173588" y="1177759"/>
            <a:ext cx="2799714" cy="30099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5000"/>
              </a:lnSpc>
            </a:pP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OpenCV</a:t>
            </a:r>
            <a:r>
              <a:rPr sz="1900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中关于图像操作</a:t>
            </a:r>
            <a:endParaRPr lang="en-US" altLang="en-US" sz="1900" dirty="0"/>
          </a:p>
        </p:txBody>
      </p:sp>
      <p:pic>
        <p:nvPicPr>
          <p:cNvPr id="172" name="picture 17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218323" y="1576578"/>
            <a:ext cx="8226552" cy="32003"/>
          </a:xfrm>
          <a:prstGeom prst="rect">
            <a:avLst/>
          </a:prstGeom>
        </p:spPr>
      </p:pic>
      <p:sp>
        <p:nvSpPr>
          <p:cNvPr id="174" name="textbox 174"/>
          <p:cNvSpPr/>
          <p:nvPr/>
        </p:nvSpPr>
        <p:spPr>
          <a:xfrm>
            <a:off x="9619384" y="6902108"/>
            <a:ext cx="116839" cy="1987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7000"/>
              </a:lnSpc>
            </a:pP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9</a:t>
            </a:r>
            <a:endParaRPr lang="en-US" alt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picture 17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703717" y="2455926"/>
            <a:ext cx="7703057" cy="3625595"/>
          </a:xfrm>
          <a:prstGeom prst="rect">
            <a:avLst/>
          </a:prstGeom>
        </p:spPr>
      </p:pic>
      <p:pic>
        <p:nvPicPr>
          <p:cNvPr id="178" name="picture 17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344803" y="393953"/>
            <a:ext cx="2466594" cy="733044"/>
          </a:xfrm>
          <a:prstGeom prst="rect">
            <a:avLst/>
          </a:prstGeom>
        </p:spPr>
      </p:pic>
      <p:sp>
        <p:nvSpPr>
          <p:cNvPr id="180" name="textbox 180"/>
          <p:cNvSpPr/>
          <p:nvPr/>
        </p:nvSpPr>
        <p:spPr>
          <a:xfrm>
            <a:off x="1831223" y="1832546"/>
            <a:ext cx="4946650" cy="41338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1000"/>
              </a:lnSpc>
            </a:pPr>
            <a:r>
              <a:rPr sz="2800" kern="0" spc="-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空间卷积及卷积核（</a:t>
            </a:r>
            <a:r>
              <a:rPr sz="2800" kern="0" spc="-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局部操作）</a:t>
            </a:r>
            <a:endParaRPr lang="en-US" altLang="en-US" sz="2800" dirty="0"/>
          </a:p>
        </p:txBody>
      </p:sp>
      <p:grpSp>
        <p:nvGrpSpPr>
          <p:cNvPr id="18" name="group 18"/>
          <p:cNvGrpSpPr/>
          <p:nvPr/>
        </p:nvGrpSpPr>
        <p:grpSpPr>
          <a:xfrm rot="21600000">
            <a:off x="1192415" y="785621"/>
            <a:ext cx="907345" cy="1053084"/>
            <a:chOff x="0" y="0"/>
            <a:chExt cx="907345" cy="1053084"/>
          </a:xfrm>
        </p:grpSpPr>
        <p:pic>
          <p:nvPicPr>
            <p:cNvPr id="182" name="picture 18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108204"/>
              <a:ext cx="862584" cy="896873"/>
            </a:xfrm>
            <a:prstGeom prst="rect">
              <a:avLst/>
            </a:prstGeom>
          </p:spPr>
        </p:pic>
        <p:sp>
          <p:nvSpPr>
            <p:cNvPr id="184" name="textbox 184"/>
            <p:cNvSpPr/>
            <p:nvPr/>
          </p:nvSpPr>
          <p:spPr>
            <a:xfrm>
              <a:off x="726412" y="378688"/>
              <a:ext cx="193675" cy="307340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000"/>
                </a:lnSpc>
              </a:pPr>
              <a:endParaRPr lang="en-US" altLang="en-US" sz="100" dirty="0"/>
            </a:p>
            <a:p>
              <a:pPr algn="r" rtl="0" eaLnBrk="0">
                <a:lnSpc>
                  <a:spcPts val="2215"/>
                </a:lnSpc>
              </a:pPr>
              <a:r>
                <a:rPr sz="1000" kern="0" spc="-130" dirty="0">
                  <a:solidFill>
                    <a:srgbClr val="000000">
                      <a:alpha val="100000"/>
                    </a:srgbClr>
                  </a:solidFill>
                  <a:latin typeface="Wingdings" panose="05000000000000000000"/>
                  <a:ea typeface="Wingdings" panose="05000000000000000000"/>
                  <a:cs typeface="Wingdings" panose="05000000000000000000"/>
                </a:rPr>
                <a:t>.</a:t>
              </a:r>
              <a:endParaRPr lang="en-US" altLang="en-US" sz="1000" dirty="0"/>
            </a:p>
          </p:txBody>
        </p:sp>
        <p:sp>
          <p:nvSpPr>
            <p:cNvPr id="186" name="rect"/>
            <p:cNvSpPr/>
            <p:nvPr/>
          </p:nvSpPr>
          <p:spPr>
            <a:xfrm>
              <a:off x="344424" y="0"/>
              <a:ext cx="32003" cy="1053084"/>
            </a:xfrm>
            <a:prstGeom prst="rect">
              <a:avLst/>
            </a:prstGeom>
            <a:solidFill>
              <a:srgbClr val="1C1C1C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88" name="textbox 188"/>
          <p:cNvSpPr/>
          <p:nvPr/>
        </p:nvSpPr>
        <p:spPr>
          <a:xfrm>
            <a:off x="2173588" y="1177759"/>
            <a:ext cx="2799714" cy="30099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5000"/>
              </a:lnSpc>
            </a:pP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OpenCV</a:t>
            </a:r>
            <a:r>
              <a:rPr sz="1900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中关于图像操作</a:t>
            </a:r>
            <a:endParaRPr lang="en-US" altLang="en-US" sz="1900" dirty="0"/>
          </a:p>
        </p:txBody>
      </p:sp>
      <p:sp>
        <p:nvSpPr>
          <p:cNvPr id="190" name="textbox 190"/>
          <p:cNvSpPr/>
          <p:nvPr/>
        </p:nvSpPr>
        <p:spPr>
          <a:xfrm>
            <a:off x="1783670" y="6457288"/>
            <a:ext cx="2463164" cy="35687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1000"/>
              </a:lnSpc>
            </a:pP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卷积核：大小，值</a:t>
            </a:r>
            <a:endParaRPr lang="en-US" altLang="en-US" sz="2400" dirty="0"/>
          </a:p>
        </p:txBody>
      </p:sp>
      <p:pic>
        <p:nvPicPr>
          <p:cNvPr id="192" name="picture 19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902093" y="1556003"/>
            <a:ext cx="560831" cy="422148"/>
          </a:xfrm>
          <a:prstGeom prst="rect">
            <a:avLst/>
          </a:prstGeom>
        </p:spPr>
      </p:pic>
      <p:pic>
        <p:nvPicPr>
          <p:cNvPr id="194" name="picture 19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218323" y="1576578"/>
            <a:ext cx="8226552" cy="32003"/>
          </a:xfrm>
          <a:prstGeom prst="rect">
            <a:avLst/>
          </a:prstGeom>
        </p:spPr>
      </p:pic>
      <p:sp>
        <p:nvSpPr>
          <p:cNvPr id="196" name="textbox 196"/>
          <p:cNvSpPr/>
          <p:nvPr/>
        </p:nvSpPr>
        <p:spPr>
          <a:xfrm>
            <a:off x="9536280" y="6902108"/>
            <a:ext cx="200025" cy="1987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7000"/>
              </a:lnSpc>
            </a:pP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10</a:t>
            </a:r>
            <a:endParaRPr lang="en-US" alt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picture 19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275473" y="2135123"/>
            <a:ext cx="8267700" cy="4210050"/>
          </a:xfrm>
          <a:prstGeom prst="rect">
            <a:avLst/>
          </a:prstGeom>
        </p:spPr>
      </p:pic>
      <p:pic>
        <p:nvPicPr>
          <p:cNvPr id="200" name="picture 2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344803" y="393953"/>
            <a:ext cx="2466594" cy="733044"/>
          </a:xfrm>
          <a:prstGeom prst="rect">
            <a:avLst/>
          </a:prstGeom>
        </p:spPr>
      </p:pic>
      <p:grpSp>
        <p:nvGrpSpPr>
          <p:cNvPr id="20" name="group 20"/>
          <p:cNvGrpSpPr/>
          <p:nvPr/>
        </p:nvGrpSpPr>
        <p:grpSpPr>
          <a:xfrm rot="21600000">
            <a:off x="1192415" y="785621"/>
            <a:ext cx="907345" cy="1053084"/>
            <a:chOff x="0" y="0"/>
            <a:chExt cx="907345" cy="1053084"/>
          </a:xfrm>
        </p:grpSpPr>
        <p:pic>
          <p:nvPicPr>
            <p:cNvPr id="202" name="picture 20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108204"/>
              <a:ext cx="862584" cy="896873"/>
            </a:xfrm>
            <a:prstGeom prst="rect">
              <a:avLst/>
            </a:prstGeom>
          </p:spPr>
        </p:pic>
        <p:sp>
          <p:nvSpPr>
            <p:cNvPr id="204" name="textbox 204"/>
            <p:cNvSpPr/>
            <p:nvPr/>
          </p:nvSpPr>
          <p:spPr>
            <a:xfrm>
              <a:off x="726412" y="378688"/>
              <a:ext cx="193675" cy="307340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000"/>
                </a:lnSpc>
              </a:pPr>
              <a:endParaRPr lang="en-US" altLang="en-US" sz="100" dirty="0"/>
            </a:p>
            <a:p>
              <a:pPr algn="r" rtl="0" eaLnBrk="0">
                <a:lnSpc>
                  <a:spcPts val="2215"/>
                </a:lnSpc>
              </a:pPr>
              <a:r>
                <a:rPr sz="1000" kern="0" spc="-130" dirty="0">
                  <a:solidFill>
                    <a:srgbClr val="000000">
                      <a:alpha val="100000"/>
                    </a:srgbClr>
                  </a:solidFill>
                  <a:latin typeface="Wingdings" panose="05000000000000000000"/>
                  <a:ea typeface="Wingdings" panose="05000000000000000000"/>
                  <a:cs typeface="Wingdings" panose="05000000000000000000"/>
                </a:rPr>
                <a:t>.</a:t>
              </a:r>
              <a:endParaRPr lang="en-US" altLang="en-US" sz="1000" dirty="0"/>
            </a:p>
          </p:txBody>
        </p:sp>
        <p:sp>
          <p:nvSpPr>
            <p:cNvPr id="206" name="rect"/>
            <p:cNvSpPr/>
            <p:nvPr/>
          </p:nvSpPr>
          <p:spPr>
            <a:xfrm>
              <a:off x="344424" y="0"/>
              <a:ext cx="32003" cy="1053084"/>
            </a:xfrm>
            <a:prstGeom prst="rect">
              <a:avLst/>
            </a:prstGeom>
            <a:solidFill>
              <a:srgbClr val="1C1C1C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208" name="textbox 208"/>
          <p:cNvSpPr/>
          <p:nvPr/>
        </p:nvSpPr>
        <p:spPr>
          <a:xfrm>
            <a:off x="2173588" y="1177759"/>
            <a:ext cx="2799714" cy="30099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5000"/>
              </a:lnSpc>
            </a:pP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OpenCV</a:t>
            </a:r>
            <a:r>
              <a:rPr sz="1900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中关于图像操作</a:t>
            </a:r>
            <a:endParaRPr lang="en-US" altLang="en-US" sz="1900" dirty="0"/>
          </a:p>
        </p:txBody>
      </p:sp>
      <p:pic>
        <p:nvPicPr>
          <p:cNvPr id="210" name="picture 2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902093" y="1556003"/>
            <a:ext cx="560831" cy="422148"/>
          </a:xfrm>
          <a:prstGeom prst="rect">
            <a:avLst/>
          </a:prstGeom>
        </p:spPr>
      </p:pic>
      <p:pic>
        <p:nvPicPr>
          <p:cNvPr id="212" name="picture 2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218323" y="1576578"/>
            <a:ext cx="8226552" cy="32003"/>
          </a:xfrm>
          <a:prstGeom prst="rect">
            <a:avLst/>
          </a:prstGeom>
        </p:spPr>
      </p:pic>
      <p:sp>
        <p:nvSpPr>
          <p:cNvPr id="214" name="textbox 214"/>
          <p:cNvSpPr/>
          <p:nvPr/>
        </p:nvSpPr>
        <p:spPr>
          <a:xfrm>
            <a:off x="9536280" y="6904415"/>
            <a:ext cx="200025" cy="1968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6000"/>
              </a:lnSpc>
            </a:pP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11</a:t>
            </a:r>
            <a:endParaRPr lang="en-US" alt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picture 2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58659" y="3742182"/>
            <a:ext cx="4504944" cy="3179064"/>
          </a:xfrm>
          <a:prstGeom prst="rect">
            <a:avLst/>
          </a:prstGeom>
        </p:spPr>
      </p:pic>
      <p:sp>
        <p:nvSpPr>
          <p:cNvPr id="218" name="textbox 218"/>
          <p:cNvSpPr/>
          <p:nvPr/>
        </p:nvSpPr>
        <p:spPr>
          <a:xfrm>
            <a:off x="1897261" y="1869884"/>
            <a:ext cx="6366509" cy="153606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lang="en-US" altLang="en-US" sz="100" dirty="0"/>
          </a:p>
          <a:p>
            <a:pPr marL="17145" algn="l" rtl="0" eaLnBrk="0">
              <a:lnSpc>
                <a:spcPct val="91000"/>
              </a:lnSpc>
            </a:pPr>
            <a:r>
              <a:rPr sz="2800" kern="0" spc="-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形态学滤波器（</a:t>
            </a:r>
            <a:r>
              <a:rPr sz="2800" kern="0" spc="-1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OCR</a:t>
            </a:r>
            <a:r>
              <a:rPr sz="2800" kern="0" spc="-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，指纹识别）</a:t>
            </a:r>
            <a:endParaRPr lang="en-US" altLang="en-US" sz="2800" dirty="0"/>
          </a:p>
          <a:p>
            <a:pPr marL="14605" algn="l" rtl="0" eaLnBrk="0">
              <a:lnSpc>
                <a:spcPct val="79000"/>
              </a:lnSpc>
              <a:spcBef>
                <a:spcPts val="460"/>
              </a:spcBef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void cv::</a:t>
            </a:r>
            <a:r>
              <a:rPr sz="18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morphologyEx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(InputArray src, OutputArray dst, int o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p,</a:t>
            </a:r>
            <a:endParaRPr lang="en-US" altLang="en-US" sz="1800" dirty="0"/>
          </a:p>
          <a:p>
            <a:pPr marL="12700" indent="5715" algn="l" rtl="0" eaLnBrk="0">
              <a:lnSpc>
                <a:spcPct val="96000"/>
              </a:lnSpc>
              <a:spcBef>
                <a:spcPts val="450"/>
              </a:spcBef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InputArray kernel, Point anchor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= Point(-1,-1), int iterations =</a:t>
            </a:r>
            <a:r>
              <a:rPr sz="1800" kern="0" spc="2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1, int  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borderType = BORDER_CONSTANT, const</a:t>
            </a:r>
            <a:r>
              <a:rPr sz="1800" kern="0" spc="1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Scalar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&amp; borderValue =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morphologyDefau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ltBorderValue() )</a:t>
            </a:r>
            <a:endParaRPr lang="en-US" altLang="en-US" sz="1800" dirty="0"/>
          </a:p>
        </p:txBody>
      </p:sp>
      <p:pic>
        <p:nvPicPr>
          <p:cNvPr id="220" name="picture 2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436755" y="3742181"/>
            <a:ext cx="4482083" cy="1661922"/>
          </a:xfrm>
          <a:prstGeom prst="rect">
            <a:avLst/>
          </a:prstGeom>
        </p:spPr>
      </p:pic>
      <p:pic>
        <p:nvPicPr>
          <p:cNvPr id="222" name="picture 2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344803" y="393953"/>
            <a:ext cx="2466594" cy="733044"/>
          </a:xfrm>
          <a:prstGeom prst="rect">
            <a:avLst/>
          </a:prstGeom>
        </p:spPr>
      </p:pic>
      <p:grpSp>
        <p:nvGrpSpPr>
          <p:cNvPr id="22" name="group 22"/>
          <p:cNvGrpSpPr/>
          <p:nvPr/>
        </p:nvGrpSpPr>
        <p:grpSpPr>
          <a:xfrm rot="21600000">
            <a:off x="1192415" y="785621"/>
            <a:ext cx="907345" cy="1053084"/>
            <a:chOff x="0" y="0"/>
            <a:chExt cx="907345" cy="1053084"/>
          </a:xfrm>
        </p:grpSpPr>
        <p:pic>
          <p:nvPicPr>
            <p:cNvPr id="224" name="picture 22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108204"/>
              <a:ext cx="862584" cy="896873"/>
            </a:xfrm>
            <a:prstGeom prst="rect">
              <a:avLst/>
            </a:prstGeom>
          </p:spPr>
        </p:pic>
        <p:sp>
          <p:nvSpPr>
            <p:cNvPr id="226" name="textbox 226"/>
            <p:cNvSpPr/>
            <p:nvPr/>
          </p:nvSpPr>
          <p:spPr>
            <a:xfrm>
              <a:off x="726412" y="378688"/>
              <a:ext cx="193675" cy="307340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000"/>
                </a:lnSpc>
              </a:pPr>
              <a:endParaRPr lang="en-US" altLang="en-US" sz="100" dirty="0"/>
            </a:p>
            <a:p>
              <a:pPr algn="r" rtl="0" eaLnBrk="0">
                <a:lnSpc>
                  <a:spcPts val="2215"/>
                </a:lnSpc>
              </a:pPr>
              <a:r>
                <a:rPr sz="1000" kern="0" spc="-130" dirty="0">
                  <a:solidFill>
                    <a:srgbClr val="000000">
                      <a:alpha val="100000"/>
                    </a:srgbClr>
                  </a:solidFill>
                  <a:latin typeface="Wingdings" panose="05000000000000000000"/>
                  <a:ea typeface="Wingdings" panose="05000000000000000000"/>
                  <a:cs typeface="Wingdings" panose="05000000000000000000"/>
                </a:rPr>
                <a:t>.</a:t>
              </a:r>
              <a:endParaRPr lang="en-US" altLang="en-US" sz="1000" dirty="0"/>
            </a:p>
          </p:txBody>
        </p:sp>
        <p:sp>
          <p:nvSpPr>
            <p:cNvPr id="228" name="rect"/>
            <p:cNvSpPr/>
            <p:nvPr/>
          </p:nvSpPr>
          <p:spPr>
            <a:xfrm>
              <a:off x="344424" y="0"/>
              <a:ext cx="32003" cy="1053084"/>
            </a:xfrm>
            <a:prstGeom prst="rect">
              <a:avLst/>
            </a:prstGeom>
            <a:solidFill>
              <a:srgbClr val="1C1C1C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230" name="textbox 230"/>
          <p:cNvSpPr/>
          <p:nvPr/>
        </p:nvSpPr>
        <p:spPr>
          <a:xfrm>
            <a:off x="2173588" y="1177759"/>
            <a:ext cx="2799714" cy="30099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5000"/>
              </a:lnSpc>
            </a:pP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OpenCV</a:t>
            </a:r>
            <a:r>
              <a:rPr sz="1900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中关于图像操作</a:t>
            </a:r>
            <a:endParaRPr lang="en-US" altLang="en-US" sz="1900" dirty="0"/>
          </a:p>
        </p:txBody>
      </p:sp>
      <p:pic>
        <p:nvPicPr>
          <p:cNvPr id="232" name="picture 23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902093" y="1556003"/>
            <a:ext cx="560831" cy="422148"/>
          </a:xfrm>
          <a:prstGeom prst="rect">
            <a:avLst/>
          </a:prstGeom>
        </p:spPr>
      </p:pic>
      <p:pic>
        <p:nvPicPr>
          <p:cNvPr id="234" name="picture 23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218323" y="1576578"/>
            <a:ext cx="8226552" cy="32003"/>
          </a:xfrm>
          <a:prstGeom prst="rect">
            <a:avLst/>
          </a:prstGeom>
        </p:spPr>
      </p:pic>
      <p:sp>
        <p:nvSpPr>
          <p:cNvPr id="236" name="textbox 236"/>
          <p:cNvSpPr/>
          <p:nvPr/>
        </p:nvSpPr>
        <p:spPr>
          <a:xfrm>
            <a:off x="9536280" y="6902108"/>
            <a:ext cx="200025" cy="1987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7000"/>
              </a:lnSpc>
            </a:pP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12</a:t>
            </a:r>
            <a:endParaRPr lang="en-US" alt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textbox 238"/>
          <p:cNvSpPr/>
          <p:nvPr/>
        </p:nvSpPr>
        <p:spPr>
          <a:xfrm>
            <a:off x="1037474" y="2263887"/>
            <a:ext cx="4247515" cy="415797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30480" algn="l" rtl="0" eaLnBrk="0">
              <a:lnSpc>
                <a:spcPct val="95000"/>
              </a:lnSpc>
            </a:pP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1.</a:t>
            </a: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读取并显示图像</a:t>
            </a:r>
            <a:endParaRPr lang="en-US" altLang="en-US" sz="1600" dirty="0"/>
          </a:p>
          <a:p>
            <a:pPr algn="l" rtl="0" eaLnBrk="0">
              <a:lnSpc>
                <a:spcPct val="128000"/>
              </a:lnSpc>
            </a:pPr>
            <a:endParaRPr lang="en-US" altLang="en-US" sz="1000" dirty="0"/>
          </a:p>
          <a:p>
            <a:pPr marL="19050" algn="l" rtl="0" eaLnBrk="0">
              <a:lnSpc>
                <a:spcPct val="95000"/>
              </a:lnSpc>
              <a:spcBef>
                <a:spcPts val="480"/>
              </a:spcBef>
            </a:pP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2.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遍历图像上所有像素</a:t>
            </a:r>
            <a:endParaRPr lang="en-US" altLang="en-US" sz="1600" dirty="0"/>
          </a:p>
          <a:p>
            <a:pPr algn="l" rtl="0" eaLnBrk="0">
              <a:lnSpc>
                <a:spcPct val="128000"/>
              </a:lnSpc>
            </a:pPr>
            <a:endParaRPr lang="en-US" altLang="en-US" sz="1000" dirty="0"/>
          </a:p>
          <a:p>
            <a:pPr marL="17780" algn="l" rtl="0" eaLnBrk="0">
              <a:lnSpc>
                <a:spcPct val="83000"/>
              </a:lnSpc>
              <a:spcBef>
                <a:spcPts val="490"/>
              </a:spcBef>
            </a:pP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3.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操纵图像局部感兴趣区域</a:t>
            </a:r>
            <a:endParaRPr lang="en-US" altLang="en-US" sz="1600" dirty="0"/>
          </a:p>
          <a:p>
            <a:pPr marL="12700" algn="l" rtl="0" eaLnBrk="0">
              <a:lnSpc>
                <a:spcPts val="3840"/>
              </a:lnSpc>
            </a:pP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4.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滤波算子对图像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进行滤波</a:t>
            </a:r>
            <a:endParaRPr lang="en-US" altLang="en-US" sz="1600" dirty="0"/>
          </a:p>
          <a:p>
            <a:pPr marL="20955" algn="l" rtl="0" eaLnBrk="0">
              <a:lnSpc>
                <a:spcPts val="3840"/>
              </a:lnSpc>
            </a:pP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5.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最优的梯度幅值图像</a:t>
            </a:r>
            <a:endParaRPr lang="en-US" altLang="en-US" sz="1600" dirty="0"/>
          </a:p>
          <a:p>
            <a:pPr algn="l" rtl="0" eaLnBrk="0">
              <a:lnSpc>
                <a:spcPct val="147000"/>
              </a:lnSpc>
            </a:pPr>
            <a:endParaRPr lang="en-US" altLang="en-US" sz="1000" dirty="0"/>
          </a:p>
          <a:p>
            <a:pPr marL="17145" algn="l" rtl="0" eaLnBrk="0">
              <a:lnSpc>
                <a:spcPct val="83000"/>
              </a:lnSpc>
              <a:spcBef>
                <a:spcPts val="485"/>
              </a:spcBef>
            </a:pPr>
            <a:r>
              <a:rPr sz="1600" kern="0" spc="-4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6.</a:t>
            </a:r>
            <a:r>
              <a:rPr sz="1600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学习对图像进行二值化的方法（动态</a:t>
            </a:r>
            <a:r>
              <a:rPr sz="1600" kern="0" spc="-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阈值法）</a:t>
            </a:r>
            <a:endParaRPr lang="en-US" altLang="en-US" sz="1600" dirty="0"/>
          </a:p>
          <a:p>
            <a:pPr marL="17780" algn="l" rtl="0" eaLnBrk="0">
              <a:lnSpc>
                <a:spcPts val="3840"/>
              </a:lnSpc>
            </a:pP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7.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获取图像中的轮廓，对图像中的目标进行计数</a:t>
            </a:r>
            <a:endParaRPr lang="en-US" altLang="en-US" sz="1600" dirty="0"/>
          </a:p>
          <a:p>
            <a:pPr algn="l" rtl="0" eaLnBrk="0">
              <a:lnSpc>
                <a:spcPct val="145000"/>
              </a:lnSpc>
            </a:pPr>
            <a:endParaRPr lang="en-US" altLang="en-US" sz="1000" dirty="0"/>
          </a:p>
          <a:p>
            <a:pPr marL="17145" algn="l" rtl="0" eaLnBrk="0">
              <a:lnSpc>
                <a:spcPct val="95000"/>
              </a:lnSpc>
              <a:spcBef>
                <a:spcPts val="490"/>
              </a:spcBef>
            </a:pPr>
            <a:r>
              <a:rPr sz="1600" kern="0" spc="-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本课程需要掌握的编程方法：</a:t>
            </a:r>
            <a:endParaRPr lang="en-US" altLang="en-US" sz="1600" dirty="0"/>
          </a:p>
          <a:p>
            <a:pPr marL="30480" algn="l" rtl="0" eaLnBrk="0">
              <a:lnSpc>
                <a:spcPct val="83000"/>
              </a:lnSpc>
              <a:spcBef>
                <a:spcPts val="110"/>
              </a:spcBef>
            </a:pPr>
            <a:r>
              <a:rPr sz="1600" kern="0" spc="-8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1</a:t>
            </a:r>
            <a:r>
              <a:rPr sz="1600" kern="0" spc="-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）类</a:t>
            </a:r>
            <a:r>
              <a:rPr sz="1600" kern="0" spc="-8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+</a:t>
            </a:r>
            <a:r>
              <a:rPr sz="1600" kern="0" spc="-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结构体的框架进行</a:t>
            </a:r>
            <a:r>
              <a:rPr sz="1600" kern="0" spc="-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编程；</a:t>
            </a:r>
            <a:endParaRPr lang="en-US" altLang="en-US" sz="1600" dirty="0"/>
          </a:p>
          <a:p>
            <a:pPr marL="19050" algn="l" rtl="0" eaLnBrk="0">
              <a:lnSpc>
                <a:spcPts val="2135"/>
              </a:lnSpc>
            </a:pPr>
            <a:r>
              <a:rPr sz="1600" kern="0" spc="-10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2</a:t>
            </a:r>
            <a:r>
              <a:rPr sz="1600" kern="0" spc="-1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sz="1600" kern="0" spc="-10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STL</a:t>
            </a:r>
            <a:r>
              <a:rPr sz="1600" kern="0" spc="-1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模板库。</a:t>
            </a:r>
            <a:endParaRPr lang="en-US" altLang="en-US" sz="1600" dirty="0"/>
          </a:p>
        </p:txBody>
      </p:sp>
      <p:pic>
        <p:nvPicPr>
          <p:cNvPr id="240" name="picture 2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7344803" y="393953"/>
            <a:ext cx="2466594" cy="733044"/>
          </a:xfrm>
          <a:prstGeom prst="rect">
            <a:avLst/>
          </a:prstGeom>
        </p:spPr>
      </p:pic>
      <p:sp>
        <p:nvSpPr>
          <p:cNvPr id="242" name="textbox 242"/>
          <p:cNvSpPr/>
          <p:nvPr/>
        </p:nvSpPr>
        <p:spPr>
          <a:xfrm>
            <a:off x="2165976" y="1175475"/>
            <a:ext cx="5708015" cy="30352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6000"/>
              </a:lnSpc>
            </a:pPr>
            <a:r>
              <a:rPr sz="1900" kern="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本次课程任务（熟悉C++和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Python</a:t>
            </a:r>
            <a:r>
              <a:rPr sz="1900" kern="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两种</a:t>
            </a:r>
            <a:r>
              <a:rPr sz="1900"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编程环境）</a:t>
            </a:r>
            <a:endParaRPr lang="en-US" altLang="en-US" sz="1900" dirty="0"/>
          </a:p>
        </p:txBody>
      </p:sp>
      <p:grpSp>
        <p:nvGrpSpPr>
          <p:cNvPr id="24" name="group 24"/>
          <p:cNvGrpSpPr/>
          <p:nvPr/>
        </p:nvGrpSpPr>
        <p:grpSpPr>
          <a:xfrm rot="21600000">
            <a:off x="1192415" y="785621"/>
            <a:ext cx="907345" cy="1053084"/>
            <a:chOff x="0" y="0"/>
            <a:chExt cx="907345" cy="1053084"/>
          </a:xfrm>
        </p:grpSpPr>
        <p:pic>
          <p:nvPicPr>
            <p:cNvPr id="244" name="picture 24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108204"/>
              <a:ext cx="862584" cy="896873"/>
            </a:xfrm>
            <a:prstGeom prst="rect">
              <a:avLst/>
            </a:prstGeom>
          </p:spPr>
        </p:pic>
        <p:sp>
          <p:nvSpPr>
            <p:cNvPr id="246" name="textbox 246"/>
            <p:cNvSpPr/>
            <p:nvPr/>
          </p:nvSpPr>
          <p:spPr>
            <a:xfrm>
              <a:off x="726412" y="378688"/>
              <a:ext cx="193675" cy="307340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000"/>
                </a:lnSpc>
              </a:pPr>
              <a:endParaRPr lang="en-US" altLang="en-US" sz="100" dirty="0"/>
            </a:p>
            <a:p>
              <a:pPr algn="r" rtl="0" eaLnBrk="0">
                <a:lnSpc>
                  <a:spcPts val="2215"/>
                </a:lnSpc>
              </a:pPr>
              <a:r>
                <a:rPr sz="1000" kern="0" spc="-130" dirty="0">
                  <a:solidFill>
                    <a:srgbClr val="000000">
                      <a:alpha val="100000"/>
                    </a:srgbClr>
                  </a:solidFill>
                  <a:latin typeface="Wingdings" panose="05000000000000000000"/>
                  <a:ea typeface="Wingdings" panose="05000000000000000000"/>
                  <a:cs typeface="Wingdings" panose="05000000000000000000"/>
                </a:rPr>
                <a:t>.</a:t>
              </a:r>
              <a:endParaRPr lang="en-US" altLang="en-US" sz="1000" dirty="0"/>
            </a:p>
          </p:txBody>
        </p:sp>
        <p:sp>
          <p:nvSpPr>
            <p:cNvPr id="248" name="rect"/>
            <p:cNvSpPr/>
            <p:nvPr/>
          </p:nvSpPr>
          <p:spPr>
            <a:xfrm>
              <a:off x="344424" y="0"/>
              <a:ext cx="32003" cy="1053084"/>
            </a:xfrm>
            <a:prstGeom prst="rect">
              <a:avLst/>
            </a:prstGeom>
            <a:solidFill>
              <a:srgbClr val="1C1C1C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pic>
        <p:nvPicPr>
          <p:cNvPr id="250" name="picture 25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02093" y="1556003"/>
            <a:ext cx="560831" cy="422148"/>
          </a:xfrm>
          <a:prstGeom prst="rect">
            <a:avLst/>
          </a:prstGeom>
        </p:spPr>
      </p:pic>
      <p:pic>
        <p:nvPicPr>
          <p:cNvPr id="252" name="picture 25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218323" y="1576578"/>
            <a:ext cx="8226552" cy="32003"/>
          </a:xfrm>
          <a:prstGeom prst="rect">
            <a:avLst/>
          </a:prstGeom>
        </p:spPr>
      </p:pic>
      <p:sp>
        <p:nvSpPr>
          <p:cNvPr id="254" name="textbox 254"/>
          <p:cNvSpPr/>
          <p:nvPr/>
        </p:nvSpPr>
        <p:spPr>
          <a:xfrm>
            <a:off x="9536280" y="6902108"/>
            <a:ext cx="200025" cy="1987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7000"/>
              </a:lnSpc>
            </a:pP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13</a:t>
            </a:r>
            <a:endParaRPr lang="en-US" alt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picture 2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192415" y="893826"/>
            <a:ext cx="546353" cy="896873"/>
          </a:xfrm>
          <a:prstGeom prst="rect">
            <a:avLst/>
          </a:prstGeom>
        </p:spPr>
      </p:pic>
      <p:sp>
        <p:nvSpPr>
          <p:cNvPr id="258" name="textbox 258"/>
          <p:cNvSpPr/>
          <p:nvPr/>
        </p:nvSpPr>
        <p:spPr>
          <a:xfrm>
            <a:off x="1562239" y="881126"/>
            <a:ext cx="2423160" cy="59626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lang="en-US" altLang="en-US" sz="1000" dirty="0"/>
          </a:p>
          <a:p>
            <a:pPr algn="l" rtl="0" eaLnBrk="0">
              <a:lnSpc>
                <a:spcPct val="101000"/>
              </a:lnSpc>
            </a:pPr>
            <a:endParaRPr lang="en-US" altLang="en-US" sz="1000" dirty="0"/>
          </a:p>
          <a:p>
            <a:pPr algn="r" rtl="0" eaLnBrk="0">
              <a:lnSpc>
                <a:spcPct val="95000"/>
              </a:lnSpc>
              <a:spcBef>
                <a:spcPts val="5"/>
              </a:spcBef>
            </a:pPr>
            <a:r>
              <a:rPr sz="1900" kern="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读取并显示图像</a:t>
            </a:r>
            <a:endParaRPr lang="en-US" altLang="en-US" sz="1900" dirty="0"/>
          </a:p>
        </p:txBody>
      </p:sp>
      <p:pic>
        <p:nvPicPr>
          <p:cNvPr id="260" name="picture 2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574939" y="893826"/>
            <a:ext cx="329183" cy="474726"/>
          </a:xfrm>
          <a:prstGeom prst="rect">
            <a:avLst/>
          </a:prstGeom>
        </p:spPr>
      </p:pic>
      <p:pic>
        <p:nvPicPr>
          <p:cNvPr id="262" name="picture 26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686191" y="1315973"/>
            <a:ext cx="368807" cy="474726"/>
          </a:xfrm>
          <a:prstGeom prst="rect">
            <a:avLst/>
          </a:prstGeom>
        </p:spPr>
      </p:pic>
      <p:pic>
        <p:nvPicPr>
          <p:cNvPr id="264" name="picture 26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902093" y="1556003"/>
            <a:ext cx="560831" cy="422148"/>
          </a:xfrm>
          <a:prstGeom prst="rect">
            <a:avLst/>
          </a:prstGeom>
        </p:spPr>
      </p:pic>
      <p:sp>
        <p:nvSpPr>
          <p:cNvPr id="266" name="rect"/>
          <p:cNvSpPr/>
          <p:nvPr/>
        </p:nvSpPr>
        <p:spPr>
          <a:xfrm>
            <a:off x="1536839" y="785621"/>
            <a:ext cx="32003" cy="1053084"/>
          </a:xfrm>
          <a:prstGeom prst="rect">
            <a:avLst/>
          </a:prstGeom>
          <a:solidFill>
            <a:srgbClr val="1C1C1C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68" name="picture 26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315097" y="1792985"/>
            <a:ext cx="8441435" cy="5208270"/>
          </a:xfrm>
          <a:prstGeom prst="rect">
            <a:avLst/>
          </a:prstGeom>
        </p:spPr>
      </p:pic>
      <p:pic>
        <p:nvPicPr>
          <p:cNvPr id="270" name="picture 27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7344803" y="393953"/>
            <a:ext cx="2466594" cy="733044"/>
          </a:xfrm>
          <a:prstGeom prst="rect">
            <a:avLst/>
          </a:prstGeom>
        </p:spPr>
      </p:pic>
      <p:pic>
        <p:nvPicPr>
          <p:cNvPr id="272" name="picture 27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218323" y="1576578"/>
            <a:ext cx="8226552" cy="32003"/>
          </a:xfrm>
          <a:prstGeom prst="rect">
            <a:avLst/>
          </a:prstGeom>
        </p:spPr>
      </p:pic>
      <p:sp>
        <p:nvSpPr>
          <p:cNvPr id="274" name="textbox 274"/>
          <p:cNvSpPr/>
          <p:nvPr/>
        </p:nvSpPr>
        <p:spPr>
          <a:xfrm>
            <a:off x="9536280" y="6904415"/>
            <a:ext cx="200025" cy="1968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6000"/>
              </a:lnSpc>
            </a:pP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14</a:t>
            </a:r>
            <a:endParaRPr lang="en-US" alt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picture 27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192415" y="893826"/>
            <a:ext cx="546353" cy="896873"/>
          </a:xfrm>
          <a:prstGeom prst="rect">
            <a:avLst/>
          </a:prstGeom>
        </p:spPr>
      </p:pic>
      <p:pic>
        <p:nvPicPr>
          <p:cNvPr id="278" name="picture 27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74839" y="1556003"/>
            <a:ext cx="4644390" cy="4149090"/>
          </a:xfrm>
          <a:prstGeom prst="rect">
            <a:avLst/>
          </a:prstGeom>
        </p:spPr>
      </p:pic>
      <p:pic>
        <p:nvPicPr>
          <p:cNvPr id="280" name="picture 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686191" y="1315973"/>
            <a:ext cx="368807" cy="474726"/>
          </a:xfrm>
          <a:prstGeom prst="rect">
            <a:avLst/>
          </a:prstGeom>
        </p:spPr>
      </p:pic>
      <p:sp>
        <p:nvSpPr>
          <p:cNvPr id="282" name="rect"/>
          <p:cNvSpPr/>
          <p:nvPr/>
        </p:nvSpPr>
        <p:spPr>
          <a:xfrm>
            <a:off x="1536839" y="785621"/>
            <a:ext cx="32003" cy="1053084"/>
          </a:xfrm>
          <a:prstGeom prst="rect">
            <a:avLst/>
          </a:prstGeom>
          <a:solidFill>
            <a:srgbClr val="1C1C1C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84" name="picture 28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218323" y="1576578"/>
            <a:ext cx="8226552" cy="32003"/>
          </a:xfrm>
          <a:prstGeom prst="rect">
            <a:avLst/>
          </a:prstGeom>
        </p:spPr>
      </p:pic>
      <p:pic>
        <p:nvPicPr>
          <p:cNvPr id="286" name="picture 28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139319" y="1186433"/>
            <a:ext cx="2663952" cy="3646170"/>
          </a:xfrm>
          <a:prstGeom prst="rect">
            <a:avLst/>
          </a:prstGeom>
        </p:spPr>
      </p:pic>
      <p:pic>
        <p:nvPicPr>
          <p:cNvPr id="288" name="picture 28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175895" y="4880610"/>
            <a:ext cx="2555747" cy="2326386"/>
          </a:xfrm>
          <a:prstGeom prst="rect">
            <a:avLst/>
          </a:prstGeom>
        </p:spPr>
      </p:pic>
      <p:sp>
        <p:nvSpPr>
          <p:cNvPr id="290" name="textbox 290"/>
          <p:cNvSpPr/>
          <p:nvPr/>
        </p:nvSpPr>
        <p:spPr>
          <a:xfrm>
            <a:off x="1562239" y="881126"/>
            <a:ext cx="3340734" cy="59626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lang="en-US" altLang="en-US" sz="1000" dirty="0"/>
          </a:p>
          <a:p>
            <a:pPr algn="l" rtl="0" eaLnBrk="0">
              <a:lnSpc>
                <a:spcPct val="101000"/>
              </a:lnSpc>
            </a:pPr>
            <a:endParaRPr lang="en-US" altLang="en-US" sz="1000" dirty="0"/>
          </a:p>
          <a:p>
            <a:pPr algn="r" rtl="0" eaLnBrk="0">
              <a:lnSpc>
                <a:spcPct val="95000"/>
              </a:lnSpc>
              <a:spcBef>
                <a:spcPts val="5"/>
              </a:spcBef>
            </a:pPr>
            <a:r>
              <a:rPr sz="19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类+结构体的框架进行编程</a:t>
            </a:r>
            <a:endParaRPr lang="en-US" altLang="en-US" sz="1900" dirty="0"/>
          </a:p>
        </p:txBody>
      </p:sp>
      <p:pic>
        <p:nvPicPr>
          <p:cNvPr id="292" name="picture 29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574939" y="893826"/>
            <a:ext cx="329183" cy="474726"/>
          </a:xfrm>
          <a:prstGeom prst="rect">
            <a:avLst/>
          </a:prstGeom>
        </p:spPr>
      </p:pic>
      <p:pic>
        <p:nvPicPr>
          <p:cNvPr id="294" name="picture 29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7344803" y="393953"/>
            <a:ext cx="2466594" cy="733044"/>
          </a:xfrm>
          <a:prstGeom prst="rect">
            <a:avLst/>
          </a:prstGeom>
        </p:spPr>
      </p:pic>
      <p:sp>
        <p:nvSpPr>
          <p:cNvPr id="296" name="textbox 296"/>
          <p:cNvSpPr/>
          <p:nvPr/>
        </p:nvSpPr>
        <p:spPr>
          <a:xfrm>
            <a:off x="9536280" y="6904415"/>
            <a:ext cx="200025" cy="1968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6000"/>
              </a:lnSpc>
            </a:pP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15</a:t>
            </a:r>
            <a:endParaRPr lang="en-US" alt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picture 29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171079" y="2193797"/>
            <a:ext cx="7741919" cy="3456432"/>
          </a:xfrm>
          <a:prstGeom prst="rect">
            <a:avLst/>
          </a:prstGeom>
        </p:spPr>
      </p:pic>
      <p:pic>
        <p:nvPicPr>
          <p:cNvPr id="300" name="picture 3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92415" y="893826"/>
            <a:ext cx="546353" cy="896873"/>
          </a:xfrm>
          <a:prstGeom prst="rect">
            <a:avLst/>
          </a:prstGeom>
        </p:spPr>
      </p:pic>
      <p:pic>
        <p:nvPicPr>
          <p:cNvPr id="302" name="picture 30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686191" y="1315973"/>
            <a:ext cx="368807" cy="474726"/>
          </a:xfrm>
          <a:prstGeom prst="rect">
            <a:avLst/>
          </a:prstGeom>
        </p:spPr>
      </p:pic>
      <p:sp>
        <p:nvSpPr>
          <p:cNvPr id="304" name="textbox 304"/>
          <p:cNvSpPr/>
          <p:nvPr/>
        </p:nvSpPr>
        <p:spPr>
          <a:xfrm>
            <a:off x="1562239" y="881126"/>
            <a:ext cx="3340734" cy="59626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lang="en-US" altLang="en-US" sz="1000" dirty="0"/>
          </a:p>
          <a:p>
            <a:pPr algn="l" rtl="0" eaLnBrk="0">
              <a:lnSpc>
                <a:spcPct val="101000"/>
              </a:lnSpc>
            </a:pPr>
            <a:endParaRPr lang="en-US" altLang="en-US" sz="1000" dirty="0"/>
          </a:p>
          <a:p>
            <a:pPr algn="r" rtl="0" eaLnBrk="0">
              <a:lnSpc>
                <a:spcPct val="95000"/>
              </a:lnSpc>
              <a:spcBef>
                <a:spcPts val="5"/>
              </a:spcBef>
            </a:pPr>
            <a:r>
              <a:rPr sz="19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类+结构体的框架进行编程</a:t>
            </a:r>
            <a:endParaRPr lang="en-US" altLang="en-US" sz="1900" dirty="0"/>
          </a:p>
        </p:txBody>
      </p:sp>
      <p:pic>
        <p:nvPicPr>
          <p:cNvPr id="306" name="picture 30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574939" y="893826"/>
            <a:ext cx="329183" cy="474726"/>
          </a:xfrm>
          <a:prstGeom prst="rect">
            <a:avLst/>
          </a:prstGeom>
        </p:spPr>
      </p:pic>
      <p:pic>
        <p:nvPicPr>
          <p:cNvPr id="308" name="picture 30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7344803" y="393953"/>
            <a:ext cx="2466594" cy="733044"/>
          </a:xfrm>
          <a:prstGeom prst="rect">
            <a:avLst/>
          </a:prstGeom>
        </p:spPr>
      </p:pic>
      <p:sp>
        <p:nvSpPr>
          <p:cNvPr id="310" name="rect"/>
          <p:cNvSpPr/>
          <p:nvPr/>
        </p:nvSpPr>
        <p:spPr>
          <a:xfrm>
            <a:off x="1536839" y="785621"/>
            <a:ext cx="32003" cy="1053084"/>
          </a:xfrm>
          <a:prstGeom prst="rect">
            <a:avLst/>
          </a:prstGeom>
          <a:solidFill>
            <a:srgbClr val="1C1C1C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12" name="picture 3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902093" y="1556003"/>
            <a:ext cx="560831" cy="422148"/>
          </a:xfrm>
          <a:prstGeom prst="rect">
            <a:avLst/>
          </a:prstGeom>
        </p:spPr>
      </p:pic>
      <p:pic>
        <p:nvPicPr>
          <p:cNvPr id="314" name="picture 3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218323" y="1576578"/>
            <a:ext cx="8226552" cy="32003"/>
          </a:xfrm>
          <a:prstGeom prst="rect">
            <a:avLst/>
          </a:prstGeom>
        </p:spPr>
      </p:pic>
      <p:sp>
        <p:nvSpPr>
          <p:cNvPr id="316" name="textbox 316"/>
          <p:cNvSpPr/>
          <p:nvPr/>
        </p:nvSpPr>
        <p:spPr>
          <a:xfrm>
            <a:off x="9536280" y="6902285"/>
            <a:ext cx="200025" cy="1987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7000"/>
              </a:lnSpc>
            </a:pP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16</a:t>
            </a:r>
            <a:endParaRPr lang="en-US" alt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picture 3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192415" y="893826"/>
            <a:ext cx="546353" cy="896873"/>
          </a:xfrm>
          <a:prstGeom prst="rect">
            <a:avLst/>
          </a:prstGeom>
        </p:spPr>
      </p:pic>
      <p:pic>
        <p:nvPicPr>
          <p:cNvPr id="320" name="picture 3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686191" y="1315973"/>
            <a:ext cx="368807" cy="474726"/>
          </a:xfrm>
          <a:prstGeom prst="rect">
            <a:avLst/>
          </a:prstGeom>
        </p:spPr>
      </p:pic>
      <p:sp>
        <p:nvSpPr>
          <p:cNvPr id="322" name="rect"/>
          <p:cNvSpPr/>
          <p:nvPr/>
        </p:nvSpPr>
        <p:spPr>
          <a:xfrm>
            <a:off x="1536839" y="785621"/>
            <a:ext cx="32003" cy="1053084"/>
          </a:xfrm>
          <a:prstGeom prst="rect">
            <a:avLst/>
          </a:prstGeom>
          <a:solidFill>
            <a:srgbClr val="1C1C1C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24" name="picture 3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02093" y="1556003"/>
            <a:ext cx="4264913" cy="5030723"/>
          </a:xfrm>
          <a:prstGeom prst="rect">
            <a:avLst/>
          </a:prstGeom>
        </p:spPr>
      </p:pic>
      <p:pic>
        <p:nvPicPr>
          <p:cNvPr id="326" name="picture 3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202821" y="1690116"/>
            <a:ext cx="4562093" cy="3456432"/>
          </a:xfrm>
          <a:prstGeom prst="rect">
            <a:avLst/>
          </a:prstGeom>
        </p:spPr>
      </p:pic>
      <p:pic>
        <p:nvPicPr>
          <p:cNvPr id="328" name="picture 3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346839" y="5362193"/>
            <a:ext cx="4320540" cy="1131570"/>
          </a:xfrm>
          <a:prstGeom prst="rect">
            <a:avLst/>
          </a:prstGeom>
        </p:spPr>
      </p:pic>
      <p:sp>
        <p:nvSpPr>
          <p:cNvPr id="330" name="textbox 330"/>
          <p:cNvSpPr/>
          <p:nvPr/>
        </p:nvSpPr>
        <p:spPr>
          <a:xfrm>
            <a:off x="1562239" y="881126"/>
            <a:ext cx="3340734" cy="59626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lang="en-US" altLang="en-US" sz="1000" dirty="0"/>
          </a:p>
          <a:p>
            <a:pPr algn="l" rtl="0" eaLnBrk="0">
              <a:lnSpc>
                <a:spcPct val="101000"/>
              </a:lnSpc>
            </a:pPr>
            <a:endParaRPr lang="en-US" altLang="en-US" sz="1000" dirty="0"/>
          </a:p>
          <a:p>
            <a:pPr algn="r" rtl="0" eaLnBrk="0">
              <a:lnSpc>
                <a:spcPct val="95000"/>
              </a:lnSpc>
              <a:spcBef>
                <a:spcPts val="5"/>
              </a:spcBef>
            </a:pPr>
            <a:r>
              <a:rPr sz="19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类+结构体的框架进行编程</a:t>
            </a:r>
            <a:endParaRPr lang="en-US" altLang="en-US" sz="1900" dirty="0"/>
          </a:p>
        </p:txBody>
      </p:sp>
      <p:pic>
        <p:nvPicPr>
          <p:cNvPr id="332" name="picture 33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574939" y="893826"/>
            <a:ext cx="329183" cy="474726"/>
          </a:xfrm>
          <a:prstGeom prst="rect">
            <a:avLst/>
          </a:prstGeom>
        </p:spPr>
      </p:pic>
      <p:pic>
        <p:nvPicPr>
          <p:cNvPr id="334" name="picture 33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7344803" y="393953"/>
            <a:ext cx="2466594" cy="733044"/>
          </a:xfrm>
          <a:prstGeom prst="rect">
            <a:avLst/>
          </a:prstGeom>
        </p:spPr>
      </p:pic>
      <p:sp>
        <p:nvSpPr>
          <p:cNvPr id="336" name="textbox 336"/>
          <p:cNvSpPr/>
          <p:nvPr/>
        </p:nvSpPr>
        <p:spPr>
          <a:xfrm>
            <a:off x="1121797" y="6661960"/>
            <a:ext cx="3361690" cy="37274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5000"/>
              </a:lnSpc>
            </a:pP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一个蛇模型算法框架实例</a:t>
            </a:r>
            <a:endParaRPr lang="en-US" altLang="en-US" sz="2400" dirty="0"/>
          </a:p>
        </p:txBody>
      </p:sp>
      <p:pic>
        <p:nvPicPr>
          <p:cNvPr id="338" name="picture 33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218323" y="1576578"/>
            <a:ext cx="8226552" cy="32003"/>
          </a:xfrm>
          <a:prstGeom prst="rect">
            <a:avLst/>
          </a:prstGeom>
        </p:spPr>
      </p:pic>
      <p:sp>
        <p:nvSpPr>
          <p:cNvPr id="340" name="textbox 340"/>
          <p:cNvSpPr/>
          <p:nvPr/>
        </p:nvSpPr>
        <p:spPr>
          <a:xfrm>
            <a:off x="9536280" y="6904415"/>
            <a:ext cx="200025" cy="1968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6000"/>
              </a:lnSpc>
            </a:pP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17</a:t>
            </a:r>
            <a:endParaRPr lang="en-US" alt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2" name="picture 3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979049" y="2733294"/>
            <a:ext cx="1997964" cy="3421379"/>
          </a:xfrm>
          <a:prstGeom prst="rect">
            <a:avLst/>
          </a:prstGeom>
        </p:spPr>
      </p:pic>
      <p:pic>
        <p:nvPicPr>
          <p:cNvPr id="344" name="picture 3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642989" y="4570476"/>
            <a:ext cx="3277082" cy="1872233"/>
          </a:xfrm>
          <a:prstGeom prst="rect">
            <a:avLst/>
          </a:prstGeom>
        </p:spPr>
      </p:pic>
      <p:pic>
        <p:nvPicPr>
          <p:cNvPr id="346" name="picture 3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642989" y="2122170"/>
            <a:ext cx="3060192" cy="1984247"/>
          </a:xfrm>
          <a:prstGeom prst="rect">
            <a:avLst/>
          </a:prstGeom>
        </p:spPr>
      </p:pic>
      <p:pic>
        <p:nvPicPr>
          <p:cNvPr id="348" name="picture 34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83043" y="4498085"/>
            <a:ext cx="2366009" cy="1895094"/>
          </a:xfrm>
          <a:prstGeom prst="rect">
            <a:avLst/>
          </a:prstGeom>
        </p:spPr>
      </p:pic>
      <p:pic>
        <p:nvPicPr>
          <p:cNvPr id="350" name="picture 35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83043" y="2410205"/>
            <a:ext cx="2951987" cy="1478279"/>
          </a:xfrm>
          <a:prstGeom prst="rect">
            <a:avLst/>
          </a:prstGeom>
        </p:spPr>
      </p:pic>
      <p:pic>
        <p:nvPicPr>
          <p:cNvPr id="352" name="picture 35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192415" y="893826"/>
            <a:ext cx="546353" cy="896873"/>
          </a:xfrm>
          <a:prstGeom prst="rect">
            <a:avLst/>
          </a:prstGeom>
        </p:spPr>
      </p:pic>
      <p:pic>
        <p:nvPicPr>
          <p:cNvPr id="354" name="picture 35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686191" y="1315973"/>
            <a:ext cx="368807" cy="474726"/>
          </a:xfrm>
          <a:prstGeom prst="rect">
            <a:avLst/>
          </a:prstGeom>
        </p:spPr>
      </p:pic>
      <p:sp>
        <p:nvSpPr>
          <p:cNvPr id="356" name="textbox 356"/>
          <p:cNvSpPr/>
          <p:nvPr/>
        </p:nvSpPr>
        <p:spPr>
          <a:xfrm>
            <a:off x="1562239" y="881126"/>
            <a:ext cx="5606415" cy="59690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lang="en-US" altLang="en-US" sz="1000" dirty="0"/>
          </a:p>
          <a:p>
            <a:pPr algn="l" rtl="0" eaLnBrk="0">
              <a:lnSpc>
                <a:spcPct val="101000"/>
              </a:lnSpc>
            </a:pPr>
            <a:endParaRPr lang="en-US" altLang="en-US" sz="1000" dirty="0"/>
          </a:p>
          <a:p>
            <a:pPr algn="l" rtl="0" eaLnBrk="0">
              <a:lnSpc>
                <a:spcPct val="6000"/>
              </a:lnSpc>
            </a:pPr>
            <a:endParaRPr lang="en-US" altLang="en-US" sz="100" dirty="0"/>
          </a:p>
          <a:p>
            <a:pPr marL="362585" algn="l" rtl="0" eaLnBrk="0">
              <a:lnSpc>
                <a:spcPct val="95000"/>
              </a:lnSpc>
            </a:pPr>
            <a:r>
              <a:rPr sz="1900" kern="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2.遍历图像上所有像素（例如把图像左</a:t>
            </a:r>
            <a:r>
              <a:rPr sz="19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右翻转）</a:t>
            </a:r>
            <a:endParaRPr lang="en-US" altLang="en-US" sz="1900" dirty="0"/>
          </a:p>
        </p:txBody>
      </p:sp>
      <p:pic>
        <p:nvPicPr>
          <p:cNvPr id="358" name="picture 35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574939" y="893826"/>
            <a:ext cx="329183" cy="474726"/>
          </a:xfrm>
          <a:prstGeom prst="rect">
            <a:avLst/>
          </a:prstGeom>
        </p:spPr>
      </p:pic>
      <p:pic>
        <p:nvPicPr>
          <p:cNvPr id="360" name="picture 36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7344803" y="393953"/>
            <a:ext cx="2466594" cy="733044"/>
          </a:xfrm>
          <a:prstGeom prst="rect">
            <a:avLst/>
          </a:prstGeom>
        </p:spPr>
      </p:pic>
      <p:sp>
        <p:nvSpPr>
          <p:cNvPr id="362" name="textbox 362"/>
          <p:cNvSpPr/>
          <p:nvPr/>
        </p:nvSpPr>
        <p:spPr>
          <a:xfrm>
            <a:off x="4066128" y="2180985"/>
            <a:ext cx="2325370" cy="47244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lang="en-US" altLang="en-US" sz="100" dirty="0"/>
          </a:p>
          <a:p>
            <a:pPr marL="15875" indent="-3175" algn="l" rtl="0" eaLnBrk="0">
              <a:lnSpc>
                <a:spcPct val="113000"/>
              </a:lnSpc>
            </a:pPr>
            <a:r>
              <a:rPr sz="1300" kern="0" spc="8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3.</a:t>
            </a:r>
            <a:r>
              <a:rPr sz="13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通过访问图像每行以及以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in</a:t>
            </a:r>
            <a:r>
              <a:rPr sz="1300" kern="0" spc="8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-</a:t>
            </a:r>
            <a:r>
              <a:rPr sz="1300" kern="0" spc="6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 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place</a:t>
            </a:r>
            <a:r>
              <a:rPr sz="1300" kern="0" spc="1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的方式访问</a:t>
            </a:r>
            <a:endParaRPr lang="en-US" altLang="en-US" sz="1300" dirty="0"/>
          </a:p>
        </p:txBody>
      </p:sp>
      <p:sp>
        <p:nvSpPr>
          <p:cNvPr id="364" name="textbox 364"/>
          <p:cNvSpPr/>
          <p:nvPr/>
        </p:nvSpPr>
        <p:spPr>
          <a:xfrm>
            <a:off x="980540" y="2180990"/>
            <a:ext cx="2673985" cy="21970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8000"/>
              </a:lnSpc>
            </a:pPr>
            <a:r>
              <a:rPr sz="1300" kern="0" spc="9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1.</a:t>
            </a:r>
            <a:r>
              <a:rPr sz="1300" kern="0" spc="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使用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Mat</a:t>
            </a:r>
            <a:r>
              <a:rPr sz="1300" kern="0" spc="9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_</a:t>
            </a:r>
            <a:r>
              <a:rPr sz="1300" kern="0" spc="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模板子类</a:t>
            </a:r>
            <a:r>
              <a:rPr sz="13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访问图像元素</a:t>
            </a:r>
            <a:endParaRPr lang="en-US" altLang="en-US" sz="1300" dirty="0"/>
          </a:p>
        </p:txBody>
      </p:sp>
      <p:sp>
        <p:nvSpPr>
          <p:cNvPr id="366" name="textbox 366"/>
          <p:cNvSpPr/>
          <p:nvPr/>
        </p:nvSpPr>
        <p:spPr>
          <a:xfrm>
            <a:off x="6732565" y="4321443"/>
            <a:ext cx="2296160" cy="22669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1585"/>
              </a:lnSpc>
            </a:pPr>
            <a:r>
              <a:rPr sz="1300" kern="0" spc="8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5.</a:t>
            </a:r>
            <a:r>
              <a:rPr sz="13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通过通过三行指针联合访问</a:t>
            </a:r>
            <a:endParaRPr lang="en-US" altLang="en-US" sz="1300" dirty="0"/>
          </a:p>
        </p:txBody>
      </p:sp>
      <p:sp>
        <p:nvSpPr>
          <p:cNvPr id="368" name="textbox 368"/>
          <p:cNvSpPr/>
          <p:nvPr/>
        </p:nvSpPr>
        <p:spPr>
          <a:xfrm>
            <a:off x="2118663" y="1748932"/>
            <a:ext cx="2155825" cy="22542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1570"/>
              </a:lnSpc>
            </a:pPr>
            <a:r>
              <a:rPr sz="1300" b="1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访问图像中像素的几种方法</a:t>
            </a:r>
            <a:endParaRPr lang="en-US" altLang="en-US" sz="1300" dirty="0"/>
          </a:p>
        </p:txBody>
      </p:sp>
      <p:sp>
        <p:nvSpPr>
          <p:cNvPr id="370" name="textbox 370"/>
          <p:cNvSpPr/>
          <p:nvPr/>
        </p:nvSpPr>
        <p:spPr>
          <a:xfrm>
            <a:off x="6718428" y="1892949"/>
            <a:ext cx="1769745" cy="22605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1575"/>
              </a:lnSpc>
            </a:pPr>
            <a:r>
              <a:rPr sz="1300" kern="0" spc="8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4.</a:t>
            </a:r>
            <a:r>
              <a:rPr sz="13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通过迭代器方式访问</a:t>
            </a:r>
            <a:endParaRPr lang="en-US" altLang="en-US" sz="1300" dirty="0"/>
          </a:p>
        </p:txBody>
      </p:sp>
      <p:sp>
        <p:nvSpPr>
          <p:cNvPr id="372" name="textbox 372"/>
          <p:cNvSpPr/>
          <p:nvPr/>
        </p:nvSpPr>
        <p:spPr>
          <a:xfrm>
            <a:off x="1042815" y="4124847"/>
            <a:ext cx="1520189" cy="22669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1585"/>
              </a:lnSpc>
            </a:pPr>
            <a:r>
              <a:rPr sz="1300" kern="0" spc="7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2.</a:t>
            </a:r>
            <a:r>
              <a:rPr sz="1300" kern="0" spc="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以</a:t>
            </a:r>
            <a:r>
              <a:rPr sz="1300" kern="0" spc="7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.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at</a:t>
            </a:r>
            <a:r>
              <a:rPr sz="1300" kern="0" spc="7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&lt;&gt;</a:t>
            </a:r>
            <a:r>
              <a:rPr sz="1300" kern="0" spc="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方式访问</a:t>
            </a:r>
            <a:endParaRPr lang="en-US" altLang="en-US" sz="1300" dirty="0"/>
          </a:p>
        </p:txBody>
      </p:sp>
      <p:pic>
        <p:nvPicPr>
          <p:cNvPr id="374" name="picture 37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902093" y="1556003"/>
            <a:ext cx="560831" cy="422148"/>
          </a:xfrm>
          <a:prstGeom prst="rect">
            <a:avLst/>
          </a:prstGeom>
        </p:spPr>
      </p:pic>
      <p:sp>
        <p:nvSpPr>
          <p:cNvPr id="376" name="rect"/>
          <p:cNvSpPr/>
          <p:nvPr/>
        </p:nvSpPr>
        <p:spPr>
          <a:xfrm>
            <a:off x="1536839" y="785621"/>
            <a:ext cx="32003" cy="1053084"/>
          </a:xfrm>
          <a:prstGeom prst="rect">
            <a:avLst/>
          </a:prstGeom>
          <a:solidFill>
            <a:srgbClr val="1C1C1C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78" name="picture 37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1218323" y="1576578"/>
            <a:ext cx="8226552" cy="32003"/>
          </a:xfrm>
          <a:prstGeom prst="rect">
            <a:avLst/>
          </a:prstGeom>
        </p:spPr>
      </p:pic>
      <p:sp>
        <p:nvSpPr>
          <p:cNvPr id="380" name="textbox 380"/>
          <p:cNvSpPr/>
          <p:nvPr/>
        </p:nvSpPr>
        <p:spPr>
          <a:xfrm>
            <a:off x="9536280" y="6901752"/>
            <a:ext cx="200025" cy="19938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8000"/>
              </a:lnSpc>
            </a:pP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18</a:t>
            </a:r>
            <a:endParaRPr lang="en-US" alt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2" name="picture 38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5490857" y="1978152"/>
            <a:ext cx="3816858" cy="2766059"/>
          </a:xfrm>
          <a:prstGeom prst="rect">
            <a:avLst/>
          </a:prstGeom>
        </p:spPr>
      </p:pic>
      <p:pic>
        <p:nvPicPr>
          <p:cNvPr id="384" name="picture 38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74839" y="2481833"/>
            <a:ext cx="4238244" cy="2088641"/>
          </a:xfrm>
          <a:prstGeom prst="rect">
            <a:avLst/>
          </a:prstGeom>
        </p:spPr>
      </p:pic>
      <p:pic>
        <p:nvPicPr>
          <p:cNvPr id="386" name="picture 38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92415" y="893826"/>
            <a:ext cx="546353" cy="896873"/>
          </a:xfrm>
          <a:prstGeom prst="rect">
            <a:avLst/>
          </a:prstGeom>
        </p:spPr>
      </p:pic>
      <p:pic>
        <p:nvPicPr>
          <p:cNvPr id="388" name="picture 38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686191" y="1315973"/>
            <a:ext cx="368807" cy="474726"/>
          </a:xfrm>
          <a:prstGeom prst="rect">
            <a:avLst/>
          </a:prstGeom>
        </p:spPr>
      </p:pic>
      <p:sp>
        <p:nvSpPr>
          <p:cNvPr id="390" name="textbox 390"/>
          <p:cNvSpPr/>
          <p:nvPr/>
        </p:nvSpPr>
        <p:spPr>
          <a:xfrm>
            <a:off x="1562239" y="881126"/>
            <a:ext cx="3362325" cy="59626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lang="en-US" altLang="en-US" sz="1000" dirty="0"/>
          </a:p>
          <a:p>
            <a:pPr algn="l" rtl="0" eaLnBrk="0">
              <a:lnSpc>
                <a:spcPct val="101000"/>
              </a:lnSpc>
            </a:pPr>
            <a:endParaRPr lang="en-US" altLang="en-US" sz="1000" dirty="0"/>
          </a:p>
          <a:p>
            <a:pPr algn="r" rtl="0" eaLnBrk="0">
              <a:lnSpc>
                <a:spcPct val="95000"/>
              </a:lnSpc>
              <a:spcBef>
                <a:spcPts val="5"/>
              </a:spcBef>
            </a:pPr>
            <a:r>
              <a:rPr sz="19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3.操纵图像局部感</a:t>
            </a:r>
            <a:r>
              <a:rPr sz="19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兴趣区域</a:t>
            </a:r>
            <a:endParaRPr lang="en-US" altLang="en-US" sz="1900" dirty="0"/>
          </a:p>
        </p:txBody>
      </p:sp>
      <p:pic>
        <p:nvPicPr>
          <p:cNvPr id="392" name="picture 39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574939" y="893826"/>
            <a:ext cx="329183" cy="474726"/>
          </a:xfrm>
          <a:prstGeom prst="rect">
            <a:avLst/>
          </a:prstGeom>
        </p:spPr>
      </p:pic>
      <p:pic>
        <p:nvPicPr>
          <p:cNvPr id="394" name="picture 39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7344803" y="393953"/>
            <a:ext cx="2466594" cy="733044"/>
          </a:xfrm>
          <a:prstGeom prst="rect">
            <a:avLst/>
          </a:prstGeom>
        </p:spPr>
      </p:pic>
      <p:sp>
        <p:nvSpPr>
          <p:cNvPr id="396" name="rect"/>
          <p:cNvSpPr/>
          <p:nvPr/>
        </p:nvSpPr>
        <p:spPr>
          <a:xfrm>
            <a:off x="1536839" y="785621"/>
            <a:ext cx="32003" cy="1053084"/>
          </a:xfrm>
          <a:prstGeom prst="rect">
            <a:avLst/>
          </a:prstGeom>
          <a:solidFill>
            <a:srgbClr val="1C1C1C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98" name="picture 39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902093" y="1556003"/>
            <a:ext cx="560831" cy="422148"/>
          </a:xfrm>
          <a:prstGeom prst="rect">
            <a:avLst/>
          </a:prstGeom>
        </p:spPr>
      </p:pic>
      <p:pic>
        <p:nvPicPr>
          <p:cNvPr id="400" name="picture 40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218323" y="1576578"/>
            <a:ext cx="8226552" cy="32003"/>
          </a:xfrm>
          <a:prstGeom prst="rect">
            <a:avLst/>
          </a:prstGeom>
        </p:spPr>
      </p:pic>
      <p:sp>
        <p:nvSpPr>
          <p:cNvPr id="402" name="textbox 402"/>
          <p:cNvSpPr/>
          <p:nvPr/>
        </p:nvSpPr>
        <p:spPr>
          <a:xfrm>
            <a:off x="9536280" y="6902108"/>
            <a:ext cx="200025" cy="1987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7000"/>
              </a:lnSpc>
            </a:pP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19</a:t>
            </a:r>
            <a:endParaRPr lang="en-US" alt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4" name="picture 4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775474" y="2409570"/>
            <a:ext cx="8855964" cy="3209544"/>
          </a:xfrm>
          <a:prstGeom prst="rect">
            <a:avLst/>
          </a:prstGeom>
        </p:spPr>
      </p:pic>
      <p:graphicFrame>
        <p:nvGraphicFramePr>
          <p:cNvPr id="406" name="table 406"/>
          <p:cNvGraphicFramePr>
            <a:graphicFrameLocks noGrp="1"/>
          </p:cNvGraphicFramePr>
          <p:nvPr/>
        </p:nvGraphicFramePr>
        <p:xfrm>
          <a:off x="5821312" y="1739645"/>
          <a:ext cx="1764030" cy="1612900"/>
        </p:xfrm>
        <a:graphic>
          <a:graphicData uri="http://schemas.openxmlformats.org/drawingml/2006/table">
            <a:tbl>
              <a:tblPr/>
              <a:tblGrid>
                <a:gridCol w="589915"/>
                <a:gridCol w="584200"/>
                <a:gridCol w="589915"/>
              </a:tblGrid>
              <a:tr h="54038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lang="en-US" altLang="en-US" sz="700" dirty="0"/>
                    </a:p>
                    <a:p>
                      <a:pPr marL="104775" algn="l" rtl="0" eaLnBrk="0">
                        <a:lnSpc>
                          <a:spcPct val="77000"/>
                        </a:lnSpc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lang="en-US" altLang="en-US" sz="700" dirty="0"/>
                    </a:p>
                    <a:p>
                      <a:pPr marL="117475" algn="l" rtl="0" eaLnBrk="0">
                        <a:lnSpc>
                          <a:spcPct val="77000"/>
                        </a:lnSpc>
                        <a:spcBef>
                          <a:spcPts val="0"/>
                        </a:spcBef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lang="en-US" altLang="en-US" sz="700" dirty="0"/>
                    </a:p>
                    <a:p>
                      <a:pPr marL="99060" algn="l" rtl="0" eaLnBrk="0">
                        <a:lnSpc>
                          <a:spcPct val="77000"/>
                        </a:lnSpc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700" dirty="0"/>
                    </a:p>
                    <a:p>
                      <a:pPr marL="104775" algn="l" rtl="0" eaLnBrk="0">
                        <a:lnSpc>
                          <a:spcPct val="77000"/>
                        </a:lnSpc>
                        <a:spcBef>
                          <a:spcPts val="5"/>
                        </a:spcBef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700" dirty="0"/>
                    </a:p>
                    <a:p>
                      <a:pPr marL="99060" algn="l" rtl="0" eaLnBrk="0">
                        <a:lnSpc>
                          <a:spcPct val="77000"/>
                        </a:lnSpc>
                        <a:spcBef>
                          <a:spcPts val="5"/>
                        </a:spcBef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700" dirty="0"/>
                    </a:p>
                    <a:p>
                      <a:pPr marL="99060" algn="l" rtl="0" eaLnBrk="0">
                        <a:lnSpc>
                          <a:spcPct val="77000"/>
                        </a:lnSpc>
                        <a:spcBef>
                          <a:spcPts val="5"/>
                        </a:spcBef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91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700" dirty="0"/>
                    </a:p>
                    <a:p>
                      <a:pPr marL="104775" algn="l" rtl="0" eaLnBrk="0">
                        <a:lnSpc>
                          <a:spcPct val="77000"/>
                        </a:lnSpc>
                        <a:spcBef>
                          <a:spcPts val="5"/>
                        </a:spcBef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700" dirty="0"/>
                    </a:p>
                    <a:p>
                      <a:pPr marL="100330" algn="l" rtl="0" eaLnBrk="0">
                        <a:lnSpc>
                          <a:spcPct val="77000"/>
                        </a:lnSpc>
                        <a:spcBef>
                          <a:spcPts val="5"/>
                        </a:spcBef>
                      </a:pPr>
                      <a:r>
                        <a:rPr sz="18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-1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700" dirty="0"/>
                    </a:p>
                    <a:p>
                      <a:pPr marL="99060" algn="l" rtl="0" eaLnBrk="0">
                        <a:lnSpc>
                          <a:spcPct val="77000"/>
                        </a:lnSpc>
                        <a:spcBef>
                          <a:spcPts val="5"/>
                        </a:spcBef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08" name="picture 40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92415" y="893826"/>
            <a:ext cx="546353" cy="896873"/>
          </a:xfrm>
          <a:prstGeom prst="rect">
            <a:avLst/>
          </a:prstGeom>
        </p:spPr>
      </p:pic>
      <p:pic>
        <p:nvPicPr>
          <p:cNvPr id="410" name="picture 4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686191" y="1315973"/>
            <a:ext cx="368807" cy="474726"/>
          </a:xfrm>
          <a:prstGeom prst="rect">
            <a:avLst/>
          </a:prstGeom>
        </p:spPr>
      </p:pic>
      <p:sp>
        <p:nvSpPr>
          <p:cNvPr id="412" name="textbox 412"/>
          <p:cNvSpPr/>
          <p:nvPr/>
        </p:nvSpPr>
        <p:spPr>
          <a:xfrm>
            <a:off x="1562239" y="881126"/>
            <a:ext cx="3362325" cy="59626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lang="en-US" altLang="en-US" sz="1000" dirty="0"/>
          </a:p>
          <a:p>
            <a:pPr algn="l" rtl="0" eaLnBrk="0">
              <a:lnSpc>
                <a:spcPct val="101000"/>
              </a:lnSpc>
            </a:pPr>
            <a:endParaRPr lang="en-US" altLang="en-US" sz="1000" dirty="0"/>
          </a:p>
          <a:p>
            <a:pPr algn="r" rtl="0" eaLnBrk="0">
              <a:lnSpc>
                <a:spcPct val="95000"/>
              </a:lnSpc>
              <a:spcBef>
                <a:spcPts val="5"/>
              </a:spcBef>
            </a:pPr>
            <a:r>
              <a:rPr sz="19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4.滤波算子对图像进行滤波</a:t>
            </a:r>
            <a:endParaRPr lang="en-US" altLang="en-US" sz="1900" dirty="0"/>
          </a:p>
        </p:txBody>
      </p:sp>
      <p:pic>
        <p:nvPicPr>
          <p:cNvPr id="414" name="picture 4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574939" y="893826"/>
            <a:ext cx="329183" cy="474726"/>
          </a:xfrm>
          <a:prstGeom prst="rect">
            <a:avLst/>
          </a:prstGeom>
        </p:spPr>
      </p:pic>
      <p:pic>
        <p:nvPicPr>
          <p:cNvPr id="416" name="picture 4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7344803" y="393953"/>
            <a:ext cx="2466594" cy="733044"/>
          </a:xfrm>
          <a:prstGeom prst="rect">
            <a:avLst/>
          </a:prstGeom>
        </p:spPr>
      </p:pic>
      <p:pic>
        <p:nvPicPr>
          <p:cNvPr id="418" name="picture 4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902093" y="1556003"/>
            <a:ext cx="560831" cy="422148"/>
          </a:xfrm>
          <a:prstGeom prst="rect">
            <a:avLst/>
          </a:prstGeom>
        </p:spPr>
      </p:pic>
      <p:sp>
        <p:nvSpPr>
          <p:cNvPr id="420" name="rect"/>
          <p:cNvSpPr/>
          <p:nvPr/>
        </p:nvSpPr>
        <p:spPr>
          <a:xfrm>
            <a:off x="1536839" y="785621"/>
            <a:ext cx="32003" cy="1053084"/>
          </a:xfrm>
          <a:prstGeom prst="rect">
            <a:avLst/>
          </a:prstGeom>
          <a:solidFill>
            <a:srgbClr val="1C1C1C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22" name="picture 4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218323" y="1576578"/>
            <a:ext cx="8226552" cy="32003"/>
          </a:xfrm>
          <a:prstGeom prst="rect">
            <a:avLst/>
          </a:prstGeom>
        </p:spPr>
      </p:pic>
      <p:sp>
        <p:nvSpPr>
          <p:cNvPr id="424" name="textbox 424"/>
          <p:cNvSpPr/>
          <p:nvPr/>
        </p:nvSpPr>
        <p:spPr>
          <a:xfrm>
            <a:off x="9526161" y="6902108"/>
            <a:ext cx="210184" cy="1987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7000"/>
              </a:lnSpc>
            </a:pP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20</a:t>
            </a:r>
            <a:endParaRPr lang="en-US" alt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6" name="picture 4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6363347" y="3489959"/>
            <a:ext cx="2826258" cy="2267711"/>
          </a:xfrm>
          <a:prstGeom prst="rect">
            <a:avLst/>
          </a:prstGeom>
        </p:spPr>
      </p:pic>
      <p:pic>
        <p:nvPicPr>
          <p:cNvPr id="428" name="picture 4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585839" y="1697735"/>
            <a:ext cx="2673095" cy="1752600"/>
          </a:xfrm>
          <a:prstGeom prst="rect">
            <a:avLst/>
          </a:prstGeom>
        </p:spPr>
      </p:pic>
      <p:pic>
        <p:nvPicPr>
          <p:cNvPr id="430" name="picture 4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92415" y="893826"/>
            <a:ext cx="711708" cy="896873"/>
          </a:xfrm>
          <a:prstGeom prst="rect">
            <a:avLst/>
          </a:prstGeom>
        </p:spPr>
      </p:pic>
      <p:pic>
        <p:nvPicPr>
          <p:cNvPr id="432" name="picture 4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686191" y="1315973"/>
            <a:ext cx="368807" cy="474726"/>
          </a:xfrm>
          <a:prstGeom prst="rect">
            <a:avLst/>
          </a:prstGeom>
        </p:spPr>
      </p:pic>
      <p:graphicFrame>
        <p:nvGraphicFramePr>
          <p:cNvPr id="434" name="table 434"/>
          <p:cNvGraphicFramePr>
            <a:graphicFrameLocks noGrp="1"/>
          </p:cNvGraphicFramePr>
          <p:nvPr/>
        </p:nvGraphicFramePr>
        <p:xfrm>
          <a:off x="1740293" y="1739645"/>
          <a:ext cx="1764665" cy="1612900"/>
        </p:xfrm>
        <a:graphic>
          <a:graphicData uri="http://schemas.openxmlformats.org/drawingml/2006/table">
            <a:tbl>
              <a:tblPr/>
              <a:tblGrid>
                <a:gridCol w="590550"/>
                <a:gridCol w="583565"/>
                <a:gridCol w="590550"/>
              </a:tblGrid>
              <a:tr h="54038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lang="en-US" altLang="en-US" sz="700" dirty="0"/>
                    </a:p>
                    <a:p>
                      <a:pPr marL="106680" algn="l" rtl="0" eaLnBrk="0">
                        <a:lnSpc>
                          <a:spcPct val="77000"/>
                        </a:lnSpc>
                        <a:spcBef>
                          <a:spcPts val="0"/>
                        </a:spcBef>
                      </a:pPr>
                      <a:r>
                        <a:rPr sz="1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-1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lang="en-US" altLang="en-US" sz="700" dirty="0"/>
                    </a:p>
                    <a:p>
                      <a:pPr marL="98425" algn="l" rtl="0" eaLnBrk="0">
                        <a:lnSpc>
                          <a:spcPct val="77000"/>
                        </a:lnSpc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lang="en-US" altLang="en-US" sz="700" dirty="0"/>
                    </a:p>
                    <a:p>
                      <a:pPr marL="118110" algn="l" rtl="0" eaLnBrk="0">
                        <a:lnSpc>
                          <a:spcPct val="77000"/>
                        </a:lnSpc>
                        <a:spcBef>
                          <a:spcPts val="0"/>
                        </a:spcBef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700" dirty="0"/>
                    </a:p>
                    <a:p>
                      <a:pPr marL="106680" algn="l" rtl="0" eaLnBrk="0">
                        <a:lnSpc>
                          <a:spcPct val="77000"/>
                        </a:lnSpc>
                        <a:spcBef>
                          <a:spcPts val="5"/>
                        </a:spcBef>
                      </a:pPr>
                      <a:r>
                        <a:rPr sz="1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-1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700" dirty="0"/>
                    </a:p>
                    <a:p>
                      <a:pPr marL="98425" algn="l" rtl="0" eaLnBrk="0">
                        <a:lnSpc>
                          <a:spcPct val="77000"/>
                        </a:lnSpc>
                        <a:spcBef>
                          <a:spcPts val="5"/>
                        </a:spcBef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700" dirty="0"/>
                    </a:p>
                    <a:p>
                      <a:pPr marL="118110" algn="l" rtl="0" eaLnBrk="0">
                        <a:lnSpc>
                          <a:spcPct val="77000"/>
                        </a:lnSpc>
                        <a:spcBef>
                          <a:spcPts val="5"/>
                        </a:spcBef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91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700" dirty="0"/>
                    </a:p>
                    <a:p>
                      <a:pPr marL="106680" algn="l" rtl="0" eaLnBrk="0">
                        <a:lnSpc>
                          <a:spcPct val="77000"/>
                        </a:lnSpc>
                        <a:spcBef>
                          <a:spcPts val="5"/>
                        </a:spcBef>
                      </a:pPr>
                      <a:r>
                        <a:rPr sz="1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-1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700" dirty="0"/>
                    </a:p>
                    <a:p>
                      <a:pPr marL="98425" algn="l" rtl="0" eaLnBrk="0">
                        <a:lnSpc>
                          <a:spcPct val="77000"/>
                        </a:lnSpc>
                        <a:spcBef>
                          <a:spcPts val="5"/>
                        </a:spcBef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700" dirty="0"/>
                    </a:p>
                    <a:p>
                      <a:pPr marL="118110" algn="l" rtl="0" eaLnBrk="0">
                        <a:lnSpc>
                          <a:spcPct val="77000"/>
                        </a:lnSpc>
                        <a:spcBef>
                          <a:spcPts val="5"/>
                        </a:spcBef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36" name="table 436"/>
          <p:cNvGraphicFramePr>
            <a:graphicFrameLocks noGrp="1"/>
          </p:cNvGraphicFramePr>
          <p:nvPr/>
        </p:nvGraphicFramePr>
        <p:xfrm>
          <a:off x="1740293" y="3988054"/>
          <a:ext cx="1764665" cy="1612900"/>
        </p:xfrm>
        <a:graphic>
          <a:graphicData uri="http://schemas.openxmlformats.org/drawingml/2006/table">
            <a:tbl>
              <a:tblPr/>
              <a:tblGrid>
                <a:gridCol w="590550"/>
                <a:gridCol w="583565"/>
                <a:gridCol w="590550"/>
              </a:tblGrid>
              <a:tr h="5397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lang="en-US" altLang="en-US" sz="700" dirty="0"/>
                    </a:p>
                    <a:p>
                      <a:pPr marL="123825" algn="l" rtl="0" eaLnBrk="0">
                        <a:lnSpc>
                          <a:spcPct val="77000"/>
                        </a:lnSpc>
                        <a:spcBef>
                          <a:spcPts val="5"/>
                        </a:spcBef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lang="en-US" altLang="en-US" sz="700" dirty="0"/>
                    </a:p>
                    <a:p>
                      <a:pPr marL="117475" algn="l" rtl="0" eaLnBrk="0">
                        <a:lnSpc>
                          <a:spcPct val="77000"/>
                        </a:lnSpc>
                        <a:spcBef>
                          <a:spcPts val="5"/>
                        </a:spcBef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lang="en-US" altLang="en-US" sz="700" dirty="0"/>
                    </a:p>
                    <a:p>
                      <a:pPr marL="118110" algn="l" rtl="0" eaLnBrk="0">
                        <a:lnSpc>
                          <a:spcPct val="77000"/>
                        </a:lnSpc>
                        <a:spcBef>
                          <a:spcPts val="5"/>
                        </a:spcBef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700" dirty="0"/>
                    </a:p>
                    <a:p>
                      <a:pPr marL="105410" algn="l" rtl="0" eaLnBrk="0">
                        <a:lnSpc>
                          <a:spcPct val="77000"/>
                        </a:lnSpc>
                        <a:spcBef>
                          <a:spcPts val="5"/>
                        </a:spcBef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700" dirty="0"/>
                    </a:p>
                    <a:p>
                      <a:pPr marL="99060" algn="l" rtl="0" eaLnBrk="0">
                        <a:lnSpc>
                          <a:spcPct val="77000"/>
                        </a:lnSpc>
                        <a:spcBef>
                          <a:spcPts val="5"/>
                        </a:spcBef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700" dirty="0"/>
                    </a:p>
                    <a:p>
                      <a:pPr marL="99695" algn="l" rtl="0" eaLnBrk="0">
                        <a:lnSpc>
                          <a:spcPct val="77000"/>
                        </a:lnSpc>
                        <a:spcBef>
                          <a:spcPts val="5"/>
                        </a:spcBef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97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700" dirty="0"/>
                    </a:p>
                    <a:p>
                      <a:pPr marL="106680" algn="l" rtl="0" eaLnBrk="0">
                        <a:lnSpc>
                          <a:spcPct val="77000"/>
                        </a:lnSpc>
                        <a:spcBef>
                          <a:spcPts val="5"/>
                        </a:spcBef>
                      </a:pPr>
                      <a:r>
                        <a:rPr sz="18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-1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700" dirty="0"/>
                    </a:p>
                    <a:p>
                      <a:pPr marL="99695" algn="l" rtl="0" eaLnBrk="0">
                        <a:lnSpc>
                          <a:spcPct val="77000"/>
                        </a:lnSpc>
                        <a:spcBef>
                          <a:spcPts val="5"/>
                        </a:spcBef>
                      </a:pPr>
                      <a:r>
                        <a:rPr sz="18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-1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700" dirty="0"/>
                    </a:p>
                    <a:p>
                      <a:pPr marL="100330" algn="l" rtl="0" eaLnBrk="0">
                        <a:lnSpc>
                          <a:spcPct val="77000"/>
                        </a:lnSpc>
                        <a:spcBef>
                          <a:spcPts val="5"/>
                        </a:spcBef>
                      </a:pPr>
                      <a:r>
                        <a:rPr sz="18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-1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38" name="table 438"/>
          <p:cNvGraphicFramePr>
            <a:graphicFrameLocks noGrp="1"/>
          </p:cNvGraphicFramePr>
          <p:nvPr/>
        </p:nvGraphicFramePr>
        <p:xfrm>
          <a:off x="4428375" y="1770633"/>
          <a:ext cx="1764030" cy="1612900"/>
        </p:xfrm>
        <a:graphic>
          <a:graphicData uri="http://schemas.openxmlformats.org/drawingml/2006/table">
            <a:tbl>
              <a:tblPr/>
              <a:tblGrid>
                <a:gridCol w="589915"/>
                <a:gridCol w="584200"/>
                <a:gridCol w="589915"/>
              </a:tblGrid>
              <a:tr h="5397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lang="en-US" altLang="en-US" sz="700" dirty="0"/>
                    </a:p>
                    <a:p>
                      <a:pPr marL="105410" algn="l" rtl="0" eaLnBrk="0">
                        <a:lnSpc>
                          <a:spcPct val="77000"/>
                        </a:lnSpc>
                        <a:spcBef>
                          <a:spcPts val="5"/>
                        </a:spcBef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lang="en-US" altLang="en-US" sz="700" dirty="0"/>
                    </a:p>
                    <a:p>
                      <a:pPr marL="118110" algn="l" rtl="0" eaLnBrk="0">
                        <a:lnSpc>
                          <a:spcPct val="77000"/>
                        </a:lnSpc>
                        <a:spcBef>
                          <a:spcPts val="5"/>
                        </a:spcBef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lang="en-US" altLang="en-US" sz="700" dirty="0"/>
                    </a:p>
                    <a:p>
                      <a:pPr marL="99060" algn="l" rtl="0" eaLnBrk="0">
                        <a:lnSpc>
                          <a:spcPct val="77000"/>
                        </a:lnSpc>
                        <a:spcBef>
                          <a:spcPts val="5"/>
                        </a:spcBef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700" dirty="0"/>
                    </a:p>
                    <a:p>
                      <a:pPr marL="124460" algn="l" rtl="0" eaLnBrk="0">
                        <a:lnSpc>
                          <a:spcPct val="77000"/>
                        </a:lnSpc>
                        <a:spcBef>
                          <a:spcPts val="5"/>
                        </a:spcBef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700" dirty="0"/>
                    </a:p>
                    <a:p>
                      <a:pPr marL="100330" algn="l" rtl="0" eaLnBrk="0">
                        <a:lnSpc>
                          <a:spcPct val="77000"/>
                        </a:lnSpc>
                        <a:spcBef>
                          <a:spcPts val="5"/>
                        </a:spcBef>
                      </a:pPr>
                      <a:r>
                        <a:rPr sz="18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-4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700" dirty="0"/>
                    </a:p>
                    <a:p>
                      <a:pPr marL="117475" algn="l" rtl="0" eaLnBrk="0">
                        <a:lnSpc>
                          <a:spcPct val="77000"/>
                        </a:lnSpc>
                        <a:spcBef>
                          <a:spcPts val="5"/>
                        </a:spcBef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97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700" dirty="0"/>
                    </a:p>
                    <a:p>
                      <a:pPr marL="105410" algn="l" rtl="0" eaLnBrk="0">
                        <a:lnSpc>
                          <a:spcPct val="77000"/>
                        </a:lnSpc>
                        <a:spcBef>
                          <a:spcPts val="5"/>
                        </a:spcBef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700" dirty="0"/>
                    </a:p>
                    <a:p>
                      <a:pPr marL="118110" algn="l" rtl="0" eaLnBrk="0">
                        <a:lnSpc>
                          <a:spcPct val="77000"/>
                        </a:lnSpc>
                        <a:spcBef>
                          <a:spcPts val="5"/>
                        </a:spcBef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700" dirty="0"/>
                    </a:p>
                    <a:p>
                      <a:pPr marL="99060" algn="l" rtl="0" eaLnBrk="0">
                        <a:lnSpc>
                          <a:spcPct val="77000"/>
                        </a:lnSpc>
                        <a:spcBef>
                          <a:spcPts val="5"/>
                        </a:spcBef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40" name="textbox 440"/>
          <p:cNvSpPr/>
          <p:nvPr/>
        </p:nvSpPr>
        <p:spPr>
          <a:xfrm>
            <a:off x="1941861" y="6087413"/>
            <a:ext cx="7089775" cy="37274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5000"/>
              </a:lnSpc>
            </a:pP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Sobel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算子        锐化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算子</a:t>
            </a:r>
            <a:r>
              <a:rPr sz="24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高斯滤波算子</a:t>
            </a:r>
            <a:endParaRPr lang="en-US" altLang="en-US" sz="2400" dirty="0"/>
          </a:p>
        </p:txBody>
      </p:sp>
      <p:pic>
        <p:nvPicPr>
          <p:cNvPr id="442" name="picture 44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7344803" y="393953"/>
            <a:ext cx="2466594" cy="733044"/>
          </a:xfrm>
          <a:prstGeom prst="rect">
            <a:avLst/>
          </a:prstGeom>
        </p:spPr>
      </p:pic>
      <p:sp>
        <p:nvSpPr>
          <p:cNvPr id="444" name="textbox 444"/>
          <p:cNvSpPr/>
          <p:nvPr/>
        </p:nvSpPr>
        <p:spPr>
          <a:xfrm>
            <a:off x="1899543" y="1177251"/>
            <a:ext cx="3025139" cy="3003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5000"/>
              </a:lnSpc>
            </a:pPr>
            <a:r>
              <a:rPr sz="19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4.滤波算子对图像进行滤波</a:t>
            </a:r>
            <a:endParaRPr lang="en-US" altLang="en-US" sz="1900" dirty="0"/>
          </a:p>
        </p:txBody>
      </p:sp>
      <p:sp>
        <p:nvSpPr>
          <p:cNvPr id="446" name="rect"/>
          <p:cNvSpPr/>
          <p:nvPr/>
        </p:nvSpPr>
        <p:spPr>
          <a:xfrm>
            <a:off x="1536839" y="785621"/>
            <a:ext cx="32003" cy="1053084"/>
          </a:xfrm>
          <a:prstGeom prst="rect">
            <a:avLst/>
          </a:prstGeom>
          <a:solidFill>
            <a:srgbClr val="1C1C1C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48" name="picture 44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902093" y="1556003"/>
            <a:ext cx="560831" cy="422148"/>
          </a:xfrm>
          <a:prstGeom prst="rect">
            <a:avLst/>
          </a:prstGeom>
        </p:spPr>
      </p:pic>
      <p:pic>
        <p:nvPicPr>
          <p:cNvPr id="450" name="picture 45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218323" y="1576578"/>
            <a:ext cx="8226552" cy="32003"/>
          </a:xfrm>
          <a:prstGeom prst="rect">
            <a:avLst/>
          </a:prstGeom>
        </p:spPr>
      </p:pic>
      <p:sp>
        <p:nvSpPr>
          <p:cNvPr id="452" name="textbox 452"/>
          <p:cNvSpPr/>
          <p:nvPr/>
        </p:nvSpPr>
        <p:spPr>
          <a:xfrm>
            <a:off x="9526161" y="6902108"/>
            <a:ext cx="210184" cy="1987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7000"/>
              </a:lnSpc>
            </a:pP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21</a:t>
            </a:r>
            <a:endParaRPr lang="en-US" alt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picture 45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171079" y="3386327"/>
            <a:ext cx="6840473" cy="3728466"/>
          </a:xfrm>
          <a:prstGeom prst="rect">
            <a:avLst/>
          </a:prstGeom>
        </p:spPr>
      </p:pic>
      <p:pic>
        <p:nvPicPr>
          <p:cNvPr id="456" name="picture 4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92415" y="893826"/>
            <a:ext cx="546353" cy="896873"/>
          </a:xfrm>
          <a:prstGeom prst="rect">
            <a:avLst/>
          </a:prstGeom>
        </p:spPr>
      </p:pic>
      <p:pic>
        <p:nvPicPr>
          <p:cNvPr id="458" name="picture 45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686191" y="1315973"/>
            <a:ext cx="368807" cy="474726"/>
          </a:xfrm>
          <a:prstGeom prst="rect">
            <a:avLst/>
          </a:prstGeom>
        </p:spPr>
      </p:pic>
      <p:sp>
        <p:nvSpPr>
          <p:cNvPr id="460" name="rect"/>
          <p:cNvSpPr/>
          <p:nvPr/>
        </p:nvSpPr>
        <p:spPr>
          <a:xfrm>
            <a:off x="1536839" y="785621"/>
            <a:ext cx="32003" cy="1053084"/>
          </a:xfrm>
          <a:prstGeom prst="rect">
            <a:avLst/>
          </a:prstGeom>
          <a:solidFill>
            <a:srgbClr val="1C1C1C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62" name="picture 46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902093" y="1556003"/>
            <a:ext cx="2464307" cy="1758696"/>
          </a:xfrm>
          <a:prstGeom prst="rect">
            <a:avLst/>
          </a:prstGeom>
        </p:spPr>
      </p:pic>
      <p:sp>
        <p:nvSpPr>
          <p:cNvPr id="464" name="textbox 464"/>
          <p:cNvSpPr/>
          <p:nvPr/>
        </p:nvSpPr>
        <p:spPr>
          <a:xfrm>
            <a:off x="1562239" y="881126"/>
            <a:ext cx="3362325" cy="59626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lang="en-US" altLang="en-US" sz="1000" dirty="0"/>
          </a:p>
          <a:p>
            <a:pPr algn="l" rtl="0" eaLnBrk="0">
              <a:lnSpc>
                <a:spcPct val="101000"/>
              </a:lnSpc>
            </a:pPr>
            <a:endParaRPr lang="en-US" altLang="en-US" sz="1000" dirty="0"/>
          </a:p>
          <a:p>
            <a:pPr algn="r" rtl="0" eaLnBrk="0">
              <a:lnSpc>
                <a:spcPct val="95000"/>
              </a:lnSpc>
              <a:spcBef>
                <a:spcPts val="5"/>
              </a:spcBef>
            </a:pPr>
            <a:r>
              <a:rPr sz="19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4.滤波算子对图像进行滤波</a:t>
            </a:r>
            <a:endParaRPr lang="en-US" altLang="en-US" sz="1900" dirty="0"/>
          </a:p>
        </p:txBody>
      </p:sp>
      <p:pic>
        <p:nvPicPr>
          <p:cNvPr id="466" name="picture 46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574939" y="893826"/>
            <a:ext cx="329183" cy="474726"/>
          </a:xfrm>
          <a:prstGeom prst="rect">
            <a:avLst/>
          </a:prstGeom>
        </p:spPr>
      </p:pic>
      <p:pic>
        <p:nvPicPr>
          <p:cNvPr id="468" name="picture 46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7344803" y="393953"/>
            <a:ext cx="2466594" cy="733044"/>
          </a:xfrm>
          <a:prstGeom prst="rect">
            <a:avLst/>
          </a:prstGeom>
        </p:spPr>
      </p:pic>
      <p:pic>
        <p:nvPicPr>
          <p:cNvPr id="470" name="picture 47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218323" y="1576578"/>
            <a:ext cx="8226552" cy="32003"/>
          </a:xfrm>
          <a:prstGeom prst="rect">
            <a:avLst/>
          </a:prstGeom>
        </p:spPr>
      </p:pic>
      <p:sp>
        <p:nvSpPr>
          <p:cNvPr id="472" name="textbox 472"/>
          <p:cNvSpPr/>
          <p:nvPr/>
        </p:nvSpPr>
        <p:spPr>
          <a:xfrm>
            <a:off x="9526161" y="6902108"/>
            <a:ext cx="210184" cy="1987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7000"/>
              </a:lnSpc>
            </a:pP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22</a:t>
            </a:r>
            <a:endParaRPr lang="en-US" alt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4" name="picture 47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7251077" y="3282695"/>
            <a:ext cx="2667761" cy="1959864"/>
          </a:xfrm>
          <a:prstGeom prst="rect">
            <a:avLst/>
          </a:prstGeom>
        </p:spPr>
      </p:pic>
      <p:pic>
        <p:nvPicPr>
          <p:cNvPr id="476" name="picture 47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98689" y="3633978"/>
            <a:ext cx="2196083" cy="1624583"/>
          </a:xfrm>
          <a:prstGeom prst="rect">
            <a:avLst/>
          </a:prstGeom>
        </p:spPr>
      </p:pic>
      <p:graphicFrame>
        <p:nvGraphicFramePr>
          <p:cNvPr id="478" name="table 478"/>
          <p:cNvGraphicFramePr>
            <a:graphicFrameLocks noGrp="1"/>
          </p:cNvGraphicFramePr>
          <p:nvPr/>
        </p:nvGraphicFramePr>
        <p:xfrm>
          <a:off x="4404754" y="1899665"/>
          <a:ext cx="1764030" cy="1612900"/>
        </p:xfrm>
        <a:graphic>
          <a:graphicData uri="http://schemas.openxmlformats.org/drawingml/2006/table">
            <a:tbl>
              <a:tblPr/>
              <a:tblGrid>
                <a:gridCol w="589915"/>
                <a:gridCol w="584200"/>
                <a:gridCol w="589915"/>
              </a:tblGrid>
              <a:tr h="5391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lang="en-US" altLang="en-US" sz="700" dirty="0"/>
                    </a:p>
                    <a:p>
                      <a:pPr marL="106680" algn="l" rtl="0" eaLnBrk="0">
                        <a:lnSpc>
                          <a:spcPct val="77000"/>
                        </a:lnSpc>
                        <a:spcBef>
                          <a:spcPts val="0"/>
                        </a:spcBef>
                      </a:pPr>
                      <a:r>
                        <a:rPr sz="1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-1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lang="en-US" altLang="en-US" sz="700" dirty="0"/>
                    </a:p>
                    <a:p>
                      <a:pPr marL="99695" algn="l" rtl="0" eaLnBrk="0">
                        <a:lnSpc>
                          <a:spcPct val="77000"/>
                        </a:lnSpc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lang="en-US" altLang="en-US" sz="700" dirty="0"/>
                    </a:p>
                    <a:p>
                      <a:pPr marL="117475" algn="l" rtl="0" eaLnBrk="0">
                        <a:lnSpc>
                          <a:spcPct val="77000"/>
                        </a:lnSpc>
                        <a:spcBef>
                          <a:spcPts val="0"/>
                        </a:spcBef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lang="en-US" altLang="en-US" sz="700" dirty="0"/>
                    </a:p>
                    <a:p>
                      <a:pPr marL="106680" algn="l" rtl="0" eaLnBrk="0">
                        <a:lnSpc>
                          <a:spcPct val="77000"/>
                        </a:lnSpc>
                        <a:spcBef>
                          <a:spcPts val="5"/>
                        </a:spcBef>
                      </a:pPr>
                      <a:r>
                        <a:rPr sz="1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-1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lang="en-US" altLang="en-US" sz="700" dirty="0"/>
                    </a:p>
                    <a:p>
                      <a:pPr marL="99695" algn="l" rtl="0" eaLnBrk="0">
                        <a:lnSpc>
                          <a:spcPct val="77000"/>
                        </a:lnSpc>
                        <a:spcBef>
                          <a:spcPts val="5"/>
                        </a:spcBef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lang="en-US" altLang="en-US" sz="700" dirty="0"/>
                    </a:p>
                    <a:p>
                      <a:pPr marL="117475" algn="l" rtl="0" eaLnBrk="0">
                        <a:lnSpc>
                          <a:spcPct val="77000"/>
                        </a:lnSpc>
                        <a:spcBef>
                          <a:spcPts val="5"/>
                        </a:spcBef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038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lang="en-US" altLang="en-US" sz="700" dirty="0"/>
                    </a:p>
                    <a:p>
                      <a:pPr marL="106680" algn="l" rtl="0" eaLnBrk="0">
                        <a:lnSpc>
                          <a:spcPct val="77000"/>
                        </a:lnSpc>
                        <a:spcBef>
                          <a:spcPts val="5"/>
                        </a:spcBef>
                      </a:pPr>
                      <a:r>
                        <a:rPr sz="1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-1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lang="en-US" altLang="en-US" sz="700" dirty="0"/>
                    </a:p>
                    <a:p>
                      <a:pPr marL="99695" algn="l" rtl="0" eaLnBrk="0">
                        <a:lnSpc>
                          <a:spcPct val="77000"/>
                        </a:lnSpc>
                        <a:spcBef>
                          <a:spcPts val="5"/>
                        </a:spcBef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lang="en-US" altLang="en-US" sz="700" dirty="0"/>
                    </a:p>
                    <a:p>
                      <a:pPr marL="117475" algn="l" rtl="0" eaLnBrk="0">
                        <a:lnSpc>
                          <a:spcPct val="77000"/>
                        </a:lnSpc>
                        <a:spcBef>
                          <a:spcPts val="5"/>
                        </a:spcBef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80" name="table 480"/>
          <p:cNvGraphicFramePr>
            <a:graphicFrameLocks noGrp="1"/>
          </p:cNvGraphicFramePr>
          <p:nvPr/>
        </p:nvGraphicFramePr>
        <p:xfrm>
          <a:off x="4525150" y="4980178"/>
          <a:ext cx="1764030" cy="1612900"/>
        </p:xfrm>
        <a:graphic>
          <a:graphicData uri="http://schemas.openxmlformats.org/drawingml/2006/table">
            <a:tbl>
              <a:tblPr/>
              <a:tblGrid>
                <a:gridCol w="589915"/>
                <a:gridCol w="584200"/>
                <a:gridCol w="589915"/>
              </a:tblGrid>
              <a:tr h="5397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lang="en-US" altLang="en-US" sz="700" dirty="0"/>
                    </a:p>
                    <a:p>
                      <a:pPr marL="123190" algn="l" rtl="0" eaLnBrk="0">
                        <a:lnSpc>
                          <a:spcPct val="77000"/>
                        </a:lnSpc>
                        <a:spcBef>
                          <a:spcPts val="5"/>
                        </a:spcBef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lang="en-US" altLang="en-US" sz="700" dirty="0"/>
                    </a:p>
                    <a:p>
                      <a:pPr marL="117475" algn="l" rtl="0" eaLnBrk="0">
                        <a:lnSpc>
                          <a:spcPct val="77000"/>
                        </a:lnSpc>
                        <a:spcBef>
                          <a:spcPts val="5"/>
                        </a:spcBef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lang="en-US" altLang="en-US" sz="700" dirty="0"/>
                    </a:p>
                    <a:p>
                      <a:pPr marL="117475" algn="l" rtl="0" eaLnBrk="0">
                        <a:lnSpc>
                          <a:spcPct val="77000"/>
                        </a:lnSpc>
                        <a:spcBef>
                          <a:spcPts val="5"/>
                        </a:spcBef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lang="en-US" altLang="en-US" sz="700" dirty="0"/>
                    </a:p>
                    <a:p>
                      <a:pPr marL="104775" algn="l" rtl="0" eaLnBrk="0">
                        <a:lnSpc>
                          <a:spcPct val="77000"/>
                        </a:lnSpc>
                        <a:spcBef>
                          <a:spcPts val="0"/>
                        </a:spcBef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lang="en-US" altLang="en-US" sz="700" dirty="0"/>
                    </a:p>
                    <a:p>
                      <a:pPr marL="99060" algn="l" rtl="0" eaLnBrk="0">
                        <a:lnSpc>
                          <a:spcPct val="77000"/>
                        </a:lnSpc>
                        <a:spcBef>
                          <a:spcPts val="0"/>
                        </a:spcBef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lang="en-US" altLang="en-US" sz="700" dirty="0"/>
                    </a:p>
                    <a:p>
                      <a:pPr marL="99060" algn="l" rtl="0" eaLnBrk="0">
                        <a:lnSpc>
                          <a:spcPct val="77000"/>
                        </a:lnSpc>
                        <a:spcBef>
                          <a:spcPts val="0"/>
                        </a:spcBef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97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lang="en-US" altLang="en-US" sz="700" dirty="0"/>
                    </a:p>
                    <a:p>
                      <a:pPr marL="106045" algn="l" rtl="0" eaLnBrk="0">
                        <a:lnSpc>
                          <a:spcPct val="77000"/>
                        </a:lnSpc>
                        <a:spcBef>
                          <a:spcPts val="5"/>
                        </a:spcBef>
                      </a:pPr>
                      <a:r>
                        <a:rPr sz="18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-1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lang="en-US" altLang="en-US" sz="700" dirty="0"/>
                    </a:p>
                    <a:p>
                      <a:pPr marL="100330" algn="l" rtl="0" eaLnBrk="0">
                        <a:lnSpc>
                          <a:spcPct val="77000"/>
                        </a:lnSpc>
                        <a:spcBef>
                          <a:spcPts val="5"/>
                        </a:spcBef>
                      </a:pPr>
                      <a:r>
                        <a:rPr sz="18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-1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lang="en-US" altLang="en-US" sz="700" dirty="0"/>
                    </a:p>
                    <a:p>
                      <a:pPr marL="100330" algn="l" rtl="0" eaLnBrk="0">
                        <a:lnSpc>
                          <a:spcPct val="77000"/>
                        </a:lnSpc>
                        <a:spcBef>
                          <a:spcPts val="5"/>
                        </a:spcBef>
                      </a:pPr>
                      <a:r>
                        <a:rPr sz="18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-1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82" name="picture 48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400685" y="2767583"/>
            <a:ext cx="612648" cy="3012948"/>
          </a:xfrm>
          <a:prstGeom prst="rect">
            <a:avLst/>
          </a:prstGeom>
        </p:spPr>
      </p:pic>
      <p:pic>
        <p:nvPicPr>
          <p:cNvPr id="484" name="picture 48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92415" y="893826"/>
            <a:ext cx="546353" cy="896873"/>
          </a:xfrm>
          <a:prstGeom prst="rect">
            <a:avLst/>
          </a:prstGeom>
        </p:spPr>
      </p:pic>
      <p:pic>
        <p:nvPicPr>
          <p:cNvPr id="486" name="picture 48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686191" y="1315973"/>
            <a:ext cx="368807" cy="474726"/>
          </a:xfrm>
          <a:prstGeom prst="rect">
            <a:avLst/>
          </a:prstGeom>
        </p:spPr>
      </p:pic>
      <p:sp>
        <p:nvSpPr>
          <p:cNvPr id="488" name="textbox 488"/>
          <p:cNvSpPr/>
          <p:nvPr/>
        </p:nvSpPr>
        <p:spPr>
          <a:xfrm>
            <a:off x="1562239" y="881126"/>
            <a:ext cx="3362325" cy="59626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lang="en-US" altLang="en-US" sz="1000" dirty="0"/>
          </a:p>
          <a:p>
            <a:pPr algn="l" rtl="0" eaLnBrk="0">
              <a:lnSpc>
                <a:spcPct val="101000"/>
              </a:lnSpc>
            </a:pPr>
            <a:endParaRPr lang="en-US" altLang="en-US" sz="1000" dirty="0"/>
          </a:p>
          <a:p>
            <a:pPr algn="r" rtl="0" eaLnBrk="0">
              <a:lnSpc>
                <a:spcPct val="95000"/>
              </a:lnSpc>
              <a:spcBef>
                <a:spcPts val="5"/>
              </a:spcBef>
            </a:pPr>
            <a:r>
              <a:rPr sz="19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4.滤波算子对图像进行滤波</a:t>
            </a:r>
            <a:endParaRPr lang="en-US" altLang="en-US" sz="1900" dirty="0"/>
          </a:p>
        </p:txBody>
      </p:sp>
      <p:pic>
        <p:nvPicPr>
          <p:cNvPr id="490" name="picture 49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574939" y="893826"/>
            <a:ext cx="329183" cy="474726"/>
          </a:xfrm>
          <a:prstGeom prst="rect">
            <a:avLst/>
          </a:prstGeom>
        </p:spPr>
      </p:pic>
      <p:pic>
        <p:nvPicPr>
          <p:cNvPr id="492" name="picture 49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7344803" y="393953"/>
            <a:ext cx="2466594" cy="733044"/>
          </a:xfrm>
          <a:prstGeom prst="rect">
            <a:avLst/>
          </a:prstGeom>
        </p:spPr>
      </p:pic>
      <p:pic>
        <p:nvPicPr>
          <p:cNvPr id="494" name="picture 49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3445650" y="4828032"/>
            <a:ext cx="881633" cy="734567"/>
          </a:xfrm>
          <a:prstGeom prst="rect">
            <a:avLst/>
          </a:prstGeom>
        </p:spPr>
      </p:pic>
      <p:pic>
        <p:nvPicPr>
          <p:cNvPr id="496" name="picture 49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3355733" y="3353561"/>
            <a:ext cx="890778" cy="726185"/>
          </a:xfrm>
          <a:prstGeom prst="rect">
            <a:avLst/>
          </a:prstGeom>
        </p:spPr>
      </p:pic>
      <p:sp>
        <p:nvSpPr>
          <p:cNvPr id="498" name="rect"/>
          <p:cNvSpPr/>
          <p:nvPr/>
        </p:nvSpPr>
        <p:spPr>
          <a:xfrm>
            <a:off x="1536839" y="785621"/>
            <a:ext cx="32003" cy="1053084"/>
          </a:xfrm>
          <a:prstGeom prst="rect">
            <a:avLst/>
          </a:prstGeom>
          <a:solidFill>
            <a:srgbClr val="1C1C1C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500" name="picture 50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902093" y="1556003"/>
            <a:ext cx="560831" cy="422148"/>
          </a:xfrm>
          <a:prstGeom prst="rect">
            <a:avLst/>
          </a:prstGeom>
        </p:spPr>
      </p:pic>
      <p:pic>
        <p:nvPicPr>
          <p:cNvPr id="502" name="picture 50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1218323" y="1576578"/>
            <a:ext cx="8226552" cy="32003"/>
          </a:xfrm>
          <a:prstGeom prst="rect">
            <a:avLst/>
          </a:prstGeom>
        </p:spPr>
      </p:pic>
      <p:sp>
        <p:nvSpPr>
          <p:cNvPr id="504" name="textbox 504"/>
          <p:cNvSpPr/>
          <p:nvPr/>
        </p:nvSpPr>
        <p:spPr>
          <a:xfrm>
            <a:off x="9526161" y="6902108"/>
            <a:ext cx="210184" cy="1987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7000"/>
              </a:lnSpc>
            </a:pP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23</a:t>
            </a:r>
            <a:endParaRPr lang="en-US" alt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6" name="picture 50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818779" y="2337815"/>
            <a:ext cx="6351270" cy="2880360"/>
          </a:xfrm>
          <a:prstGeom prst="rect">
            <a:avLst/>
          </a:prstGeom>
        </p:spPr>
      </p:pic>
      <p:pic>
        <p:nvPicPr>
          <p:cNvPr id="508" name="picture 50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92415" y="893826"/>
            <a:ext cx="546353" cy="896873"/>
          </a:xfrm>
          <a:prstGeom prst="rect">
            <a:avLst/>
          </a:prstGeom>
        </p:spPr>
      </p:pic>
      <p:pic>
        <p:nvPicPr>
          <p:cNvPr id="510" name="picture 5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686191" y="1315973"/>
            <a:ext cx="368807" cy="474726"/>
          </a:xfrm>
          <a:prstGeom prst="rect">
            <a:avLst/>
          </a:prstGeom>
        </p:spPr>
      </p:pic>
      <p:sp>
        <p:nvSpPr>
          <p:cNvPr id="512" name="textbox 512"/>
          <p:cNvSpPr/>
          <p:nvPr/>
        </p:nvSpPr>
        <p:spPr>
          <a:xfrm>
            <a:off x="1562239" y="881126"/>
            <a:ext cx="3362325" cy="59626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lang="en-US" altLang="en-US" sz="1000" dirty="0"/>
          </a:p>
          <a:p>
            <a:pPr algn="l" rtl="0" eaLnBrk="0">
              <a:lnSpc>
                <a:spcPct val="101000"/>
              </a:lnSpc>
            </a:pPr>
            <a:endParaRPr lang="en-US" altLang="en-US" sz="1000" dirty="0"/>
          </a:p>
          <a:p>
            <a:pPr algn="r" rtl="0" eaLnBrk="0">
              <a:lnSpc>
                <a:spcPct val="95000"/>
              </a:lnSpc>
              <a:spcBef>
                <a:spcPts val="5"/>
              </a:spcBef>
            </a:pPr>
            <a:r>
              <a:rPr sz="19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4.滤波算子对图像进行滤波</a:t>
            </a:r>
            <a:endParaRPr lang="en-US" altLang="en-US" sz="1900" dirty="0"/>
          </a:p>
        </p:txBody>
      </p:sp>
      <p:pic>
        <p:nvPicPr>
          <p:cNvPr id="514" name="picture 5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574939" y="893826"/>
            <a:ext cx="329183" cy="474726"/>
          </a:xfrm>
          <a:prstGeom prst="rect">
            <a:avLst/>
          </a:prstGeom>
        </p:spPr>
      </p:pic>
      <p:pic>
        <p:nvPicPr>
          <p:cNvPr id="516" name="picture 5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7344803" y="393953"/>
            <a:ext cx="2466594" cy="733044"/>
          </a:xfrm>
          <a:prstGeom prst="rect">
            <a:avLst/>
          </a:prstGeom>
        </p:spPr>
      </p:pic>
      <p:sp>
        <p:nvSpPr>
          <p:cNvPr id="518" name="rect"/>
          <p:cNvSpPr/>
          <p:nvPr/>
        </p:nvSpPr>
        <p:spPr>
          <a:xfrm>
            <a:off x="1536839" y="785621"/>
            <a:ext cx="32003" cy="1053084"/>
          </a:xfrm>
          <a:prstGeom prst="rect">
            <a:avLst/>
          </a:prstGeom>
          <a:solidFill>
            <a:srgbClr val="1C1C1C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520" name="picture 5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902093" y="1556003"/>
            <a:ext cx="560831" cy="422148"/>
          </a:xfrm>
          <a:prstGeom prst="rect">
            <a:avLst/>
          </a:prstGeom>
        </p:spPr>
      </p:pic>
      <p:pic>
        <p:nvPicPr>
          <p:cNvPr id="522" name="picture 5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218323" y="1576578"/>
            <a:ext cx="8226552" cy="32003"/>
          </a:xfrm>
          <a:prstGeom prst="rect">
            <a:avLst/>
          </a:prstGeom>
        </p:spPr>
      </p:pic>
      <p:sp>
        <p:nvSpPr>
          <p:cNvPr id="524" name="textbox 524"/>
          <p:cNvSpPr/>
          <p:nvPr/>
        </p:nvSpPr>
        <p:spPr>
          <a:xfrm>
            <a:off x="9526161" y="6902108"/>
            <a:ext cx="210184" cy="1987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7000"/>
              </a:lnSpc>
            </a:pP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24</a:t>
            </a:r>
            <a:endParaRPr lang="en-US" alt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picture 5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954671" y="2986278"/>
            <a:ext cx="5012435" cy="2304287"/>
          </a:xfrm>
          <a:prstGeom prst="rect">
            <a:avLst/>
          </a:prstGeom>
        </p:spPr>
      </p:pic>
      <p:sp>
        <p:nvSpPr>
          <p:cNvPr id="528" name="textbox 528"/>
          <p:cNvSpPr/>
          <p:nvPr/>
        </p:nvSpPr>
        <p:spPr>
          <a:xfrm>
            <a:off x="6288461" y="1766112"/>
            <a:ext cx="2662554" cy="430466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lang="en-US" altLang="en-US" sz="100" dirty="0"/>
          </a:p>
          <a:p>
            <a:pPr algn="r" rtl="0" eaLnBrk="0">
              <a:lnSpc>
                <a:spcPct val="83000"/>
              </a:lnSpc>
            </a:pP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四个方向</a:t>
            </a: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Sobel</a:t>
            </a: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算子</a:t>
            </a:r>
            <a:endParaRPr lang="en-US" altLang="en-US" sz="2400" dirty="0"/>
          </a:p>
          <a:p>
            <a:pPr marL="12700" algn="l" rtl="0" eaLnBrk="0">
              <a:lnSpc>
                <a:spcPts val="3605"/>
              </a:lnSpc>
            </a:pP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A=[-1</a:t>
            </a:r>
            <a:r>
              <a:rPr sz="2400" kern="0" spc="17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 </a:t>
            </a: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-2</a:t>
            </a:r>
            <a:r>
              <a:rPr sz="2400" kern="0" spc="11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 </a:t>
            </a: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-1;</a:t>
            </a:r>
            <a:endParaRPr lang="en-US" altLang="en-US" sz="2400" dirty="0"/>
          </a:p>
          <a:p>
            <a:pPr marL="692785" algn="l" rtl="0" eaLnBrk="0">
              <a:lnSpc>
                <a:spcPct val="83000"/>
              </a:lnSpc>
              <a:spcBef>
                <a:spcPts val="610"/>
              </a:spcBef>
            </a:pPr>
            <a:r>
              <a:rPr sz="2400" kern="0" spc="-7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0</a:t>
            </a:r>
            <a:r>
              <a:rPr sz="2400" kern="0" spc="5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  </a:t>
            </a:r>
            <a:r>
              <a:rPr sz="2400" kern="0" spc="-7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0</a:t>
            </a:r>
            <a:r>
              <a:rPr sz="2400" kern="0" spc="5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  </a:t>
            </a:r>
            <a:r>
              <a:rPr sz="2400" kern="0" spc="-7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0;</a:t>
            </a:r>
            <a:endParaRPr lang="en-US" altLang="en-US" sz="2400" dirty="0"/>
          </a:p>
          <a:p>
            <a:pPr marL="713740" algn="l" rtl="0" eaLnBrk="0">
              <a:lnSpc>
                <a:spcPct val="83000"/>
              </a:lnSpc>
              <a:spcBef>
                <a:spcPts val="440"/>
              </a:spcBef>
            </a:pPr>
            <a:r>
              <a:rPr sz="2300" kern="0" spc="-8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1</a:t>
            </a:r>
            <a:r>
              <a:rPr sz="2300" kern="0" spc="11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  </a:t>
            </a:r>
            <a:r>
              <a:rPr sz="2300" kern="0" spc="-8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2</a:t>
            </a:r>
            <a:r>
              <a:rPr sz="2300" kern="0" spc="16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  </a:t>
            </a:r>
            <a:r>
              <a:rPr sz="2300" kern="0" spc="-8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1];</a:t>
            </a:r>
            <a:endParaRPr lang="en-US" altLang="en-US" sz="2300" dirty="0"/>
          </a:p>
          <a:p>
            <a:pPr marL="36195" algn="l" rtl="0" eaLnBrk="0">
              <a:lnSpc>
                <a:spcPct val="77000"/>
              </a:lnSpc>
              <a:spcBef>
                <a:spcPts val="680"/>
              </a:spcBef>
            </a:pPr>
            <a:r>
              <a:rPr sz="2400" kern="0" spc="-8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B=</a:t>
            </a:r>
            <a:r>
              <a:rPr sz="2400" kern="0" spc="15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  </a:t>
            </a:r>
            <a:r>
              <a:rPr sz="2400" kern="0" spc="-8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1</a:t>
            </a:r>
            <a:r>
              <a:rPr sz="2400" kern="0" spc="12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 </a:t>
            </a:r>
            <a:r>
              <a:rPr sz="2400" kern="0" spc="-8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0</a:t>
            </a:r>
            <a:r>
              <a:rPr sz="2400" kern="0" spc="26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 </a:t>
            </a:r>
            <a:r>
              <a:rPr sz="2400" kern="0" spc="-8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1;</a:t>
            </a:r>
            <a:endParaRPr lang="en-US" altLang="en-US" sz="2400" dirty="0"/>
          </a:p>
          <a:p>
            <a:pPr algn="l" rtl="0" eaLnBrk="0">
              <a:lnSpc>
                <a:spcPct val="117000"/>
              </a:lnSpc>
            </a:pPr>
            <a:endParaRPr lang="en-US" altLang="en-US" sz="1000" dirty="0"/>
          </a:p>
          <a:p>
            <a:pPr algn="l" rtl="0" eaLnBrk="0">
              <a:lnSpc>
                <a:spcPct val="117000"/>
              </a:lnSpc>
            </a:pPr>
            <a:endParaRPr lang="en-US" altLang="en-US" sz="1000" dirty="0"/>
          </a:p>
          <a:p>
            <a:pPr algn="l" rtl="0" eaLnBrk="0">
              <a:lnSpc>
                <a:spcPct val="117000"/>
              </a:lnSpc>
            </a:pPr>
            <a:endParaRPr lang="en-US" altLang="en-US" sz="1000" dirty="0"/>
          </a:p>
          <a:p>
            <a:pPr algn="l" rtl="0" eaLnBrk="0">
              <a:lnSpc>
                <a:spcPct val="118000"/>
              </a:lnSpc>
            </a:pPr>
            <a:endParaRPr lang="en-US" altLang="en-US" sz="1000" dirty="0"/>
          </a:p>
          <a:p>
            <a:pPr marL="33655" algn="l" rtl="0" eaLnBrk="0">
              <a:lnSpc>
                <a:spcPct val="80000"/>
              </a:lnSpc>
              <a:spcBef>
                <a:spcPts val="720"/>
              </a:spcBef>
            </a:pPr>
            <a:r>
              <a:rPr sz="2400" kern="0" spc="-9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U=[</a:t>
            </a:r>
            <a:r>
              <a:rPr sz="2400" kern="0" spc="43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 </a:t>
            </a:r>
            <a:r>
              <a:rPr sz="2400" kern="0" spc="-9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2</a:t>
            </a:r>
            <a:r>
              <a:rPr sz="2400" kern="0" spc="13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 </a:t>
            </a:r>
            <a:r>
              <a:rPr sz="2400" kern="0" spc="-9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-1</a:t>
            </a:r>
            <a:r>
              <a:rPr sz="2400" kern="0" spc="11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 </a:t>
            </a:r>
            <a:r>
              <a:rPr sz="2400" kern="0" spc="-9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0;</a:t>
            </a:r>
            <a:endParaRPr lang="en-US" altLang="en-US" sz="2400" dirty="0"/>
          </a:p>
          <a:p>
            <a:pPr algn="l" rtl="0" eaLnBrk="0">
              <a:lnSpc>
                <a:spcPct val="114000"/>
              </a:lnSpc>
            </a:pPr>
            <a:endParaRPr lang="en-US" altLang="en-US" sz="1000" dirty="0"/>
          </a:p>
          <a:p>
            <a:pPr algn="l" rtl="0" eaLnBrk="0">
              <a:lnSpc>
                <a:spcPct val="114000"/>
              </a:lnSpc>
            </a:pPr>
            <a:endParaRPr lang="en-US" altLang="en-US" sz="1000" dirty="0"/>
          </a:p>
          <a:p>
            <a:pPr marL="597535" algn="l" rtl="0" eaLnBrk="0">
              <a:lnSpc>
                <a:spcPct val="79000"/>
              </a:lnSpc>
              <a:spcBef>
                <a:spcPts val="720"/>
              </a:spcBef>
            </a:pPr>
            <a:r>
              <a:rPr sz="2400" kern="0" spc="-10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0</a:t>
            </a:r>
            <a:r>
              <a:rPr sz="2400" kern="0" spc="28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 </a:t>
            </a:r>
            <a:r>
              <a:rPr sz="2400" kern="0" spc="-10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1</a:t>
            </a:r>
            <a:r>
              <a:rPr sz="2400" kern="0" spc="13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 </a:t>
            </a:r>
            <a:r>
              <a:rPr sz="2400" kern="0" spc="-10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2];</a:t>
            </a:r>
            <a:endParaRPr lang="en-US" altLang="en-US" sz="2400" dirty="0"/>
          </a:p>
          <a:p>
            <a:pPr marL="12700" algn="l" rtl="0" eaLnBrk="0">
              <a:lnSpc>
                <a:spcPct val="77000"/>
              </a:lnSpc>
              <a:spcBef>
                <a:spcPts val="680"/>
              </a:spcBef>
            </a:pPr>
            <a:r>
              <a:rPr sz="2400" kern="0" spc="-8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V=</a:t>
            </a:r>
            <a:r>
              <a:rPr sz="2400" kern="0" spc="7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    </a:t>
            </a:r>
            <a:r>
              <a:rPr sz="2400" kern="0" spc="-8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1</a:t>
            </a:r>
            <a:r>
              <a:rPr sz="2400" kern="0" spc="15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 </a:t>
            </a:r>
            <a:r>
              <a:rPr sz="2400" kern="0" spc="-8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2;</a:t>
            </a:r>
            <a:endParaRPr lang="en-US" altLang="en-US" sz="2400" dirty="0"/>
          </a:p>
        </p:txBody>
      </p:sp>
      <p:pic>
        <p:nvPicPr>
          <p:cNvPr id="530" name="picture 5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710708" y="5463692"/>
            <a:ext cx="258531" cy="593750"/>
          </a:xfrm>
          <a:prstGeom prst="rect">
            <a:avLst/>
          </a:prstGeom>
        </p:spPr>
      </p:pic>
      <p:sp>
        <p:nvSpPr>
          <p:cNvPr id="532" name="textbox 532"/>
          <p:cNvSpPr/>
          <p:nvPr/>
        </p:nvSpPr>
        <p:spPr>
          <a:xfrm>
            <a:off x="6874592" y="4919116"/>
            <a:ext cx="123189" cy="20447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algn="r" rtl="0" eaLnBrk="0">
              <a:lnSpc>
                <a:spcPts val="1405"/>
              </a:lnSpc>
            </a:pPr>
            <a:r>
              <a:rPr sz="2300" kern="0" spc="-9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-</a:t>
            </a:r>
            <a:endParaRPr lang="en-US" altLang="en-US" sz="2300" dirty="0"/>
          </a:p>
        </p:txBody>
      </p:sp>
      <p:sp>
        <p:nvSpPr>
          <p:cNvPr id="534" name="textbox 534"/>
          <p:cNvSpPr/>
          <p:nvPr/>
        </p:nvSpPr>
        <p:spPr>
          <a:xfrm>
            <a:off x="6840849" y="4553356"/>
            <a:ext cx="123189" cy="20447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algn="r" rtl="0" eaLnBrk="0">
              <a:lnSpc>
                <a:spcPts val="1405"/>
              </a:lnSpc>
            </a:pPr>
            <a:r>
              <a:rPr sz="2300" kern="0" spc="-9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-</a:t>
            </a:r>
            <a:endParaRPr lang="en-US" altLang="en-US" sz="2300" dirty="0"/>
          </a:p>
        </p:txBody>
      </p:sp>
      <p:pic>
        <p:nvPicPr>
          <p:cNvPr id="536" name="picture 5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731168" y="3269132"/>
            <a:ext cx="202600" cy="593750"/>
          </a:xfrm>
          <a:prstGeom prst="rect">
            <a:avLst/>
          </a:prstGeom>
        </p:spPr>
      </p:pic>
      <p:pic>
        <p:nvPicPr>
          <p:cNvPr id="538" name="picture 53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344803" y="393953"/>
            <a:ext cx="2466594" cy="733044"/>
          </a:xfrm>
          <a:prstGeom prst="rect">
            <a:avLst/>
          </a:prstGeom>
        </p:spPr>
      </p:pic>
      <p:sp>
        <p:nvSpPr>
          <p:cNvPr id="540" name="textbox 540"/>
          <p:cNvSpPr/>
          <p:nvPr/>
        </p:nvSpPr>
        <p:spPr>
          <a:xfrm>
            <a:off x="6684092" y="5898743"/>
            <a:ext cx="1149350" cy="69341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7000"/>
              </a:lnSpc>
            </a:pPr>
            <a:endParaRPr lang="en-US" altLang="en-US" sz="100" dirty="0"/>
          </a:p>
          <a:p>
            <a:pPr marL="12700" indent="226060" algn="l" rtl="0" eaLnBrk="0">
              <a:lnSpc>
                <a:spcPct val="95000"/>
              </a:lnSpc>
            </a:pPr>
            <a:r>
              <a:rPr sz="2200" kern="0" spc="-6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1</a:t>
            </a:r>
            <a:r>
              <a:rPr sz="2200" kern="0" spc="16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 </a:t>
            </a:r>
            <a:r>
              <a:rPr sz="2200" kern="0" spc="-6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0</a:t>
            </a:r>
            <a:r>
              <a:rPr sz="2200" kern="0" spc="32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 </a:t>
            </a:r>
            <a:r>
              <a:rPr sz="2200" kern="0" spc="-6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1;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  </a:t>
            </a:r>
            <a:r>
              <a:rPr sz="2400" kern="0" spc="-5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-2</a:t>
            </a:r>
            <a:r>
              <a:rPr sz="2400" kern="0" spc="12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 </a:t>
            </a:r>
            <a:r>
              <a:rPr sz="2400" kern="0" spc="-5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-1</a:t>
            </a:r>
            <a:r>
              <a:rPr sz="2400" kern="0" spc="9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 </a:t>
            </a:r>
            <a:r>
              <a:rPr sz="2400" kern="0" spc="-5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0];</a:t>
            </a:r>
            <a:endParaRPr lang="en-US" altLang="en-US" sz="2400" dirty="0"/>
          </a:p>
        </p:txBody>
      </p:sp>
      <p:sp>
        <p:nvSpPr>
          <p:cNvPr id="542" name="textbox 542"/>
          <p:cNvSpPr/>
          <p:nvPr/>
        </p:nvSpPr>
        <p:spPr>
          <a:xfrm>
            <a:off x="6779342" y="3704183"/>
            <a:ext cx="1038225" cy="69341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9000"/>
              </a:lnSpc>
            </a:pPr>
            <a:endParaRPr lang="en-US" altLang="en-US" sz="100" dirty="0"/>
          </a:p>
          <a:p>
            <a:pPr marL="12700" indent="113030" algn="l" rtl="0" eaLnBrk="0">
              <a:lnSpc>
                <a:spcPct val="91000"/>
              </a:lnSpc>
            </a:pPr>
            <a:r>
              <a:rPr sz="2400" kern="0" spc="-10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2</a:t>
            </a:r>
            <a:r>
              <a:rPr sz="2400" kern="0" spc="12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 </a:t>
            </a:r>
            <a:r>
              <a:rPr sz="2400" kern="0" spc="-10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0</a:t>
            </a:r>
            <a:r>
              <a:rPr sz="2400" kern="0" spc="13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 </a:t>
            </a:r>
            <a:r>
              <a:rPr sz="2400" kern="0" spc="-10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2;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  </a:t>
            </a:r>
            <a:r>
              <a:rPr sz="2400" kern="0" spc="-9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-1</a:t>
            </a:r>
            <a:r>
              <a:rPr sz="2400" kern="0" spc="14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 </a:t>
            </a:r>
            <a:r>
              <a:rPr sz="2400" kern="0" spc="-9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0</a:t>
            </a:r>
            <a:r>
              <a:rPr sz="2400" kern="0" spc="26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 </a:t>
            </a:r>
            <a:r>
              <a:rPr sz="2400" kern="0" spc="-9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1];</a:t>
            </a:r>
            <a:endParaRPr lang="en-US" altLang="en-US" sz="2400" dirty="0"/>
          </a:p>
        </p:txBody>
      </p:sp>
      <p:pic>
        <p:nvPicPr>
          <p:cNvPr id="544" name="picture 54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192415" y="893826"/>
            <a:ext cx="546353" cy="896873"/>
          </a:xfrm>
          <a:prstGeom prst="rect">
            <a:avLst/>
          </a:prstGeom>
        </p:spPr>
      </p:pic>
      <p:pic>
        <p:nvPicPr>
          <p:cNvPr id="546" name="picture 54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574939" y="893826"/>
            <a:ext cx="329183" cy="474726"/>
          </a:xfrm>
          <a:prstGeom prst="rect">
            <a:avLst/>
          </a:prstGeom>
        </p:spPr>
      </p:pic>
      <p:pic>
        <p:nvPicPr>
          <p:cNvPr id="548" name="picture 54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686191" y="1315973"/>
            <a:ext cx="368807" cy="474726"/>
          </a:xfrm>
          <a:prstGeom prst="rect">
            <a:avLst/>
          </a:prstGeom>
        </p:spPr>
      </p:pic>
      <p:sp>
        <p:nvSpPr>
          <p:cNvPr id="550" name="textbox 550"/>
          <p:cNvSpPr/>
          <p:nvPr/>
        </p:nvSpPr>
        <p:spPr>
          <a:xfrm>
            <a:off x="1919081" y="1175475"/>
            <a:ext cx="2497454" cy="30225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1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5000"/>
              </a:lnSpc>
            </a:pPr>
            <a:r>
              <a:rPr sz="19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5.最优的梯度幅值图像</a:t>
            </a:r>
            <a:endParaRPr lang="en-US" altLang="en-US" sz="1900" dirty="0"/>
          </a:p>
        </p:txBody>
      </p:sp>
      <p:pic>
        <p:nvPicPr>
          <p:cNvPr id="552" name="picture 55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902093" y="1556003"/>
            <a:ext cx="560831" cy="422148"/>
          </a:xfrm>
          <a:prstGeom prst="rect">
            <a:avLst/>
          </a:prstGeom>
        </p:spPr>
      </p:pic>
      <p:sp>
        <p:nvSpPr>
          <p:cNvPr id="554" name="rect"/>
          <p:cNvSpPr/>
          <p:nvPr/>
        </p:nvSpPr>
        <p:spPr>
          <a:xfrm>
            <a:off x="1536839" y="785621"/>
            <a:ext cx="32003" cy="1053084"/>
          </a:xfrm>
          <a:prstGeom prst="rect">
            <a:avLst/>
          </a:prstGeom>
          <a:solidFill>
            <a:srgbClr val="1C1C1C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556" name="picture 55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1218323" y="1576578"/>
            <a:ext cx="8226552" cy="32003"/>
          </a:xfrm>
          <a:prstGeom prst="rect">
            <a:avLst/>
          </a:prstGeom>
        </p:spPr>
      </p:pic>
      <p:sp>
        <p:nvSpPr>
          <p:cNvPr id="558" name="textbox 558"/>
          <p:cNvSpPr/>
          <p:nvPr/>
        </p:nvSpPr>
        <p:spPr>
          <a:xfrm>
            <a:off x="7005442" y="4801463"/>
            <a:ext cx="790575" cy="32639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lang="en-US" altLang="en-US" sz="100" dirty="0"/>
          </a:p>
          <a:p>
            <a:pPr algn="r" rtl="0" eaLnBrk="0">
              <a:lnSpc>
                <a:spcPct val="90000"/>
              </a:lnSpc>
            </a:pPr>
            <a:r>
              <a:rPr sz="2200" kern="0" spc="-6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1</a:t>
            </a:r>
            <a:r>
              <a:rPr sz="2200" kern="0" spc="16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 </a:t>
            </a:r>
            <a:r>
              <a:rPr sz="2200" kern="0" spc="-6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0</a:t>
            </a:r>
            <a:r>
              <a:rPr sz="2200" kern="0" spc="32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 </a:t>
            </a:r>
            <a:r>
              <a:rPr sz="2200" kern="0" spc="-6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1;</a:t>
            </a:r>
            <a:endParaRPr lang="en-US" altLang="en-US" sz="2200" dirty="0"/>
          </a:p>
        </p:txBody>
      </p:sp>
      <p:sp>
        <p:nvSpPr>
          <p:cNvPr id="560" name="textbox 560"/>
          <p:cNvSpPr/>
          <p:nvPr/>
        </p:nvSpPr>
        <p:spPr>
          <a:xfrm>
            <a:off x="9526161" y="6902108"/>
            <a:ext cx="210184" cy="1987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7000"/>
              </a:lnSpc>
            </a:pP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25</a:t>
            </a:r>
            <a:endParaRPr lang="en-US" alt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picture 56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2970923" y="1618488"/>
            <a:ext cx="3213353" cy="4536185"/>
          </a:xfrm>
          <a:prstGeom prst="rect">
            <a:avLst/>
          </a:prstGeom>
        </p:spPr>
      </p:pic>
      <p:sp>
        <p:nvSpPr>
          <p:cNvPr id="564" name="textbox 564"/>
          <p:cNvSpPr/>
          <p:nvPr/>
        </p:nvSpPr>
        <p:spPr>
          <a:xfrm>
            <a:off x="6373958" y="2999790"/>
            <a:ext cx="3204210" cy="108203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02000"/>
              </a:lnSpc>
            </a:pPr>
            <a:endParaRPr lang="en-US" altLang="en-US" sz="100" dirty="0"/>
          </a:p>
          <a:p>
            <a:pPr marL="12700" indent="-635" algn="l" rtl="0" eaLnBrk="0">
              <a:lnSpc>
                <a:spcPct val="96000"/>
              </a:lnSpc>
              <a:spcBef>
                <a:spcPts val="0"/>
              </a:spcBef>
            </a:pP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根据算法思想，把程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序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转换为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VC+OpenCV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形式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或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Python+OpenCV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形式</a:t>
            </a:r>
            <a:endParaRPr lang="en-US" altLang="en-US" sz="2400" dirty="0"/>
          </a:p>
        </p:txBody>
      </p:sp>
      <p:pic>
        <p:nvPicPr>
          <p:cNvPr id="566" name="picture 5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952635" y="6162294"/>
            <a:ext cx="3330702" cy="811530"/>
          </a:xfrm>
          <a:prstGeom prst="rect">
            <a:avLst/>
          </a:prstGeom>
        </p:spPr>
      </p:pic>
      <p:pic>
        <p:nvPicPr>
          <p:cNvPr id="568" name="picture 56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344803" y="393953"/>
            <a:ext cx="2466594" cy="733044"/>
          </a:xfrm>
          <a:prstGeom prst="rect">
            <a:avLst/>
          </a:prstGeom>
        </p:spPr>
      </p:pic>
      <p:pic>
        <p:nvPicPr>
          <p:cNvPr id="570" name="picture 57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92415" y="893826"/>
            <a:ext cx="546353" cy="896873"/>
          </a:xfrm>
          <a:prstGeom prst="rect">
            <a:avLst/>
          </a:prstGeom>
        </p:spPr>
      </p:pic>
      <p:pic>
        <p:nvPicPr>
          <p:cNvPr id="572" name="picture 57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574939" y="893826"/>
            <a:ext cx="329183" cy="474726"/>
          </a:xfrm>
          <a:prstGeom prst="rect">
            <a:avLst/>
          </a:prstGeom>
        </p:spPr>
      </p:pic>
      <p:pic>
        <p:nvPicPr>
          <p:cNvPr id="574" name="picture 57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686191" y="1315973"/>
            <a:ext cx="368807" cy="474726"/>
          </a:xfrm>
          <a:prstGeom prst="rect">
            <a:avLst/>
          </a:prstGeom>
        </p:spPr>
      </p:pic>
      <p:sp>
        <p:nvSpPr>
          <p:cNvPr id="576" name="textbox 576"/>
          <p:cNvSpPr/>
          <p:nvPr/>
        </p:nvSpPr>
        <p:spPr>
          <a:xfrm>
            <a:off x="1919081" y="1175475"/>
            <a:ext cx="2497454" cy="30225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1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5000"/>
              </a:lnSpc>
            </a:pPr>
            <a:r>
              <a:rPr sz="19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5.最优的梯度幅值图像</a:t>
            </a:r>
            <a:endParaRPr lang="en-US" altLang="en-US" sz="1900" dirty="0"/>
          </a:p>
        </p:txBody>
      </p:sp>
      <p:pic>
        <p:nvPicPr>
          <p:cNvPr id="578" name="picture 57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902093" y="1556003"/>
            <a:ext cx="560831" cy="422148"/>
          </a:xfrm>
          <a:prstGeom prst="rect">
            <a:avLst/>
          </a:prstGeom>
        </p:spPr>
      </p:pic>
      <p:sp>
        <p:nvSpPr>
          <p:cNvPr id="580" name="rect"/>
          <p:cNvSpPr/>
          <p:nvPr/>
        </p:nvSpPr>
        <p:spPr>
          <a:xfrm>
            <a:off x="1536839" y="785621"/>
            <a:ext cx="32003" cy="1053084"/>
          </a:xfrm>
          <a:prstGeom prst="rect">
            <a:avLst/>
          </a:prstGeom>
          <a:solidFill>
            <a:srgbClr val="1C1C1C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582" name="picture 58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218323" y="1576578"/>
            <a:ext cx="8226552" cy="32003"/>
          </a:xfrm>
          <a:prstGeom prst="rect">
            <a:avLst/>
          </a:prstGeom>
        </p:spPr>
      </p:pic>
      <p:sp>
        <p:nvSpPr>
          <p:cNvPr id="584" name="textbox 584"/>
          <p:cNvSpPr/>
          <p:nvPr/>
        </p:nvSpPr>
        <p:spPr>
          <a:xfrm>
            <a:off x="9526161" y="6902108"/>
            <a:ext cx="210184" cy="1987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7000"/>
              </a:lnSpc>
            </a:pP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26</a:t>
            </a:r>
            <a:endParaRPr lang="en-US" alt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6" name="picture 58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192415" y="893826"/>
            <a:ext cx="546353" cy="896873"/>
          </a:xfrm>
          <a:prstGeom prst="rect">
            <a:avLst/>
          </a:prstGeom>
        </p:spPr>
      </p:pic>
      <p:pic>
        <p:nvPicPr>
          <p:cNvPr id="588" name="picture 58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02093" y="1556003"/>
            <a:ext cx="560831" cy="422148"/>
          </a:xfrm>
          <a:prstGeom prst="rect">
            <a:avLst/>
          </a:prstGeom>
        </p:spPr>
      </p:pic>
      <p:sp>
        <p:nvSpPr>
          <p:cNvPr id="590" name="textbox 590"/>
          <p:cNvSpPr/>
          <p:nvPr/>
        </p:nvSpPr>
        <p:spPr>
          <a:xfrm>
            <a:off x="1403737" y="1847646"/>
            <a:ext cx="7203440" cy="2555875"/>
          </a:xfrm>
          <a:prstGeom prst="rect">
            <a:avLst/>
          </a:prstGeom>
        </p:spPr>
        <p:txBody>
          <a:bodyPr vert="horz" wrap="square" lIns="0" tIns="751" rIns="0" bIns="0"/>
          <a:lstStyle/>
          <a:p>
            <a:pPr marL="12700" algn="l" rtl="0" eaLnBrk="0">
              <a:lnSpc>
                <a:spcPct val="97000"/>
              </a:lnSpc>
              <a:spcBef>
                <a:spcPts val="5"/>
              </a:spcBef>
            </a:pP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采用迭代法可以自适应寻找灰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度图像中的最佳分割阈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值，迭代法的基本原理是首先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找出图像的最大灰度值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和最小灰度值，然后取平均值作为初始的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分割阈值</a:t>
            </a:r>
            <a:r>
              <a:rPr sz="2500" kern="0" spc="-1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T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那么</a:t>
            </a:r>
            <a:r>
              <a:rPr sz="2500" kern="0" spc="-1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T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可以把图像分割为两部分，即灰度值大于</a:t>
            </a:r>
            <a:r>
              <a:rPr sz="2500" kern="0" spc="-1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T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的部</a:t>
            </a:r>
            <a:r>
              <a:rPr sz="2400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分和灰度值小于</a:t>
            </a:r>
            <a:r>
              <a:rPr sz="2500" kern="0" spc="-1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T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的部分；分别计算这两部分的平均灰</a:t>
            </a:r>
            <a:r>
              <a:rPr sz="24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度值</a:t>
            </a:r>
            <a:r>
              <a:rPr sz="2500" kern="0" spc="-2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H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sz="2500" kern="0" spc="-2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L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，更新</a:t>
            </a:r>
            <a:r>
              <a:rPr sz="2500" kern="0" spc="-2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T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=(</a:t>
            </a:r>
            <a:r>
              <a:rPr sz="2500" kern="0" spc="-2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H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+</a:t>
            </a:r>
            <a:r>
              <a:rPr sz="2500" kern="0" spc="-2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L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)/2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；重复以上步骤直至算法</a:t>
            </a:r>
            <a:r>
              <a:rPr sz="2400" kern="0" spc="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收敛。编写迭代法求</a:t>
            </a: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最佳阈值的代码。</a:t>
            </a:r>
            <a:endParaRPr lang="en-US" altLang="en-US" sz="2400" dirty="0"/>
          </a:p>
        </p:txBody>
      </p:sp>
      <p:pic>
        <p:nvPicPr>
          <p:cNvPr id="592" name="picture 59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54671" y="4498085"/>
            <a:ext cx="5058155" cy="2209800"/>
          </a:xfrm>
          <a:prstGeom prst="rect">
            <a:avLst/>
          </a:prstGeom>
        </p:spPr>
      </p:pic>
      <p:pic>
        <p:nvPicPr>
          <p:cNvPr id="594" name="picture 59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354965" y="4498086"/>
            <a:ext cx="2833116" cy="2160270"/>
          </a:xfrm>
          <a:prstGeom prst="rect">
            <a:avLst/>
          </a:prstGeom>
        </p:spPr>
      </p:pic>
      <p:pic>
        <p:nvPicPr>
          <p:cNvPr id="596" name="picture 59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686191" y="1315973"/>
            <a:ext cx="368807" cy="474726"/>
          </a:xfrm>
          <a:prstGeom prst="rect">
            <a:avLst/>
          </a:prstGeom>
        </p:spPr>
      </p:pic>
      <p:sp>
        <p:nvSpPr>
          <p:cNvPr id="598" name="textbox 598"/>
          <p:cNvSpPr/>
          <p:nvPr/>
        </p:nvSpPr>
        <p:spPr>
          <a:xfrm>
            <a:off x="1562239" y="881126"/>
            <a:ext cx="5606415" cy="59690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lang="en-US" altLang="en-US" sz="1000" dirty="0"/>
          </a:p>
          <a:p>
            <a:pPr algn="l" rtl="0" eaLnBrk="0">
              <a:lnSpc>
                <a:spcPct val="101000"/>
              </a:lnSpc>
            </a:pPr>
            <a:endParaRPr lang="en-US" altLang="en-US" sz="1000" dirty="0"/>
          </a:p>
          <a:p>
            <a:pPr algn="l" rtl="0" eaLnBrk="0">
              <a:lnSpc>
                <a:spcPct val="6000"/>
              </a:lnSpc>
            </a:pPr>
            <a:endParaRPr lang="en-US" altLang="en-US" sz="100" dirty="0"/>
          </a:p>
          <a:p>
            <a:pPr marL="362585" algn="l" rtl="0" eaLnBrk="0">
              <a:lnSpc>
                <a:spcPct val="95000"/>
              </a:lnSpc>
            </a:pPr>
            <a:r>
              <a:rPr sz="1900" kern="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6.学习对图像进行二值化的方法（动态</a:t>
            </a:r>
            <a:r>
              <a:rPr sz="19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阈值法）</a:t>
            </a:r>
            <a:endParaRPr lang="en-US" altLang="en-US" sz="1900" dirty="0"/>
          </a:p>
        </p:txBody>
      </p:sp>
      <p:pic>
        <p:nvPicPr>
          <p:cNvPr id="600" name="picture 60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574939" y="893826"/>
            <a:ext cx="329183" cy="474726"/>
          </a:xfrm>
          <a:prstGeom prst="rect">
            <a:avLst/>
          </a:prstGeom>
        </p:spPr>
      </p:pic>
      <p:pic>
        <p:nvPicPr>
          <p:cNvPr id="602" name="picture 60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7344803" y="393953"/>
            <a:ext cx="2466594" cy="733044"/>
          </a:xfrm>
          <a:prstGeom prst="rect">
            <a:avLst/>
          </a:prstGeom>
        </p:spPr>
      </p:pic>
      <p:sp>
        <p:nvSpPr>
          <p:cNvPr id="604" name="rect"/>
          <p:cNvSpPr/>
          <p:nvPr/>
        </p:nvSpPr>
        <p:spPr>
          <a:xfrm>
            <a:off x="1536839" y="785621"/>
            <a:ext cx="32003" cy="1053084"/>
          </a:xfrm>
          <a:prstGeom prst="rect">
            <a:avLst/>
          </a:prstGeom>
          <a:solidFill>
            <a:srgbClr val="1C1C1C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606" name="picture 60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218323" y="1576578"/>
            <a:ext cx="8226552" cy="32003"/>
          </a:xfrm>
          <a:prstGeom prst="rect">
            <a:avLst/>
          </a:prstGeom>
        </p:spPr>
      </p:pic>
      <p:sp>
        <p:nvSpPr>
          <p:cNvPr id="608" name="textbox 608"/>
          <p:cNvSpPr/>
          <p:nvPr/>
        </p:nvSpPr>
        <p:spPr>
          <a:xfrm>
            <a:off x="9526161" y="6902108"/>
            <a:ext cx="210184" cy="1987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7000"/>
              </a:lnSpc>
            </a:pP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27</a:t>
            </a:r>
            <a:endParaRPr lang="en-US" alt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0" name="picture 6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2400947" y="3382263"/>
            <a:ext cx="3379469" cy="2152904"/>
          </a:xfrm>
          <a:prstGeom prst="rect">
            <a:avLst/>
          </a:prstGeom>
        </p:spPr>
      </p:pic>
      <p:sp>
        <p:nvSpPr>
          <p:cNvPr id="612" name="textbox 612"/>
          <p:cNvSpPr/>
          <p:nvPr/>
        </p:nvSpPr>
        <p:spPr>
          <a:xfrm>
            <a:off x="5148205" y="3709975"/>
            <a:ext cx="4237990" cy="13144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5000"/>
              </a:lnSpc>
            </a:pP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迭代二值分割方法的假设</a:t>
            </a:r>
            <a:endParaRPr lang="en-US" altLang="en-US" sz="2400" dirty="0"/>
          </a:p>
          <a:p>
            <a:pPr algn="l" rtl="0" eaLnBrk="0">
              <a:lnSpc>
                <a:spcPct val="105000"/>
              </a:lnSpc>
            </a:pPr>
            <a:endParaRPr lang="en-US" altLang="en-US" sz="1500" dirty="0"/>
          </a:p>
          <a:p>
            <a:pPr marL="12700" indent="35560" algn="l" rtl="0" eaLnBrk="0">
              <a:lnSpc>
                <a:spcPct val="96000"/>
              </a:lnSpc>
              <a:spcBef>
                <a:spcPts val="5"/>
              </a:spcBef>
            </a:pPr>
            <a:r>
              <a:rPr sz="2400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以凸函数一个局部最优解开始  </a:t>
            </a:r>
            <a:r>
              <a:rPr sz="2400" kern="0" spc="-1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搜索，肯定收敛到全局最优解。</a:t>
            </a:r>
            <a:endParaRPr lang="en-US" altLang="en-US" sz="2400" dirty="0"/>
          </a:p>
        </p:txBody>
      </p:sp>
      <p:pic>
        <p:nvPicPr>
          <p:cNvPr id="614" name="picture 6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92415" y="893826"/>
            <a:ext cx="546353" cy="896873"/>
          </a:xfrm>
          <a:prstGeom prst="rect">
            <a:avLst/>
          </a:prstGeom>
        </p:spPr>
      </p:pic>
      <p:pic>
        <p:nvPicPr>
          <p:cNvPr id="616" name="picture 6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686191" y="1315973"/>
            <a:ext cx="368807" cy="474726"/>
          </a:xfrm>
          <a:prstGeom prst="rect">
            <a:avLst/>
          </a:prstGeom>
        </p:spPr>
      </p:pic>
      <p:sp>
        <p:nvSpPr>
          <p:cNvPr id="618" name="textbox 618"/>
          <p:cNvSpPr/>
          <p:nvPr/>
        </p:nvSpPr>
        <p:spPr>
          <a:xfrm>
            <a:off x="1562239" y="881126"/>
            <a:ext cx="5606415" cy="59690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lang="en-US" altLang="en-US" sz="1000" dirty="0"/>
          </a:p>
          <a:p>
            <a:pPr algn="l" rtl="0" eaLnBrk="0">
              <a:lnSpc>
                <a:spcPct val="101000"/>
              </a:lnSpc>
            </a:pPr>
            <a:endParaRPr lang="en-US" altLang="en-US" sz="1000" dirty="0"/>
          </a:p>
          <a:p>
            <a:pPr algn="l" rtl="0" eaLnBrk="0">
              <a:lnSpc>
                <a:spcPct val="6000"/>
              </a:lnSpc>
            </a:pPr>
            <a:endParaRPr lang="en-US" altLang="en-US" sz="100" dirty="0"/>
          </a:p>
          <a:p>
            <a:pPr marL="362585" algn="l" rtl="0" eaLnBrk="0">
              <a:lnSpc>
                <a:spcPct val="95000"/>
              </a:lnSpc>
            </a:pPr>
            <a:r>
              <a:rPr sz="1900" kern="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6.学习对图像进行二值化的方法（动态</a:t>
            </a:r>
            <a:r>
              <a:rPr sz="19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阈值法）</a:t>
            </a:r>
            <a:endParaRPr lang="en-US" altLang="en-US" sz="1900" dirty="0"/>
          </a:p>
        </p:txBody>
      </p:sp>
      <p:pic>
        <p:nvPicPr>
          <p:cNvPr id="620" name="picture 6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574939" y="893826"/>
            <a:ext cx="329183" cy="474726"/>
          </a:xfrm>
          <a:prstGeom prst="rect">
            <a:avLst/>
          </a:prstGeom>
        </p:spPr>
      </p:pic>
      <p:pic>
        <p:nvPicPr>
          <p:cNvPr id="622" name="picture 6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7344803" y="393953"/>
            <a:ext cx="2466594" cy="733044"/>
          </a:xfrm>
          <a:prstGeom prst="rect">
            <a:avLst/>
          </a:prstGeom>
        </p:spPr>
      </p:pic>
      <p:pic>
        <p:nvPicPr>
          <p:cNvPr id="624" name="picture 6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106815" y="5612129"/>
            <a:ext cx="5328666" cy="76200"/>
          </a:xfrm>
          <a:prstGeom prst="rect">
            <a:avLst/>
          </a:prstGeom>
        </p:spPr>
      </p:pic>
      <p:pic>
        <p:nvPicPr>
          <p:cNvPr id="626" name="picture 6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902093" y="1556003"/>
            <a:ext cx="560831" cy="422148"/>
          </a:xfrm>
          <a:prstGeom prst="rect">
            <a:avLst/>
          </a:prstGeom>
        </p:spPr>
      </p:pic>
      <p:sp>
        <p:nvSpPr>
          <p:cNvPr id="628" name="rect"/>
          <p:cNvSpPr/>
          <p:nvPr/>
        </p:nvSpPr>
        <p:spPr>
          <a:xfrm>
            <a:off x="1536839" y="785621"/>
            <a:ext cx="32003" cy="1053084"/>
          </a:xfrm>
          <a:prstGeom prst="rect">
            <a:avLst/>
          </a:prstGeom>
          <a:solidFill>
            <a:srgbClr val="1C1C1C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630" name="picture 63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218323" y="1576578"/>
            <a:ext cx="8226552" cy="32003"/>
          </a:xfrm>
          <a:prstGeom prst="rect">
            <a:avLst/>
          </a:prstGeom>
        </p:spPr>
      </p:pic>
      <p:pic>
        <p:nvPicPr>
          <p:cNvPr id="632" name="picture 63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2068715" y="2481833"/>
            <a:ext cx="76200" cy="3168396"/>
          </a:xfrm>
          <a:prstGeom prst="rect">
            <a:avLst/>
          </a:prstGeom>
        </p:spPr>
      </p:pic>
      <p:sp>
        <p:nvSpPr>
          <p:cNvPr id="634" name="textbox 634"/>
          <p:cNvSpPr/>
          <p:nvPr/>
        </p:nvSpPr>
        <p:spPr>
          <a:xfrm>
            <a:off x="1328371" y="3836806"/>
            <a:ext cx="728980" cy="22605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1575"/>
              </a:lnSpc>
            </a:pPr>
            <a:r>
              <a:rPr sz="13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像素个数</a:t>
            </a:r>
            <a:endParaRPr lang="en-US" altLang="en-US" sz="1300" dirty="0"/>
          </a:p>
        </p:txBody>
      </p:sp>
      <p:sp>
        <p:nvSpPr>
          <p:cNvPr id="636" name="textbox 636"/>
          <p:cNvSpPr/>
          <p:nvPr/>
        </p:nvSpPr>
        <p:spPr>
          <a:xfrm>
            <a:off x="4354164" y="5661801"/>
            <a:ext cx="549909" cy="22605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1575"/>
              </a:lnSpc>
            </a:pPr>
            <a:r>
              <a:rPr sz="1300" kern="0" spc="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灰度值</a:t>
            </a:r>
            <a:endParaRPr lang="en-US" altLang="en-US" sz="1300" dirty="0"/>
          </a:p>
        </p:txBody>
      </p:sp>
      <p:sp>
        <p:nvSpPr>
          <p:cNvPr id="638" name="textbox 638"/>
          <p:cNvSpPr/>
          <p:nvPr/>
        </p:nvSpPr>
        <p:spPr>
          <a:xfrm>
            <a:off x="9526161" y="6901752"/>
            <a:ext cx="210184" cy="19938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8000"/>
              </a:lnSpc>
            </a:pP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28</a:t>
            </a:r>
            <a:endParaRPr lang="en-US" alt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0" name="picture 6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5634875" y="2193797"/>
            <a:ext cx="4213859" cy="3906011"/>
          </a:xfrm>
          <a:prstGeom prst="rect">
            <a:avLst/>
          </a:prstGeom>
        </p:spPr>
      </p:pic>
      <p:pic>
        <p:nvPicPr>
          <p:cNvPr id="642" name="picture 6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54671" y="2122169"/>
            <a:ext cx="4663440" cy="3118104"/>
          </a:xfrm>
          <a:prstGeom prst="rect">
            <a:avLst/>
          </a:prstGeom>
        </p:spPr>
      </p:pic>
      <p:pic>
        <p:nvPicPr>
          <p:cNvPr id="644" name="picture 6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27061" y="5257800"/>
            <a:ext cx="1888997" cy="1832610"/>
          </a:xfrm>
          <a:prstGeom prst="rect">
            <a:avLst/>
          </a:prstGeom>
        </p:spPr>
      </p:pic>
      <p:pic>
        <p:nvPicPr>
          <p:cNvPr id="646" name="picture 64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344803" y="393953"/>
            <a:ext cx="2466594" cy="733044"/>
          </a:xfrm>
          <a:prstGeom prst="rect">
            <a:avLst/>
          </a:prstGeom>
        </p:spPr>
      </p:pic>
      <p:pic>
        <p:nvPicPr>
          <p:cNvPr id="648" name="picture 64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192415" y="893826"/>
            <a:ext cx="546353" cy="896873"/>
          </a:xfrm>
          <a:prstGeom prst="rect">
            <a:avLst/>
          </a:prstGeom>
        </p:spPr>
      </p:pic>
      <p:pic>
        <p:nvPicPr>
          <p:cNvPr id="650" name="picture 65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686191" y="1315973"/>
            <a:ext cx="368807" cy="474726"/>
          </a:xfrm>
          <a:prstGeom prst="rect">
            <a:avLst/>
          </a:prstGeom>
        </p:spPr>
      </p:pic>
      <p:sp>
        <p:nvSpPr>
          <p:cNvPr id="652" name="rect"/>
          <p:cNvSpPr/>
          <p:nvPr/>
        </p:nvSpPr>
        <p:spPr>
          <a:xfrm>
            <a:off x="1536839" y="785621"/>
            <a:ext cx="32003" cy="1053084"/>
          </a:xfrm>
          <a:prstGeom prst="rect">
            <a:avLst/>
          </a:prstGeom>
          <a:solidFill>
            <a:srgbClr val="1C1C1C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54" name="textbox 654"/>
          <p:cNvSpPr/>
          <p:nvPr/>
        </p:nvSpPr>
        <p:spPr>
          <a:xfrm>
            <a:off x="889393" y="1543303"/>
            <a:ext cx="2917189" cy="59880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lang="en-US" altLang="en-US" sz="100" dirty="0"/>
          </a:p>
          <a:p>
            <a:pPr marL="12700" algn="l" rtl="0" eaLnBrk="0">
              <a:lnSpc>
                <a:spcPct val="78000"/>
              </a:lnSpc>
            </a:pPr>
            <a:r>
              <a:rPr sz="4800" kern="0" spc="1500" dirty="0">
                <a:solidFill>
                  <a:srgbClr val="FE63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■</a:t>
            </a:r>
            <a:r>
              <a:rPr sz="2200" kern="0" spc="-11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Vector</a:t>
            </a:r>
            <a:r>
              <a:rPr sz="2200" kern="0" spc="-36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 </a:t>
            </a:r>
            <a:r>
              <a:rPr sz="2200" kern="0" spc="-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中的删</a:t>
            </a:r>
            <a:r>
              <a:rPr sz="2200" kern="0" spc="-1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除操作</a:t>
            </a:r>
            <a:endParaRPr lang="en-US" altLang="en-US" sz="2200" dirty="0"/>
          </a:p>
        </p:txBody>
      </p:sp>
      <p:sp>
        <p:nvSpPr>
          <p:cNvPr id="656" name="textbox 656"/>
          <p:cNvSpPr/>
          <p:nvPr/>
        </p:nvSpPr>
        <p:spPr>
          <a:xfrm>
            <a:off x="1562239" y="881126"/>
            <a:ext cx="1544319" cy="59626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lang="en-US" altLang="en-US" sz="1000" dirty="0"/>
          </a:p>
          <a:p>
            <a:pPr algn="l" rtl="0" eaLnBrk="0">
              <a:lnSpc>
                <a:spcPct val="100000"/>
              </a:lnSpc>
            </a:pPr>
            <a:endParaRPr lang="en-US" altLang="en-US" sz="1000" dirty="0"/>
          </a:p>
          <a:p>
            <a:pPr algn="r" rtl="0" eaLnBrk="0">
              <a:lnSpc>
                <a:spcPct val="96000"/>
              </a:lnSpc>
              <a:spcBef>
                <a:spcPts val="5"/>
              </a:spcBef>
            </a:pP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STL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模板库</a:t>
            </a:r>
            <a:endParaRPr lang="en-US" altLang="en-US" sz="1900" dirty="0"/>
          </a:p>
        </p:txBody>
      </p:sp>
      <p:pic>
        <p:nvPicPr>
          <p:cNvPr id="658" name="picture 65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574939" y="893826"/>
            <a:ext cx="329183" cy="474726"/>
          </a:xfrm>
          <a:prstGeom prst="rect">
            <a:avLst/>
          </a:prstGeom>
        </p:spPr>
      </p:pic>
      <p:sp>
        <p:nvSpPr>
          <p:cNvPr id="660" name="textbox 660"/>
          <p:cNvSpPr/>
          <p:nvPr/>
        </p:nvSpPr>
        <p:spPr>
          <a:xfrm>
            <a:off x="5808554" y="1693722"/>
            <a:ext cx="2291714" cy="37274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5000"/>
              </a:lnSpc>
            </a:pP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List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中的删除操作</a:t>
            </a:r>
            <a:endParaRPr lang="en-US" altLang="en-US" sz="2400" dirty="0"/>
          </a:p>
        </p:txBody>
      </p:sp>
      <p:pic>
        <p:nvPicPr>
          <p:cNvPr id="662" name="picture 66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218323" y="1576578"/>
            <a:ext cx="8226552" cy="32003"/>
          </a:xfrm>
          <a:prstGeom prst="rect">
            <a:avLst/>
          </a:prstGeom>
        </p:spPr>
      </p:pic>
      <p:sp>
        <p:nvSpPr>
          <p:cNvPr id="664" name="textbox 664"/>
          <p:cNvSpPr/>
          <p:nvPr/>
        </p:nvSpPr>
        <p:spPr>
          <a:xfrm>
            <a:off x="9526161" y="6902108"/>
            <a:ext cx="210184" cy="1987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7000"/>
              </a:lnSpc>
            </a:pP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29</a:t>
            </a:r>
            <a:endParaRPr lang="en-US" alt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picture 66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2035187" y="2193797"/>
            <a:ext cx="6264401" cy="4142232"/>
          </a:xfrm>
          <a:prstGeom prst="rect">
            <a:avLst/>
          </a:prstGeom>
        </p:spPr>
      </p:pic>
      <p:pic>
        <p:nvPicPr>
          <p:cNvPr id="668" name="picture 6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92415" y="893826"/>
            <a:ext cx="546353" cy="896873"/>
          </a:xfrm>
          <a:prstGeom prst="rect">
            <a:avLst/>
          </a:prstGeom>
        </p:spPr>
      </p:pic>
      <p:pic>
        <p:nvPicPr>
          <p:cNvPr id="670" name="picture 67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686191" y="1315973"/>
            <a:ext cx="368807" cy="474726"/>
          </a:xfrm>
          <a:prstGeom prst="rect">
            <a:avLst/>
          </a:prstGeom>
        </p:spPr>
      </p:pic>
      <p:sp>
        <p:nvSpPr>
          <p:cNvPr id="672" name="textbox 672"/>
          <p:cNvSpPr/>
          <p:nvPr/>
        </p:nvSpPr>
        <p:spPr>
          <a:xfrm>
            <a:off x="1562239" y="881126"/>
            <a:ext cx="5648325" cy="59626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lang="en-US" altLang="en-US" sz="1000" dirty="0"/>
          </a:p>
          <a:p>
            <a:pPr algn="l" rtl="0" eaLnBrk="0">
              <a:lnSpc>
                <a:spcPct val="101000"/>
              </a:lnSpc>
            </a:pPr>
            <a:endParaRPr lang="en-US" altLang="en-US" sz="1000" dirty="0"/>
          </a:p>
          <a:p>
            <a:pPr algn="r" rtl="0" eaLnBrk="0">
              <a:lnSpc>
                <a:spcPct val="95000"/>
              </a:lnSpc>
              <a:spcBef>
                <a:spcPts val="5"/>
              </a:spcBef>
            </a:pPr>
            <a:r>
              <a:rPr sz="19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7.获取图像中的轮廓，对图像中的目</a:t>
            </a:r>
            <a:r>
              <a:rPr sz="19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标进行计数</a:t>
            </a:r>
            <a:endParaRPr lang="en-US" altLang="en-US" sz="1900" dirty="0"/>
          </a:p>
        </p:txBody>
      </p:sp>
      <p:pic>
        <p:nvPicPr>
          <p:cNvPr id="674" name="picture 67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574939" y="893826"/>
            <a:ext cx="329183" cy="474726"/>
          </a:xfrm>
          <a:prstGeom prst="rect">
            <a:avLst/>
          </a:prstGeom>
        </p:spPr>
      </p:pic>
      <p:pic>
        <p:nvPicPr>
          <p:cNvPr id="676" name="picture 67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7344803" y="393953"/>
            <a:ext cx="2466594" cy="733044"/>
          </a:xfrm>
          <a:prstGeom prst="rect">
            <a:avLst/>
          </a:prstGeom>
        </p:spPr>
      </p:pic>
      <p:sp>
        <p:nvSpPr>
          <p:cNvPr id="678" name="rect"/>
          <p:cNvSpPr/>
          <p:nvPr/>
        </p:nvSpPr>
        <p:spPr>
          <a:xfrm>
            <a:off x="1536839" y="785621"/>
            <a:ext cx="32003" cy="1053084"/>
          </a:xfrm>
          <a:prstGeom prst="rect">
            <a:avLst/>
          </a:prstGeom>
          <a:solidFill>
            <a:srgbClr val="1C1C1C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680" name="picture 68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902093" y="1556003"/>
            <a:ext cx="560831" cy="422148"/>
          </a:xfrm>
          <a:prstGeom prst="rect">
            <a:avLst/>
          </a:prstGeom>
        </p:spPr>
      </p:pic>
      <p:pic>
        <p:nvPicPr>
          <p:cNvPr id="682" name="picture 68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218323" y="1576578"/>
            <a:ext cx="8226552" cy="32003"/>
          </a:xfrm>
          <a:prstGeom prst="rect">
            <a:avLst/>
          </a:prstGeom>
        </p:spPr>
      </p:pic>
      <p:sp>
        <p:nvSpPr>
          <p:cNvPr id="684" name="textbox 684"/>
          <p:cNvSpPr/>
          <p:nvPr/>
        </p:nvSpPr>
        <p:spPr>
          <a:xfrm>
            <a:off x="9525095" y="6902108"/>
            <a:ext cx="210820" cy="1987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7000"/>
              </a:lnSpc>
            </a:pP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30</a:t>
            </a:r>
            <a:endParaRPr lang="en-US" alt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" name="picture 68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530743" y="1906524"/>
            <a:ext cx="7229856" cy="4463795"/>
          </a:xfrm>
          <a:prstGeom prst="rect">
            <a:avLst/>
          </a:prstGeom>
        </p:spPr>
      </p:pic>
      <p:pic>
        <p:nvPicPr>
          <p:cNvPr id="688" name="picture 68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92415" y="893826"/>
            <a:ext cx="546353" cy="896873"/>
          </a:xfrm>
          <a:prstGeom prst="rect">
            <a:avLst/>
          </a:prstGeom>
        </p:spPr>
      </p:pic>
      <p:pic>
        <p:nvPicPr>
          <p:cNvPr id="690" name="picture 69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686191" y="1315973"/>
            <a:ext cx="368807" cy="474726"/>
          </a:xfrm>
          <a:prstGeom prst="rect">
            <a:avLst/>
          </a:prstGeom>
        </p:spPr>
      </p:pic>
      <p:sp>
        <p:nvSpPr>
          <p:cNvPr id="692" name="textbox 692"/>
          <p:cNvSpPr/>
          <p:nvPr/>
        </p:nvSpPr>
        <p:spPr>
          <a:xfrm>
            <a:off x="1562239" y="881126"/>
            <a:ext cx="5648325" cy="59626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lang="en-US" altLang="en-US" sz="1000" dirty="0"/>
          </a:p>
          <a:p>
            <a:pPr algn="l" rtl="0" eaLnBrk="0">
              <a:lnSpc>
                <a:spcPct val="101000"/>
              </a:lnSpc>
            </a:pPr>
            <a:endParaRPr lang="en-US" altLang="en-US" sz="1000" dirty="0"/>
          </a:p>
          <a:p>
            <a:pPr algn="r" rtl="0" eaLnBrk="0">
              <a:lnSpc>
                <a:spcPct val="95000"/>
              </a:lnSpc>
              <a:spcBef>
                <a:spcPts val="5"/>
              </a:spcBef>
            </a:pPr>
            <a:r>
              <a:rPr sz="19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7.获取图像中的轮廓，对图像中的目</a:t>
            </a:r>
            <a:r>
              <a:rPr sz="19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标进行计数</a:t>
            </a:r>
            <a:endParaRPr lang="en-US" altLang="en-US" sz="1900" dirty="0"/>
          </a:p>
        </p:txBody>
      </p:sp>
      <p:pic>
        <p:nvPicPr>
          <p:cNvPr id="694" name="picture 69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574939" y="893826"/>
            <a:ext cx="329183" cy="474726"/>
          </a:xfrm>
          <a:prstGeom prst="rect">
            <a:avLst/>
          </a:prstGeom>
        </p:spPr>
      </p:pic>
      <p:pic>
        <p:nvPicPr>
          <p:cNvPr id="696" name="picture 69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7344803" y="393953"/>
            <a:ext cx="2466594" cy="733044"/>
          </a:xfrm>
          <a:prstGeom prst="rect">
            <a:avLst/>
          </a:prstGeom>
        </p:spPr>
      </p:pic>
      <p:pic>
        <p:nvPicPr>
          <p:cNvPr id="698" name="picture 69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902093" y="1556003"/>
            <a:ext cx="560831" cy="422148"/>
          </a:xfrm>
          <a:prstGeom prst="rect">
            <a:avLst/>
          </a:prstGeom>
        </p:spPr>
      </p:pic>
      <p:sp>
        <p:nvSpPr>
          <p:cNvPr id="700" name="rect"/>
          <p:cNvSpPr/>
          <p:nvPr/>
        </p:nvSpPr>
        <p:spPr>
          <a:xfrm>
            <a:off x="1536839" y="785621"/>
            <a:ext cx="32003" cy="1053084"/>
          </a:xfrm>
          <a:prstGeom prst="rect">
            <a:avLst/>
          </a:prstGeom>
          <a:solidFill>
            <a:srgbClr val="1C1C1C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702" name="picture 70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218323" y="1576578"/>
            <a:ext cx="8226552" cy="32003"/>
          </a:xfrm>
          <a:prstGeom prst="rect">
            <a:avLst/>
          </a:prstGeom>
        </p:spPr>
      </p:pic>
      <p:sp>
        <p:nvSpPr>
          <p:cNvPr id="704" name="textbox 704"/>
          <p:cNvSpPr/>
          <p:nvPr/>
        </p:nvSpPr>
        <p:spPr>
          <a:xfrm>
            <a:off x="9525095" y="6902108"/>
            <a:ext cx="210820" cy="1987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7000"/>
              </a:lnSpc>
            </a:pP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31</a:t>
            </a:r>
            <a:endParaRPr lang="en-US" alt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picture 70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192415" y="893826"/>
            <a:ext cx="546353" cy="896873"/>
          </a:xfrm>
          <a:prstGeom prst="rect">
            <a:avLst/>
          </a:prstGeom>
        </p:spPr>
      </p:pic>
      <p:sp>
        <p:nvSpPr>
          <p:cNvPr id="708" name="textbox 708"/>
          <p:cNvSpPr/>
          <p:nvPr/>
        </p:nvSpPr>
        <p:spPr>
          <a:xfrm>
            <a:off x="1562239" y="881126"/>
            <a:ext cx="5633084" cy="6159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</a:pPr>
            <a:endParaRPr lang="en-US" altLang="en-US" sz="1000" dirty="0"/>
          </a:p>
          <a:p>
            <a:pPr algn="l" rtl="0" eaLnBrk="0">
              <a:lnSpc>
                <a:spcPct val="104000"/>
              </a:lnSpc>
            </a:pPr>
            <a:endParaRPr lang="en-US" altLang="en-US" sz="1000" dirty="0"/>
          </a:p>
          <a:p>
            <a:pPr algn="l" rtl="0" eaLnBrk="0">
              <a:lnSpc>
                <a:spcPct val="7000"/>
              </a:lnSpc>
            </a:pPr>
            <a:endParaRPr lang="en-US" altLang="en-US" sz="100" dirty="0"/>
          </a:p>
          <a:p>
            <a:pPr algn="r" rtl="0" eaLnBrk="0">
              <a:lnSpc>
                <a:spcPct val="99000"/>
              </a:lnSpc>
            </a:pPr>
            <a:r>
              <a:rPr sz="1900" kern="0" spc="8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7.</a:t>
            </a:r>
            <a:r>
              <a:rPr sz="19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获取图像中的轮廓，对图像中的目标进行计数</a:t>
            </a:r>
            <a:endParaRPr lang="en-US" altLang="en-US" sz="1900" dirty="0"/>
          </a:p>
        </p:txBody>
      </p:sp>
      <p:pic>
        <p:nvPicPr>
          <p:cNvPr id="710" name="picture 7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574939" y="893826"/>
            <a:ext cx="329183" cy="474726"/>
          </a:xfrm>
          <a:prstGeom prst="rect">
            <a:avLst/>
          </a:prstGeom>
        </p:spPr>
      </p:pic>
      <p:sp>
        <p:nvSpPr>
          <p:cNvPr id="712" name="rect"/>
          <p:cNvSpPr/>
          <p:nvPr/>
        </p:nvSpPr>
        <p:spPr>
          <a:xfrm>
            <a:off x="1536839" y="785621"/>
            <a:ext cx="32003" cy="1053084"/>
          </a:xfrm>
          <a:prstGeom prst="rect">
            <a:avLst/>
          </a:prstGeom>
          <a:solidFill>
            <a:srgbClr val="1C1C1C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714" name="picture 7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218323" y="1576578"/>
            <a:ext cx="8226552" cy="32003"/>
          </a:xfrm>
          <a:prstGeom prst="rect">
            <a:avLst/>
          </a:prstGeom>
        </p:spPr>
      </p:pic>
      <p:pic>
        <p:nvPicPr>
          <p:cNvPr id="716" name="picture 7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902093" y="841248"/>
            <a:ext cx="6316979" cy="3528059"/>
          </a:xfrm>
          <a:prstGeom prst="rect">
            <a:avLst/>
          </a:prstGeom>
        </p:spPr>
      </p:pic>
      <p:pic>
        <p:nvPicPr>
          <p:cNvPr id="718" name="picture 7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254899" y="4354068"/>
            <a:ext cx="3602735" cy="2852927"/>
          </a:xfrm>
          <a:prstGeom prst="rect">
            <a:avLst/>
          </a:prstGeom>
        </p:spPr>
      </p:pic>
      <p:pic>
        <p:nvPicPr>
          <p:cNvPr id="720" name="picture 7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7344803" y="393953"/>
            <a:ext cx="2466594" cy="733044"/>
          </a:xfrm>
          <a:prstGeom prst="rect">
            <a:avLst/>
          </a:prstGeom>
        </p:spPr>
      </p:pic>
      <p:sp>
        <p:nvSpPr>
          <p:cNvPr id="722" name="textbox 722"/>
          <p:cNvSpPr/>
          <p:nvPr/>
        </p:nvSpPr>
        <p:spPr>
          <a:xfrm>
            <a:off x="9525095" y="6902108"/>
            <a:ext cx="210820" cy="1987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7000"/>
              </a:lnSpc>
            </a:pP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32</a:t>
            </a:r>
            <a:endParaRPr lang="en-US" alt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rect"/>
          <p:cNvSpPr/>
          <p:nvPr/>
        </p:nvSpPr>
        <p:spPr>
          <a:xfrm>
            <a:off x="1748675" y="5174437"/>
            <a:ext cx="3962399" cy="285597"/>
          </a:xfrm>
          <a:prstGeom prst="rect">
            <a:avLst/>
          </a:prstGeom>
          <a:solidFill>
            <a:srgbClr val="FFFF84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26" name="rect"/>
          <p:cNvSpPr/>
          <p:nvPr/>
        </p:nvSpPr>
        <p:spPr>
          <a:xfrm>
            <a:off x="5101475" y="4087063"/>
            <a:ext cx="3657599" cy="285597"/>
          </a:xfrm>
          <a:prstGeom prst="rect">
            <a:avLst/>
          </a:prstGeom>
          <a:solidFill>
            <a:srgbClr val="FFFF84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28" name="rect"/>
          <p:cNvSpPr/>
          <p:nvPr/>
        </p:nvSpPr>
        <p:spPr>
          <a:xfrm>
            <a:off x="1748675" y="4442917"/>
            <a:ext cx="7135367" cy="285597"/>
          </a:xfrm>
          <a:prstGeom prst="rect">
            <a:avLst/>
          </a:prstGeom>
          <a:solidFill>
            <a:srgbClr val="FFFF84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30" name="rect"/>
          <p:cNvSpPr/>
          <p:nvPr/>
        </p:nvSpPr>
        <p:spPr>
          <a:xfrm>
            <a:off x="1748675" y="4818583"/>
            <a:ext cx="7315198" cy="287731"/>
          </a:xfrm>
          <a:prstGeom prst="rect">
            <a:avLst/>
          </a:prstGeom>
          <a:solidFill>
            <a:srgbClr val="FFFF84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32" name="textbox 732"/>
          <p:cNvSpPr/>
          <p:nvPr/>
        </p:nvSpPr>
        <p:spPr>
          <a:xfrm>
            <a:off x="1407396" y="2228646"/>
            <a:ext cx="7669530" cy="329882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8000"/>
              </a:lnSpc>
            </a:pPr>
            <a:r>
              <a:rPr sz="2300" kern="0" spc="-2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上机内容：</a:t>
            </a:r>
            <a:endParaRPr lang="en-US" altLang="en-US" sz="2300" dirty="0"/>
          </a:p>
          <a:p>
            <a:pPr marL="339725" indent="-316230" algn="l" rtl="0" eaLnBrk="0">
              <a:lnSpc>
                <a:spcPct val="97000"/>
              </a:lnSpc>
              <a:spcBef>
                <a:spcPts val="100"/>
              </a:spcBef>
            </a:pPr>
            <a:r>
              <a:rPr sz="2400" kern="0" spc="-60" dirty="0">
                <a:solidFill>
                  <a:srgbClr val="000000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.</a:t>
            </a:r>
            <a:r>
              <a:rPr sz="2400" kern="0" spc="-1410" dirty="0">
                <a:solidFill>
                  <a:srgbClr val="000000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400" kern="0" spc="-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配置好基于</a:t>
            </a:r>
            <a:r>
              <a:rPr sz="2400" kern="0" spc="-6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Pyth</a:t>
            </a:r>
            <a:r>
              <a:rPr sz="2400" kern="0" spc="-7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on+OpenCV</a:t>
            </a:r>
            <a:r>
              <a:rPr sz="2400" kern="0" spc="-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的图像处理环境，或基于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Visual Studio 2015/2017+OpenCV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图像处理环境</a:t>
            </a:r>
            <a:endParaRPr lang="en-US" altLang="en-US" sz="2400" dirty="0"/>
          </a:p>
          <a:p>
            <a:pPr algn="l" rtl="0" eaLnBrk="0">
              <a:lnSpc>
                <a:spcPct val="194000"/>
              </a:lnSpc>
            </a:pPr>
            <a:endParaRPr lang="en-US" altLang="en-US" sz="1000" dirty="0"/>
          </a:p>
          <a:p>
            <a:pPr marL="352425" indent="-328930" algn="l" rtl="0" eaLnBrk="0">
              <a:lnSpc>
                <a:spcPct val="100000"/>
              </a:lnSpc>
              <a:spcBef>
                <a:spcPts val="730"/>
              </a:spcBef>
            </a:pPr>
            <a:r>
              <a:rPr sz="2400" kern="0" spc="-80" dirty="0">
                <a:solidFill>
                  <a:srgbClr val="000000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.</a:t>
            </a:r>
            <a:r>
              <a:rPr sz="2400" kern="0" spc="-1390" dirty="0">
                <a:solidFill>
                  <a:srgbClr val="000000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400" kern="0" spc="-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课堂实验：编程实现本次课程提到的</a:t>
            </a:r>
            <a:r>
              <a:rPr sz="2400" kern="0" spc="-8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7</a:t>
            </a:r>
            <a:r>
              <a:rPr sz="2400" kern="0" spc="-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个编程任务，包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2400" kern="0" spc="-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括图像显示、图像遍</a:t>
            </a:r>
            <a:r>
              <a:rPr sz="2400" kern="0" spc="-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历、</a:t>
            </a:r>
            <a:r>
              <a:rPr sz="2400" kern="0" spc="4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400" kern="0" spc="-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感兴趣区域操纵、滤波算法</a:t>
            </a:r>
            <a:endParaRPr lang="en-US" altLang="en-US" sz="2400" dirty="0"/>
          </a:p>
          <a:p>
            <a:pPr marL="353695" indent="-12700" algn="l" rtl="0" eaLnBrk="0">
              <a:lnSpc>
                <a:spcPct val="98000"/>
              </a:lnSpc>
              <a:spcBef>
                <a:spcPts val="95"/>
              </a:spcBef>
              <a:tabLst>
                <a:tab pos="513715" algn="l"/>
              </a:tabLst>
            </a:pP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r>
              <a:rPr sz="2400" kern="0" spc="-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（包括基于</a:t>
            </a:r>
            <a:r>
              <a:rPr sz="2400" kern="0" spc="-5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Sobel</a:t>
            </a:r>
            <a:r>
              <a:rPr sz="2400" kern="0" spc="-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算子、锐化算子与高</a:t>
            </a:r>
            <a:r>
              <a:rPr sz="2400" kern="0" spc="-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斯算子的边缘检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测程序）、最优梯度幅值边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缘检测方法、图像二值化方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法及对图像中目标轮廓的操纵</a:t>
            </a:r>
            <a:endParaRPr lang="en-US" altLang="en-US" sz="2400" dirty="0"/>
          </a:p>
        </p:txBody>
      </p:sp>
      <p:pic>
        <p:nvPicPr>
          <p:cNvPr id="734" name="picture 7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902093" y="393953"/>
            <a:ext cx="8909304" cy="1584198"/>
          </a:xfrm>
          <a:prstGeom prst="rect">
            <a:avLst/>
          </a:prstGeom>
        </p:spPr>
      </p:pic>
      <p:sp>
        <p:nvSpPr>
          <p:cNvPr id="736" name="textbox 736"/>
          <p:cNvSpPr/>
          <p:nvPr/>
        </p:nvSpPr>
        <p:spPr>
          <a:xfrm>
            <a:off x="9525095" y="6902108"/>
            <a:ext cx="210820" cy="1987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7000"/>
              </a:lnSpc>
            </a:pP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33</a:t>
            </a:r>
            <a:endParaRPr lang="en-US" altLang="en-US" sz="13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TA4OWFkYWY0ZjcxYzM1Nzg0MzNiYjA4OGE2MGE0ZGQifQ==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3854</Words>
  <Application>WPS 演示</Application>
  <PresentationFormat/>
  <Paragraphs>432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4" baseType="lpstr">
      <vt:lpstr>Arial</vt:lpstr>
      <vt:lpstr>宋体</vt:lpstr>
      <vt:lpstr>Wingdings</vt:lpstr>
      <vt:lpstr>楷体</vt:lpstr>
      <vt:lpstr>Tahoma</vt:lpstr>
      <vt:lpstr>Wingdings</vt:lpstr>
      <vt:lpstr>微软雅黑</vt:lpstr>
      <vt:lpstr>Times New Roman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&lt;4D6963726F736F667420506F776572506F696E74202D20B5DA32D6DC2DCDBCCFF1B4A6C0EDBBF9B4A12DD6C7C4DCCAB6B1F0CFB5CDB3C9E8BCC62E70707478&gt;</dc:title>
  <dc:creator>Kevin</dc:creator>
  <cp:lastModifiedBy>王锦鸿</cp:lastModifiedBy>
  <cp:revision>1</cp:revision>
  <dcterms:created xsi:type="dcterms:W3CDTF">2023-09-24T15:00:32Z</dcterms:created>
  <dcterms:modified xsi:type="dcterms:W3CDTF">2023-09-24T15:00:32Z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wqlLaW5nc29mdCBQREYgdG8gV1BTIDkw</vt:lpwstr>
  </property>
  <property fmtid="{D5CDD505-2E9C-101B-9397-08002B2CF9AE}" pid="3" name="Created">
    <vt:filetime>2023-09-24T22:23:27Z</vt:filetime>
  </property>
  <property fmtid="{D5CDD505-2E9C-101B-9397-08002B2CF9AE}" pid="4" name="ICV">
    <vt:lpwstr>A41E861C4AAE4DD3851DA4DD4B27541B_12</vt:lpwstr>
  </property>
  <property fmtid="{D5CDD505-2E9C-101B-9397-08002B2CF9AE}" pid="5" name="KSOProductBuildVer">
    <vt:lpwstr>2052-12.1.0.15404</vt:lpwstr>
  </property>
</Properties>
</file>