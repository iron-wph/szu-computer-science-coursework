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7" r:id="rId2"/>
    <p:sldId id="268" r:id="rId3"/>
    <p:sldId id="272" r:id="rId4"/>
    <p:sldId id="281" r:id="rId5"/>
    <p:sldId id="269" r:id="rId6"/>
    <p:sldId id="276" r:id="rId7"/>
    <p:sldId id="278" r:id="rId8"/>
    <p:sldId id="277" r:id="rId9"/>
    <p:sldId id="275" r:id="rId10"/>
    <p:sldId id="279" r:id="rId11"/>
    <p:sldId id="270" r:id="rId12"/>
    <p:sldId id="271" r:id="rId13"/>
    <p:sldId id="282" r:id="rId14"/>
    <p:sldId id="286" r:id="rId15"/>
    <p:sldId id="280" r:id="rId16"/>
    <p:sldId id="273" r:id="rId17"/>
    <p:sldId id="274" r:id="rId18"/>
    <p:sldId id="284" r:id="rId19"/>
    <p:sldId id="283" r:id="rId20"/>
    <p:sldId id="28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708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59" autoAdjust="0"/>
    <p:restoredTop sz="85425" autoAdjust="0"/>
  </p:normalViewPr>
  <p:slideViewPr>
    <p:cSldViewPr snapToGrid="0">
      <p:cViewPr varScale="1">
        <p:scale>
          <a:sx n="72" d="100"/>
          <a:sy n="72" d="100"/>
        </p:scale>
        <p:origin x="9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B3FD8-49AB-479C-A1DA-02DE6710C46F}" type="datetimeFigureOut">
              <a:rPr lang="zh-CN" altLang="en-US" smtClean="0"/>
              <a:t>2023/12/27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3A9FD-EFE5-4171-9192-DCF70CA1CB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564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3A9FD-EFE5-4171-9192-DCF70CA1CB7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307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3A9FD-EFE5-4171-9192-DCF70CA1CB7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037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4338A-FACD-40D5-A5F4-7A152B864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6AFD465-3A7D-4862-8DDB-B35EC175D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D73C78-1151-4226-9A41-31B354A5E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C36B-04E7-4253-A409-EF2BC39876CC}" type="datetimeFigureOut">
              <a:rPr lang="zh-CN" altLang="en-US" smtClean="0"/>
              <a:t>2023/12/27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F36C23-65A1-4D23-B89A-E2D3E1008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1814A8-EDBC-4CD9-BC27-294D7819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07BB7-2E5A-4143-8131-1AA30EBA0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22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CFCDA-7B64-4071-A9B3-F63672F1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0278D5-6E1B-4DF5-988F-8ADE746D9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7B1581-CA1F-444B-B8FA-59EAC3BDB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C36B-04E7-4253-A409-EF2BC39876CC}" type="datetimeFigureOut">
              <a:rPr lang="zh-CN" altLang="en-US" smtClean="0"/>
              <a:t>2023/12/27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633C70-1680-4681-B2D5-4D760D43E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2464BB-F089-4477-A847-BE338791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07BB7-2E5A-4143-8131-1AA30EBA0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031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D54EE-3401-4E85-BB06-8EA24876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9B9496-CC10-4C61-88A1-5D2D8BB2A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96651A-8AA4-407D-AA86-3CB985343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C36B-04E7-4253-A409-EF2BC39876CC}" type="datetimeFigureOut">
              <a:rPr lang="zh-CN" altLang="en-US" smtClean="0"/>
              <a:t>2023/12/27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6978F3-4318-4BB6-A7DE-63BE473B7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883566-292C-4377-9430-7E589BD1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07BB7-2E5A-4143-8131-1AA30EBA0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56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46EA2B-E023-432A-B2BD-B791EC280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42BCB3-B17E-4CB2-A20D-33AD5A3D4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5FBA9A-C959-4653-99F0-9592EC205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F0D3AF-223E-4162-8DD5-A3EA5E5CF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C36B-04E7-4253-A409-EF2BC39876CC}" type="datetimeFigureOut">
              <a:rPr lang="zh-CN" altLang="en-US" smtClean="0"/>
              <a:t>2023/12/27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87B9AC-4BBF-4BC6-9631-AE0A17D5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D0C92A-F061-412E-9504-27D3D74F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07BB7-2E5A-4143-8131-1AA30EBA0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208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A112A6-B935-4A63-A62E-DA41213C9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8851E5-C45A-4C16-AFE8-FA9B60DC5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E39ED8-0576-44A1-9518-E8F8DE4B1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D6E8BA-CADD-4559-BD32-4E0D2E3A1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3332E1-FBF3-4371-A44F-47E0F0D4B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F31D77-8D00-49EF-B1BE-FF6F0B8C6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C36B-04E7-4253-A409-EF2BC39876CC}" type="datetimeFigureOut">
              <a:rPr lang="zh-CN" altLang="en-US" smtClean="0"/>
              <a:t>2023/12/27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2D4D21-EBDA-4C03-ACBA-C1A22390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3A1988-C485-42AF-8F16-4F560527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07BB7-2E5A-4143-8131-1AA30EBA0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721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BEB96C-8E9D-44D0-AF0D-363002230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18261D1-CE7F-40C3-9799-41E02995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C36B-04E7-4253-A409-EF2BC39876CC}" type="datetimeFigureOut">
              <a:rPr lang="zh-CN" altLang="en-US" smtClean="0"/>
              <a:t>2023/12/27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BF6124-E0FB-494B-836F-E52C32D6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C3059F-799F-43C2-B2C5-77055A9F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07BB7-2E5A-4143-8131-1AA30EBA0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236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385F8C-6820-42A0-A45F-335601F22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C36B-04E7-4253-A409-EF2BC39876CC}" type="datetimeFigureOut">
              <a:rPr lang="zh-CN" altLang="en-US" smtClean="0"/>
              <a:t>2023/12/27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A4FF19-95AA-4055-8681-514EF7479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17A7D6-6F18-4BF9-A08D-9D76241A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07BB7-2E5A-4143-8131-1AA30EBA0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55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7A3D9-C863-4A68-A7B5-247A490A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DA05E7-444E-4355-ACF2-49EF96D56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C93ABF-691E-4739-9E62-09F5D058A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3A60A9-705B-47B5-9281-6D239B9F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C36B-04E7-4253-A409-EF2BC39876CC}" type="datetimeFigureOut">
              <a:rPr lang="zh-CN" altLang="en-US" smtClean="0"/>
              <a:t>2023/12/27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D7989B-05B1-402B-91B0-9AF5E317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334764-DD34-440C-B8FA-65C1A8CC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07BB7-2E5A-4143-8131-1AA30EBA0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399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8E4F1-1EAD-42D0-8E3F-5AA789309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F8F436-546F-4976-AC79-0534348AB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229C38-1F10-42AE-B036-C6F276865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8C1646-1FAC-40C4-9C99-BDDDEF91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C36B-04E7-4253-A409-EF2BC39876CC}" type="datetimeFigureOut">
              <a:rPr lang="zh-CN" altLang="en-US" smtClean="0"/>
              <a:t>2023/12/27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BBAA47-A57F-4827-84C8-DA872E89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BFF289-6B17-4A53-8718-E8D2DF100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07BB7-2E5A-4143-8131-1AA30EBA0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571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AF849-2F24-46B1-A4C6-9BA2029D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DDC811-E96B-460C-99A6-6E5D173C0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4307EC-1C50-4945-936D-8386DDB6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C36B-04E7-4253-A409-EF2BC39876CC}" type="datetimeFigureOut">
              <a:rPr lang="zh-CN" altLang="en-US" smtClean="0"/>
              <a:t>2023/12/27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BC099-9FE3-41B9-963F-C5F408EE7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FCF486-7912-4658-9428-4F6AF525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07BB7-2E5A-4143-8131-1AA30EBA0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025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45566A-9C5C-4066-981F-F7D3D06C3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8C3146-6B24-43D1-A01A-C8C336158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D49871-8498-4ACA-80FF-3C16EDD17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C36B-04E7-4253-A409-EF2BC39876CC}" type="datetimeFigureOut">
              <a:rPr lang="zh-CN" altLang="en-US" smtClean="0"/>
              <a:t>2023/12/27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C9FACC-A0BA-4C6E-B694-6CF3CFF7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CA9224-2EC2-414F-AD55-3ADACDD72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07BB7-2E5A-4143-8131-1AA30EBA0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21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6C3906-7F63-4BBF-858D-F56795876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853CF1-A3CA-4FD1-B106-2F43F00D9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823762-6C55-472E-8F6F-BF8C4985DE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1C36B-04E7-4253-A409-EF2BC39876CC}" type="datetimeFigureOut">
              <a:rPr lang="zh-CN" altLang="en-US" smtClean="0"/>
              <a:t>2023/12/27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809764-C231-4CAF-A66A-5D0762872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FB114F-28D9-40CF-BE51-FAC43BA22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07BB7-2E5A-4143-8131-1AA30EBA0A6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983CAD-E739-4E26-B729-F8A3C4E272E1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9D9F80B-9EFC-40C7-AFD5-89D70AA049A7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rgbClr val="0099FF"/>
          </a:solidFill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D057546-1B2F-42B0-B831-E154F01693A5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A74E263-84AE-44C4-8CF2-B56101BBE4D4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D335846-D498-4676-A449-540EA18BF197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A1DA211-459A-4D7C-BFD6-C44F74274155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EB6B3F1-0BA1-4CD8-9038-69DFBCFBF40D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45ABECB-C3B1-40BC-9480-7D4DDB4271F3}"/>
              </a:ext>
            </a:extLst>
          </p:cNvPr>
          <p:cNvGrpSpPr/>
          <p:nvPr userDrawn="1"/>
        </p:nvGrpSpPr>
        <p:grpSpPr>
          <a:xfrm>
            <a:off x="9814110" y="267547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54F77E4-D2AA-4FD1-818F-729784B19994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0DEEE8DE-4907-4EB4-A49E-9BB100800E9B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95122983-C4C2-41CE-9F74-3274A0CBE26E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5ECEB734-C787-4A06-B9C7-1249F742CB5B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E19C6C12-107A-4EBB-87C0-D715A7B9E19D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7BC067A8-1E9B-4BFE-A53F-44398F93CE9D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36BF887C-ADE3-4212-A8E9-506BAB4ED30C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D6968233-0FB6-4180-A807-8293B31ACBC2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F7B807F7-265C-4967-A46D-DDEBF773B394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68ACD687-BD93-407F-9A94-25635C1CB095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E2702041-8527-4B90-9554-25A15254CCDD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2BDAAC82-1E00-4F10-A0AD-3CE90A65A5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27AD333D-E941-49B2-93B1-0D4B03B20615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51AE0792-3EDC-415E-BD29-7C5D22BCABC9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4A67F0B7-5257-4557-8DA5-271473B0A7B6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242CEEBF-D9B3-4B3C-85AD-1ECA61A6730F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CBFAE1D8-AA64-4DF1-9FEA-E4695AA3C5B0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53C30A7D-5462-42D1-906A-A214E48B8E7B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4D8E26EB-52B0-40BB-BD04-0613D6962618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BC99A1AA-F420-494D-B7B8-F77A19F93E2C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5FAFC073-2E9C-4A9E-83BB-38B48BB5D4C6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1DC9927E-21EB-4BED-93D4-13D1C5CF6A25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08AA4FE0-3BA8-44CB-9A70-DA2F1ECC766D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4B19949A-885E-49C5-877D-276CBFA776F3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A08F2AFE-8331-463F-8BD6-851E46808B30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9F087000-6C5A-4DEC-B3F5-1E1739745B63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0EBDF36C-3196-4086-91F1-D712D172880B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140C661A-3012-43B7-9171-A5D9DE4A2022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3D178E37-FEFC-49C0-BB19-E3CC9C0A5085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D29C2CF5-D77B-44B6-8AF6-C8568C19BF3B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3B1BF7E0-2838-4005-A477-C2E6F7B9D9E3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9C9D74A0-9455-4900-AF28-886AA8B35A83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61992183-34B6-4FFA-8A7A-5A953DFCAB9E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07BD240E-312F-49E5-9465-91BA5C08205E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EC77BB9D-04D4-44FB-BA62-01A9ED57ABDC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FAD88765-EBB5-47EF-A43A-85F490DBE0CD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Freeform 41">
              <a:extLst>
                <a:ext uri="{FF2B5EF4-FFF2-40B4-BE49-F238E27FC236}">
                  <a16:creationId xmlns:a16="http://schemas.microsoft.com/office/drawing/2014/main" id="{F0C35115-AAAC-4A8B-9305-169ED9C11FB2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42">
              <a:extLst>
                <a:ext uri="{FF2B5EF4-FFF2-40B4-BE49-F238E27FC236}">
                  <a16:creationId xmlns:a16="http://schemas.microsoft.com/office/drawing/2014/main" id="{6DC45F39-4A20-446A-BE74-40E4D94D3FE0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43">
              <a:extLst>
                <a:ext uri="{FF2B5EF4-FFF2-40B4-BE49-F238E27FC236}">
                  <a16:creationId xmlns:a16="http://schemas.microsoft.com/office/drawing/2014/main" id="{B80225DC-B09F-437A-BEB5-FA6EA0B62F99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Freeform 44">
              <a:extLst>
                <a:ext uri="{FF2B5EF4-FFF2-40B4-BE49-F238E27FC236}">
                  <a16:creationId xmlns:a16="http://schemas.microsoft.com/office/drawing/2014/main" id="{339B5A49-D372-4A4D-89D7-4C2EB18307A9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45">
              <a:extLst>
                <a:ext uri="{FF2B5EF4-FFF2-40B4-BE49-F238E27FC236}">
                  <a16:creationId xmlns:a16="http://schemas.microsoft.com/office/drawing/2014/main" id="{F744B672-3CCF-401B-A70F-F2EA4B41CCCC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46">
              <a:extLst>
                <a:ext uri="{FF2B5EF4-FFF2-40B4-BE49-F238E27FC236}">
                  <a16:creationId xmlns:a16="http://schemas.microsoft.com/office/drawing/2014/main" id="{E830D866-430A-4083-B1F1-20FC2CD8EB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Freeform 47">
              <a:extLst>
                <a:ext uri="{FF2B5EF4-FFF2-40B4-BE49-F238E27FC236}">
                  <a16:creationId xmlns:a16="http://schemas.microsoft.com/office/drawing/2014/main" id="{9F0DDC2F-5B7C-4034-901A-671902C82654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Freeform 48">
              <a:extLst>
                <a:ext uri="{FF2B5EF4-FFF2-40B4-BE49-F238E27FC236}">
                  <a16:creationId xmlns:a16="http://schemas.microsoft.com/office/drawing/2014/main" id="{7B2B03C8-6AFC-4943-B64F-D1B57D209FD6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Freeform 49">
              <a:extLst>
                <a:ext uri="{FF2B5EF4-FFF2-40B4-BE49-F238E27FC236}">
                  <a16:creationId xmlns:a16="http://schemas.microsoft.com/office/drawing/2014/main" id="{D3F0AC9B-61ED-4D3C-96B0-045F348ADA38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0">
              <a:extLst>
                <a:ext uri="{FF2B5EF4-FFF2-40B4-BE49-F238E27FC236}">
                  <a16:creationId xmlns:a16="http://schemas.microsoft.com/office/drawing/2014/main" id="{FA4A6EF8-D26F-4758-8CB9-08761C341AB9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51">
              <a:extLst>
                <a:ext uri="{FF2B5EF4-FFF2-40B4-BE49-F238E27FC236}">
                  <a16:creationId xmlns:a16="http://schemas.microsoft.com/office/drawing/2014/main" id="{DAABAF3E-FD76-4898-8263-324A894385D7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52">
              <a:extLst>
                <a:ext uri="{FF2B5EF4-FFF2-40B4-BE49-F238E27FC236}">
                  <a16:creationId xmlns:a16="http://schemas.microsoft.com/office/drawing/2014/main" id="{484A54A8-E9BE-449E-97A8-B6AEB0CB7D64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53">
              <a:extLst>
                <a:ext uri="{FF2B5EF4-FFF2-40B4-BE49-F238E27FC236}">
                  <a16:creationId xmlns:a16="http://schemas.microsoft.com/office/drawing/2014/main" id="{873233A2-D14F-413B-8896-CDF2A42DCCAB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54">
              <a:extLst>
                <a:ext uri="{FF2B5EF4-FFF2-40B4-BE49-F238E27FC236}">
                  <a16:creationId xmlns:a16="http://schemas.microsoft.com/office/drawing/2014/main" id="{88D40D51-CD9A-4B9A-AA12-2C773EFFD6F8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55">
              <a:extLst>
                <a:ext uri="{FF2B5EF4-FFF2-40B4-BE49-F238E27FC236}">
                  <a16:creationId xmlns:a16="http://schemas.microsoft.com/office/drawing/2014/main" id="{9E7AE763-03EC-4566-A7C9-C950C499E2DA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56">
              <a:extLst>
                <a:ext uri="{FF2B5EF4-FFF2-40B4-BE49-F238E27FC236}">
                  <a16:creationId xmlns:a16="http://schemas.microsoft.com/office/drawing/2014/main" id="{7911C3D3-BF62-491F-9B9E-31B1A690DFC2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57">
              <a:extLst>
                <a:ext uri="{FF2B5EF4-FFF2-40B4-BE49-F238E27FC236}">
                  <a16:creationId xmlns:a16="http://schemas.microsoft.com/office/drawing/2014/main" id="{EA8174D8-E912-460B-963A-144C39B968BF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58">
              <a:extLst>
                <a:ext uri="{FF2B5EF4-FFF2-40B4-BE49-F238E27FC236}">
                  <a16:creationId xmlns:a16="http://schemas.microsoft.com/office/drawing/2014/main" id="{35B6295F-3D9A-4A06-B335-E15E09522CCE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Oval 59">
              <a:extLst>
                <a:ext uri="{FF2B5EF4-FFF2-40B4-BE49-F238E27FC236}">
                  <a16:creationId xmlns:a16="http://schemas.microsoft.com/office/drawing/2014/main" id="{74581ADE-9B45-4E6A-8AB5-C5BAADFF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Oval 60">
              <a:extLst>
                <a:ext uri="{FF2B5EF4-FFF2-40B4-BE49-F238E27FC236}">
                  <a16:creationId xmlns:a16="http://schemas.microsoft.com/office/drawing/2014/main" id="{D8B81EF0-4293-42EE-B8FE-B436AA4AC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61">
              <a:extLst>
                <a:ext uri="{FF2B5EF4-FFF2-40B4-BE49-F238E27FC236}">
                  <a16:creationId xmlns:a16="http://schemas.microsoft.com/office/drawing/2014/main" id="{29BA4480-7CBC-41D4-8D8E-F3B7954F3D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62">
              <a:extLst>
                <a:ext uri="{FF2B5EF4-FFF2-40B4-BE49-F238E27FC236}">
                  <a16:creationId xmlns:a16="http://schemas.microsoft.com/office/drawing/2014/main" id="{2A3E3D25-AF4E-4EB2-80C7-B740704492BE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63">
              <a:extLst>
                <a:ext uri="{FF2B5EF4-FFF2-40B4-BE49-F238E27FC236}">
                  <a16:creationId xmlns:a16="http://schemas.microsoft.com/office/drawing/2014/main" id="{5C6AB5DF-7E0A-434E-9CBD-473D720AFA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64">
              <a:extLst>
                <a:ext uri="{FF2B5EF4-FFF2-40B4-BE49-F238E27FC236}">
                  <a16:creationId xmlns:a16="http://schemas.microsoft.com/office/drawing/2014/main" id="{44AAA086-32A9-4984-8E25-F9A348AF66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65">
              <a:extLst>
                <a:ext uri="{FF2B5EF4-FFF2-40B4-BE49-F238E27FC236}">
                  <a16:creationId xmlns:a16="http://schemas.microsoft.com/office/drawing/2014/main" id="{DD037E90-F167-45A2-9E7C-CDDA65A25248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66">
              <a:extLst>
                <a:ext uri="{FF2B5EF4-FFF2-40B4-BE49-F238E27FC236}">
                  <a16:creationId xmlns:a16="http://schemas.microsoft.com/office/drawing/2014/main" id="{1FDABADF-3FDB-47EE-BFF0-5C4BFF196BE6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Freeform 67">
              <a:extLst>
                <a:ext uri="{FF2B5EF4-FFF2-40B4-BE49-F238E27FC236}">
                  <a16:creationId xmlns:a16="http://schemas.microsoft.com/office/drawing/2014/main" id="{35839A2B-3744-4E86-9373-4B270A8B7D5A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Freeform 68">
              <a:extLst>
                <a:ext uri="{FF2B5EF4-FFF2-40B4-BE49-F238E27FC236}">
                  <a16:creationId xmlns:a16="http://schemas.microsoft.com/office/drawing/2014/main" id="{DF6CAE5A-1803-40EC-BD70-64BBFC5D44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Freeform 69">
              <a:extLst>
                <a:ext uri="{FF2B5EF4-FFF2-40B4-BE49-F238E27FC236}">
                  <a16:creationId xmlns:a16="http://schemas.microsoft.com/office/drawing/2014/main" id="{5EF754C6-26BE-4F73-8C2A-6FE0860084C2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Freeform 70">
              <a:extLst>
                <a:ext uri="{FF2B5EF4-FFF2-40B4-BE49-F238E27FC236}">
                  <a16:creationId xmlns:a16="http://schemas.microsoft.com/office/drawing/2014/main" id="{5B371D27-8A61-43D3-890D-99CF3A742251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470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13" Type="http://schemas.openxmlformats.org/officeDocument/2006/relationships/image" Target="../media/image30.jpg"/><Relationship Id="rId18" Type="http://schemas.openxmlformats.org/officeDocument/2006/relationships/image" Target="../media/image35.jpg"/><Relationship Id="rId3" Type="http://schemas.openxmlformats.org/officeDocument/2006/relationships/image" Target="../media/image20.jpg"/><Relationship Id="rId21" Type="http://schemas.openxmlformats.org/officeDocument/2006/relationships/image" Target="../media/image38.jpg"/><Relationship Id="rId7" Type="http://schemas.openxmlformats.org/officeDocument/2006/relationships/image" Target="../media/image24.jpg"/><Relationship Id="rId12" Type="http://schemas.openxmlformats.org/officeDocument/2006/relationships/image" Target="../media/image29.jpg"/><Relationship Id="rId17" Type="http://schemas.openxmlformats.org/officeDocument/2006/relationships/image" Target="../media/image34.jpg"/><Relationship Id="rId2" Type="http://schemas.openxmlformats.org/officeDocument/2006/relationships/image" Target="../media/image19.jpg"/><Relationship Id="rId16" Type="http://schemas.openxmlformats.org/officeDocument/2006/relationships/image" Target="../media/image33.jpg"/><Relationship Id="rId20" Type="http://schemas.openxmlformats.org/officeDocument/2006/relationships/image" Target="../media/image3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11" Type="http://schemas.openxmlformats.org/officeDocument/2006/relationships/image" Target="../media/image28.jpg"/><Relationship Id="rId5" Type="http://schemas.openxmlformats.org/officeDocument/2006/relationships/image" Target="../media/image22.jpg"/><Relationship Id="rId15" Type="http://schemas.openxmlformats.org/officeDocument/2006/relationships/image" Target="../media/image32.jpg"/><Relationship Id="rId10" Type="http://schemas.openxmlformats.org/officeDocument/2006/relationships/image" Target="../media/image27.jpg"/><Relationship Id="rId19" Type="http://schemas.openxmlformats.org/officeDocument/2006/relationships/image" Target="../media/image36.jpg"/><Relationship Id="rId4" Type="http://schemas.openxmlformats.org/officeDocument/2006/relationships/image" Target="../media/image21.jpg"/><Relationship Id="rId9" Type="http://schemas.openxmlformats.org/officeDocument/2006/relationships/image" Target="../media/image26.jpg"/><Relationship Id="rId14" Type="http://schemas.openxmlformats.org/officeDocument/2006/relationships/image" Target="../media/image31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" t="88" r="64" b="12548"/>
          <a:stretch>
            <a:fillRect/>
          </a:stretch>
        </p:blipFill>
        <p:spPr>
          <a:xfrm>
            <a:off x="482" y="0"/>
            <a:ext cx="12191999" cy="8267612"/>
          </a:xfrm>
          <a:prstGeom prst="rect">
            <a:avLst/>
          </a:prstGeom>
        </p:spPr>
      </p:pic>
      <p:sp>
        <p:nvSpPr>
          <p:cNvPr id="76" name="任意多边形: 形状 75"/>
          <p:cNvSpPr/>
          <p:nvPr/>
        </p:nvSpPr>
        <p:spPr>
          <a:xfrm rot="20940000">
            <a:off x="-230645" y="-1192196"/>
            <a:ext cx="12770482" cy="3627778"/>
          </a:xfrm>
          <a:custGeom>
            <a:avLst/>
            <a:gdLst>
              <a:gd name="connsiteX0" fmla="*/ 12770482 w 12770482"/>
              <a:gd name="connsiteY0" fmla="*/ 3571764 h 3627778"/>
              <a:gd name="connsiteX1" fmla="*/ 12770482 w 12770482"/>
              <a:gd name="connsiteY1" fmla="*/ 3627778 h 3627778"/>
              <a:gd name="connsiteX2" fmla="*/ 12759594 w 12770482"/>
              <a:gd name="connsiteY2" fmla="*/ 3627778 h 3627778"/>
              <a:gd name="connsiteX3" fmla="*/ 456753 w 12770482"/>
              <a:gd name="connsiteY3" fmla="*/ 0 h 3627778"/>
              <a:gd name="connsiteX4" fmla="*/ 12424752 w 12770482"/>
              <a:gd name="connsiteY4" fmla="*/ 2326343 h 3627778"/>
              <a:gd name="connsiteX5" fmla="*/ 12171778 w 12770482"/>
              <a:gd name="connsiteY5" fmla="*/ 3627778 h 3627778"/>
              <a:gd name="connsiteX6" fmla="*/ 1031105 w 12770482"/>
              <a:gd name="connsiteY6" fmla="*/ 3627778 h 3627778"/>
              <a:gd name="connsiteX7" fmla="*/ 0 w 12770482"/>
              <a:gd name="connsiteY7" fmla="*/ 2349789 h 3627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770482" h="3627778">
                <a:moveTo>
                  <a:pt x="12770482" y="3571764"/>
                </a:moveTo>
                <a:lnTo>
                  <a:pt x="12770482" y="3627778"/>
                </a:lnTo>
                <a:lnTo>
                  <a:pt x="12759594" y="3627778"/>
                </a:lnTo>
                <a:close/>
                <a:moveTo>
                  <a:pt x="456753" y="0"/>
                </a:moveTo>
                <a:lnTo>
                  <a:pt x="12424752" y="2326343"/>
                </a:lnTo>
                <a:lnTo>
                  <a:pt x="12171778" y="3627778"/>
                </a:lnTo>
                <a:lnTo>
                  <a:pt x="1031105" y="3627778"/>
                </a:lnTo>
                <a:lnTo>
                  <a:pt x="0" y="234978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7" name="任意多边形: 形状 36"/>
          <p:cNvSpPr/>
          <p:nvPr/>
        </p:nvSpPr>
        <p:spPr>
          <a:xfrm rot="600000">
            <a:off x="46696" y="2800202"/>
            <a:ext cx="821674" cy="797295"/>
          </a:xfrm>
          <a:custGeom>
            <a:avLst/>
            <a:gdLst>
              <a:gd name="connsiteX0" fmla="*/ 293485 w 821674"/>
              <a:gd name="connsiteY0" fmla="*/ 0 h 797295"/>
              <a:gd name="connsiteX1" fmla="*/ 821674 w 821674"/>
              <a:gd name="connsiteY1" fmla="*/ 797295 h 797295"/>
              <a:gd name="connsiteX2" fmla="*/ 62470 w 821674"/>
              <a:gd name="connsiteY2" fmla="*/ 797295 h 797295"/>
              <a:gd name="connsiteX3" fmla="*/ 0 w 821674"/>
              <a:gd name="connsiteY3" fmla="*/ 443012 h 797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674" h="797295">
                <a:moveTo>
                  <a:pt x="293485" y="0"/>
                </a:moveTo>
                <a:lnTo>
                  <a:pt x="821674" y="797295"/>
                </a:lnTo>
                <a:lnTo>
                  <a:pt x="62470" y="797295"/>
                </a:lnTo>
                <a:lnTo>
                  <a:pt x="0" y="443012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just"/>
            <a:endParaRPr lang="zh-CN" altLang="en-US" u="sng" dirty="0"/>
          </a:p>
        </p:txBody>
      </p:sp>
      <p:sp>
        <p:nvSpPr>
          <p:cNvPr id="43" name="任意多边形: 形状 42"/>
          <p:cNvSpPr/>
          <p:nvPr/>
        </p:nvSpPr>
        <p:spPr>
          <a:xfrm rot="10141441">
            <a:off x="-107012" y="2843366"/>
            <a:ext cx="12466655" cy="244769"/>
          </a:xfrm>
          <a:custGeom>
            <a:avLst/>
            <a:gdLst>
              <a:gd name="connsiteX0" fmla="*/ 9485248 w 12466655"/>
              <a:gd name="connsiteY0" fmla="*/ 244769 h 244769"/>
              <a:gd name="connsiteX1" fmla="*/ 9424055 w 12466655"/>
              <a:gd name="connsiteY1" fmla="*/ 0 h 244769"/>
              <a:gd name="connsiteX2" fmla="*/ 12466655 w 12466655"/>
              <a:gd name="connsiteY2" fmla="*/ 0 h 244769"/>
              <a:gd name="connsiteX3" fmla="*/ 12419183 w 12466655"/>
              <a:gd name="connsiteY3" fmla="*/ 244769 h 244769"/>
              <a:gd name="connsiteX4" fmla="*/ 0 w 12466655"/>
              <a:gd name="connsiteY4" fmla="*/ 244769 h 244769"/>
              <a:gd name="connsiteX5" fmla="*/ 47472 w 12466655"/>
              <a:gd name="connsiteY5" fmla="*/ 0 h 244769"/>
              <a:gd name="connsiteX6" fmla="*/ 8762326 w 12466655"/>
              <a:gd name="connsiteY6" fmla="*/ 0 h 244769"/>
              <a:gd name="connsiteX7" fmla="*/ 8823518 w 12466655"/>
              <a:gd name="connsiteY7" fmla="*/ 244769 h 244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66655" h="244769">
                <a:moveTo>
                  <a:pt x="9485248" y="244769"/>
                </a:moveTo>
                <a:lnTo>
                  <a:pt x="9424055" y="0"/>
                </a:lnTo>
                <a:lnTo>
                  <a:pt x="12466655" y="0"/>
                </a:lnTo>
                <a:lnTo>
                  <a:pt x="12419183" y="244769"/>
                </a:lnTo>
                <a:close/>
                <a:moveTo>
                  <a:pt x="0" y="244769"/>
                </a:moveTo>
                <a:lnTo>
                  <a:pt x="47472" y="0"/>
                </a:lnTo>
                <a:lnTo>
                  <a:pt x="8762326" y="0"/>
                </a:lnTo>
                <a:lnTo>
                  <a:pt x="8823518" y="24476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6096000" y="5919133"/>
            <a:ext cx="6224454" cy="955312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6819900" y="6062052"/>
            <a:ext cx="5380251" cy="825746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81900" y="6162507"/>
            <a:ext cx="4720884" cy="72454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8067675" y="6243073"/>
            <a:ext cx="4295954" cy="659331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9016734" y="6374495"/>
            <a:ext cx="3373781" cy="51779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686925" y="6473754"/>
            <a:ext cx="2660415" cy="408313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0325100" y="6594881"/>
            <a:ext cx="2007411" cy="308090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239500" y="6716292"/>
            <a:ext cx="1063284" cy="163189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677650" y="6804013"/>
            <a:ext cx="756042" cy="116034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9814110" y="169889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8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7" name="文本框 96"/>
          <p:cNvSpPr txBox="1"/>
          <p:nvPr/>
        </p:nvSpPr>
        <p:spPr>
          <a:xfrm>
            <a:off x="4550230" y="4776443"/>
            <a:ext cx="3755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</a:pPr>
            <a:r>
              <a:rPr lang="zh-CN" altLang="en-US" sz="2400" b="1" dirty="0"/>
              <a:t>主讲人：王培鸿</a:t>
            </a:r>
          </a:p>
        </p:txBody>
      </p:sp>
      <p:sp>
        <p:nvSpPr>
          <p:cNvPr id="98" name="标题 3073"/>
          <p:cNvSpPr txBox="1"/>
          <p:nvPr/>
        </p:nvSpPr>
        <p:spPr>
          <a:xfrm>
            <a:off x="1666791" y="2646242"/>
            <a:ext cx="8858418" cy="1478112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latin typeface="+mn-lt"/>
                <a:ea typeface="+mn-ea"/>
                <a:cs typeface="+mn-cs"/>
              </a:rPr>
              <a:t>基于</a:t>
            </a:r>
            <a:r>
              <a:rPr lang="en-US" altLang="zh-CN" sz="5400" b="1" dirty="0" err="1">
                <a:latin typeface="+mn-lt"/>
                <a:ea typeface="+mn-ea"/>
                <a:cs typeface="+mn-cs"/>
              </a:rPr>
              <a:t>opencv</a:t>
            </a:r>
            <a:r>
              <a:rPr lang="zh-CN" altLang="en-US" sz="5400" b="1" dirty="0">
                <a:latin typeface="+mn-lt"/>
                <a:ea typeface="+mn-ea"/>
                <a:cs typeface="+mn-cs"/>
              </a:rPr>
              <a:t>的虚拟键盘设计</a:t>
            </a:r>
            <a:endParaRPr lang="en-US" altLang="zh-CN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868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CA96AF-F6C0-45EC-923D-421C3650E3E4}"/>
              </a:ext>
            </a:extLst>
          </p:cNvPr>
          <p:cNvSpPr txBox="1"/>
          <p:nvPr/>
        </p:nvSpPr>
        <p:spPr>
          <a:xfrm>
            <a:off x="5892800" y="1727201"/>
            <a:ext cx="534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基于键盘纸的半虚拟键盘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A24B8A-3C94-44D5-824B-F174AD15613C}"/>
              </a:ext>
            </a:extLst>
          </p:cNvPr>
          <p:cNvSpPr txBox="1"/>
          <p:nvPr/>
        </p:nvSpPr>
        <p:spPr>
          <a:xfrm>
            <a:off x="5892800" y="3167390"/>
            <a:ext cx="534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基于</a:t>
            </a:r>
            <a:r>
              <a:rPr lang="en-US" altLang="zh-CN" sz="2800" b="1" dirty="0" err="1"/>
              <a:t>opencv</a:t>
            </a:r>
            <a:r>
              <a:rPr lang="zh-CN" altLang="en-US" sz="2800" b="1" dirty="0"/>
              <a:t>手指定位的虚拟键盘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1FE6E8-E7EB-414F-824B-862199E6B9C6}"/>
              </a:ext>
            </a:extLst>
          </p:cNvPr>
          <p:cNvSpPr txBox="1"/>
          <p:nvPr/>
        </p:nvSpPr>
        <p:spPr>
          <a:xfrm>
            <a:off x="1421575" y="2875002"/>
            <a:ext cx="39937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/>
              <a:t>目录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06DC92-E68C-4ABD-B80A-320B86A99B69}"/>
              </a:ext>
            </a:extLst>
          </p:cNvPr>
          <p:cNvSpPr txBox="1"/>
          <p:nvPr/>
        </p:nvSpPr>
        <p:spPr>
          <a:xfrm>
            <a:off x="5892800" y="44800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未来展望</a:t>
            </a:r>
          </a:p>
        </p:txBody>
      </p:sp>
    </p:spTree>
    <p:extLst>
      <p:ext uri="{BB962C8B-B14F-4D97-AF65-F5344CB8AC3E}">
        <p14:creationId xmlns:p14="http://schemas.microsoft.com/office/powerpoint/2010/main" val="3877950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6052919-5E18-4641-A8A3-4651DB8E8A92}"/>
              </a:ext>
            </a:extLst>
          </p:cNvPr>
          <p:cNvSpPr txBox="1"/>
          <p:nvPr/>
        </p:nvSpPr>
        <p:spPr>
          <a:xfrm>
            <a:off x="1160152" y="205087"/>
            <a:ext cx="811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zh-CN" altLang="en-US" sz="4000" b="1" dirty="0"/>
              <a:t>基于键盘纸的半虚拟键盘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9D28F0-61F6-46D8-8FFB-3173CA20E8DB}"/>
              </a:ext>
            </a:extLst>
          </p:cNvPr>
          <p:cNvSpPr txBox="1"/>
          <p:nvPr/>
        </p:nvSpPr>
        <p:spPr>
          <a:xfrm>
            <a:off x="198850" y="912295"/>
            <a:ext cx="3236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系统框架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0E211A-2BCE-4F1D-9BA5-8A9600B22BB3}"/>
              </a:ext>
            </a:extLst>
          </p:cNvPr>
          <p:cNvSpPr/>
          <p:nvPr/>
        </p:nvSpPr>
        <p:spPr>
          <a:xfrm>
            <a:off x="120178" y="3314953"/>
            <a:ext cx="1540042" cy="1018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数据源</a:t>
            </a:r>
            <a:endParaRPr lang="en-US" altLang="zh-CN" dirty="0"/>
          </a:p>
          <a:p>
            <a:pPr algn="ctr"/>
            <a:r>
              <a:rPr lang="zh-CN" altLang="en-US" dirty="0"/>
              <a:t>（</a:t>
            </a:r>
            <a:r>
              <a:rPr lang="en-US" altLang="zh-CN" dirty="0"/>
              <a:t>RGB</a:t>
            </a:r>
            <a:r>
              <a:rPr lang="zh-CN" altLang="en-US" dirty="0"/>
              <a:t>摄像头）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EDEEB95-FBA7-4C84-8CD9-EEC6375453AF}"/>
              </a:ext>
            </a:extLst>
          </p:cNvPr>
          <p:cNvGrpSpPr/>
          <p:nvPr/>
        </p:nvGrpSpPr>
        <p:grpSpPr>
          <a:xfrm>
            <a:off x="2112904" y="3194787"/>
            <a:ext cx="3356659" cy="1203767"/>
            <a:chOff x="2071868" y="1435261"/>
            <a:chExt cx="3356659" cy="120376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DE0BE81-8A52-49CF-9411-F678AEC409A1}"/>
                </a:ext>
              </a:extLst>
            </p:cNvPr>
            <p:cNvSpPr/>
            <p:nvPr/>
          </p:nvSpPr>
          <p:spPr>
            <a:xfrm>
              <a:off x="2071868" y="1435261"/>
              <a:ext cx="3356659" cy="120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7FCE209-5BE3-4E55-A197-205D23200421}"/>
                </a:ext>
              </a:extLst>
            </p:cNvPr>
            <p:cNvSpPr/>
            <p:nvPr/>
          </p:nvSpPr>
          <p:spPr>
            <a:xfrm>
              <a:off x="2071868" y="1435261"/>
              <a:ext cx="1423686" cy="3444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手指检测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FAA06E0-943E-4737-B49D-21BA42F0E983}"/>
              </a:ext>
            </a:extLst>
          </p:cNvPr>
          <p:cNvGrpSpPr/>
          <p:nvPr/>
        </p:nvGrpSpPr>
        <p:grpSpPr>
          <a:xfrm>
            <a:off x="2105759" y="1270000"/>
            <a:ext cx="5071063" cy="1592598"/>
            <a:chOff x="2064721" y="1426491"/>
            <a:chExt cx="5071063" cy="161743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B91CEE8-C7B8-4897-83F3-25F99CB6F2BA}"/>
                </a:ext>
              </a:extLst>
            </p:cNvPr>
            <p:cNvGrpSpPr/>
            <p:nvPr/>
          </p:nvGrpSpPr>
          <p:grpSpPr>
            <a:xfrm>
              <a:off x="2064721" y="1426491"/>
              <a:ext cx="5071063" cy="1598499"/>
              <a:chOff x="2071868" y="1435261"/>
              <a:chExt cx="3356659" cy="15984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3A5A081-559A-4D45-B2BF-B23C63888A0C}"/>
                  </a:ext>
                </a:extLst>
              </p:cNvPr>
              <p:cNvSpPr/>
              <p:nvPr/>
            </p:nvSpPr>
            <p:spPr>
              <a:xfrm>
                <a:off x="2071868" y="1435261"/>
                <a:ext cx="3356659" cy="159849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622ED0B-3593-4A4A-A6BF-F285941BC0D4}"/>
                  </a:ext>
                </a:extLst>
              </p:cNvPr>
              <p:cNvSpPr/>
              <p:nvPr/>
            </p:nvSpPr>
            <p:spPr>
              <a:xfrm>
                <a:off x="2071868" y="1435261"/>
                <a:ext cx="1423686" cy="34444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键盘定位</a:t>
                </a:r>
              </a:p>
            </p:txBody>
          </p:sp>
        </p:grp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891BD3F-540D-4CD6-B4A4-A82117E5A43E}"/>
                </a:ext>
              </a:extLst>
            </p:cNvPr>
            <p:cNvSpPr/>
            <p:nvPr/>
          </p:nvSpPr>
          <p:spPr>
            <a:xfrm>
              <a:off x="2071866" y="2390963"/>
              <a:ext cx="1261640" cy="6529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键盘定位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CF4BFBC-2473-4590-BEB9-8BC13110222E}"/>
                </a:ext>
              </a:extLst>
            </p:cNvPr>
            <p:cNvSpPr/>
            <p:nvPr/>
          </p:nvSpPr>
          <p:spPr>
            <a:xfrm>
              <a:off x="3628659" y="2379501"/>
              <a:ext cx="1261640" cy="6529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键位分割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1213B6F-8825-41F0-9F3A-042C1FE16F83}"/>
                </a:ext>
              </a:extLst>
            </p:cNvPr>
            <p:cNvSpPr/>
            <p:nvPr/>
          </p:nvSpPr>
          <p:spPr>
            <a:xfrm>
              <a:off x="5185452" y="2390963"/>
              <a:ext cx="1950332" cy="6529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键位信息匹配</a:t>
              </a: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7AB1A2F6-8105-4B4E-977A-A5C27252970C}"/>
              </a:ext>
            </a:extLst>
          </p:cNvPr>
          <p:cNvSpPr/>
          <p:nvPr/>
        </p:nvSpPr>
        <p:spPr>
          <a:xfrm>
            <a:off x="2112903" y="3725546"/>
            <a:ext cx="1261640" cy="652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手部检测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32B5B2-DD9D-497F-8131-04B0C1628027}"/>
              </a:ext>
            </a:extLst>
          </p:cNvPr>
          <p:cNvSpPr/>
          <p:nvPr/>
        </p:nvSpPr>
        <p:spPr>
          <a:xfrm>
            <a:off x="3912771" y="3745590"/>
            <a:ext cx="1261640" cy="652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特征提取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62D59A2-DA0D-4B59-B678-A8719CF2F722}"/>
              </a:ext>
            </a:extLst>
          </p:cNvPr>
          <p:cNvGrpSpPr/>
          <p:nvPr/>
        </p:nvGrpSpPr>
        <p:grpSpPr>
          <a:xfrm>
            <a:off x="2126083" y="4949357"/>
            <a:ext cx="6440954" cy="1212448"/>
            <a:chOff x="2071866" y="4812174"/>
            <a:chExt cx="6440954" cy="121244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CB4B1FB-2A1A-4EEA-8C3E-C9483694D24F}"/>
                </a:ext>
              </a:extLst>
            </p:cNvPr>
            <p:cNvSpPr/>
            <p:nvPr/>
          </p:nvSpPr>
          <p:spPr>
            <a:xfrm>
              <a:off x="2071866" y="4820855"/>
              <a:ext cx="6440954" cy="120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B3D403B-8B15-44D5-9F31-4B592E4FBC93}"/>
                </a:ext>
              </a:extLst>
            </p:cNvPr>
            <p:cNvSpPr/>
            <p:nvPr/>
          </p:nvSpPr>
          <p:spPr>
            <a:xfrm>
              <a:off x="2071867" y="4812174"/>
              <a:ext cx="1423686" cy="3444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击键判定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3ED3257-A05D-4CD6-A97E-02FED0C2CD51}"/>
                </a:ext>
              </a:extLst>
            </p:cNvPr>
            <p:cNvSpPr/>
            <p:nvPr/>
          </p:nvSpPr>
          <p:spPr>
            <a:xfrm>
              <a:off x="2071866" y="5371658"/>
              <a:ext cx="1898250" cy="6529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手部特征预处理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DE81248-F631-4E02-8818-66C138D6D5AB}"/>
                </a:ext>
              </a:extLst>
            </p:cNvPr>
            <p:cNvSpPr/>
            <p:nvPr/>
          </p:nvSpPr>
          <p:spPr>
            <a:xfrm>
              <a:off x="4343218" y="5371658"/>
              <a:ext cx="1898250" cy="6529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KNN</a:t>
              </a:r>
              <a:r>
                <a:rPr lang="zh-CN" altLang="en-US" dirty="0"/>
                <a:t>学习分类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1289AC0-A361-4EE7-8676-C397D830E84A}"/>
                </a:ext>
              </a:extLst>
            </p:cNvPr>
            <p:cNvSpPr/>
            <p:nvPr/>
          </p:nvSpPr>
          <p:spPr>
            <a:xfrm>
              <a:off x="6614570" y="5371658"/>
              <a:ext cx="1898250" cy="6529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击键动作判断</a:t>
              </a: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C5E2D464-CFCF-40EE-9AE2-079FE2074345}"/>
              </a:ext>
            </a:extLst>
          </p:cNvPr>
          <p:cNvSpPr/>
          <p:nvPr/>
        </p:nvSpPr>
        <p:spPr>
          <a:xfrm>
            <a:off x="9112858" y="5363395"/>
            <a:ext cx="706056" cy="2661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DCA9CA-7172-4470-908C-959234F9236D}"/>
              </a:ext>
            </a:extLst>
          </p:cNvPr>
          <p:cNvSpPr/>
          <p:nvPr/>
        </p:nvSpPr>
        <p:spPr>
          <a:xfrm>
            <a:off x="9112858" y="6190592"/>
            <a:ext cx="706056" cy="2661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假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4085E6B-778D-456C-BB24-1BD8256BBC4D}"/>
              </a:ext>
            </a:extLst>
          </p:cNvPr>
          <p:cNvSpPr/>
          <p:nvPr/>
        </p:nvSpPr>
        <p:spPr>
          <a:xfrm>
            <a:off x="9818914" y="2200165"/>
            <a:ext cx="1950332" cy="652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文本输出</a:t>
            </a:r>
          </a:p>
        </p:txBody>
      </p:sp>
      <p:sp>
        <p:nvSpPr>
          <p:cNvPr id="32" name="左大括号 31">
            <a:extLst>
              <a:ext uri="{FF2B5EF4-FFF2-40B4-BE49-F238E27FC236}">
                <a16:creationId xmlns:a16="http://schemas.microsoft.com/office/drawing/2014/main" id="{4679917B-9840-4B3E-98F2-CA44C2586081}"/>
              </a:ext>
            </a:extLst>
          </p:cNvPr>
          <p:cNvSpPr/>
          <p:nvPr/>
        </p:nvSpPr>
        <p:spPr>
          <a:xfrm>
            <a:off x="1737308" y="1892595"/>
            <a:ext cx="274415" cy="388088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E87275E9-45C5-4591-AEED-8FC66B08739F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8567037" y="5496457"/>
            <a:ext cx="545821" cy="3388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126D57F6-017B-45D8-AA32-635A9938BA74}"/>
              </a:ext>
            </a:extLst>
          </p:cNvPr>
          <p:cNvCxnSpPr>
            <a:stCxn id="26" idx="3"/>
            <a:endCxn id="28" idx="1"/>
          </p:cNvCxnSpPr>
          <p:nvPr/>
        </p:nvCxnSpPr>
        <p:spPr>
          <a:xfrm>
            <a:off x="8567037" y="5835323"/>
            <a:ext cx="545821" cy="48833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C27BC2B-49CE-4332-A415-058A0A9C5F91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7176822" y="2526647"/>
            <a:ext cx="2642092" cy="18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04E34EB7-48F1-4DDD-8243-AA0FC7BE6362}"/>
              </a:ext>
            </a:extLst>
          </p:cNvPr>
          <p:cNvCxnSpPr>
            <a:cxnSpLocks/>
          </p:cNvCxnSpPr>
          <p:nvPr/>
        </p:nvCxnSpPr>
        <p:spPr>
          <a:xfrm flipH="1" flipV="1">
            <a:off x="9407076" y="2545584"/>
            <a:ext cx="24174" cy="2817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33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CB07B04-3E07-4E25-BBF0-75B917DA692E}"/>
              </a:ext>
            </a:extLst>
          </p:cNvPr>
          <p:cNvSpPr txBox="1"/>
          <p:nvPr/>
        </p:nvSpPr>
        <p:spPr>
          <a:xfrm>
            <a:off x="1160152" y="205087"/>
            <a:ext cx="811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zh-CN" altLang="en-US" sz="4000" b="1" dirty="0"/>
              <a:t>基于键盘纸的半虚拟键盘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F6E9F0-25EC-4C48-A12E-7420B9C5C6B0}"/>
              </a:ext>
            </a:extLst>
          </p:cNvPr>
          <p:cNvSpPr txBox="1"/>
          <p:nvPr/>
        </p:nvSpPr>
        <p:spPr>
          <a:xfrm>
            <a:off x="558357" y="941694"/>
            <a:ext cx="3236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系统框架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830023-C0F5-4705-912C-8EDF7CEEE099}"/>
              </a:ext>
            </a:extLst>
          </p:cNvPr>
          <p:cNvSpPr txBox="1"/>
          <p:nvPr/>
        </p:nvSpPr>
        <p:spPr>
          <a:xfrm>
            <a:off x="6096000" y="3952303"/>
            <a:ext cx="5955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键盘纸的大小为</a:t>
            </a:r>
            <a:r>
              <a:rPr lang="en-US" altLang="zh-CN" dirty="0"/>
              <a:t>(18.8cm X 7.8cm)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颜色为深黑底，按键深蓝（有利于于其他背景进行区分）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4B64F69-7B34-408B-A517-545DB3C68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84" y="1555190"/>
            <a:ext cx="3947715" cy="440786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70B8E0B-DF97-4DB4-9C25-59E049ED1BD2}"/>
              </a:ext>
            </a:extLst>
          </p:cNvPr>
          <p:cNvSpPr txBox="1"/>
          <p:nvPr/>
        </p:nvSpPr>
        <p:spPr>
          <a:xfrm>
            <a:off x="6096000" y="2259366"/>
            <a:ext cx="47026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一个分辨率为</a:t>
            </a:r>
            <a:r>
              <a:rPr lang="en-US" altLang="zh-CN" dirty="0"/>
              <a:t>720p</a:t>
            </a:r>
            <a:r>
              <a:rPr lang="zh-CN" altLang="en-US" dirty="0"/>
              <a:t>以上的</a:t>
            </a:r>
            <a:r>
              <a:rPr lang="en-US" altLang="zh-CN" dirty="0"/>
              <a:t>RGB</a:t>
            </a:r>
            <a:r>
              <a:rPr lang="zh-CN" altLang="en-US" dirty="0"/>
              <a:t>摄像头，距离键盘纸</a:t>
            </a:r>
            <a:r>
              <a:rPr lang="en-US" altLang="zh-CN" dirty="0"/>
              <a:t>30~40cm</a:t>
            </a:r>
          </a:p>
          <a:p>
            <a:r>
              <a:rPr lang="en-US" altLang="zh-CN" dirty="0"/>
              <a:t>(</a:t>
            </a:r>
            <a:r>
              <a:rPr lang="zh-CN" altLang="en-US" dirty="0"/>
              <a:t>用手机代替，通过</a:t>
            </a:r>
            <a:r>
              <a:rPr lang="en-US" altLang="zh-CN" dirty="0" err="1"/>
              <a:t>DroidCam</a:t>
            </a:r>
            <a:r>
              <a:rPr lang="zh-CN" altLang="en-US" dirty="0"/>
              <a:t>连接电脑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039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1685315-4469-4EF2-9D84-5772A219838D}"/>
              </a:ext>
            </a:extLst>
          </p:cNvPr>
          <p:cNvSpPr txBox="1"/>
          <p:nvPr/>
        </p:nvSpPr>
        <p:spPr>
          <a:xfrm>
            <a:off x="652367" y="972186"/>
            <a:ext cx="1936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键盘定位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754C72-E293-4470-8DF3-4484CEC4C0BB}"/>
              </a:ext>
            </a:extLst>
          </p:cNvPr>
          <p:cNvSpPr txBox="1"/>
          <p:nvPr/>
        </p:nvSpPr>
        <p:spPr>
          <a:xfrm>
            <a:off x="1286552" y="4161807"/>
            <a:ext cx="466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通过双边滤波去除噪点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41CA94A-F633-4FC9-81CD-DBEBB7D1B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462" y="4531140"/>
            <a:ext cx="3788845" cy="181236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BBD8B1F-024E-4927-98CC-A634C6CF0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926" y="4531138"/>
            <a:ext cx="3788845" cy="181236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8B98E15-D9C8-45FB-9C86-828254641AA1}"/>
              </a:ext>
            </a:extLst>
          </p:cNvPr>
          <p:cNvSpPr txBox="1"/>
          <p:nvPr/>
        </p:nvSpPr>
        <p:spPr>
          <a:xfrm>
            <a:off x="2589322" y="6437983"/>
            <a:ext cx="1433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原图像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94660D-BBE1-4618-9CC3-BAE4522BA438}"/>
              </a:ext>
            </a:extLst>
          </p:cNvPr>
          <p:cNvSpPr txBox="1"/>
          <p:nvPr/>
        </p:nvSpPr>
        <p:spPr>
          <a:xfrm>
            <a:off x="7470240" y="6437983"/>
            <a:ext cx="182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滤波后图像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9B8E14E-8934-44BD-BC6A-00944235C987}"/>
              </a:ext>
            </a:extLst>
          </p:cNvPr>
          <p:cNvSpPr txBox="1"/>
          <p:nvPr/>
        </p:nvSpPr>
        <p:spPr>
          <a:xfrm>
            <a:off x="5180942" y="5313544"/>
            <a:ext cx="1201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双边滤波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CC0F389-5F54-47DE-A295-4DBE477DFD7E}"/>
              </a:ext>
            </a:extLst>
          </p:cNvPr>
          <p:cNvCxnSpPr>
            <a:cxnSpLocks/>
          </p:cNvCxnSpPr>
          <p:nvPr/>
        </p:nvCxnSpPr>
        <p:spPr>
          <a:xfrm>
            <a:off x="5353650" y="5869094"/>
            <a:ext cx="7586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图片 32">
            <a:extLst>
              <a:ext uri="{FF2B5EF4-FFF2-40B4-BE49-F238E27FC236}">
                <a16:creationId xmlns:a16="http://schemas.microsoft.com/office/drawing/2014/main" id="{EDBBA9C6-EC50-49F6-ABCE-6919E64FB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815" y="2003896"/>
            <a:ext cx="3828368" cy="1966249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94FB8201-5AFC-4EBC-B9BD-02DC1EE9757A}"/>
              </a:ext>
            </a:extLst>
          </p:cNvPr>
          <p:cNvSpPr txBox="1"/>
          <p:nvPr/>
        </p:nvSpPr>
        <p:spPr>
          <a:xfrm>
            <a:off x="1286552" y="1554619"/>
            <a:ext cx="3627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键盘纸的设置如下，共</a:t>
            </a:r>
            <a:r>
              <a:rPr lang="en-US" altLang="zh-CN" b="1" dirty="0"/>
              <a:t>3</a:t>
            </a:r>
            <a:r>
              <a:rPr lang="zh-CN" altLang="en-US" b="1" dirty="0"/>
              <a:t>行</a:t>
            </a:r>
            <a:r>
              <a:rPr lang="en-US" altLang="zh-CN" b="1" dirty="0"/>
              <a:t>10</a:t>
            </a:r>
            <a:r>
              <a:rPr lang="zh-CN" altLang="en-US" b="1" dirty="0"/>
              <a:t>列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0E8E305D-7CBE-4F31-A606-E7A7276F30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927" y="2003895"/>
            <a:ext cx="3828368" cy="1966249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BC77EA48-C28D-42E8-831D-4F0255560855}"/>
              </a:ext>
            </a:extLst>
          </p:cNvPr>
          <p:cNvSpPr txBox="1"/>
          <p:nvPr/>
        </p:nvSpPr>
        <p:spPr>
          <a:xfrm>
            <a:off x="5216381" y="26961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实际使用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0EF7D99-1F84-4F3A-A16E-87FD70B156B5}"/>
              </a:ext>
            </a:extLst>
          </p:cNvPr>
          <p:cNvSpPr txBox="1"/>
          <p:nvPr/>
        </p:nvSpPr>
        <p:spPr>
          <a:xfrm>
            <a:off x="1160152" y="205087"/>
            <a:ext cx="811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zh-CN" altLang="en-US" sz="4000" b="1" dirty="0"/>
              <a:t>基于键盘纸的半虚拟键盘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88E2BA2-5A33-433E-B3E3-7CEBC0661475}"/>
              </a:ext>
            </a:extLst>
          </p:cNvPr>
          <p:cNvCxnSpPr>
            <a:cxnSpLocks/>
          </p:cNvCxnSpPr>
          <p:nvPr/>
        </p:nvCxnSpPr>
        <p:spPr>
          <a:xfrm>
            <a:off x="5238234" y="3079752"/>
            <a:ext cx="11441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145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76FC911-11CF-4A0B-B81B-188711D9326A}"/>
              </a:ext>
            </a:extLst>
          </p:cNvPr>
          <p:cNvSpPr/>
          <p:nvPr/>
        </p:nvSpPr>
        <p:spPr>
          <a:xfrm>
            <a:off x="1340325" y="2592591"/>
            <a:ext cx="4602083" cy="31432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B7E8F5-B6F3-4D35-B7B5-057B1110C948}"/>
              </a:ext>
            </a:extLst>
          </p:cNvPr>
          <p:cNvSpPr txBox="1"/>
          <p:nvPr/>
        </p:nvSpPr>
        <p:spPr>
          <a:xfrm>
            <a:off x="1160151" y="1565562"/>
            <a:ext cx="6333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使用大津法</a:t>
            </a:r>
            <a:r>
              <a:rPr lang="en-US" altLang="zh-CN" sz="2400" b="1" dirty="0"/>
              <a:t>OTSU</a:t>
            </a:r>
            <a:r>
              <a:rPr lang="zh-CN" altLang="en-US" sz="2400" b="1" dirty="0"/>
              <a:t>实现背景与键盘分割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B885CE36-4C95-4AEC-AFFD-362CD5956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324" y="2715146"/>
            <a:ext cx="3895438" cy="292271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339CFE79-0E74-4A9B-B5F1-383372DB6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198" y="2553563"/>
            <a:ext cx="4327845" cy="324588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29DE6A8A-5D03-4533-B28D-9CC634AA5D0A}"/>
              </a:ext>
            </a:extLst>
          </p:cNvPr>
          <p:cNvSpPr txBox="1"/>
          <p:nvPr/>
        </p:nvSpPr>
        <p:spPr>
          <a:xfrm>
            <a:off x="2151537" y="5977864"/>
            <a:ext cx="336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RGB</a:t>
            </a:r>
            <a:r>
              <a:rPr lang="zh-CN" altLang="en-US" dirty="0"/>
              <a:t>图像的背景分割效果图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5E2C3DC-81F0-47D0-96A9-EE992AAB344B}"/>
              </a:ext>
            </a:extLst>
          </p:cNvPr>
          <p:cNvSpPr txBox="1"/>
          <p:nvPr/>
        </p:nvSpPr>
        <p:spPr>
          <a:xfrm>
            <a:off x="6820930" y="5977864"/>
            <a:ext cx="3364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RGB</a:t>
            </a:r>
            <a:r>
              <a:rPr lang="zh-CN" altLang="en-US" dirty="0"/>
              <a:t>图像的灰度直方图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778CE6-FE1B-4FC6-9DDD-7F8F27082B47}"/>
              </a:ext>
            </a:extLst>
          </p:cNvPr>
          <p:cNvSpPr txBox="1"/>
          <p:nvPr/>
        </p:nvSpPr>
        <p:spPr>
          <a:xfrm>
            <a:off x="2019787" y="2125243"/>
            <a:ext cx="2678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RGB</a:t>
            </a:r>
            <a:r>
              <a:rPr lang="zh-CN" altLang="en-US" dirty="0"/>
              <a:t>通道下进行背景分割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3258BCB-1A00-4C43-9595-ED82D813377A}"/>
              </a:ext>
            </a:extLst>
          </p:cNvPr>
          <p:cNvSpPr txBox="1"/>
          <p:nvPr/>
        </p:nvSpPr>
        <p:spPr>
          <a:xfrm>
            <a:off x="1160152" y="205087"/>
            <a:ext cx="811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zh-CN" altLang="en-US" sz="4000" b="1" dirty="0"/>
              <a:t>基于键盘纸的半虚拟键盘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C617995-0493-46A2-B48C-60D497E94A68}"/>
              </a:ext>
            </a:extLst>
          </p:cNvPr>
          <p:cNvSpPr txBox="1"/>
          <p:nvPr/>
        </p:nvSpPr>
        <p:spPr>
          <a:xfrm>
            <a:off x="652367" y="972186"/>
            <a:ext cx="1936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键盘定位</a:t>
            </a:r>
          </a:p>
        </p:txBody>
      </p:sp>
    </p:spTree>
    <p:extLst>
      <p:ext uri="{BB962C8B-B14F-4D97-AF65-F5344CB8AC3E}">
        <p14:creationId xmlns:p14="http://schemas.microsoft.com/office/powerpoint/2010/main" val="3575600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7CB9D66F-92D0-4842-8643-7369A9FE6EA7}"/>
              </a:ext>
            </a:extLst>
          </p:cNvPr>
          <p:cNvSpPr/>
          <p:nvPr/>
        </p:nvSpPr>
        <p:spPr>
          <a:xfrm>
            <a:off x="1413588" y="2508442"/>
            <a:ext cx="4602083" cy="31432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E36FF7-8479-4D9E-A514-EF1D4EC1F251}"/>
              </a:ext>
            </a:extLst>
          </p:cNvPr>
          <p:cNvSpPr txBox="1"/>
          <p:nvPr/>
        </p:nvSpPr>
        <p:spPr>
          <a:xfrm>
            <a:off x="1786492" y="2139110"/>
            <a:ext cx="6783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将图像转换为</a:t>
            </a:r>
            <a:r>
              <a:rPr lang="en-US" altLang="zh-CN" dirty="0" err="1"/>
              <a:t>YCrCb</a:t>
            </a:r>
            <a:r>
              <a:rPr lang="zh-CN" altLang="en-US" dirty="0"/>
              <a:t>通道，</a:t>
            </a:r>
            <a:r>
              <a:rPr lang="en-US" altLang="zh-CN" dirty="0"/>
              <a:t>Cr</a:t>
            </a:r>
            <a:r>
              <a:rPr lang="zh-CN" altLang="en-US" dirty="0"/>
              <a:t>通道下进行背景分割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6C73F58-A137-408E-B682-69D8EF6FB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0521" y="2675149"/>
            <a:ext cx="3668216" cy="275116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3CFACD4-8C19-4199-97C7-912F144A5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5367" y="2701605"/>
            <a:ext cx="3668216" cy="275116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C2E8CFC-D1A7-43AA-8A3F-98A42579C904}"/>
              </a:ext>
            </a:extLst>
          </p:cNvPr>
          <p:cNvSpPr txBox="1"/>
          <p:nvPr/>
        </p:nvSpPr>
        <p:spPr>
          <a:xfrm>
            <a:off x="2671717" y="5717319"/>
            <a:ext cx="2647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Cr</a:t>
            </a:r>
            <a:r>
              <a:rPr lang="zh-CN" altLang="en-US" dirty="0"/>
              <a:t>通道图像的背景分割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EF17AA-2088-46D0-A951-65B7F6B981F5}"/>
              </a:ext>
            </a:extLst>
          </p:cNvPr>
          <p:cNvSpPr txBox="1"/>
          <p:nvPr/>
        </p:nvSpPr>
        <p:spPr>
          <a:xfrm>
            <a:off x="6873016" y="5717319"/>
            <a:ext cx="288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Cr</a:t>
            </a:r>
            <a:r>
              <a:rPr lang="zh-CN" altLang="en-US" dirty="0"/>
              <a:t>通道图像的灰度直方图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2A7B6C1-9C2B-443B-A49D-98C190C0AE92}"/>
              </a:ext>
            </a:extLst>
          </p:cNvPr>
          <p:cNvSpPr txBox="1"/>
          <p:nvPr/>
        </p:nvSpPr>
        <p:spPr>
          <a:xfrm>
            <a:off x="1160152" y="205087"/>
            <a:ext cx="811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zh-CN" altLang="en-US" sz="4000" b="1" dirty="0"/>
              <a:t>基于键盘纸的半虚拟键盘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1092E8-BC6D-4D95-A1BA-7ABFF9534228}"/>
              </a:ext>
            </a:extLst>
          </p:cNvPr>
          <p:cNvSpPr txBox="1"/>
          <p:nvPr/>
        </p:nvSpPr>
        <p:spPr>
          <a:xfrm>
            <a:off x="652367" y="972186"/>
            <a:ext cx="1936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键盘定位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BA18919-F3E9-4ED4-B3A2-AED958E221CE}"/>
              </a:ext>
            </a:extLst>
          </p:cNvPr>
          <p:cNvSpPr txBox="1"/>
          <p:nvPr/>
        </p:nvSpPr>
        <p:spPr>
          <a:xfrm>
            <a:off x="1160151" y="1565562"/>
            <a:ext cx="6333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使用大津法</a:t>
            </a:r>
            <a:r>
              <a:rPr lang="en-US" altLang="zh-CN" sz="2400" b="1" dirty="0"/>
              <a:t>OTSU</a:t>
            </a:r>
            <a:r>
              <a:rPr lang="zh-CN" altLang="en-US" sz="2400" b="1" dirty="0"/>
              <a:t>实现背景与键盘分割</a:t>
            </a:r>
          </a:p>
        </p:txBody>
      </p:sp>
    </p:spTree>
    <p:extLst>
      <p:ext uri="{BB962C8B-B14F-4D97-AF65-F5344CB8AC3E}">
        <p14:creationId xmlns:p14="http://schemas.microsoft.com/office/powerpoint/2010/main" val="4070137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BC5CEE9-D318-41AC-8EB4-37E548E1D87D}"/>
              </a:ext>
            </a:extLst>
          </p:cNvPr>
          <p:cNvSpPr/>
          <p:nvPr/>
        </p:nvSpPr>
        <p:spPr>
          <a:xfrm>
            <a:off x="1630280" y="2455696"/>
            <a:ext cx="4602083" cy="31432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64C34E-9CD1-4D1B-8F97-A03359B67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6879" y="2641449"/>
            <a:ext cx="3588887" cy="26916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2F264AA-D773-44AF-9A6F-6D46A02A3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0930" y="2641449"/>
            <a:ext cx="3625487" cy="269166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91E3E59-AEAA-441F-A167-8EBB4893A542}"/>
              </a:ext>
            </a:extLst>
          </p:cNvPr>
          <p:cNvSpPr txBox="1"/>
          <p:nvPr/>
        </p:nvSpPr>
        <p:spPr>
          <a:xfrm>
            <a:off x="2827832" y="5649785"/>
            <a:ext cx="2647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Cb</a:t>
            </a:r>
            <a:r>
              <a:rPr lang="zh-CN" altLang="en-US" dirty="0"/>
              <a:t>通道图像的背景分割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A893CD-9468-430B-A7EE-625D84EC5D8A}"/>
              </a:ext>
            </a:extLst>
          </p:cNvPr>
          <p:cNvSpPr txBox="1"/>
          <p:nvPr/>
        </p:nvSpPr>
        <p:spPr>
          <a:xfrm>
            <a:off x="7193587" y="5649785"/>
            <a:ext cx="288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Cb</a:t>
            </a:r>
            <a:r>
              <a:rPr lang="zh-CN" altLang="en-US" dirty="0"/>
              <a:t>通道图像的灰度直方图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9DA943-1D7C-4EC4-84AA-F354BBFF1DEC}"/>
              </a:ext>
            </a:extLst>
          </p:cNvPr>
          <p:cNvSpPr txBox="1"/>
          <p:nvPr/>
        </p:nvSpPr>
        <p:spPr>
          <a:xfrm>
            <a:off x="2886628" y="6132588"/>
            <a:ext cx="6418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故</a:t>
            </a:r>
            <a:r>
              <a:rPr lang="en-US" altLang="zh-CN" b="1" dirty="0" err="1"/>
              <a:t>Cb</a:t>
            </a:r>
            <a:r>
              <a:rPr lang="zh-CN" altLang="en-US" b="1" dirty="0"/>
              <a:t>通道下的背景分割效果最好，利于后期的键盘定位工作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A43D80-DE8F-42D0-B0FE-7185F242B965}"/>
              </a:ext>
            </a:extLst>
          </p:cNvPr>
          <p:cNvSpPr txBox="1"/>
          <p:nvPr/>
        </p:nvSpPr>
        <p:spPr>
          <a:xfrm>
            <a:off x="1160152" y="205087"/>
            <a:ext cx="811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zh-CN" altLang="en-US" sz="4000" b="1" dirty="0"/>
              <a:t>基于键盘纸的半虚拟键盘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6622552-6F81-47B3-AF2E-A51E67FFD3A7}"/>
              </a:ext>
            </a:extLst>
          </p:cNvPr>
          <p:cNvSpPr txBox="1"/>
          <p:nvPr/>
        </p:nvSpPr>
        <p:spPr>
          <a:xfrm>
            <a:off x="652367" y="972186"/>
            <a:ext cx="1936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键盘定位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AE8E22E-0962-48D2-AC65-4D1E86AC1A36}"/>
              </a:ext>
            </a:extLst>
          </p:cNvPr>
          <p:cNvSpPr txBox="1"/>
          <p:nvPr/>
        </p:nvSpPr>
        <p:spPr>
          <a:xfrm>
            <a:off x="1160151" y="1565562"/>
            <a:ext cx="6333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使用大津法</a:t>
            </a:r>
            <a:r>
              <a:rPr lang="en-US" altLang="zh-CN" sz="2400" b="1" dirty="0"/>
              <a:t>OTSU</a:t>
            </a:r>
            <a:r>
              <a:rPr lang="zh-CN" altLang="en-US" sz="2400" b="1" dirty="0"/>
              <a:t>实现背景与键盘分割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19FC8DB-11F1-4D5D-8197-FDD33456932D}"/>
              </a:ext>
            </a:extLst>
          </p:cNvPr>
          <p:cNvSpPr txBox="1"/>
          <p:nvPr/>
        </p:nvSpPr>
        <p:spPr>
          <a:xfrm>
            <a:off x="1985631" y="206958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Cb</a:t>
            </a:r>
            <a:r>
              <a:rPr lang="zh-CN" altLang="en-US" dirty="0"/>
              <a:t>通道下进行背景分割</a:t>
            </a:r>
          </a:p>
        </p:txBody>
      </p:sp>
    </p:spTree>
    <p:extLst>
      <p:ext uri="{BB962C8B-B14F-4D97-AF65-F5344CB8AC3E}">
        <p14:creationId xmlns:p14="http://schemas.microsoft.com/office/powerpoint/2010/main" val="3402413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F9FA14F-087D-4F20-8B6D-24EDAC802D55}"/>
              </a:ext>
            </a:extLst>
          </p:cNvPr>
          <p:cNvSpPr txBox="1"/>
          <p:nvPr/>
        </p:nvSpPr>
        <p:spPr>
          <a:xfrm>
            <a:off x="1168562" y="1613631"/>
            <a:ext cx="1649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键位分割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2B6A63-3BF1-4AF8-BEE6-B77710098763}"/>
              </a:ext>
            </a:extLst>
          </p:cNvPr>
          <p:cNvSpPr txBox="1"/>
          <p:nvPr/>
        </p:nvSpPr>
        <p:spPr>
          <a:xfrm>
            <a:off x="890877" y="6070566"/>
            <a:ext cx="536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使用直线逼近法，分别以斜率为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-1</a:t>
            </a:r>
            <a:r>
              <a:rPr lang="zh-CN" altLang="en-US" dirty="0"/>
              <a:t>的直线逼近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96DD7F8-97D7-4681-9AA6-555957E99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2332" y="2137536"/>
            <a:ext cx="4857394" cy="364304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4D7BB4D8-3AB3-4642-975E-22A57CFA4B1E}"/>
              </a:ext>
            </a:extLst>
          </p:cNvPr>
          <p:cNvSpPr txBox="1"/>
          <p:nvPr/>
        </p:nvSpPr>
        <p:spPr>
          <a:xfrm>
            <a:off x="6742332" y="6070566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确定键盘的四个顶点为位置，确定键盘的区域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2586CB-9F73-43AA-A2BF-DC5048E4F7B7}"/>
              </a:ext>
            </a:extLst>
          </p:cNvPr>
          <p:cNvSpPr txBox="1"/>
          <p:nvPr/>
        </p:nvSpPr>
        <p:spPr>
          <a:xfrm>
            <a:off x="1160152" y="205087"/>
            <a:ext cx="811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zh-CN" altLang="en-US" sz="4000" b="1" dirty="0"/>
              <a:t>基于键盘纸的半虚拟键盘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45B49B-DF09-409B-A906-EABC8A6C0583}"/>
              </a:ext>
            </a:extLst>
          </p:cNvPr>
          <p:cNvSpPr txBox="1"/>
          <p:nvPr/>
        </p:nvSpPr>
        <p:spPr>
          <a:xfrm>
            <a:off x="652367" y="972186"/>
            <a:ext cx="1936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键盘定位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7B5B54E-33B8-4CAE-A952-FFCEFEAA7404}"/>
              </a:ext>
            </a:extLst>
          </p:cNvPr>
          <p:cNvGrpSpPr/>
          <p:nvPr/>
        </p:nvGrpSpPr>
        <p:grpSpPr>
          <a:xfrm>
            <a:off x="900341" y="2137535"/>
            <a:ext cx="5362236" cy="3643046"/>
            <a:chOff x="900341" y="2137535"/>
            <a:chExt cx="5362236" cy="3643046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6C643D74-FAEE-4595-A709-90D4C1C9A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341" y="2137535"/>
              <a:ext cx="5362236" cy="3643046"/>
            </a:xfrm>
            <a:prstGeom prst="rect">
              <a:avLst/>
            </a:prstGeom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5436122-90C7-4BE4-9531-471CB2260DD7}"/>
                </a:ext>
              </a:extLst>
            </p:cNvPr>
            <p:cNvSpPr txBox="1"/>
            <p:nvPr/>
          </p:nvSpPr>
          <p:spPr>
            <a:xfrm>
              <a:off x="2704273" y="3952172"/>
              <a:ext cx="14991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键盘区域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7918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18FBE8-33DD-4EA6-ACCD-C0C73AB1B332}"/>
              </a:ext>
            </a:extLst>
          </p:cNvPr>
          <p:cNvSpPr txBox="1"/>
          <p:nvPr/>
        </p:nvSpPr>
        <p:spPr>
          <a:xfrm>
            <a:off x="6431680" y="155696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键位信息匹配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E7560B-F37C-42A2-8DB8-E58A9CB9BCFC}"/>
              </a:ext>
            </a:extLst>
          </p:cNvPr>
          <p:cNvSpPr txBox="1"/>
          <p:nvPr/>
        </p:nvSpPr>
        <p:spPr>
          <a:xfrm>
            <a:off x="6830351" y="5301039"/>
            <a:ext cx="4676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键位信息共</a:t>
            </a:r>
            <a:r>
              <a:rPr lang="en-US" altLang="zh-CN" dirty="0"/>
              <a:t>3</a:t>
            </a:r>
            <a:r>
              <a:rPr lang="zh-CN" altLang="en-US" dirty="0"/>
              <a:t>行</a:t>
            </a:r>
            <a:r>
              <a:rPr lang="en-US" altLang="zh-CN" dirty="0"/>
              <a:t>10</a:t>
            </a:r>
            <a:r>
              <a:rPr lang="zh-CN" altLang="en-US" dirty="0"/>
              <a:t>列，通过存储的键位信息的下标对应每个键位</a:t>
            </a:r>
            <a:r>
              <a:rPr lang="en-US" altLang="zh-CN" dirty="0"/>
              <a:t>;</a:t>
            </a:r>
            <a:r>
              <a:rPr lang="zh-CN" altLang="en-US" dirty="0"/>
              <a:t>通过</a:t>
            </a:r>
            <a:r>
              <a:rPr lang="en-US" altLang="zh-CN" dirty="0" err="1"/>
              <a:t>pynput.keyboard</a:t>
            </a:r>
            <a:r>
              <a:rPr lang="zh-CN" altLang="en-US" dirty="0"/>
              <a:t>的按键</a:t>
            </a:r>
            <a:r>
              <a:rPr lang="en-US" altLang="zh-CN" dirty="0"/>
              <a:t>API</a:t>
            </a:r>
            <a:r>
              <a:rPr lang="zh-CN" altLang="en-US" dirty="0"/>
              <a:t>，按照点击键位的不同，实现键位信息的匹配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C1FFBD7-02B2-4C48-8820-332BA0DD2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888" y="2228671"/>
            <a:ext cx="5205843" cy="267372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71FE444-97A4-42C2-8D44-51326C884A2D}"/>
              </a:ext>
            </a:extLst>
          </p:cNvPr>
          <p:cNvSpPr txBox="1"/>
          <p:nvPr/>
        </p:nvSpPr>
        <p:spPr>
          <a:xfrm>
            <a:off x="1463286" y="5666588"/>
            <a:ext cx="3844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调用</a:t>
            </a:r>
            <a:r>
              <a:rPr lang="en-US" altLang="zh-CN" dirty="0" err="1"/>
              <a:t>findContours</a:t>
            </a:r>
            <a:r>
              <a:rPr lang="zh-CN" altLang="en-US" dirty="0"/>
              <a:t>进行边缘检测，</a:t>
            </a:r>
            <a:endParaRPr lang="en-US" altLang="zh-CN" dirty="0"/>
          </a:p>
          <a:p>
            <a:r>
              <a:rPr lang="zh-CN" altLang="en-US" dirty="0"/>
              <a:t>记录键位的位置以及质心信息</a:t>
            </a:r>
            <a:r>
              <a:rPr lang="en-US" altLang="zh-CN" dirty="0"/>
              <a:t>(</a:t>
            </a:r>
            <a:r>
              <a:rPr lang="zh-CN" altLang="en-US" dirty="0"/>
              <a:t>黑点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31634D2-5EA3-4333-B859-0E201B29F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82" y="1865004"/>
            <a:ext cx="4481331" cy="349588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6C5DE5E-E3F5-42CA-95A9-DBD044DBF1D9}"/>
              </a:ext>
            </a:extLst>
          </p:cNvPr>
          <p:cNvSpPr txBox="1"/>
          <p:nvPr/>
        </p:nvSpPr>
        <p:spPr>
          <a:xfrm>
            <a:off x="1160152" y="205087"/>
            <a:ext cx="811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zh-CN" altLang="en-US" sz="4000" b="1" dirty="0"/>
              <a:t>基于键盘纸的半虚拟键盘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6B12D9-F0C2-4F58-8472-A5918B7795AA}"/>
              </a:ext>
            </a:extLst>
          </p:cNvPr>
          <p:cNvSpPr txBox="1"/>
          <p:nvPr/>
        </p:nvSpPr>
        <p:spPr>
          <a:xfrm>
            <a:off x="652367" y="972186"/>
            <a:ext cx="1936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键盘定位</a:t>
            </a:r>
          </a:p>
        </p:txBody>
      </p:sp>
    </p:spTree>
    <p:extLst>
      <p:ext uri="{BB962C8B-B14F-4D97-AF65-F5344CB8AC3E}">
        <p14:creationId xmlns:p14="http://schemas.microsoft.com/office/powerpoint/2010/main" val="1365419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>
            <a:extLst>
              <a:ext uri="{FF2B5EF4-FFF2-40B4-BE49-F238E27FC236}">
                <a16:creationId xmlns:a16="http://schemas.microsoft.com/office/drawing/2014/main" id="{7FA7A408-9088-4A59-89A4-3021F4B8BE8C}"/>
              </a:ext>
            </a:extLst>
          </p:cNvPr>
          <p:cNvSpPr txBox="1"/>
          <p:nvPr/>
        </p:nvSpPr>
        <p:spPr>
          <a:xfrm>
            <a:off x="1160152" y="1580793"/>
            <a:ext cx="634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使用</a:t>
            </a:r>
            <a:r>
              <a:rPr lang="en-US" altLang="zh-CN" b="1" dirty="0" err="1"/>
              <a:t>cvzone</a:t>
            </a:r>
            <a:r>
              <a:rPr lang="zh-CN" altLang="en-US" b="1" dirty="0"/>
              <a:t>的</a:t>
            </a:r>
            <a:r>
              <a:rPr lang="en-US" altLang="zh-CN" b="1" dirty="0" err="1"/>
              <a:t>findhands</a:t>
            </a:r>
            <a:r>
              <a:rPr lang="zh-CN" altLang="en-US" b="1" dirty="0"/>
              <a:t>函数，对有手部输入的图像进行检测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83BA48E-59E4-44A6-B352-9AA8D8CD0C34}"/>
              </a:ext>
            </a:extLst>
          </p:cNvPr>
          <p:cNvSpPr txBox="1"/>
          <p:nvPr/>
        </p:nvSpPr>
        <p:spPr>
          <a:xfrm>
            <a:off x="1160152" y="205087"/>
            <a:ext cx="811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zh-CN" altLang="en-US" sz="4000" b="1" dirty="0"/>
              <a:t>基于键盘纸的半虚拟键盘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BD2E816-933A-4D10-8B41-799D633D70E1}"/>
              </a:ext>
            </a:extLst>
          </p:cNvPr>
          <p:cNvSpPr txBox="1"/>
          <p:nvPr/>
        </p:nvSpPr>
        <p:spPr>
          <a:xfrm>
            <a:off x="652367" y="972186"/>
            <a:ext cx="1936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手指检测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1EC5DBB6-4C11-4130-BF40-8FC98D4BC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028" y="2056144"/>
            <a:ext cx="2801386" cy="3733722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95549D72-9B5C-4FC7-A667-6D3B60A3F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322" y="2056144"/>
            <a:ext cx="2801385" cy="3733721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300611E3-D34E-4C13-A54F-0F27CB8B5C74}"/>
              </a:ext>
            </a:extLst>
          </p:cNvPr>
          <p:cNvSpPr txBox="1"/>
          <p:nvPr/>
        </p:nvSpPr>
        <p:spPr>
          <a:xfrm>
            <a:off x="3395310" y="58728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非点击手势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4927C82-71CA-4F2B-886C-01AFC49FA8F2}"/>
              </a:ext>
            </a:extLst>
          </p:cNvPr>
          <p:cNvSpPr txBox="1"/>
          <p:nvPr/>
        </p:nvSpPr>
        <p:spPr>
          <a:xfrm>
            <a:off x="7984432" y="589552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点击手势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547A071-7160-43B6-A8A2-AAA4BCFD83E8}"/>
              </a:ext>
            </a:extLst>
          </p:cNvPr>
          <p:cNvSpPr txBox="1"/>
          <p:nvPr/>
        </p:nvSpPr>
        <p:spPr>
          <a:xfrm>
            <a:off x="1155130" y="6284487"/>
            <a:ext cx="5649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裁剪出手部的</a:t>
            </a:r>
            <a:r>
              <a:rPr lang="en-US" altLang="zh-CN" b="1" dirty="0"/>
              <a:t>ROI</a:t>
            </a:r>
            <a:r>
              <a:rPr lang="zh-CN" altLang="en-US" b="1" dirty="0"/>
              <a:t>图像区域，并进行图像大小的归一化</a:t>
            </a:r>
          </a:p>
        </p:txBody>
      </p:sp>
    </p:spTree>
    <p:extLst>
      <p:ext uri="{BB962C8B-B14F-4D97-AF65-F5344CB8AC3E}">
        <p14:creationId xmlns:p14="http://schemas.microsoft.com/office/powerpoint/2010/main" val="3857481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B1AC074-14C7-4040-B807-B37A130AF835}"/>
              </a:ext>
            </a:extLst>
          </p:cNvPr>
          <p:cNvSpPr txBox="1"/>
          <p:nvPr/>
        </p:nvSpPr>
        <p:spPr>
          <a:xfrm>
            <a:off x="7636954" y="4414789"/>
            <a:ext cx="407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使用图像增强等技术，扩充训练集；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1633A1-637F-41BC-882E-942EFEFBC347}"/>
              </a:ext>
            </a:extLst>
          </p:cNvPr>
          <p:cNvSpPr txBox="1"/>
          <p:nvPr/>
        </p:nvSpPr>
        <p:spPr>
          <a:xfrm>
            <a:off x="1160152" y="180808"/>
            <a:ext cx="811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zh-CN" altLang="en-US" sz="4000" b="1" dirty="0"/>
              <a:t>基于键盘纸的半虚拟键盘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C88AFA-29D5-4E00-B770-29673EE47E97}"/>
              </a:ext>
            </a:extLst>
          </p:cNvPr>
          <p:cNvSpPr txBox="1"/>
          <p:nvPr/>
        </p:nvSpPr>
        <p:spPr>
          <a:xfrm>
            <a:off x="652367" y="972186"/>
            <a:ext cx="1936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击键判定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42145D-42DC-49A1-8477-65DE3B7B24E8}"/>
              </a:ext>
            </a:extLst>
          </p:cNvPr>
          <p:cNvSpPr txBox="1"/>
          <p:nvPr/>
        </p:nvSpPr>
        <p:spPr>
          <a:xfrm>
            <a:off x="1160152" y="159050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分类算法的选定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09EF7C-0D57-417A-A9C3-6EA6DA02DC2F}"/>
              </a:ext>
            </a:extLst>
          </p:cNvPr>
          <p:cNvSpPr txBox="1"/>
          <p:nvPr/>
        </p:nvSpPr>
        <p:spPr>
          <a:xfrm>
            <a:off x="1654065" y="2006537"/>
            <a:ext cx="88838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</a:t>
            </a:r>
            <a:r>
              <a:rPr lang="zh-CN" altLang="en-US" dirty="0"/>
              <a:t>由文献资料得：</a:t>
            </a:r>
            <a:r>
              <a:rPr lang="en-US" altLang="zh-CN" dirty="0"/>
              <a:t>yolov3</a:t>
            </a:r>
            <a:r>
              <a:rPr lang="zh-CN" altLang="en-US" dirty="0"/>
              <a:t>、</a:t>
            </a:r>
            <a:r>
              <a:rPr lang="en-US" altLang="zh-CN" dirty="0"/>
              <a:t>CNN</a:t>
            </a:r>
            <a:r>
              <a:rPr lang="zh-CN" altLang="en-US" dirty="0"/>
              <a:t>等深度学习算法对手势的识别、分类的效果好，速度快；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由于本次实验的手势只有两类，且机器学习算法</a:t>
            </a:r>
            <a:r>
              <a:rPr lang="en-US" altLang="zh-CN" dirty="0"/>
              <a:t>KNN</a:t>
            </a:r>
            <a:r>
              <a:rPr lang="zh-CN" altLang="en-US" dirty="0"/>
              <a:t>在训练集较少的情况下也能表现出良好的手势分类效果，故本次实验选择了</a:t>
            </a:r>
            <a:r>
              <a:rPr lang="en-US" altLang="zh-CN" b="1" dirty="0"/>
              <a:t>KNN</a:t>
            </a:r>
            <a:r>
              <a:rPr lang="zh-CN" altLang="en-US" dirty="0"/>
              <a:t>算法进行手势的识别、分类。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289C70-CDBF-4603-B3CE-63F7C331AE10}"/>
              </a:ext>
            </a:extLst>
          </p:cNvPr>
          <p:cNvSpPr txBox="1"/>
          <p:nvPr/>
        </p:nvSpPr>
        <p:spPr>
          <a:xfrm>
            <a:off x="1178994" y="326274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数据预处理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26C0AAB-BECD-4901-8FF2-C8C447E58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065" y="3857792"/>
            <a:ext cx="5876925" cy="28194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589A149-FCDE-4DA0-BBD8-7B88853A98DC}"/>
              </a:ext>
            </a:extLst>
          </p:cNvPr>
          <p:cNvSpPr txBox="1"/>
          <p:nvPr/>
        </p:nvSpPr>
        <p:spPr>
          <a:xfrm>
            <a:off x="7636954" y="5061119"/>
            <a:ext cx="6819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并对所有图像进行大小的归一化</a:t>
            </a:r>
          </a:p>
        </p:txBody>
      </p:sp>
    </p:spTree>
    <p:extLst>
      <p:ext uri="{BB962C8B-B14F-4D97-AF65-F5344CB8AC3E}">
        <p14:creationId xmlns:p14="http://schemas.microsoft.com/office/powerpoint/2010/main" val="4094501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9B9F5AF-FFB2-47EC-9832-47E87A351E6F}"/>
              </a:ext>
            </a:extLst>
          </p:cNvPr>
          <p:cNvSpPr txBox="1"/>
          <p:nvPr/>
        </p:nvSpPr>
        <p:spPr>
          <a:xfrm>
            <a:off x="1160152" y="180808"/>
            <a:ext cx="811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zh-CN" altLang="en-US" sz="4000" b="1" dirty="0"/>
              <a:t>基于键盘纸的半虚拟键盘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B62F5B-462E-48EF-B9B4-6592F3600662}"/>
              </a:ext>
            </a:extLst>
          </p:cNvPr>
          <p:cNvSpPr txBox="1"/>
          <p:nvPr/>
        </p:nvSpPr>
        <p:spPr>
          <a:xfrm>
            <a:off x="652367" y="972186"/>
            <a:ext cx="1936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击键判定</a:t>
            </a: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C49969BB-00C3-4F77-AB15-CAE5B66C8860}"/>
              </a:ext>
            </a:extLst>
          </p:cNvPr>
          <p:cNvGrpSpPr/>
          <p:nvPr/>
        </p:nvGrpSpPr>
        <p:grpSpPr>
          <a:xfrm>
            <a:off x="1311717" y="3980390"/>
            <a:ext cx="6379403" cy="2696802"/>
            <a:chOff x="24157" y="5688324"/>
            <a:chExt cx="12174629" cy="3731163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C47A9A5D-DC5B-420A-96B8-C4B5510FB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4157" y="5688325"/>
              <a:ext cx="2397760" cy="1798320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8A8A9C64-CB82-49F9-B92D-4A7AEC5A7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437154" y="5688325"/>
              <a:ext cx="2397760" cy="1798320"/>
            </a:xfrm>
            <a:prstGeom prst="rect">
              <a:avLst/>
            </a:prstGeom>
          </p:spPr>
        </p:pic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130AEE34-61E4-46EE-ADEE-BC653312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97120" y="5688324"/>
              <a:ext cx="2397758" cy="1798319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B666CE71-020B-402D-91D5-56819EF27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341063" y="5688325"/>
              <a:ext cx="2397760" cy="1798320"/>
            </a:xfrm>
            <a:prstGeom prst="rect">
              <a:avLst/>
            </a:prstGeom>
          </p:spPr>
        </p:pic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CAC096B0-C86B-41BA-A343-D11ECFA52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01028" y="5688324"/>
              <a:ext cx="2397758" cy="1798319"/>
            </a:xfrm>
            <a:prstGeom prst="rect">
              <a:avLst/>
            </a:prstGeom>
          </p:spPr>
        </p:pic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1C014F13-0AE9-4325-B721-526D6AF1A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4158" y="7621166"/>
              <a:ext cx="2397760" cy="1798320"/>
            </a:xfrm>
            <a:prstGeom prst="rect">
              <a:avLst/>
            </a:prstGeom>
          </p:spPr>
        </p:pic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664571FD-4FDC-49BA-9657-A0D8708F6F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432395" y="7621167"/>
              <a:ext cx="2397760" cy="1798320"/>
            </a:xfrm>
            <a:prstGeom prst="rect">
              <a:avLst/>
            </a:prstGeom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D9A862B1-7687-4E4F-813B-DFA162C7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95948" y="7621166"/>
              <a:ext cx="2397758" cy="1798319"/>
            </a:xfrm>
            <a:prstGeom prst="rect">
              <a:avLst/>
            </a:prstGeom>
          </p:spPr>
        </p:pic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05556687-2D61-4DC6-8581-B281E06CA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361847" y="7621166"/>
              <a:ext cx="2397760" cy="1798320"/>
            </a:xfrm>
            <a:prstGeom prst="rect">
              <a:avLst/>
            </a:prstGeom>
          </p:spPr>
        </p:pic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B7F06404-7080-476B-BE8E-DB79FE244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97120" y="7621165"/>
              <a:ext cx="2397758" cy="1798320"/>
            </a:xfrm>
            <a:prstGeom prst="rect">
              <a:avLst/>
            </a:prstGeom>
          </p:spPr>
        </p:pic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F820BD0-317A-4174-871F-0B4FAA57EE58}"/>
              </a:ext>
            </a:extLst>
          </p:cNvPr>
          <p:cNvGrpSpPr/>
          <p:nvPr/>
        </p:nvGrpSpPr>
        <p:grpSpPr>
          <a:xfrm>
            <a:off x="1311717" y="1536232"/>
            <a:ext cx="6376741" cy="2444157"/>
            <a:chOff x="1931477" y="1288895"/>
            <a:chExt cx="8683195" cy="3731163"/>
          </a:xfrm>
        </p:grpSpPr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1CADFD51-AA08-444E-A4FF-91FC925DC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31477" y="1288896"/>
              <a:ext cx="1710131" cy="1798320"/>
            </a:xfrm>
            <a:prstGeom prst="rect">
              <a:avLst/>
            </a:prstGeom>
          </p:spPr>
        </p:pic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50CCC5A7-6341-4E56-8F3D-99D6990FB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2476" y="1288896"/>
              <a:ext cx="1710131" cy="1798320"/>
            </a:xfrm>
            <a:prstGeom prst="rect">
              <a:avLst/>
            </a:prstGeom>
          </p:spPr>
        </p:pic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6E17FFFA-22C3-4127-A4F9-C2CC1CA68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6974" y="1288895"/>
              <a:ext cx="1710131" cy="1798319"/>
            </a:xfrm>
            <a:prstGeom prst="rect">
              <a:avLst/>
            </a:prstGeom>
          </p:spPr>
        </p:pic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89605AD3-84CD-453A-8C56-C2B23AA5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0044" y="1288896"/>
              <a:ext cx="1710131" cy="1798320"/>
            </a:xfrm>
            <a:prstGeom prst="rect">
              <a:avLst/>
            </a:prstGeom>
          </p:spPr>
        </p:pic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4611DE47-2D40-463B-8A86-1380AE80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04541" y="1288895"/>
              <a:ext cx="1710131" cy="1798319"/>
            </a:xfrm>
            <a:prstGeom prst="rect">
              <a:avLst/>
            </a:prstGeom>
          </p:spPr>
        </p:pic>
        <p:pic>
          <p:nvPicPr>
            <p:cNvPr id="79" name="图片 78">
              <a:extLst>
                <a:ext uri="{FF2B5EF4-FFF2-40B4-BE49-F238E27FC236}">
                  <a16:creationId xmlns:a16="http://schemas.microsoft.com/office/drawing/2014/main" id="{56732727-8DD3-4933-930A-E66C7D38E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31478" y="3221737"/>
              <a:ext cx="1710131" cy="1798320"/>
            </a:xfrm>
            <a:prstGeom prst="rect">
              <a:avLst/>
            </a:prstGeom>
          </p:spPr>
        </p:pic>
        <p:pic>
          <p:nvPicPr>
            <p:cNvPr id="80" name="图片 79">
              <a:extLst>
                <a:ext uri="{FF2B5EF4-FFF2-40B4-BE49-F238E27FC236}">
                  <a16:creationId xmlns:a16="http://schemas.microsoft.com/office/drawing/2014/main" id="{1E298018-BF4B-4A78-9F88-9048ABA7F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9082" y="3221738"/>
              <a:ext cx="1710131" cy="1798320"/>
            </a:xfrm>
            <a:prstGeom prst="rect">
              <a:avLst/>
            </a:prstGeom>
          </p:spPr>
        </p:pic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1A3149D0-9009-4B59-86D1-C79D32240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6198" y="3221737"/>
              <a:ext cx="1710131" cy="1798320"/>
            </a:xfrm>
            <a:prstGeom prst="rect">
              <a:avLst/>
            </a:prstGeom>
          </p:spPr>
        </p:pic>
        <p:pic>
          <p:nvPicPr>
            <p:cNvPr id="82" name="图片 81">
              <a:extLst>
                <a:ext uri="{FF2B5EF4-FFF2-40B4-BE49-F238E27FC236}">
                  <a16:creationId xmlns:a16="http://schemas.microsoft.com/office/drawing/2014/main" id="{349B90E3-0AC5-4243-A7A0-EC4417638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0044" y="3221737"/>
              <a:ext cx="1710131" cy="1798320"/>
            </a:xfrm>
            <a:prstGeom prst="rect">
              <a:avLst/>
            </a:prstGeom>
          </p:spPr>
        </p:pic>
        <p:pic>
          <p:nvPicPr>
            <p:cNvPr id="83" name="图片 82">
              <a:extLst>
                <a:ext uri="{FF2B5EF4-FFF2-40B4-BE49-F238E27FC236}">
                  <a16:creationId xmlns:a16="http://schemas.microsoft.com/office/drawing/2014/main" id="{70A0F54A-CCDB-4E4D-9CC1-DF1EBAA14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00918" y="3221737"/>
              <a:ext cx="1710131" cy="1798319"/>
            </a:xfrm>
            <a:prstGeom prst="rect">
              <a:avLst/>
            </a:prstGeom>
          </p:spPr>
        </p:pic>
      </p:grpSp>
      <p:sp>
        <p:nvSpPr>
          <p:cNvPr id="84" name="文本框 83">
            <a:extLst>
              <a:ext uri="{FF2B5EF4-FFF2-40B4-BE49-F238E27FC236}">
                <a16:creationId xmlns:a16="http://schemas.microsoft.com/office/drawing/2014/main" id="{5F63EA53-8004-40B1-A90B-303E8624F211}"/>
              </a:ext>
            </a:extLst>
          </p:cNvPr>
          <p:cNvSpPr txBox="1"/>
          <p:nvPr/>
        </p:nvSpPr>
        <p:spPr>
          <a:xfrm>
            <a:off x="7792720" y="1536232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使用大津法对手部特征进行提取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A18DA438-9AF0-4658-B663-FA4D498EDE6D}"/>
              </a:ext>
            </a:extLst>
          </p:cNvPr>
          <p:cNvSpPr txBox="1"/>
          <p:nvPr/>
        </p:nvSpPr>
        <p:spPr>
          <a:xfrm>
            <a:off x="207734" y="2617705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Cb</a:t>
            </a:r>
            <a:r>
              <a:rPr lang="zh-CN" altLang="en-US" b="1" dirty="0"/>
              <a:t>通道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802B9BA7-F3F5-4791-926D-EA02B79AE267}"/>
              </a:ext>
            </a:extLst>
          </p:cNvPr>
          <p:cNvSpPr txBox="1"/>
          <p:nvPr/>
        </p:nvSpPr>
        <p:spPr>
          <a:xfrm>
            <a:off x="238105" y="4182345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Cr</a:t>
            </a:r>
            <a:r>
              <a:rPr lang="zh-CN" altLang="en-US" b="1" dirty="0"/>
              <a:t>通道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362B5EDC-EC5C-44E5-8AD6-1F88330FC11B}"/>
              </a:ext>
            </a:extLst>
          </p:cNvPr>
          <p:cNvSpPr txBox="1"/>
          <p:nvPr/>
        </p:nvSpPr>
        <p:spPr>
          <a:xfrm>
            <a:off x="8075132" y="2834834"/>
            <a:ext cx="3087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将</a:t>
            </a:r>
            <a:r>
              <a:rPr lang="en-US" altLang="zh-CN" dirty="0"/>
              <a:t>ROI</a:t>
            </a:r>
            <a:r>
              <a:rPr lang="zh-CN" altLang="en-US" dirty="0"/>
              <a:t>区域图像从</a:t>
            </a:r>
            <a:r>
              <a:rPr lang="en-US" altLang="zh-CN" dirty="0"/>
              <a:t>RGB</a:t>
            </a:r>
            <a:r>
              <a:rPr lang="zh-CN" altLang="en-US" dirty="0"/>
              <a:t>通道转换为</a:t>
            </a:r>
            <a:r>
              <a:rPr lang="en-US" altLang="zh-CN" dirty="0" err="1"/>
              <a:t>YCrCb</a:t>
            </a:r>
            <a:r>
              <a:rPr lang="zh-CN" altLang="en-US" dirty="0"/>
              <a:t>通道；</a:t>
            </a:r>
            <a:endParaRPr lang="en-US" altLang="zh-CN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65C25D53-D82D-4498-8ABD-AD76566E08E3}"/>
              </a:ext>
            </a:extLst>
          </p:cNvPr>
          <p:cNvSpPr txBox="1"/>
          <p:nvPr/>
        </p:nvSpPr>
        <p:spPr>
          <a:xfrm>
            <a:off x="8075132" y="3720680"/>
            <a:ext cx="3087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Cr</a:t>
            </a:r>
            <a:r>
              <a:rPr lang="zh-CN" altLang="en-US" dirty="0"/>
              <a:t>通道的图像下的背景分割效果好，有利于排序其他因素干扰去进行手部特征提取</a:t>
            </a:r>
          </a:p>
        </p:txBody>
      </p:sp>
    </p:spTree>
    <p:extLst>
      <p:ext uri="{BB962C8B-B14F-4D97-AF65-F5344CB8AC3E}">
        <p14:creationId xmlns:p14="http://schemas.microsoft.com/office/powerpoint/2010/main" val="3868420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9B9F5AF-FFB2-47EC-9832-47E87A351E6F}"/>
              </a:ext>
            </a:extLst>
          </p:cNvPr>
          <p:cNvSpPr txBox="1"/>
          <p:nvPr/>
        </p:nvSpPr>
        <p:spPr>
          <a:xfrm>
            <a:off x="1160152" y="180808"/>
            <a:ext cx="811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zh-CN" altLang="en-US" sz="4000" b="1" dirty="0"/>
              <a:t>基于键盘纸的半虚拟键盘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B62F5B-462E-48EF-B9B4-6592F3600662}"/>
              </a:ext>
            </a:extLst>
          </p:cNvPr>
          <p:cNvSpPr txBox="1"/>
          <p:nvPr/>
        </p:nvSpPr>
        <p:spPr>
          <a:xfrm>
            <a:off x="652367" y="972186"/>
            <a:ext cx="1936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击键判定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8641E0-8BDF-4F09-BB46-5C345AF737AB}"/>
              </a:ext>
            </a:extLst>
          </p:cNvPr>
          <p:cNvSpPr txBox="1"/>
          <p:nvPr/>
        </p:nvSpPr>
        <p:spPr>
          <a:xfrm>
            <a:off x="1291480" y="2001787"/>
            <a:ext cx="4631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根据建立的训练集，对</a:t>
            </a:r>
            <a:r>
              <a:rPr lang="en-US" altLang="zh-CN" dirty="0"/>
              <a:t>KNN</a:t>
            </a:r>
            <a:r>
              <a:rPr lang="zh-CN" altLang="en-US" dirty="0"/>
              <a:t>模型进行训练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F276A0-53BA-4A26-ACAE-BDC718E28E99}"/>
              </a:ext>
            </a:extLst>
          </p:cNvPr>
          <p:cNvSpPr txBox="1"/>
          <p:nvPr/>
        </p:nvSpPr>
        <p:spPr>
          <a:xfrm>
            <a:off x="1291480" y="3604676"/>
            <a:ext cx="855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若为点击手势，则获取食指的</a:t>
            </a:r>
            <a:r>
              <a:rPr lang="zh-CN" altLang="en-US" b="1" dirty="0"/>
              <a:t>指尖坐标</a:t>
            </a:r>
            <a:r>
              <a:rPr lang="zh-CN" altLang="en-US" dirty="0"/>
              <a:t>，执行相应键位的功能，更新输入文本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391D62-2363-4E3D-9246-040CC4DDAE7B}"/>
              </a:ext>
            </a:extLst>
          </p:cNvPr>
          <p:cNvSpPr txBox="1"/>
          <p:nvPr/>
        </p:nvSpPr>
        <p:spPr>
          <a:xfrm>
            <a:off x="1291480" y="2812294"/>
            <a:ext cx="8321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加载分类器</a:t>
            </a:r>
            <a:r>
              <a:rPr lang="en-US" altLang="zh-CN" dirty="0"/>
              <a:t>KNN</a:t>
            </a:r>
            <a:r>
              <a:rPr lang="zh-CN" altLang="en-US" dirty="0"/>
              <a:t>，计算欧式距离对输入的手部图像进行</a:t>
            </a:r>
            <a:r>
              <a:rPr lang="zh-CN" altLang="en-US" b="1" dirty="0"/>
              <a:t>分类</a:t>
            </a:r>
            <a:r>
              <a:rPr lang="zh-CN" altLang="en-US" dirty="0"/>
              <a:t>（非</a:t>
            </a:r>
            <a:r>
              <a:rPr lang="en-US" altLang="zh-CN" dirty="0"/>
              <a:t>0</a:t>
            </a:r>
            <a:r>
              <a:rPr lang="zh-CN" altLang="en-US" dirty="0"/>
              <a:t>即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014745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3D8845-CE71-45E4-A3B3-6ECC809C4B4D}"/>
              </a:ext>
            </a:extLst>
          </p:cNvPr>
          <p:cNvSpPr txBox="1"/>
          <p:nvPr/>
        </p:nvSpPr>
        <p:spPr>
          <a:xfrm>
            <a:off x="4641916" y="1725711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表</a:t>
            </a:r>
            <a:r>
              <a:rPr lang="en-US" altLang="zh-CN" dirty="0"/>
              <a:t>1  </a:t>
            </a:r>
            <a:r>
              <a:rPr lang="zh-CN" altLang="en-US" dirty="0"/>
              <a:t>每个按键的识别准确率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B1926F-C035-4CB2-BF55-B51784B67606}"/>
              </a:ext>
            </a:extLst>
          </p:cNvPr>
          <p:cNvSpPr txBox="1"/>
          <p:nvPr/>
        </p:nvSpPr>
        <p:spPr>
          <a:xfrm>
            <a:off x="1160152" y="205087"/>
            <a:ext cx="811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zh-CN" altLang="en-US" sz="4000" b="1" dirty="0"/>
              <a:t>基于键盘纸的半虚拟键盘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7E21F0-DFA7-4D83-8B96-A844E115C09C}"/>
              </a:ext>
            </a:extLst>
          </p:cNvPr>
          <p:cNvSpPr txBox="1"/>
          <p:nvPr/>
        </p:nvSpPr>
        <p:spPr>
          <a:xfrm>
            <a:off x="652367" y="972186"/>
            <a:ext cx="4483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识别率的统计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35BCD1D-D145-4646-84FB-778495FF5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294417"/>
              </p:ext>
            </p:extLst>
          </p:nvPr>
        </p:nvGraphicFramePr>
        <p:xfrm>
          <a:off x="1667510" y="2125999"/>
          <a:ext cx="8856980" cy="445125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214245">
                  <a:extLst>
                    <a:ext uri="{9D8B030D-6E8A-4147-A177-3AD203B41FA5}">
                      <a16:colId xmlns:a16="http://schemas.microsoft.com/office/drawing/2014/main" val="264092016"/>
                    </a:ext>
                  </a:extLst>
                </a:gridCol>
                <a:gridCol w="2125640">
                  <a:extLst>
                    <a:ext uri="{9D8B030D-6E8A-4147-A177-3AD203B41FA5}">
                      <a16:colId xmlns:a16="http://schemas.microsoft.com/office/drawing/2014/main" val="2323925118"/>
                    </a:ext>
                  </a:extLst>
                </a:gridCol>
                <a:gridCol w="2302850">
                  <a:extLst>
                    <a:ext uri="{9D8B030D-6E8A-4147-A177-3AD203B41FA5}">
                      <a16:colId xmlns:a16="http://schemas.microsoft.com/office/drawing/2014/main" val="3868364721"/>
                    </a:ext>
                  </a:extLst>
                </a:gridCol>
                <a:gridCol w="2214245">
                  <a:extLst>
                    <a:ext uri="{9D8B030D-6E8A-4147-A177-3AD203B41FA5}">
                      <a16:colId xmlns:a16="http://schemas.microsoft.com/office/drawing/2014/main" val="2294887661"/>
                    </a:ext>
                  </a:extLst>
                </a:gridCol>
              </a:tblGrid>
              <a:tr h="176643">
                <a:tc>
                  <a:txBody>
                    <a:bodyPr/>
                    <a:lstStyle/>
                    <a:p>
                      <a:pPr algn="ctr"/>
                      <a:r>
                        <a:rPr lang="zh-CN" sz="1800" b="1" kern="100" dirty="0">
                          <a:effectLst/>
                        </a:rPr>
                        <a:t>字符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准确率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zh-CN" altLang="en-US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字符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准确率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zh-CN" altLang="en-US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6800502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96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endParaRPr lang="zh-CN" alt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98 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47131828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</a:t>
                      </a:r>
                      <a:endParaRPr lang="zh-CN" alt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95 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6512655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95 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8784252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alt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95 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95 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6518603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CN" alt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95 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0484279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zh-CN" alt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91 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92 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7167652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96 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96 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2838405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CN" alt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95 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8659404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zh-CN" alt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96 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95 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9150106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lang="zh-CN" alt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96 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93 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4919298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CN" alt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92 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294534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zh-CN" alt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0901722"/>
                  </a:ext>
                </a:extLst>
              </a:tr>
              <a:tr h="3364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zh-CN" alt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0735094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zh-CN" alt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95 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3344068"/>
                  </a:ext>
                </a:extLst>
              </a:tr>
              <a:tr h="2577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CN" altLang="en-US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96 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7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982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6052919-5E18-4641-A8A3-4651DB8E8A92}"/>
              </a:ext>
            </a:extLst>
          </p:cNvPr>
          <p:cNvSpPr txBox="1"/>
          <p:nvPr/>
        </p:nvSpPr>
        <p:spPr>
          <a:xfrm>
            <a:off x="1169774" y="267158"/>
            <a:ext cx="7777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2.</a:t>
            </a:r>
            <a:r>
              <a:rPr lang="zh-CN" altLang="en-US" sz="3200" b="1" dirty="0"/>
              <a:t>基于</a:t>
            </a:r>
            <a:r>
              <a:rPr lang="en-US" altLang="zh-CN" sz="3200" b="1" dirty="0" err="1"/>
              <a:t>opencv</a:t>
            </a:r>
            <a:r>
              <a:rPr lang="zh-CN" altLang="en-US" sz="3200" b="1" dirty="0"/>
              <a:t>手指定位的虚拟键盘</a:t>
            </a:r>
          </a:p>
          <a:p>
            <a:endParaRPr lang="zh-CN" altLang="en-US" sz="32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90050E-3AD2-4FC8-AC05-332EFBE07A8B}"/>
              </a:ext>
            </a:extLst>
          </p:cNvPr>
          <p:cNvSpPr txBox="1"/>
          <p:nvPr/>
        </p:nvSpPr>
        <p:spPr>
          <a:xfrm>
            <a:off x="401432" y="916070"/>
            <a:ext cx="3220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系统框架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53A356-B711-437F-A210-8A994FDE56C8}"/>
              </a:ext>
            </a:extLst>
          </p:cNvPr>
          <p:cNvSpPr/>
          <p:nvPr/>
        </p:nvSpPr>
        <p:spPr>
          <a:xfrm>
            <a:off x="246679" y="3467572"/>
            <a:ext cx="1245192" cy="7309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数据源（摄像头）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7E02F52-A99C-493D-9714-F19038C84A93}"/>
              </a:ext>
            </a:extLst>
          </p:cNvPr>
          <p:cNvGrpSpPr/>
          <p:nvPr/>
        </p:nvGrpSpPr>
        <p:grpSpPr>
          <a:xfrm>
            <a:off x="1973179" y="1453220"/>
            <a:ext cx="3961802" cy="1631695"/>
            <a:chOff x="2071866" y="1435261"/>
            <a:chExt cx="3961802" cy="1631695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17D57C9-1F48-4CFB-879F-5D2CCE7DD673}"/>
                </a:ext>
              </a:extLst>
            </p:cNvPr>
            <p:cNvGrpSpPr/>
            <p:nvPr/>
          </p:nvGrpSpPr>
          <p:grpSpPr>
            <a:xfrm>
              <a:off x="2071869" y="1435261"/>
              <a:ext cx="3961799" cy="1598499"/>
              <a:chOff x="2071868" y="1435261"/>
              <a:chExt cx="3356659" cy="1598499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012B07B-FE1F-444F-BC01-492BFC5D86B9}"/>
                  </a:ext>
                </a:extLst>
              </p:cNvPr>
              <p:cNvSpPr/>
              <p:nvPr/>
            </p:nvSpPr>
            <p:spPr>
              <a:xfrm>
                <a:off x="2071868" y="1435261"/>
                <a:ext cx="3356659" cy="159849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A6973FD-7081-4ADD-B894-49CF278D362C}"/>
                  </a:ext>
                </a:extLst>
              </p:cNvPr>
              <p:cNvSpPr/>
              <p:nvPr/>
            </p:nvSpPr>
            <p:spPr>
              <a:xfrm>
                <a:off x="2071868" y="1435261"/>
                <a:ext cx="1423686" cy="34444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键盘构建</a:t>
                </a:r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67F067F-355E-4D59-82C4-410A8B8C8A38}"/>
                </a:ext>
              </a:extLst>
            </p:cNvPr>
            <p:cNvSpPr/>
            <p:nvPr/>
          </p:nvSpPr>
          <p:spPr>
            <a:xfrm>
              <a:off x="2071866" y="2413992"/>
              <a:ext cx="1261640" cy="6529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键位构建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1CA4022-DFDA-45D5-8A03-D1D77ECB9BDF}"/>
                </a:ext>
              </a:extLst>
            </p:cNvPr>
            <p:cNvSpPr/>
            <p:nvPr/>
          </p:nvSpPr>
          <p:spPr>
            <a:xfrm>
              <a:off x="4083336" y="2380796"/>
              <a:ext cx="1950332" cy="6529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键位信息匹配</a:t>
              </a: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886C268C-4534-46C1-A0D3-52A1036441C4}"/>
              </a:ext>
            </a:extLst>
          </p:cNvPr>
          <p:cNvSpPr/>
          <p:nvPr/>
        </p:nvSpPr>
        <p:spPr>
          <a:xfrm>
            <a:off x="8241174" y="5401029"/>
            <a:ext cx="706056" cy="2661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C42ADCC-4191-43B0-B73E-B4E55CABA1CF}"/>
              </a:ext>
            </a:extLst>
          </p:cNvPr>
          <p:cNvSpPr/>
          <p:nvPr/>
        </p:nvSpPr>
        <p:spPr>
          <a:xfrm>
            <a:off x="8241174" y="6095508"/>
            <a:ext cx="706056" cy="2661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假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3C6C76C-343F-42B3-B103-0B7849938358}"/>
              </a:ext>
            </a:extLst>
          </p:cNvPr>
          <p:cNvSpPr/>
          <p:nvPr/>
        </p:nvSpPr>
        <p:spPr>
          <a:xfrm>
            <a:off x="9243652" y="2398755"/>
            <a:ext cx="1950332" cy="652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文本输出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5EC3C5A-9551-4C91-8F89-40051A133DB0}"/>
              </a:ext>
            </a:extLst>
          </p:cNvPr>
          <p:cNvGrpSpPr/>
          <p:nvPr/>
        </p:nvGrpSpPr>
        <p:grpSpPr>
          <a:xfrm>
            <a:off x="1971547" y="3364657"/>
            <a:ext cx="4418111" cy="1212448"/>
            <a:chOff x="2070233" y="3222356"/>
            <a:chExt cx="4418111" cy="1212448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F6EDAB7F-B5A1-4331-BDE2-1B4EF2794C4D}"/>
                </a:ext>
              </a:extLst>
            </p:cNvPr>
            <p:cNvGrpSpPr/>
            <p:nvPr/>
          </p:nvGrpSpPr>
          <p:grpSpPr>
            <a:xfrm>
              <a:off x="2071867" y="3222356"/>
              <a:ext cx="4416477" cy="1203767"/>
              <a:chOff x="2071868" y="1435261"/>
              <a:chExt cx="3356659" cy="1203767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71DD6CBD-CA9A-44D3-B06C-4C79E3AFCFDA}"/>
                  </a:ext>
                </a:extLst>
              </p:cNvPr>
              <p:cNvSpPr/>
              <p:nvPr/>
            </p:nvSpPr>
            <p:spPr>
              <a:xfrm>
                <a:off x="2071868" y="1435261"/>
                <a:ext cx="3356659" cy="120376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A725481-FDB4-4083-9807-F26A902544E2}"/>
                  </a:ext>
                </a:extLst>
              </p:cNvPr>
              <p:cNvSpPr/>
              <p:nvPr/>
            </p:nvSpPr>
            <p:spPr>
              <a:xfrm>
                <a:off x="2071868" y="1435261"/>
                <a:ext cx="1423686" cy="34444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手指检测</a:t>
                </a:r>
              </a:p>
            </p:txBody>
          </p: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272500E-EB7C-40CD-88BD-E279B75DA202}"/>
                </a:ext>
              </a:extLst>
            </p:cNvPr>
            <p:cNvSpPr/>
            <p:nvPr/>
          </p:nvSpPr>
          <p:spPr>
            <a:xfrm>
              <a:off x="2070233" y="3777500"/>
              <a:ext cx="2011470" cy="6529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捕获手部自由度信息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7116304-A505-4B38-A053-B75FCE936F9E}"/>
                </a:ext>
              </a:extLst>
            </p:cNvPr>
            <p:cNvSpPr/>
            <p:nvPr/>
          </p:nvSpPr>
          <p:spPr>
            <a:xfrm>
              <a:off x="4476874" y="3781840"/>
              <a:ext cx="2011470" cy="6529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建立手部关节的图像坐标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56C15FD-D4E6-4858-993A-6026CC0F5DF5}"/>
              </a:ext>
            </a:extLst>
          </p:cNvPr>
          <p:cNvGrpSpPr/>
          <p:nvPr/>
        </p:nvGrpSpPr>
        <p:grpSpPr>
          <a:xfrm>
            <a:off x="1973179" y="4954475"/>
            <a:ext cx="4019675" cy="1221129"/>
            <a:chOff x="2071865" y="4812174"/>
            <a:chExt cx="4019675" cy="122112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FC46638-9DF5-4BBA-B54D-AB1F7692539D}"/>
                </a:ext>
              </a:extLst>
            </p:cNvPr>
            <p:cNvSpPr/>
            <p:nvPr/>
          </p:nvSpPr>
          <p:spPr>
            <a:xfrm>
              <a:off x="2071866" y="4820855"/>
              <a:ext cx="4019674" cy="12037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7E6A7C8-61A2-44E2-B47B-CEFC13BF74D5}"/>
                </a:ext>
              </a:extLst>
            </p:cNvPr>
            <p:cNvSpPr/>
            <p:nvPr/>
          </p:nvSpPr>
          <p:spPr>
            <a:xfrm>
              <a:off x="2071867" y="4812174"/>
              <a:ext cx="1423686" cy="3444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击键判定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813F25F-EBF5-43FC-9424-DDB96DE15F6E}"/>
                </a:ext>
              </a:extLst>
            </p:cNvPr>
            <p:cNvSpPr/>
            <p:nvPr/>
          </p:nvSpPr>
          <p:spPr>
            <a:xfrm>
              <a:off x="2071865" y="5380339"/>
              <a:ext cx="1898250" cy="6529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击键动作判断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1286F23-DD64-401F-A370-DF583D99C23F}"/>
                </a:ext>
              </a:extLst>
            </p:cNvPr>
            <p:cNvSpPr/>
            <p:nvPr/>
          </p:nvSpPr>
          <p:spPr>
            <a:xfrm>
              <a:off x="4193290" y="5371658"/>
              <a:ext cx="1898250" cy="6529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食指指尖与中指指尖的距离</a:t>
              </a:r>
            </a:p>
          </p:txBody>
        </p:sp>
      </p:grpSp>
      <p:sp>
        <p:nvSpPr>
          <p:cNvPr id="30" name="左大括号 29">
            <a:extLst>
              <a:ext uri="{FF2B5EF4-FFF2-40B4-BE49-F238E27FC236}">
                <a16:creationId xmlns:a16="http://schemas.microsoft.com/office/drawing/2014/main" id="{EDBEC81D-4E11-4D80-A9F2-DABA7CE50465}"/>
              </a:ext>
            </a:extLst>
          </p:cNvPr>
          <p:cNvSpPr/>
          <p:nvPr/>
        </p:nvSpPr>
        <p:spPr>
          <a:xfrm>
            <a:off x="1579641" y="1998921"/>
            <a:ext cx="238526" cy="366823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1FE4C09D-611F-4C00-850F-F4CAAA763F1E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6914881" y="5534091"/>
            <a:ext cx="1326293" cy="3010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5DC2A740-D5E4-4AE1-8727-A03DA9FFF7FF}"/>
              </a:ext>
            </a:extLst>
          </p:cNvPr>
          <p:cNvCxnSpPr>
            <a:cxnSpLocks/>
            <a:stCxn id="28" idx="3"/>
            <a:endCxn id="25" idx="1"/>
          </p:cNvCxnSpPr>
          <p:nvPr/>
        </p:nvCxnSpPr>
        <p:spPr>
          <a:xfrm>
            <a:off x="5992854" y="5840441"/>
            <a:ext cx="2248320" cy="388129"/>
          </a:xfrm>
          <a:prstGeom prst="bentConnector3">
            <a:avLst>
              <a:gd name="adj1" fmla="val 7033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71ABF582-CDB1-4BEC-9071-88D45F66D2CA}"/>
              </a:ext>
            </a:extLst>
          </p:cNvPr>
          <p:cNvSpPr/>
          <p:nvPr/>
        </p:nvSpPr>
        <p:spPr>
          <a:xfrm>
            <a:off x="5992853" y="5363476"/>
            <a:ext cx="1591341" cy="40312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一定阈值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599BED9B-A87F-45A6-B98D-88278F0086D6}"/>
              </a:ext>
            </a:extLst>
          </p:cNvPr>
          <p:cNvCxnSpPr>
            <a:stCxn id="18" idx="3"/>
            <a:endCxn id="26" idx="1"/>
          </p:cNvCxnSpPr>
          <p:nvPr/>
        </p:nvCxnSpPr>
        <p:spPr>
          <a:xfrm>
            <a:off x="5934981" y="2725237"/>
            <a:ext cx="33086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0F4C4DE-BFFF-4927-87A4-7A53D4337C63}"/>
              </a:ext>
            </a:extLst>
          </p:cNvPr>
          <p:cNvCxnSpPr/>
          <p:nvPr/>
        </p:nvCxnSpPr>
        <p:spPr>
          <a:xfrm flipV="1">
            <a:off x="8594202" y="2725237"/>
            <a:ext cx="0" cy="2573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788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6052919-5E18-4641-A8A3-4651DB8E8A92}"/>
              </a:ext>
            </a:extLst>
          </p:cNvPr>
          <p:cNvSpPr txBox="1"/>
          <p:nvPr/>
        </p:nvSpPr>
        <p:spPr>
          <a:xfrm>
            <a:off x="1169774" y="267158"/>
            <a:ext cx="7777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2.</a:t>
            </a:r>
            <a:r>
              <a:rPr lang="zh-CN" altLang="en-US" sz="3200" b="1" dirty="0"/>
              <a:t>基于</a:t>
            </a:r>
            <a:r>
              <a:rPr lang="en-US" altLang="zh-CN" sz="3200" b="1" dirty="0" err="1"/>
              <a:t>opencv</a:t>
            </a:r>
            <a:r>
              <a:rPr lang="zh-CN" altLang="en-US" sz="3200" b="1" dirty="0"/>
              <a:t>手指定位的虚拟键盘</a:t>
            </a:r>
          </a:p>
          <a:p>
            <a:endParaRPr lang="zh-CN" altLang="en-US" sz="3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7C68B0-4F0A-42D5-8674-CAF6C04B204F}"/>
              </a:ext>
            </a:extLst>
          </p:cNvPr>
          <p:cNvSpPr txBox="1"/>
          <p:nvPr/>
        </p:nvSpPr>
        <p:spPr>
          <a:xfrm>
            <a:off x="652367" y="972186"/>
            <a:ext cx="1936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键盘构建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AB10AB-E4A3-402A-87E6-B971BCD3137E}"/>
              </a:ext>
            </a:extLst>
          </p:cNvPr>
          <p:cNvSpPr txBox="1"/>
          <p:nvPr/>
        </p:nvSpPr>
        <p:spPr>
          <a:xfrm>
            <a:off x="1169774" y="1885575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捕获视频的每一帧图像，</a:t>
            </a:r>
            <a:endParaRPr lang="en-US" altLang="zh-CN" dirty="0"/>
          </a:p>
          <a:p>
            <a:r>
              <a:rPr lang="zh-CN" altLang="en-US" dirty="0"/>
              <a:t>为图像添上一层键盘区域图像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F80A3A-8EA3-40A4-92EE-34047343BBC9}"/>
              </a:ext>
            </a:extLst>
          </p:cNvPr>
          <p:cNvSpPr txBox="1"/>
          <p:nvPr/>
        </p:nvSpPr>
        <p:spPr>
          <a:xfrm>
            <a:off x="6447699" y="2024074"/>
            <a:ext cx="556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根据手势“点击”以及按钮的图像位置，判断点击按钮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6623D06-C60E-47AA-B2ED-53EBF6589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27" y="2695726"/>
            <a:ext cx="4736073" cy="27805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35A1BBD-9778-478E-A4CB-C0CBDA2FD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602" y="2695727"/>
            <a:ext cx="4734230" cy="278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87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6052919-5E18-4641-A8A3-4651DB8E8A92}"/>
              </a:ext>
            </a:extLst>
          </p:cNvPr>
          <p:cNvSpPr txBox="1"/>
          <p:nvPr/>
        </p:nvSpPr>
        <p:spPr>
          <a:xfrm>
            <a:off x="1169774" y="267158"/>
            <a:ext cx="7777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2.</a:t>
            </a:r>
            <a:r>
              <a:rPr lang="zh-CN" altLang="en-US" sz="3200" b="1" dirty="0"/>
              <a:t>基于</a:t>
            </a:r>
            <a:r>
              <a:rPr lang="en-US" altLang="zh-CN" sz="3200" b="1" dirty="0" err="1"/>
              <a:t>opencv</a:t>
            </a:r>
            <a:r>
              <a:rPr lang="zh-CN" altLang="en-US" sz="3200" b="1" dirty="0"/>
              <a:t>手指定位的虚拟键盘</a:t>
            </a:r>
          </a:p>
          <a:p>
            <a:endParaRPr lang="zh-CN" altLang="en-US" sz="3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7C68B0-4F0A-42D5-8674-CAF6C04B204F}"/>
              </a:ext>
            </a:extLst>
          </p:cNvPr>
          <p:cNvSpPr txBox="1"/>
          <p:nvPr/>
        </p:nvSpPr>
        <p:spPr>
          <a:xfrm>
            <a:off x="652367" y="972186"/>
            <a:ext cx="1936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手指检测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9AA58C-6E41-4366-A403-6EE8C08C4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87" y="2479039"/>
            <a:ext cx="6048546" cy="324719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055DE28-C842-4142-9F6E-47E0BCC69F21}"/>
              </a:ext>
            </a:extLst>
          </p:cNvPr>
          <p:cNvSpPr txBox="1"/>
          <p:nvPr/>
        </p:nvSpPr>
        <p:spPr>
          <a:xfrm>
            <a:off x="1086781" y="1773992"/>
            <a:ext cx="8993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调用</a:t>
            </a:r>
            <a:r>
              <a:rPr lang="en-US" altLang="zh-CN" dirty="0" err="1"/>
              <a:t>cvzone</a:t>
            </a:r>
            <a:r>
              <a:rPr lang="zh-CN" altLang="en-US" dirty="0"/>
              <a:t>的</a:t>
            </a:r>
            <a:r>
              <a:rPr lang="en-US" altLang="zh-CN" dirty="0" err="1"/>
              <a:t>findhands</a:t>
            </a:r>
            <a:r>
              <a:rPr lang="zh-CN" altLang="en-US" dirty="0"/>
              <a:t>函数，获取手部的</a:t>
            </a:r>
            <a:r>
              <a:rPr lang="en-US" altLang="zh-CN" dirty="0"/>
              <a:t>20</a:t>
            </a:r>
            <a:r>
              <a:rPr lang="zh-CN" altLang="en-US" dirty="0"/>
              <a:t>个自由度信息，返回每个自由度的坐标信息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3183313-3E84-4DB1-A3B4-A837E6D33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321" y="2572940"/>
            <a:ext cx="4998950" cy="296426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926F823-FE51-4049-901F-6131E761D0CA}"/>
              </a:ext>
            </a:extLst>
          </p:cNvPr>
          <p:cNvSpPr txBox="1"/>
          <p:nvPr/>
        </p:nvSpPr>
        <p:spPr>
          <a:xfrm>
            <a:off x="2296160" y="595376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手指自由度的表示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FBBEF1-0A2C-4966-A82F-083AC50986FC}"/>
              </a:ext>
            </a:extLst>
          </p:cNvPr>
          <p:cNvSpPr txBox="1"/>
          <p:nvPr/>
        </p:nvSpPr>
        <p:spPr>
          <a:xfrm>
            <a:off x="8309133" y="5953760"/>
            <a:ext cx="2513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捕获手指自由度的信息</a:t>
            </a:r>
          </a:p>
        </p:txBody>
      </p:sp>
    </p:spTree>
    <p:extLst>
      <p:ext uri="{BB962C8B-B14F-4D97-AF65-F5344CB8AC3E}">
        <p14:creationId xmlns:p14="http://schemas.microsoft.com/office/powerpoint/2010/main" val="2648030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6052919-5E18-4641-A8A3-4651DB8E8A92}"/>
              </a:ext>
            </a:extLst>
          </p:cNvPr>
          <p:cNvSpPr txBox="1"/>
          <p:nvPr/>
        </p:nvSpPr>
        <p:spPr>
          <a:xfrm>
            <a:off x="1169774" y="267158"/>
            <a:ext cx="7777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2.</a:t>
            </a:r>
            <a:r>
              <a:rPr lang="zh-CN" altLang="en-US" sz="3200" b="1" dirty="0"/>
              <a:t>基于</a:t>
            </a:r>
            <a:r>
              <a:rPr lang="en-US" altLang="zh-CN" sz="3200" b="1" dirty="0" err="1"/>
              <a:t>opencv</a:t>
            </a:r>
            <a:r>
              <a:rPr lang="zh-CN" altLang="en-US" sz="3200" b="1" dirty="0"/>
              <a:t>手指定位的虚拟键盘</a:t>
            </a:r>
          </a:p>
          <a:p>
            <a:endParaRPr lang="zh-CN" altLang="en-US" sz="3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7C68B0-4F0A-42D5-8674-CAF6C04B204F}"/>
              </a:ext>
            </a:extLst>
          </p:cNvPr>
          <p:cNvSpPr txBox="1"/>
          <p:nvPr/>
        </p:nvSpPr>
        <p:spPr>
          <a:xfrm>
            <a:off x="652367" y="972186"/>
            <a:ext cx="1936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击键判定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A5A1C4-7427-4456-8249-318668837B24}"/>
              </a:ext>
            </a:extLst>
          </p:cNvPr>
          <p:cNvSpPr txBox="1"/>
          <p:nvPr/>
        </p:nvSpPr>
        <p:spPr>
          <a:xfrm>
            <a:off x="1419771" y="153642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击键动作的设定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3923FC-8CB8-4006-9175-229AE2866783}"/>
              </a:ext>
            </a:extLst>
          </p:cNvPr>
          <p:cNvSpPr txBox="1"/>
          <p:nvPr/>
        </p:nvSpPr>
        <p:spPr>
          <a:xfrm>
            <a:off x="2013054" y="1978937"/>
            <a:ext cx="6936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根据返回的自由度的坐标信息，计算食指指尖与中指指尖的距离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21106D-C3A9-4AE1-95FF-AA096E2D8DE6}"/>
              </a:ext>
            </a:extLst>
          </p:cNvPr>
          <p:cNvSpPr txBox="1"/>
          <p:nvPr/>
        </p:nvSpPr>
        <p:spPr>
          <a:xfrm>
            <a:off x="2013054" y="2461142"/>
            <a:ext cx="6189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若距离小于阈值（一般设置为</a:t>
            </a:r>
            <a:r>
              <a:rPr lang="en-US" altLang="zh-CN" dirty="0"/>
              <a:t>40</a:t>
            </a:r>
            <a:r>
              <a:rPr lang="zh-CN" altLang="en-US" dirty="0"/>
              <a:t>），则确定为“点击”操作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C3D27D-DF7D-4029-ABF6-DE55911A64FC}"/>
              </a:ext>
            </a:extLst>
          </p:cNvPr>
          <p:cNvSpPr txBox="1"/>
          <p:nvPr/>
        </p:nvSpPr>
        <p:spPr>
          <a:xfrm>
            <a:off x="2013054" y="2903809"/>
            <a:ext cx="8023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根据食指指尖的自由度坐标信息，确定“点击”的按钮，执行相应的文本输入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C880CFC-2EF9-4C69-92E1-77AC94127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20" y="3346476"/>
            <a:ext cx="4814278" cy="287656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EB5189A-1D33-439B-9DA2-CF1392AA1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346476"/>
            <a:ext cx="4782826" cy="287656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DBE0746-FD40-44E8-8815-C743C6E571E7}"/>
              </a:ext>
            </a:extLst>
          </p:cNvPr>
          <p:cNvSpPr txBox="1"/>
          <p:nvPr/>
        </p:nvSpPr>
        <p:spPr>
          <a:xfrm>
            <a:off x="2013054" y="6296380"/>
            <a:ext cx="306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食指与中指的距离大于阈值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EBC7E8E-D8AB-47C3-B15D-4855E7BCBEB3}"/>
              </a:ext>
            </a:extLst>
          </p:cNvPr>
          <p:cNvSpPr txBox="1"/>
          <p:nvPr/>
        </p:nvSpPr>
        <p:spPr>
          <a:xfrm>
            <a:off x="6828475" y="6325826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食指与中指的距离小于阈值</a:t>
            </a:r>
          </a:p>
        </p:txBody>
      </p:sp>
    </p:spTree>
    <p:extLst>
      <p:ext uri="{BB962C8B-B14F-4D97-AF65-F5344CB8AC3E}">
        <p14:creationId xmlns:p14="http://schemas.microsoft.com/office/powerpoint/2010/main" val="1524963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FBFB044-6ACD-4454-B82F-CE5FD66BEFC0}"/>
              </a:ext>
            </a:extLst>
          </p:cNvPr>
          <p:cNvSpPr txBox="1"/>
          <p:nvPr/>
        </p:nvSpPr>
        <p:spPr>
          <a:xfrm>
            <a:off x="1169774" y="267158"/>
            <a:ext cx="7777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3.</a:t>
            </a:r>
            <a:r>
              <a:rPr lang="zh-CN" altLang="en-US" sz="3200" b="1" dirty="0"/>
              <a:t>未来展望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5CDD60-70C4-422A-81EC-D9FB8FD47CEE}"/>
              </a:ext>
            </a:extLst>
          </p:cNvPr>
          <p:cNvSpPr txBox="1"/>
          <p:nvPr/>
        </p:nvSpPr>
        <p:spPr>
          <a:xfrm>
            <a:off x="1341120" y="1889760"/>
            <a:ext cx="6386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扩充更多手势识别，实现手势与自然语言对应的文本输入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BCAFF5-177C-4276-A983-E23CA0C4D3A2}"/>
              </a:ext>
            </a:extLst>
          </p:cNvPr>
          <p:cNvSpPr txBox="1"/>
          <p:nvPr/>
        </p:nvSpPr>
        <p:spPr>
          <a:xfrm>
            <a:off x="1341119" y="3071614"/>
            <a:ext cx="6013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开发更好的键盘定位方法，尽可能减少外界因素的干扰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7BC327-5273-4511-8748-B10B9F273C10}"/>
              </a:ext>
            </a:extLst>
          </p:cNvPr>
          <p:cNvSpPr/>
          <p:nvPr/>
        </p:nvSpPr>
        <p:spPr>
          <a:xfrm>
            <a:off x="1169774" y="4029739"/>
            <a:ext cx="5454503" cy="2381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实现不需要键盘的固定，</a:t>
            </a:r>
            <a:r>
              <a:rPr lang="zh-CN" altLang="en-US" b="1" dirty="0">
                <a:solidFill>
                  <a:srgbClr val="FF0000"/>
                </a:solidFill>
              </a:rPr>
              <a:t>实时定位键盘位置</a:t>
            </a:r>
            <a:endParaRPr lang="en-US" altLang="zh-CN" b="1" dirty="0">
              <a:solidFill>
                <a:srgbClr val="FF0000"/>
              </a:solidFill>
            </a:endParaRPr>
          </a:p>
          <a:p>
            <a:pPr algn="ctr"/>
            <a:endParaRPr lang="en-US" altLang="zh-CN" dirty="0"/>
          </a:p>
          <a:p>
            <a:pPr algn="ctr"/>
            <a:r>
              <a:rPr lang="en-US" altLang="zh-CN" dirty="0" err="1"/>
              <a:t>Medipate</a:t>
            </a:r>
            <a:r>
              <a:rPr lang="zh-CN" altLang="en-US" dirty="0"/>
              <a:t>库进行手势识别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还原残缺键盘（键盘纸中具有字符标定，可计算键位相对位置）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使用更加成熟的深度学习框架</a:t>
            </a:r>
          </a:p>
        </p:txBody>
      </p:sp>
    </p:spTree>
    <p:extLst>
      <p:ext uri="{BB962C8B-B14F-4D97-AF65-F5344CB8AC3E}">
        <p14:creationId xmlns:p14="http://schemas.microsoft.com/office/powerpoint/2010/main" val="3794671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1083</Words>
  <Application>Microsoft Office PowerPoint</Application>
  <PresentationFormat>宽屏</PresentationFormat>
  <Paragraphs>208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等线</vt:lpstr>
      <vt:lpstr>等线 Light</vt:lpstr>
      <vt:lpstr>思源黑体 CN Heavy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42</cp:revision>
  <dcterms:created xsi:type="dcterms:W3CDTF">2023-12-25T12:02:23Z</dcterms:created>
  <dcterms:modified xsi:type="dcterms:W3CDTF">2023-12-27T13:32:46Z</dcterms:modified>
</cp:coreProperties>
</file>